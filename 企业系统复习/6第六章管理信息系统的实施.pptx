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 ContentType="application/vnd.ms-excel"/>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1628" r:id="rId3"/>
    <p:sldId id="1629" r:id="rId4"/>
    <p:sldId id="1630" r:id="rId5"/>
    <p:sldId id="1814" r:id="rId6"/>
    <p:sldId id="1817" r:id="rId7"/>
    <p:sldId id="1818" r:id="rId8"/>
    <p:sldId id="1813" r:id="rId9"/>
    <p:sldId id="1819" r:id="rId10"/>
    <p:sldId id="1820" r:id="rId11"/>
    <p:sldId id="1854" r:id="rId12"/>
    <p:sldId id="1631" r:id="rId14"/>
    <p:sldId id="1632" r:id="rId15"/>
    <p:sldId id="1633" r:id="rId16"/>
    <p:sldId id="1822" r:id="rId17"/>
    <p:sldId id="1823" r:id="rId18"/>
    <p:sldId id="1824" r:id="rId19"/>
    <p:sldId id="1825" r:id="rId20"/>
    <p:sldId id="1821" r:id="rId21"/>
    <p:sldId id="1849" r:id="rId22"/>
    <p:sldId id="1850" r:id="rId23"/>
    <p:sldId id="1855" r:id="rId24"/>
    <p:sldId id="1856" r:id="rId25"/>
    <p:sldId id="1857" r:id="rId26"/>
    <p:sldId id="1858" r:id="rId27"/>
    <p:sldId id="1859" r:id="rId28"/>
    <p:sldId id="1860" r:id="rId29"/>
    <p:sldId id="1851" r:id="rId30"/>
    <p:sldId id="1634" r:id="rId31"/>
    <p:sldId id="1826" r:id="rId32"/>
    <p:sldId id="1635" r:id="rId33"/>
    <p:sldId id="1663" r:id="rId34"/>
    <p:sldId id="1831" r:id="rId35"/>
    <p:sldId id="1832" r:id="rId36"/>
    <p:sldId id="1833" r:id="rId37"/>
    <p:sldId id="1834" r:id="rId38"/>
    <p:sldId id="1637" r:id="rId39"/>
    <p:sldId id="1659" r:id="rId40"/>
    <p:sldId id="1660" r:id="rId41"/>
    <p:sldId id="1658" r:id="rId42"/>
    <p:sldId id="1861" r:id="rId43"/>
    <p:sldId id="1664" r:id="rId44"/>
    <p:sldId id="1776" r:id="rId45"/>
    <p:sldId id="1777" r:id="rId46"/>
    <p:sldId id="1835" r:id="rId47"/>
    <p:sldId id="1836" r:id="rId48"/>
    <p:sldId id="1837" r:id="rId49"/>
    <p:sldId id="1838" r:id="rId50"/>
    <p:sldId id="1839" r:id="rId51"/>
    <p:sldId id="1840" r:id="rId52"/>
    <p:sldId id="1841" r:id="rId53"/>
    <p:sldId id="1842" r:id="rId54"/>
    <p:sldId id="1666" r:id="rId55"/>
    <p:sldId id="1774" r:id="rId56"/>
    <p:sldId id="1775" r:id="rId57"/>
    <p:sldId id="1864" r:id="rId58"/>
    <p:sldId id="1865" r:id="rId59"/>
    <p:sldId id="1866" r:id="rId60"/>
    <p:sldId id="1867" r:id="rId61"/>
    <p:sldId id="1868" r:id="rId62"/>
    <p:sldId id="1869" r:id="rId63"/>
    <p:sldId id="1870" r:id="rId64"/>
    <p:sldId id="1871" r:id="rId65"/>
    <p:sldId id="1872" r:id="rId66"/>
    <p:sldId id="1873" r:id="rId67"/>
    <p:sldId id="1874" r:id="rId68"/>
    <p:sldId id="1875" r:id="rId69"/>
    <p:sldId id="1876" r:id="rId70"/>
    <p:sldId id="1877" r:id="rId71"/>
    <p:sldId id="1878" r:id="rId72"/>
    <p:sldId id="1879" r:id="rId73"/>
    <p:sldId id="1880" r:id="rId74"/>
    <p:sldId id="1881" r:id="rId75"/>
    <p:sldId id="1882" r:id="rId76"/>
    <p:sldId id="1883" r:id="rId77"/>
    <p:sldId id="1884" r:id="rId78"/>
    <p:sldId id="1885" r:id="rId79"/>
    <p:sldId id="1886" r:id="rId80"/>
    <p:sldId id="1846" r:id="rId81"/>
    <p:sldId id="1847" r:id="rId82"/>
    <p:sldId id="1848" r:id="rId83"/>
    <p:sldId id="1741" r:id="rId84"/>
    <p:sldId id="1639" r:id="rId85"/>
    <p:sldId id="1691" r:id="rId86"/>
    <p:sldId id="1852" r:id="rId87"/>
    <p:sldId id="1853" r:id="rId88"/>
    <p:sldId id="1760" r:id="rId89"/>
    <p:sldId id="1761" r:id="rId90"/>
    <p:sldId id="1888" r:id="rId91"/>
    <p:sldId id="1887" r:id="rId92"/>
    <p:sldId id="1669" r:id="rId93"/>
    <p:sldId id="1670" r:id="rId94"/>
    <p:sldId id="1671" r:id="rId95"/>
    <p:sldId id="1862" r:id="rId96"/>
    <p:sldId id="1863" r:id="rId97"/>
    <p:sldId id="1673" r:id="rId98"/>
    <p:sldId id="1676" r:id="rId99"/>
    <p:sldId id="1674" r:id="rId100"/>
    <p:sldId id="1675" r:id="rId101"/>
    <p:sldId id="1641" r:id="rId102"/>
    <p:sldId id="1677" r:id="rId103"/>
    <p:sldId id="1678" r:id="rId104"/>
    <p:sldId id="1679" r:id="rId105"/>
    <p:sldId id="1680" r:id="rId106"/>
    <p:sldId id="1778" r:id="rId107"/>
    <p:sldId id="1642" r:id="rId108"/>
    <p:sldId id="1643" r:id="rId109"/>
    <p:sldId id="1682" r:id="rId110"/>
    <p:sldId id="1889" r:id="rId111"/>
    <p:sldId id="1890" r:id="rId112"/>
    <p:sldId id="1681" r:id="rId113"/>
    <p:sldId id="1684" r:id="rId114"/>
    <p:sldId id="1687" r:id="rId115"/>
    <p:sldId id="1737" r:id="rId116"/>
    <p:sldId id="1739" r:id="rId117"/>
    <p:sldId id="1738" r:id="rId118"/>
    <p:sldId id="1740" r:id="rId119"/>
    <p:sldId id="1736" r:id="rId120"/>
    <p:sldId id="1779" r:id="rId121"/>
    <p:sldId id="1780" r:id="rId122"/>
    <p:sldId id="1773" r:id="rId123"/>
    <p:sldId id="1781" r:id="rId124"/>
    <p:sldId id="1782" r:id="rId125"/>
    <p:sldId id="1784" r:id="rId126"/>
    <p:sldId id="1785" r:id="rId127"/>
    <p:sldId id="1786" r:id="rId128"/>
    <p:sldId id="1787" r:id="rId129"/>
    <p:sldId id="1788" r:id="rId130"/>
    <p:sldId id="1789" r:id="rId131"/>
    <p:sldId id="1795" r:id="rId132"/>
    <p:sldId id="1796" r:id="rId133"/>
    <p:sldId id="1797" r:id="rId134"/>
    <p:sldId id="1809" r:id="rId135"/>
    <p:sldId id="1644" r:id="rId136"/>
    <p:sldId id="1645" r:id="rId137"/>
    <p:sldId id="1827" r:id="rId138"/>
    <p:sldId id="1828" r:id="rId139"/>
    <p:sldId id="1646" r:id="rId140"/>
    <p:sldId id="1647" r:id="rId141"/>
    <p:sldId id="1648" r:id="rId142"/>
    <p:sldId id="1649" r:id="rId143"/>
    <p:sldId id="1650" r:id="rId144"/>
    <p:sldId id="1651" r:id="rId145"/>
    <p:sldId id="1652" r:id="rId146"/>
    <p:sldId id="1699" r:id="rId147"/>
    <p:sldId id="1654" r:id="rId148"/>
    <p:sldId id="1655" r:id="rId149"/>
    <p:sldId id="1656" r:id="rId150"/>
    <p:sldId id="1829" r:id="rId151"/>
    <p:sldId id="1830" r:id="rId152"/>
  </p:sldIdLst>
  <p:sldSz cx="9144000" cy="6858000" type="screen4x3"/>
  <p:notesSz cx="6858000" cy="9144000"/>
  <p:custDataLst>
    <p:tags r:id="rId156"/>
  </p:custDataLst>
  <p:defaultTextStyle>
    <a:defPPr>
      <a:defRPr lang="zh-CN"/>
    </a:defPPr>
    <a:lvl1pPr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F3F"/>
    <a:srgbClr val="FB4765"/>
    <a:srgbClr val="FF5050"/>
    <a:srgbClr val="0000FF"/>
    <a:srgbClr val="080808"/>
    <a:srgbClr val="FFFF00"/>
    <a:srgbClr val="FFFF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53" autoAdjust="0"/>
    <p:restoredTop sz="94428" autoAdjust="0"/>
  </p:normalViewPr>
  <p:slideViewPr>
    <p:cSldViewPr>
      <p:cViewPr varScale="1">
        <p:scale>
          <a:sx n="48" d="100"/>
          <a:sy n="48" d="100"/>
        </p:scale>
        <p:origin x="-1380" y="-9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6" Type="http://schemas.openxmlformats.org/officeDocument/2006/relationships/tags" Target="tags/tag1.xml"/><Relationship Id="rId155" Type="http://schemas.openxmlformats.org/officeDocument/2006/relationships/tableStyles" Target="tableStyles.xml"/><Relationship Id="rId154" Type="http://schemas.openxmlformats.org/officeDocument/2006/relationships/viewProps" Target="viewProps.xml"/><Relationship Id="rId153" Type="http://schemas.openxmlformats.org/officeDocument/2006/relationships/presProps" Target="presProps.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notesMaster" Target="notesMasters/notesMaster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5" Type="http://schemas.openxmlformats.org/officeDocument/2006/relationships/slide" Target="slides/slide147.xml"/><Relationship Id="rId4" Type="http://schemas.openxmlformats.org/officeDocument/2006/relationships/slide" Target="slides/slide146.xml"/><Relationship Id="rId3" Type="http://schemas.openxmlformats.org/officeDocument/2006/relationships/slide" Target="slides/slide85.xml"/><Relationship Id="rId2" Type="http://schemas.openxmlformats.org/officeDocument/2006/relationships/slide" Target="slides/slide84.xml"/><Relationship Id="rId1" Type="http://schemas.openxmlformats.org/officeDocument/2006/relationships/slide" Target="slides/slide2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155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smtClean="0">
                <a:latin typeface="Times New Roman" panose="02020603050405020304" pitchFamily="18" charset="0"/>
              </a:defRPr>
            </a:lvl1pPr>
          </a:lstStyle>
          <a:p>
            <a:pPr>
              <a:defRPr/>
            </a:pPr>
            <a:endParaRPr lang="en-US" altLang="zh-CN"/>
          </a:p>
        </p:txBody>
      </p:sp>
      <p:sp>
        <p:nvSpPr>
          <p:cNvPr id="181555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smtClean="0">
                <a:latin typeface="Times New Roman" panose="02020603050405020304" pitchFamily="18" charset="0"/>
              </a:defRPr>
            </a:lvl1pPr>
          </a:lstStyle>
          <a:p>
            <a:pPr>
              <a:defRPr/>
            </a:pPr>
            <a:endParaRPr lang="en-US" altLang="zh-CN"/>
          </a:p>
        </p:txBody>
      </p:sp>
      <p:sp>
        <p:nvSpPr>
          <p:cNvPr id="136196"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81555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81555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smtClean="0">
                <a:latin typeface="Times New Roman" panose="02020603050405020304" pitchFamily="18" charset="0"/>
              </a:defRPr>
            </a:lvl1pPr>
          </a:lstStyle>
          <a:p>
            <a:pPr>
              <a:defRPr/>
            </a:pPr>
            <a:endParaRPr lang="en-US" altLang="zh-CN"/>
          </a:p>
        </p:txBody>
      </p:sp>
      <p:sp>
        <p:nvSpPr>
          <p:cNvPr id="181555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smtClean="0">
                <a:latin typeface="Times New Roman" panose="02020603050405020304" pitchFamily="18" charset="0"/>
              </a:defRPr>
            </a:lvl1pPr>
          </a:lstStyle>
          <a:p>
            <a:pPr>
              <a:defRPr/>
            </a:pPr>
            <a:fld id="{ABE13A75-6E0F-4113-BD77-B7345F4DDE54}"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74EA304D-B29D-4DF7-99EF-09AB8D5C4E54}" type="slidenum">
              <a:rPr lang="en-US" altLang="zh-CN"/>
            </a:fld>
            <a:endParaRPr lang="en-US" altLang="zh-CN"/>
          </a:p>
        </p:txBody>
      </p:sp>
      <p:sp>
        <p:nvSpPr>
          <p:cNvPr id="137219" name="Rectangle 2"/>
          <p:cNvSpPr>
            <a:spLocks noRot="1" noChangeArrowheads="1" noTextEdit="1"/>
          </p:cNvSpPr>
          <p:nvPr>
            <p:ph type="sldImg"/>
          </p:nvPr>
        </p:nvSpPr>
        <p:spPr/>
      </p:sp>
      <p:sp>
        <p:nvSpPr>
          <p:cNvPr id="137220" name="Rectangle 3"/>
          <p:cNvSpPr>
            <a:spLocks noGrp="1" noChangeArrowheads="1"/>
          </p:cNvSpPr>
          <p:nvPr>
            <p:ph type="body" idx="1"/>
          </p:nvPr>
        </p:nvSpPr>
        <p:spPr>
          <a:xfrm>
            <a:off x="914400" y="4343400"/>
            <a:ext cx="5029200" cy="4114800"/>
          </a:xfrm>
          <a:noFill/>
        </p:spPr>
        <p:txBody>
          <a:bodyPr lIns="91431" tIns="45715" rIns="91431" bIns="45715"/>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2C9A0E17-D491-4045-8A3E-953A849B1711}" type="slidenum">
              <a:rPr lang="en-US" altLang="zh-CN"/>
            </a:fld>
            <a:endParaRPr lang="en-US" altLang="zh-CN"/>
          </a:p>
        </p:txBody>
      </p:sp>
      <p:sp>
        <p:nvSpPr>
          <p:cNvPr id="138243" name="Rectangle 2"/>
          <p:cNvSpPr>
            <a:spLocks noRot="1" noChangeArrowheads="1" noTextEdit="1"/>
          </p:cNvSpPr>
          <p:nvPr>
            <p:ph type="sldImg"/>
          </p:nvPr>
        </p:nvSpPr>
        <p:spPr/>
      </p:sp>
      <p:sp>
        <p:nvSpPr>
          <p:cNvPr id="138244" name="Rectangle 3"/>
          <p:cNvSpPr>
            <a:spLocks noGrp="1" noChangeArrowheads="1"/>
          </p:cNvSpPr>
          <p:nvPr>
            <p:ph type="body" idx="1"/>
          </p:nvPr>
        </p:nvSpPr>
        <p:spPr>
          <a:xfrm>
            <a:off x="914400" y="4343400"/>
            <a:ext cx="5029200" cy="4114800"/>
          </a:xfrm>
          <a:noFill/>
        </p:spPr>
        <p:txBody>
          <a:bodyPr lIns="91431" tIns="45715" rIns="91431" bIns="45715"/>
          <a:lstStyle/>
          <a:p>
            <a:pPr eaLnBrk="1" hangingPunct="1"/>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878E8EBF-4033-450E-AB6E-47D9DFDEA3CC}" type="slidenum">
              <a:rPr lang="en-US" altLang="zh-CN"/>
            </a:fld>
            <a:endParaRPr lang="en-US" altLang="zh-CN"/>
          </a:p>
        </p:txBody>
      </p:sp>
      <p:sp>
        <p:nvSpPr>
          <p:cNvPr id="139267" name="Rectangle 2"/>
          <p:cNvSpPr>
            <a:spLocks noRot="1" noChangeArrowheads="1" noTextEdit="1"/>
          </p:cNvSpPr>
          <p:nvPr>
            <p:ph type="sldImg"/>
          </p:nvPr>
        </p:nvSpPr>
        <p:spPr/>
      </p:sp>
      <p:sp>
        <p:nvSpPr>
          <p:cNvPr id="139268" name="Rectangle 3"/>
          <p:cNvSpPr>
            <a:spLocks noGrp="1" noChangeArrowheads="1"/>
          </p:cNvSpPr>
          <p:nvPr>
            <p:ph type="body" idx="1"/>
          </p:nvPr>
        </p:nvSpPr>
        <p:spPr>
          <a:xfrm>
            <a:off x="914400" y="4343400"/>
            <a:ext cx="5029200" cy="4114800"/>
          </a:xfrm>
          <a:noFill/>
        </p:spPr>
        <p:txBody>
          <a:bodyPr lIns="91431" tIns="45715" rIns="91431" bIns="45715"/>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49AEF955-8E49-49F9-9895-6209392CC2C6}" type="slidenum">
              <a:rPr lang="en-US" altLang="zh-CN"/>
            </a:fld>
            <a:endParaRPr lang="en-US" altLang="zh-CN"/>
          </a:p>
        </p:txBody>
      </p:sp>
      <p:sp>
        <p:nvSpPr>
          <p:cNvPr id="140291" name="Rectangle 2"/>
          <p:cNvSpPr>
            <a:spLocks noRot="1" noChangeArrowheads="1" noTextEdit="1"/>
          </p:cNvSpPr>
          <p:nvPr>
            <p:ph type="sldImg"/>
          </p:nvPr>
        </p:nvSpPr>
        <p:spPr/>
      </p:sp>
      <p:sp>
        <p:nvSpPr>
          <p:cNvPr id="140292" name="Rectangle 3"/>
          <p:cNvSpPr>
            <a:spLocks noGrp="1" noChangeArrowheads="1"/>
          </p:cNvSpPr>
          <p:nvPr>
            <p:ph type="body" idx="1"/>
          </p:nvPr>
        </p:nvSpPr>
        <p:spPr>
          <a:xfrm>
            <a:off x="914400" y="4343400"/>
            <a:ext cx="5029200" cy="4114800"/>
          </a:xfrm>
          <a:noFill/>
        </p:spPr>
        <p:txBody>
          <a:bodyPr lIns="91431" tIns="45715" rIns="91431" bIns="45715"/>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9118098F-453F-4C10-9B43-66FEF8B1B3C6}" type="slidenum">
              <a:rPr lang="en-US" altLang="zh-CN"/>
            </a:fld>
            <a:endParaRPr lang="en-US" altLang="zh-CN"/>
          </a:p>
        </p:txBody>
      </p:sp>
      <p:sp>
        <p:nvSpPr>
          <p:cNvPr id="141315" name="Rectangle 2"/>
          <p:cNvSpPr>
            <a:spLocks noRot="1" noChangeArrowheads="1" noTextEdit="1"/>
          </p:cNvSpPr>
          <p:nvPr>
            <p:ph type="sldImg"/>
          </p:nvPr>
        </p:nvSpPr>
        <p:spPr/>
      </p:sp>
      <p:sp>
        <p:nvSpPr>
          <p:cNvPr id="141316" name="Rectangle 3"/>
          <p:cNvSpPr>
            <a:spLocks noGrp="1" noChangeArrowheads="1"/>
          </p:cNvSpPr>
          <p:nvPr>
            <p:ph type="body" idx="1"/>
          </p:nvPr>
        </p:nvSpPr>
        <p:spPr>
          <a:xfrm>
            <a:off x="914400" y="4343400"/>
            <a:ext cx="5029200" cy="4114800"/>
          </a:xfrm>
          <a:noFill/>
        </p:spPr>
        <p:txBody>
          <a:bodyPr lIns="91431" tIns="45715" rIns="91431" bIns="45715"/>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C33CC765-4E06-4EDB-9915-D2B7752279A0}" type="slidenum">
              <a:rPr lang="en-US" altLang="zh-CN"/>
            </a:fld>
            <a:endParaRPr lang="en-US" altLang="zh-CN"/>
          </a:p>
        </p:txBody>
      </p:sp>
      <p:sp>
        <p:nvSpPr>
          <p:cNvPr id="142339" name="Rectangle 2"/>
          <p:cNvSpPr>
            <a:spLocks noRot="1" noChangeArrowheads="1" noTextEdit="1"/>
          </p:cNvSpPr>
          <p:nvPr>
            <p:ph type="sldImg"/>
          </p:nvPr>
        </p:nvSpPr>
        <p:spPr/>
      </p:sp>
      <p:sp>
        <p:nvSpPr>
          <p:cNvPr id="142340" name="Rectangle 3"/>
          <p:cNvSpPr>
            <a:spLocks noGrp="1" noChangeArrowheads="1"/>
          </p:cNvSpPr>
          <p:nvPr>
            <p:ph type="body" idx="1"/>
          </p:nvPr>
        </p:nvSpPr>
        <p:spPr>
          <a:xfrm>
            <a:off x="914400" y="4343400"/>
            <a:ext cx="5029200" cy="4114800"/>
          </a:xfrm>
          <a:noFill/>
        </p:spPr>
        <p:txBody>
          <a:bodyPr lIns="91431" tIns="45715" rIns="91431" bIns="45715"/>
          <a:lstStyle/>
          <a:p>
            <a:pPr eaLnBrk="1" hangingPunct="1"/>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59B3E8A9-D06D-434F-B7BF-00B66DEE502C}" type="slidenum">
              <a:rPr lang="en-US" altLang="zh-CN"/>
            </a:fld>
            <a:endParaRPr lang="en-US" altLang="zh-CN"/>
          </a:p>
        </p:txBody>
      </p:sp>
      <p:sp>
        <p:nvSpPr>
          <p:cNvPr id="143363" name="Rectangle 2"/>
          <p:cNvSpPr>
            <a:spLocks noRot="1" noChangeArrowheads="1" noTextEdit="1"/>
          </p:cNvSpPr>
          <p:nvPr>
            <p:ph type="sldImg"/>
          </p:nvPr>
        </p:nvSpPr>
        <p:spPr/>
      </p:sp>
      <p:sp>
        <p:nvSpPr>
          <p:cNvPr id="143364" name="Rectangle 3"/>
          <p:cNvSpPr>
            <a:spLocks noGrp="1" noChangeArrowheads="1"/>
          </p:cNvSpPr>
          <p:nvPr>
            <p:ph type="body" idx="1"/>
          </p:nvPr>
        </p:nvSpPr>
        <p:spPr>
          <a:xfrm>
            <a:off x="914400" y="4343400"/>
            <a:ext cx="5029200" cy="4114800"/>
          </a:xfrm>
          <a:noFill/>
        </p:spPr>
        <p:txBody>
          <a:bodyPr lIns="91431" tIns="45715" rIns="91431" bIns="45715"/>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defRPr/>
                </a:pPr>
                <a:endParaRPr lang="zh-CN" altLang="en-US"/>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a:defRPr/>
                </a:pPr>
                <a:endParaRPr lang="zh-CN" alt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pPr>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defRPr/>
              </a:pPr>
              <a:endParaRPr lang="zh-CN" altLang="en-US"/>
            </a:p>
          </p:txBody>
        </p:sp>
      </p:grpSp>
      <p:sp>
        <p:nvSpPr>
          <p:cNvPr id="1512460"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endParaRPr lang="zh-CN" altLang="en-US"/>
          </a:p>
        </p:txBody>
      </p:sp>
      <p:sp>
        <p:nvSpPr>
          <p:cNvPr id="15124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4" name="Rectangle 14"/>
          <p:cNvSpPr>
            <a:spLocks noGrp="1" noChangeArrowheads="1"/>
          </p:cNvSpPr>
          <p:nvPr>
            <p:ph type="dt" sz="half" idx="10"/>
          </p:nvPr>
        </p:nvSpPr>
        <p:spPr>
          <a:xfrm>
            <a:off x="990600" y="6248400"/>
            <a:ext cx="1905000" cy="457200"/>
          </a:xfrm>
        </p:spPr>
        <p:txBody>
          <a:bodyPr/>
          <a:lstStyle>
            <a:lvl1pPr>
              <a:defRPr smtClean="0">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smtClean="0">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6EAD3CB4-0B1B-4708-BBFD-4F0E13117F5A}" type="slidenum">
              <a:rPr lang="en-US" altLang="zh-CN"/>
            </a:fld>
            <a:endParaRPr lang="en-US" altLang="zh-CN"/>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34A09C45-DCEA-42C0-B095-1DC1F4733171}" type="slidenum">
              <a:rPr lang="en-US" altLang="zh-CN"/>
            </a:fld>
            <a:endParaRPr lang="en-US" altLang="zh-CN"/>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D9AD1A8C-9DF5-4F7E-9333-676F3F746A69}" type="slidenum">
              <a:rPr lang="en-US" altLang="zh-CN"/>
            </a:fld>
            <a:endParaRPr lang="en-US" altLang="zh-CN"/>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3C183A15-9C9F-4EA4-8AD4-723CF300A25D}" type="slidenum">
              <a:rPr lang="en-US" altLang="zh-CN"/>
            </a:fld>
            <a:endParaRPr lang="en-US" altLang="zh-CN"/>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36F20CB1-2766-4F44-9048-6AEB5D35C82A}" type="slidenum">
              <a:rPr lang="en-US" altLang="zh-CN"/>
            </a:fld>
            <a:endParaRPr lang="en-US" altLang="zh-CN"/>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CD8F6474-5AA7-4C9C-B460-10A20596E12B}" type="slidenum">
              <a:rPr lang="en-US" altLang="zh-CN"/>
            </a:fld>
            <a:endParaRPr lang="en-US" altLang="zh-CN"/>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75DD3A41-2A52-4E7C-A285-356680D1DCBD}" type="slidenum">
              <a:rPr lang="en-US" altLang="zh-CN"/>
            </a:fld>
            <a:endParaRPr lang="en-US" altLang="zh-CN"/>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EEEC9281-8E6F-4AAC-B6EB-FFD6F6678E11}" type="slidenum">
              <a:rPr lang="en-US" altLang="zh-CN"/>
            </a:fld>
            <a:endParaRPr lang="en-US" altLang="zh-CN"/>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349503C2-60A2-4A39-90DF-B0CD06BCB629}" type="slidenum">
              <a:rPr lang="en-US" altLang="zh-CN"/>
            </a:fld>
            <a:endParaRPr lang="en-US" altLang="zh-CN"/>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6C308C98-9BCB-46CC-B6A8-BEC056699748}" type="slidenum">
              <a:rPr lang="en-US" altLang="zh-CN"/>
            </a:fld>
            <a:endParaRPr lang="en-US" altLang="zh-CN"/>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2194A34C-186B-43B3-B4B9-C00D98732076}" type="slidenum">
              <a:rPr lang="en-US" altLang="zh-CN"/>
            </a:fld>
            <a:endParaRPr lang="en-US" altLang="zh-CN"/>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剪贴画占位符 3"/>
          <p:cNvSpPr>
            <a:spLocks noGrp="1"/>
          </p:cNvSpPr>
          <p:nvPr>
            <p:ph type="clipArt" sz="half" idx="2"/>
          </p:nvPr>
        </p:nvSpPr>
        <p:spPr>
          <a:xfrm>
            <a:off x="5145088" y="2017713"/>
            <a:ext cx="3810000" cy="4114800"/>
          </a:xfrm>
        </p:spPr>
        <p:txBody>
          <a:bodyPr/>
          <a:lstStyle/>
          <a:p>
            <a:pPr lvl="0"/>
            <a:endParaRPr lang="zh-CN" altLang="en-US" noProof="0" smtClean="0"/>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DAC2DADF-BBA1-46C9-81C1-0950D1C508C3}" type="slidenum">
              <a:rPr lang="en-US" altLang="zh-CN"/>
            </a:fld>
            <a:endParaRPr lang="en-US" altLang="zh-CN"/>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EA2D0955-B15B-481A-82FF-FDB03C0637F2}" type="slidenum">
              <a:rPr lang="en-US" altLang="zh-CN"/>
            </a:fld>
            <a:endParaRPr lang="en-US" altLang="zh-CN"/>
          </a:p>
        </p:txBody>
      </p:sp>
    </p:spTree>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182688" y="2017713"/>
            <a:ext cx="7772400" cy="4114800"/>
          </a:xfrm>
        </p:spPr>
        <p:txBody>
          <a:bodyPr/>
          <a:lstStyle/>
          <a:p>
            <a:endParaRPr lang="zh-CN" altLang="en-US"/>
          </a:p>
        </p:txBody>
      </p:sp>
      <p:sp>
        <p:nvSpPr>
          <p:cNvPr id="4" name="日期占位符 3"/>
          <p:cNvSpPr>
            <a:spLocks noGrp="1"/>
          </p:cNvSpPr>
          <p:nvPr>
            <p:ph type="dt" sz="half" idx="10"/>
          </p:nvPr>
        </p:nvSpPr>
        <p:spPr>
          <a:xfrm>
            <a:off x="1162050" y="6243638"/>
            <a:ext cx="1905000" cy="457200"/>
          </a:xfr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3657600" y="6243638"/>
            <a:ext cx="2895600" cy="457200"/>
          </a:xfr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7042150" y="6243638"/>
            <a:ext cx="1905000" cy="457200"/>
          </a:xfrm>
        </p:spPr>
        <p:txBody>
          <a:bodyPr/>
          <a:lstStyle>
            <a:lvl1pPr>
              <a:defRPr/>
            </a:lvl1pPr>
          </a:lstStyle>
          <a:p>
            <a:pPr>
              <a:defRPr/>
            </a:pPr>
            <a:fld id="{B632A1F2-ACA0-46E0-9DC9-6519FE22A831}" type="slidenum">
              <a:rPr lang="en-US" altLang="zh-CN"/>
            </a:fld>
            <a:endParaRPr lang="en-US" altLang="zh-CN"/>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1426" name="Rectangle 2"/>
          <p:cNvSpPr>
            <a:spLocks noChangeArrowheads="1"/>
          </p:cNvSpPr>
          <p:nvPr/>
        </p:nvSpPr>
        <p:spPr bwMode="ltGray">
          <a:xfrm>
            <a:off x="417513" y="1098550"/>
            <a:ext cx="438150" cy="474663"/>
          </a:xfrm>
          <a:prstGeom prst="rect">
            <a:avLst/>
          </a:prstGeom>
          <a:solidFill>
            <a:schemeClr val="accent2"/>
          </a:solidFill>
          <a:ln w="9525">
            <a:noFill/>
            <a:miter lim="800000"/>
          </a:ln>
          <a:effectLst/>
        </p:spPr>
        <p:txBody>
          <a:bodyPr wrap="none" anchor="ctr"/>
          <a:lstStyle/>
          <a:p>
            <a:pPr algn="ctr">
              <a:defRPr/>
            </a:pPr>
            <a:endParaRPr kumimoji="1" lang="zh-CN" altLang="zh-CN"/>
          </a:p>
        </p:txBody>
      </p:sp>
      <p:sp>
        <p:nvSpPr>
          <p:cNvPr id="15114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kumimoji="1" lang="zh-CN" altLang="zh-CN"/>
          </a:p>
        </p:txBody>
      </p:sp>
      <p:sp>
        <p:nvSpPr>
          <p:cNvPr id="1511428" name="Rectangle 4"/>
          <p:cNvSpPr>
            <a:spLocks noChangeArrowheads="1"/>
          </p:cNvSpPr>
          <p:nvPr/>
        </p:nvSpPr>
        <p:spPr bwMode="ltGray">
          <a:xfrm>
            <a:off x="541338" y="1520825"/>
            <a:ext cx="422275" cy="474663"/>
          </a:xfrm>
          <a:prstGeom prst="rect">
            <a:avLst/>
          </a:prstGeom>
          <a:solidFill>
            <a:schemeClr val="folHlink"/>
          </a:solidFill>
          <a:ln w="9525">
            <a:noFill/>
            <a:miter lim="800000"/>
          </a:ln>
          <a:effectLst/>
        </p:spPr>
        <p:txBody>
          <a:bodyPr wrap="none" anchor="ctr"/>
          <a:lstStyle/>
          <a:p>
            <a:pPr algn="ctr">
              <a:defRPr/>
            </a:pPr>
            <a:endParaRPr kumimoji="1" lang="zh-CN" altLang="zh-CN"/>
          </a:p>
        </p:txBody>
      </p:sp>
      <p:sp>
        <p:nvSpPr>
          <p:cNvPr id="15114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kumimoji="1" lang="zh-CN" altLang="zh-CN"/>
          </a:p>
        </p:txBody>
      </p:sp>
      <p:sp>
        <p:nvSpPr>
          <p:cNvPr id="15114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kumimoji="1" lang="zh-CN" altLang="zh-CN"/>
          </a:p>
        </p:txBody>
      </p:sp>
      <p:sp>
        <p:nvSpPr>
          <p:cNvPr id="1511431" name="Rectangle 7"/>
          <p:cNvSpPr>
            <a:spLocks noChangeArrowheads="1"/>
          </p:cNvSpPr>
          <p:nvPr/>
        </p:nvSpPr>
        <p:spPr bwMode="gray">
          <a:xfrm>
            <a:off x="762000" y="990600"/>
            <a:ext cx="31750" cy="1052513"/>
          </a:xfrm>
          <a:prstGeom prst="rect">
            <a:avLst/>
          </a:prstGeom>
          <a:solidFill>
            <a:schemeClr val="bg2"/>
          </a:solidFill>
          <a:ln w="9525">
            <a:noFill/>
            <a:miter lim="800000"/>
          </a:ln>
          <a:effectLst/>
        </p:spPr>
        <p:txBody>
          <a:bodyPr wrap="none" anchor="ctr"/>
          <a:lstStyle/>
          <a:p>
            <a:pPr algn="ctr">
              <a:defRPr/>
            </a:pPr>
            <a:endParaRPr kumimoji="1" lang="zh-CN" altLang="zh-CN"/>
          </a:p>
        </p:txBody>
      </p:sp>
      <p:sp>
        <p:nvSpPr>
          <p:cNvPr id="15114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kumimoji="1" lang="zh-CN" altLang="zh-CN"/>
          </a:p>
        </p:txBody>
      </p:sp>
      <p:sp>
        <p:nvSpPr>
          <p:cNvPr id="2057" name="Rectangle 9"/>
          <p:cNvSpPr>
            <a:spLocks noGrp="1" noChangeArrowheads="1"/>
          </p:cNvSpPr>
          <p:nvPr>
            <p:ph type="title"/>
          </p:nvPr>
        </p:nvSpPr>
        <p:spPr bwMode="auto">
          <a:xfrm>
            <a:off x="1150938" y="214313"/>
            <a:ext cx="7793037" cy="1462087"/>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2058" name="Rectangle 10"/>
          <p:cNvSpPr>
            <a:spLocks noGrp="1" noChangeArrowheads="1"/>
          </p:cNvSpPr>
          <p:nvPr>
            <p:ph type="body" idx="1"/>
          </p:nvPr>
        </p:nvSpPr>
        <p:spPr bwMode="auto">
          <a:xfrm>
            <a:off x="1182688" y="2017713"/>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511435"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smtClean="0"/>
            </a:lvl1pPr>
          </a:lstStyle>
          <a:p>
            <a:pPr>
              <a:defRPr/>
            </a:pPr>
            <a:endParaRPr lang="en-US" altLang="zh-CN"/>
          </a:p>
        </p:txBody>
      </p:sp>
      <p:sp>
        <p:nvSpPr>
          <p:cNvPr id="1511436"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400" smtClean="0"/>
            </a:lvl1pPr>
          </a:lstStyle>
          <a:p>
            <a:pPr>
              <a:defRPr/>
            </a:pPr>
            <a:endParaRPr lang="en-US" altLang="zh-CN"/>
          </a:p>
        </p:txBody>
      </p:sp>
      <p:sp>
        <p:nvSpPr>
          <p:cNvPr id="1511437"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smtClean="0"/>
            </a:lvl1pPr>
          </a:lstStyle>
          <a:p>
            <a:pPr>
              <a:defRPr/>
            </a:pPr>
            <a:fld id="{BD5618DC-D348-438F-8740-5695CD0A4908}" type="slidenum">
              <a:rPr lang="en-US" altLang="zh-CN"/>
            </a:fld>
            <a:endParaRPr lang="en-US" altLang="zh-CN"/>
          </a:p>
        </p:txBody>
      </p:sp>
      <p:sp>
        <p:nvSpPr>
          <p:cNvPr id="1511438" name="Text Box 14"/>
          <p:cNvSpPr txBox="1">
            <a:spLocks noChangeArrowheads="1"/>
          </p:cNvSpPr>
          <p:nvPr userDrawn="1"/>
        </p:nvSpPr>
        <p:spPr bwMode="auto">
          <a:xfrm>
            <a:off x="7812088" y="6165850"/>
            <a:ext cx="990600" cy="366713"/>
          </a:xfrm>
          <a:prstGeom prst="rect">
            <a:avLst/>
          </a:prstGeom>
          <a:noFill/>
          <a:ln w="9525">
            <a:noFill/>
            <a:miter lim="800000"/>
          </a:ln>
          <a:effectLst/>
        </p:spPr>
        <p:txBody>
          <a:bodyPr>
            <a:spAutoFit/>
          </a:bodyPr>
          <a:lstStyle/>
          <a:p>
            <a:pPr>
              <a:spcBef>
                <a:spcPct val="50000"/>
              </a:spcBef>
              <a:defRPr/>
            </a:pPr>
            <a:r>
              <a:rPr kumimoji="1" lang="zh-CN" altLang="en-US" sz="1800">
                <a:latin typeface="隶书" pitchFamily="49" charset="-122"/>
                <a:ea typeface="隶书" pitchFamily="49" charset="-122"/>
              </a:rPr>
              <a:t>第</a:t>
            </a:r>
            <a:fld id="{011C08EB-0554-41E4-AEDF-1738150F7AD0}" type="slidenum">
              <a:rPr kumimoji="1" lang="zh-CN" altLang="en-US" sz="1800" b="1">
                <a:latin typeface="隶书" pitchFamily="49" charset="-122"/>
                <a:ea typeface="隶书" pitchFamily="49" charset="-122"/>
              </a:rPr>
            </a:fld>
            <a:r>
              <a:rPr kumimoji="1" lang="zh-CN" altLang="en-US" sz="1800" b="1">
                <a:latin typeface="隶书" pitchFamily="49" charset="-122"/>
                <a:ea typeface="隶书" pitchFamily="49" charset="-122"/>
              </a:rPr>
              <a:t>页</a:t>
            </a:r>
            <a:endParaRPr kumimoji="1" lang="zh-CN" altLang="en-US" sz="1800" b="1">
              <a:latin typeface="隶书" pitchFamily="49" charset="-122"/>
              <a:ea typeface="隶书" pitchFamily="49"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wipe dir="r"/>
  </p:transition>
  <p:timing>
    <p:tnLst>
      <p:par>
        <p:cTn id="1" dur="indefinite" restart="never" nodeType="tmRoot"/>
      </p:par>
    </p:tnLst>
  </p:timing>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rgbClr val="0A0A0E"/>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rgbClr val="0A0A0E"/>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rgbClr val="0A0A0E"/>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rgbClr val="0A0A0E"/>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rgbClr val="0A0A0E"/>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rgbClr val="0A0A0E"/>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rgbClr val="0A0A0E"/>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rgbClr val="0A0A0E"/>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rgbClr val="0A0A0E"/>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slide" Target="slide140.xml"/><Relationship Id="rId4" Type="http://schemas.openxmlformats.org/officeDocument/2006/relationships/slide" Target="slide137.xml"/><Relationship Id="rId3" Type="http://schemas.openxmlformats.org/officeDocument/2006/relationships/slide" Target="slide30.xml"/><Relationship Id="rId2" Type="http://schemas.openxmlformats.org/officeDocument/2006/relationships/slide" Target="slide13.xml"/><Relationship Id="rId1" Type="http://schemas.openxmlformats.org/officeDocument/2006/relationships/slide" Target="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6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9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Workbook1.xls"/></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wmf"/></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wmf"/></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2626" name="Text Box 2"/>
          <p:cNvSpPr txBox="1">
            <a:spLocks noChangeArrowheads="1"/>
          </p:cNvSpPr>
          <p:nvPr/>
        </p:nvSpPr>
        <p:spPr bwMode="auto">
          <a:xfrm>
            <a:off x="468313" y="1584325"/>
            <a:ext cx="8281987" cy="2759075"/>
          </a:xfrm>
          <a:prstGeom prst="rect">
            <a:avLst/>
          </a:prstGeom>
          <a:noFill/>
          <a:ln w="9525">
            <a:noFill/>
            <a:miter lim="800000"/>
          </a:ln>
          <a:effectLst>
            <a:outerShdw dist="89803" dir="2700000" algn="ctr" rotWithShape="0">
              <a:schemeClr val="bg2"/>
            </a:outerShdw>
          </a:effectLst>
        </p:spPr>
        <p:txBody>
          <a:bodyPr>
            <a:spAutoFit/>
          </a:bodyPr>
          <a:lstStyle/>
          <a:p>
            <a:pPr algn="ctr">
              <a:spcBef>
                <a:spcPct val="50000"/>
              </a:spcBef>
              <a:defRPr/>
            </a:pPr>
            <a:r>
              <a:rPr kumimoji="1" lang="zh-CN" altLang="en-US" sz="7000" b="1">
                <a:solidFill>
                  <a:srgbClr val="0A0A0E"/>
                </a:solidFill>
                <a:effectLst>
                  <a:outerShdw blurRad="38100" dist="38100" dir="2700000" algn="tl">
                    <a:srgbClr val="C0C0C0"/>
                  </a:outerShdw>
                </a:effectLst>
                <a:latin typeface="隶书" pitchFamily="49" charset="-122"/>
                <a:ea typeface="隶书" pitchFamily="49" charset="-122"/>
              </a:rPr>
              <a:t>第六章</a:t>
            </a:r>
            <a:endParaRPr kumimoji="1" lang="zh-CN" altLang="en-US" sz="7000" b="1">
              <a:solidFill>
                <a:srgbClr val="0A0A0E"/>
              </a:solidFill>
              <a:effectLst>
                <a:outerShdw blurRad="38100" dist="38100" dir="2700000" algn="tl">
                  <a:srgbClr val="C0C0C0"/>
                </a:outerShdw>
              </a:effectLst>
              <a:latin typeface="隶书" pitchFamily="49" charset="-122"/>
              <a:ea typeface="隶书" pitchFamily="49" charset="-122"/>
            </a:endParaRPr>
          </a:p>
          <a:p>
            <a:pPr algn="ctr">
              <a:spcBef>
                <a:spcPct val="50000"/>
              </a:spcBef>
              <a:defRPr/>
            </a:pPr>
            <a:r>
              <a:rPr kumimoji="1" lang="zh-CN" altLang="en-US" sz="7000" b="1">
                <a:solidFill>
                  <a:srgbClr val="0A0A0E"/>
                </a:solidFill>
                <a:effectLst>
                  <a:outerShdw blurRad="38100" dist="38100" dir="2700000" algn="tl">
                    <a:srgbClr val="C0C0C0"/>
                  </a:outerShdw>
                </a:effectLst>
                <a:latin typeface="隶书" pitchFamily="49" charset="-122"/>
                <a:ea typeface="隶书" pitchFamily="49" charset="-122"/>
              </a:rPr>
              <a:t>管理信息系统的实施</a:t>
            </a:r>
            <a:endParaRPr kumimoji="1" lang="zh-CN" altLang="en-US" sz="7000" b="1">
              <a:solidFill>
                <a:srgbClr val="0A0A0E"/>
              </a:solidFill>
              <a:effectLst>
                <a:outerShdw blurRad="38100" dist="38100" dir="2700000" algn="tl">
                  <a:srgbClr val="C0C0C0"/>
                </a:outerShdw>
              </a:effectLst>
              <a:latin typeface="隶书" pitchFamily="49" charset="-122"/>
              <a:ea typeface="隶书" pitchFamily="49" charset="-122"/>
            </a:endParaRPr>
          </a:p>
        </p:txBody>
      </p:sp>
    </p:spTree>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827088" y="1989138"/>
            <a:ext cx="7643812" cy="3960812"/>
          </a:xfrm>
          <a:noFill/>
        </p:spPr>
        <p:txBody>
          <a:bodyPr/>
          <a:lstStyle/>
          <a:p>
            <a:pPr marL="355600" indent="-355600" algn="just" eaLnBrk="1" hangingPunct="1">
              <a:spcBef>
                <a:spcPct val="30000"/>
              </a:spcBef>
              <a:buClr>
                <a:schemeClr val="accent2"/>
              </a:buClr>
              <a:buSzPct val="70000"/>
              <a:buFont typeface="Wingdings" panose="05000000000000000000" pitchFamily="2" charset="2"/>
              <a:buNone/>
              <a:tabLst>
                <a:tab pos="355600" algn="l"/>
              </a:tabLst>
            </a:pPr>
            <a:r>
              <a:rPr kumimoji="1" lang="en-US" altLang="zh-CN" sz="2800" b="1" smtClean="0">
                <a:solidFill>
                  <a:schemeClr val="tx1"/>
                </a:solidFill>
              </a:rPr>
              <a:t>   </a:t>
            </a:r>
            <a:r>
              <a:rPr kumimoji="1" lang="zh-CN" altLang="en-US" sz="2800" b="1" smtClean="0">
                <a:solidFill>
                  <a:schemeClr val="tx1"/>
                </a:solidFill>
              </a:rPr>
              <a:t>系统实施的任务是实现系统设计阶段提出的物理模型，按实施方案完成一个可以实际运行的信息系统，交付用户使用。</a:t>
            </a:r>
            <a:endParaRPr lang="zh-CN" altLang="en-US" b="1" smtClean="0"/>
          </a:p>
          <a:p>
            <a:pPr marL="355600" indent="-355600" algn="just" eaLnBrk="1" hangingPunct="1">
              <a:spcBef>
                <a:spcPct val="30000"/>
              </a:spcBef>
              <a:buClr>
                <a:schemeClr val="accent2"/>
              </a:buClr>
              <a:buSzPct val="70000"/>
              <a:buFont typeface="Wingdings" panose="05000000000000000000" pitchFamily="2" charset="2"/>
              <a:buChar char="q"/>
              <a:tabLst>
                <a:tab pos="355600" algn="l"/>
              </a:tabLst>
            </a:pPr>
            <a:r>
              <a:rPr lang="zh-CN" altLang="en-US" b="1" smtClean="0"/>
              <a:t>理解系统实施的工作内容；</a:t>
            </a:r>
            <a:endParaRPr lang="zh-CN" altLang="en-US" b="1" smtClean="0"/>
          </a:p>
          <a:p>
            <a:pPr marL="355600" indent="-355600" algn="just" eaLnBrk="1" hangingPunct="1">
              <a:spcBef>
                <a:spcPct val="30000"/>
              </a:spcBef>
              <a:buClr>
                <a:schemeClr val="accent2"/>
              </a:buClr>
              <a:buSzPct val="70000"/>
              <a:buFont typeface="Wingdings" panose="05000000000000000000" pitchFamily="2" charset="2"/>
              <a:buChar char="q"/>
              <a:tabLst>
                <a:tab pos="355600" algn="l"/>
              </a:tabLst>
            </a:pPr>
            <a:r>
              <a:rPr lang="zh-CN" altLang="en-US" b="1" smtClean="0"/>
              <a:t>了解软件测试的概念和方法；</a:t>
            </a:r>
            <a:endParaRPr lang="zh-CN" altLang="en-US" b="1" smtClean="0"/>
          </a:p>
          <a:p>
            <a:pPr marL="355600" indent="-355600" algn="just" eaLnBrk="1" hangingPunct="1">
              <a:spcBef>
                <a:spcPct val="30000"/>
              </a:spcBef>
              <a:buClr>
                <a:schemeClr val="accent2"/>
              </a:buClr>
              <a:buSzPct val="70000"/>
              <a:buFont typeface="Wingdings" panose="05000000000000000000" pitchFamily="2" charset="2"/>
              <a:buChar char="q"/>
              <a:tabLst>
                <a:tab pos="355600" algn="l"/>
              </a:tabLst>
            </a:pPr>
            <a:r>
              <a:rPr lang="zh-CN" altLang="en-US" b="1" smtClean="0"/>
              <a:t>掌握系统转换的方式。</a:t>
            </a:r>
            <a:endParaRPr lang="zh-CN" altLang="en-US" b="1" smtClean="0"/>
          </a:p>
        </p:txBody>
      </p:sp>
      <p:sp>
        <p:nvSpPr>
          <p:cNvPr id="5123" name="Rectangle 3"/>
          <p:cNvSpPr>
            <a:spLocks noGrp="1" noChangeArrowheads="1"/>
          </p:cNvSpPr>
          <p:nvPr>
            <p:ph type="title"/>
          </p:nvPr>
        </p:nvSpPr>
        <p:spPr>
          <a:xfrm>
            <a:off x="1116013" y="692150"/>
            <a:ext cx="7342187" cy="1143000"/>
          </a:xfrm>
          <a:noFill/>
        </p:spPr>
        <p:txBody>
          <a:bodyPr/>
          <a:lstStyle/>
          <a:p>
            <a:pPr eaLnBrk="1" hangingPunct="1"/>
            <a:r>
              <a:rPr lang="zh-CN" altLang="en-US" b="1" smtClean="0">
                <a:solidFill>
                  <a:srgbClr val="0A0A0E"/>
                </a:solidFill>
              </a:rPr>
              <a:t>本章学习目标</a:t>
            </a:r>
            <a:endParaRPr lang="zh-CN" altLang="en-US" b="1" smtClean="0">
              <a:solidFill>
                <a:srgbClr val="0A0A0E"/>
              </a:solidFill>
            </a:endParaRPr>
          </a:p>
        </p:txBody>
      </p:sp>
    </p:spTree>
  </p:cSld>
  <p:clrMapOvr>
    <a:masterClrMapping/>
  </p:clrMapOvr>
  <p:transition>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title"/>
          </p:nvPr>
        </p:nvSpPr>
        <p:spPr>
          <a:xfrm>
            <a:off x="1331913" y="620713"/>
            <a:ext cx="7332662" cy="1143000"/>
          </a:xfrm>
          <a:noFill/>
        </p:spPr>
        <p:txBody>
          <a:bodyPr/>
          <a:lstStyle/>
          <a:p>
            <a:pPr eaLnBrk="1" hangingPunct="1"/>
            <a:r>
              <a:rPr lang="zh-CN" altLang="en-US" b="1" smtClean="0">
                <a:solidFill>
                  <a:srgbClr val="0A0A0E"/>
                </a:solidFill>
              </a:rPr>
              <a:t>第六章 管理信息系统的实施</a:t>
            </a:r>
            <a:endParaRPr lang="zh-CN" altLang="en-US" b="1" smtClean="0">
              <a:solidFill>
                <a:srgbClr val="0A0A0E"/>
              </a:solidFill>
            </a:endParaRPr>
          </a:p>
        </p:txBody>
      </p:sp>
      <p:sp>
        <p:nvSpPr>
          <p:cNvPr id="1564676" name="AutoShape 4">
            <a:hlinkClick r:id="rId1" action="ppaction://hlinksldjump" highlightClick="1"/>
          </p:cNvPr>
          <p:cNvSpPr>
            <a:spLocks noChangeArrowheads="1"/>
          </p:cNvSpPr>
          <p:nvPr/>
        </p:nvSpPr>
        <p:spPr bwMode="auto">
          <a:xfrm>
            <a:off x="1835150" y="2060575"/>
            <a:ext cx="5486400" cy="690563"/>
          </a:xfrm>
          <a:prstGeom prst="actionButtonBlank">
            <a:avLst/>
          </a:prstGeom>
          <a:noFill/>
          <a:ln w="9525">
            <a:noFill/>
            <a:miter lim="800000"/>
          </a:ln>
          <a:effectLst/>
        </p:spPr>
        <p:txBody>
          <a:bodyPr wrap="none"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 </a:t>
            </a:r>
            <a:r>
              <a:rPr kumimoji="1" lang="en-US" altLang="zh-CN" sz="3200" b="1">
                <a:latin typeface="Times New Roman" panose="02020603050405020304" pitchFamily="18" charset="0"/>
              </a:rPr>
              <a:t>6.1 </a:t>
            </a:r>
            <a:r>
              <a:rPr kumimoji="1" lang="zh-CN" altLang="en-US" sz="3200" b="1">
                <a:latin typeface="Times New Roman" panose="02020603050405020304" pitchFamily="18" charset="0"/>
              </a:rPr>
              <a:t>物理系统的实施</a:t>
            </a:r>
            <a:endParaRPr kumimoji="1" lang="zh-CN" altLang="en-US" sz="3200" b="1">
              <a:latin typeface="Times New Roman" panose="02020603050405020304" pitchFamily="18" charset="0"/>
            </a:endParaRPr>
          </a:p>
        </p:txBody>
      </p:sp>
      <p:sp>
        <p:nvSpPr>
          <p:cNvPr id="6148" name="AutoShape 5">
            <a:hlinkClick r:id="rId2" action="ppaction://hlinksldjump" highlightClick="1"/>
          </p:cNvPr>
          <p:cNvSpPr>
            <a:spLocks noChangeArrowheads="1"/>
          </p:cNvSpPr>
          <p:nvPr/>
        </p:nvSpPr>
        <p:spPr bwMode="auto">
          <a:xfrm>
            <a:off x="1828800" y="2852738"/>
            <a:ext cx="5486400" cy="690562"/>
          </a:xfrm>
          <a:prstGeom prst="actionButtonBlank">
            <a:avLst/>
          </a:prstGeom>
          <a:noFill/>
          <a:ln w="9525">
            <a:noFill/>
            <a:miter lim="800000"/>
          </a:ln>
        </p:spPr>
        <p:txBody>
          <a:bodyPr wrap="none" anchor="ctr"/>
          <a:lstStyle/>
          <a:p>
            <a:r>
              <a:rPr kumimoji="1" lang="en-US" altLang="zh-CN" sz="3200" b="1">
                <a:latin typeface="Times New Roman" panose="02020603050405020304" pitchFamily="18" charset="0"/>
              </a:rPr>
              <a:t> 6.2 </a:t>
            </a:r>
            <a:r>
              <a:rPr kumimoji="1" lang="zh-CN" altLang="en-US" sz="3200" b="1">
                <a:latin typeface="Times New Roman" panose="02020603050405020304" pitchFamily="18" charset="0"/>
              </a:rPr>
              <a:t>程序设计</a:t>
            </a:r>
            <a:endParaRPr kumimoji="1" lang="zh-CN" altLang="en-US" sz="3200" b="1">
              <a:latin typeface="Times New Roman" panose="02020603050405020304" pitchFamily="18" charset="0"/>
            </a:endParaRPr>
          </a:p>
        </p:txBody>
      </p:sp>
      <p:sp>
        <p:nvSpPr>
          <p:cNvPr id="6149" name="AutoShape 6">
            <a:hlinkClick r:id="rId3" action="ppaction://hlinksldjump" highlightClick="1"/>
          </p:cNvPr>
          <p:cNvSpPr>
            <a:spLocks noChangeArrowheads="1"/>
          </p:cNvSpPr>
          <p:nvPr/>
        </p:nvSpPr>
        <p:spPr bwMode="auto">
          <a:xfrm>
            <a:off x="1835150" y="3644900"/>
            <a:ext cx="5486400" cy="690563"/>
          </a:xfrm>
          <a:prstGeom prst="actionButtonBlank">
            <a:avLst/>
          </a:prstGeom>
          <a:noFill/>
          <a:ln w="9525">
            <a:noFill/>
            <a:miter lim="800000"/>
          </a:ln>
        </p:spPr>
        <p:txBody>
          <a:bodyPr wrap="none" anchor="ctr"/>
          <a:lstStyle/>
          <a:p>
            <a:r>
              <a:rPr kumimoji="1" lang="en-US" altLang="zh-CN" sz="3200" b="1">
                <a:latin typeface="Times New Roman" panose="02020603050405020304" pitchFamily="18" charset="0"/>
              </a:rPr>
              <a:t> 6.3 </a:t>
            </a:r>
            <a:r>
              <a:rPr kumimoji="1" lang="zh-CN" altLang="en-US" sz="3200" b="1">
                <a:latin typeface="Times New Roman" panose="02020603050405020304" pitchFamily="18" charset="0"/>
              </a:rPr>
              <a:t>软件测试与调试</a:t>
            </a:r>
            <a:endParaRPr kumimoji="1" lang="zh-CN" altLang="en-US" sz="3200" b="1">
              <a:latin typeface="Times New Roman" panose="02020603050405020304" pitchFamily="18" charset="0"/>
            </a:endParaRPr>
          </a:p>
        </p:txBody>
      </p:sp>
      <p:sp>
        <p:nvSpPr>
          <p:cNvPr id="6150" name="AutoShape 10">
            <a:hlinkClick r:id="rId4" action="ppaction://hlinksldjump" highlightClick="1"/>
          </p:cNvPr>
          <p:cNvSpPr>
            <a:spLocks noChangeArrowheads="1"/>
          </p:cNvSpPr>
          <p:nvPr/>
        </p:nvSpPr>
        <p:spPr bwMode="auto">
          <a:xfrm>
            <a:off x="1835150" y="4437063"/>
            <a:ext cx="2665413" cy="690562"/>
          </a:xfrm>
          <a:prstGeom prst="actionButtonBlank">
            <a:avLst/>
          </a:prstGeom>
          <a:noFill/>
          <a:ln w="9525">
            <a:noFill/>
            <a:miter lim="800000"/>
          </a:ln>
        </p:spPr>
        <p:txBody>
          <a:bodyPr wrap="none" anchor="ctr"/>
          <a:lstStyle/>
          <a:p>
            <a:r>
              <a:rPr kumimoji="1" lang="en-US" altLang="zh-CN" sz="3200" b="1">
                <a:latin typeface="Times New Roman" panose="02020603050405020304" pitchFamily="18" charset="0"/>
              </a:rPr>
              <a:t> 6.4 </a:t>
            </a:r>
            <a:r>
              <a:rPr kumimoji="1" lang="zh-CN" altLang="en-US" sz="3200" b="1">
                <a:latin typeface="Times New Roman" panose="02020603050405020304" pitchFamily="18" charset="0"/>
              </a:rPr>
              <a:t>人员培训</a:t>
            </a:r>
            <a:endParaRPr kumimoji="1" lang="zh-CN" altLang="en-US" sz="3200" b="1">
              <a:latin typeface="Times New Roman" panose="02020603050405020304" pitchFamily="18" charset="0"/>
            </a:endParaRPr>
          </a:p>
        </p:txBody>
      </p:sp>
      <p:sp>
        <p:nvSpPr>
          <p:cNvPr id="6151" name="AutoShape 11">
            <a:hlinkClick r:id="rId5" action="ppaction://hlinksldjump" highlightClick="1"/>
          </p:cNvPr>
          <p:cNvSpPr>
            <a:spLocks noChangeArrowheads="1"/>
          </p:cNvSpPr>
          <p:nvPr/>
        </p:nvSpPr>
        <p:spPr bwMode="auto">
          <a:xfrm>
            <a:off x="1979613" y="5157788"/>
            <a:ext cx="2665412" cy="690562"/>
          </a:xfrm>
          <a:prstGeom prst="actionButtonBlank">
            <a:avLst/>
          </a:prstGeom>
          <a:noFill/>
          <a:ln w="9525">
            <a:noFill/>
            <a:miter lim="800000"/>
          </a:ln>
        </p:spPr>
        <p:txBody>
          <a:bodyPr wrap="none" anchor="ctr"/>
          <a:lstStyle/>
          <a:p>
            <a:r>
              <a:rPr kumimoji="1" lang="en-US" altLang="zh-CN" sz="3200" b="1">
                <a:latin typeface="Times New Roman" panose="02020603050405020304" pitchFamily="18" charset="0"/>
              </a:rPr>
              <a:t>6.5 </a:t>
            </a:r>
            <a:r>
              <a:rPr kumimoji="1" lang="zh-CN" altLang="en-US" sz="3200" b="1">
                <a:latin typeface="Times New Roman" panose="02020603050405020304" pitchFamily="18" charset="0"/>
              </a:rPr>
              <a:t>系统转换</a:t>
            </a:r>
            <a:endParaRPr kumimoji="1" lang="zh-CN" altLang="en-US" sz="3200" b="1">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sz="3600" smtClean="0">
                <a:solidFill>
                  <a:schemeClr val="tx1"/>
                </a:solidFill>
              </a:rPr>
              <a:t>第六章 管理信息系统的实施</a:t>
            </a:r>
            <a:endParaRPr lang="zh-CN" altLang="en-US" sz="3600" smtClean="0">
              <a:solidFill>
                <a:schemeClr val="tx1"/>
              </a:solidFill>
            </a:endParaRPr>
          </a:p>
        </p:txBody>
      </p:sp>
      <p:sp>
        <p:nvSpPr>
          <p:cNvPr id="7171" name="Rectangle 3"/>
          <p:cNvSpPr>
            <a:spLocks noGrp="1" noChangeArrowheads="1"/>
          </p:cNvSpPr>
          <p:nvPr>
            <p:ph type="body" idx="1"/>
          </p:nvPr>
        </p:nvSpPr>
        <p:spPr>
          <a:xfrm>
            <a:off x="611188" y="1989138"/>
            <a:ext cx="7345362" cy="4143375"/>
          </a:xfrm>
        </p:spPr>
        <p:txBody>
          <a:bodyPr/>
          <a:lstStyle/>
          <a:p>
            <a:pPr marL="685800" indent="-685800" algn="just" eaLnBrk="1" hangingPunct="1">
              <a:buFont typeface="Wingdings" panose="05000000000000000000" pitchFamily="2" charset="2"/>
              <a:buNone/>
            </a:pPr>
            <a:r>
              <a:rPr lang="en-US" altLang="zh-CN" b="1" smtClean="0">
                <a:solidFill>
                  <a:schemeClr val="tx1"/>
                </a:solidFill>
              </a:rPr>
              <a:t> </a:t>
            </a:r>
            <a:r>
              <a:rPr lang="zh-CN" altLang="en-US" b="1" smtClean="0">
                <a:solidFill>
                  <a:schemeClr val="tx1"/>
                </a:solidFill>
                <a:latin typeface="Times New Roman" panose="02020603050405020304" pitchFamily="18" charset="0"/>
              </a:rPr>
              <a:t>系统实施概述</a:t>
            </a:r>
            <a:endParaRPr lang="zh-CN" altLang="en-US" b="1" smtClean="0">
              <a:solidFill>
                <a:schemeClr val="tx1"/>
              </a:solidFill>
              <a:latin typeface="Times New Roman" panose="02020603050405020304" pitchFamily="18" charset="0"/>
            </a:endParaRPr>
          </a:p>
          <a:p>
            <a:pPr marL="1081405" lvl="1" indent="-609600" algn="just" eaLnBrk="1" hangingPunct="1">
              <a:buFont typeface="Wingdings" panose="05000000000000000000" pitchFamily="2" charset="2"/>
              <a:buNone/>
            </a:pPr>
            <a:r>
              <a:rPr lang="zh-CN" altLang="en-US" b="1" smtClean="0">
                <a:solidFill>
                  <a:schemeClr val="tx1"/>
                </a:solidFill>
              </a:rPr>
              <a:t> </a:t>
            </a:r>
            <a:r>
              <a:rPr lang="zh-CN" altLang="en-US" b="1" smtClean="0">
                <a:solidFill>
                  <a:schemeClr val="tx1"/>
                </a:solidFill>
                <a:latin typeface="Times New Roman" panose="02020603050405020304" pitchFamily="18" charset="0"/>
              </a:rPr>
              <a:t>系统实施的任务</a:t>
            </a:r>
            <a:endParaRPr lang="zh-CN" altLang="en-US" b="1" smtClean="0">
              <a:solidFill>
                <a:schemeClr val="tx1"/>
              </a:solidFill>
              <a:latin typeface="Times New Roman" panose="02020603050405020304" pitchFamily="18" charset="0"/>
            </a:endParaRPr>
          </a:p>
          <a:p>
            <a:pPr marL="1443355" lvl="2" indent="-533400" algn="just" eaLnBrk="1" hangingPunct="1"/>
            <a:r>
              <a:rPr lang="zh-CN" altLang="en-US" b="1" smtClean="0">
                <a:solidFill>
                  <a:schemeClr val="tx1"/>
                </a:solidFill>
              </a:rPr>
              <a:t>系统实施的任务是以系统设计方案为依据，按照系统实施方案进行具体的实现，最终组建出一个能够实际运行的系统，交付用户使用。</a:t>
            </a:r>
            <a:endParaRPr lang="zh-CN" altLang="en-US" b="1" smtClean="0">
              <a:solidFill>
                <a:schemeClr val="tx1"/>
              </a:solidFill>
            </a:endParaRPr>
          </a:p>
          <a:p>
            <a:pPr marL="1443355" lvl="2" indent="-533400" algn="just" eaLnBrk="1" hangingPunct="1"/>
            <a:r>
              <a:rPr lang="zh-CN" altLang="en-US" b="1" smtClean="0">
                <a:solidFill>
                  <a:schemeClr val="tx1"/>
                </a:solidFill>
              </a:rPr>
              <a:t>具体任务包括：硬件准备、软件准备、人员培训、数据准备</a:t>
            </a:r>
            <a:endParaRPr lang="zh-CN" altLang="en-US" b="1" smtClean="0">
              <a:solidFill>
                <a:schemeClr val="tx1"/>
              </a:solidFill>
            </a:endParaRPr>
          </a:p>
        </p:txBody>
      </p:sp>
    </p:spTree>
  </p:cSld>
  <p:clrMapOvr>
    <a:masterClrMapping/>
  </p:clrMapOvr>
  <p:transition>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611188" y="1773238"/>
            <a:ext cx="2139950" cy="711200"/>
          </a:xfrm>
          <a:prstGeom prst="rect">
            <a:avLst/>
          </a:prstGeom>
          <a:noFill/>
          <a:ln w="9525" algn="ctr">
            <a:noFill/>
            <a:miter lim="800000"/>
          </a:ln>
        </p:spPr>
        <p:txBody>
          <a:bodyPr wrap="none">
            <a:spAutoFit/>
          </a:bodyPr>
          <a:lstStyle/>
          <a:p>
            <a:pPr>
              <a:lnSpc>
                <a:spcPct val="145000"/>
              </a:lnSpc>
            </a:pPr>
            <a:r>
              <a:rPr lang="en-US" altLang="zh-CN" sz="2800" b="1">
                <a:latin typeface="华文中宋" pitchFamily="2" charset="-122"/>
                <a:ea typeface="华文中宋" pitchFamily="2" charset="-122"/>
              </a:rPr>
              <a:t>1</a:t>
            </a:r>
            <a:r>
              <a:rPr lang="zh-CN" altLang="en-US" sz="2800" b="1">
                <a:latin typeface="华文中宋" pitchFamily="2" charset="-122"/>
                <a:ea typeface="华文中宋" pitchFamily="2" charset="-122"/>
              </a:rPr>
              <a:t>、硬件准备</a:t>
            </a:r>
            <a:endParaRPr lang="zh-CN" altLang="en-US" sz="2800" b="1">
              <a:latin typeface="华文中宋" pitchFamily="2" charset="-122"/>
              <a:ea typeface="华文中宋" pitchFamily="2" charset="-122"/>
            </a:endParaRPr>
          </a:p>
        </p:txBody>
      </p:sp>
      <p:sp>
        <p:nvSpPr>
          <p:cNvPr id="8195" name="Text Box 3"/>
          <p:cNvSpPr txBox="1">
            <a:spLocks noChangeArrowheads="1"/>
          </p:cNvSpPr>
          <p:nvPr/>
        </p:nvSpPr>
        <p:spPr bwMode="auto">
          <a:xfrm>
            <a:off x="611188" y="2565400"/>
            <a:ext cx="8064500" cy="1152525"/>
          </a:xfrm>
          <a:prstGeom prst="rect">
            <a:avLst/>
          </a:prstGeom>
          <a:noFill/>
          <a:ln w="9525" algn="ctr">
            <a:noFill/>
            <a:miter lim="800000"/>
          </a:ln>
        </p:spPr>
        <p:txBody>
          <a:bodyPr>
            <a:spAutoFit/>
          </a:bodyPr>
          <a:lstStyle/>
          <a:p>
            <a:pPr>
              <a:lnSpc>
                <a:spcPct val="145000"/>
              </a:lnSpc>
            </a:pPr>
            <a:r>
              <a:rPr lang="en-US" altLang="zh-CN" sz="2000">
                <a:latin typeface="Arial" panose="020B0604020202020204" pitchFamily="34" charset="0"/>
              </a:rPr>
              <a:t>         </a:t>
            </a:r>
            <a:r>
              <a:rPr lang="zh-CN" altLang="en-US" b="1">
                <a:latin typeface="Arial" panose="020B0604020202020204" pitchFamily="34" charset="0"/>
                <a:ea typeface="楷体_GB2312" pitchFamily="49" charset="-122"/>
              </a:rPr>
              <a:t>硬件准备包括计算机主机、输入输出设备、存储设备、辅助设备（稳压电源、空调设备）、通信设备等。</a:t>
            </a:r>
            <a:endParaRPr lang="zh-CN" altLang="en-US" b="1">
              <a:latin typeface="Arial" panose="020B0604020202020204" pitchFamily="34" charset="0"/>
              <a:ea typeface="楷体_GB2312" pitchFamily="49" charset="-122"/>
            </a:endParaRPr>
          </a:p>
        </p:txBody>
      </p:sp>
      <p:sp>
        <p:nvSpPr>
          <p:cNvPr id="8196" name="Text Box 4"/>
          <p:cNvSpPr txBox="1">
            <a:spLocks noChangeArrowheads="1"/>
          </p:cNvSpPr>
          <p:nvPr/>
        </p:nvSpPr>
        <p:spPr bwMode="auto">
          <a:xfrm>
            <a:off x="611188" y="3789363"/>
            <a:ext cx="2139950" cy="711200"/>
          </a:xfrm>
          <a:prstGeom prst="rect">
            <a:avLst/>
          </a:prstGeom>
          <a:noFill/>
          <a:ln w="9525" algn="ctr">
            <a:noFill/>
            <a:miter lim="800000"/>
          </a:ln>
        </p:spPr>
        <p:txBody>
          <a:bodyPr wrap="none">
            <a:spAutoFit/>
          </a:bodyPr>
          <a:lstStyle/>
          <a:p>
            <a:pPr>
              <a:lnSpc>
                <a:spcPct val="145000"/>
              </a:lnSpc>
            </a:pPr>
            <a:r>
              <a:rPr lang="en-US" altLang="zh-CN" sz="2800" b="1">
                <a:latin typeface="华文中宋" pitchFamily="2" charset="-122"/>
                <a:ea typeface="华文中宋" pitchFamily="2" charset="-122"/>
              </a:rPr>
              <a:t>2</a:t>
            </a:r>
            <a:r>
              <a:rPr lang="zh-CN" altLang="en-US" sz="2800" b="1">
                <a:latin typeface="华文中宋" pitchFamily="2" charset="-122"/>
                <a:ea typeface="华文中宋" pitchFamily="2" charset="-122"/>
              </a:rPr>
              <a:t>、软件准备</a:t>
            </a:r>
            <a:endParaRPr lang="zh-CN" altLang="en-US" sz="2800" b="1">
              <a:latin typeface="华文中宋" pitchFamily="2" charset="-122"/>
              <a:ea typeface="华文中宋" pitchFamily="2" charset="-122"/>
            </a:endParaRPr>
          </a:p>
        </p:txBody>
      </p:sp>
      <p:sp>
        <p:nvSpPr>
          <p:cNvPr id="8197" name="Text Box 5"/>
          <p:cNvSpPr txBox="1">
            <a:spLocks noChangeArrowheads="1"/>
          </p:cNvSpPr>
          <p:nvPr/>
        </p:nvSpPr>
        <p:spPr bwMode="auto">
          <a:xfrm>
            <a:off x="611188" y="4767263"/>
            <a:ext cx="7848600" cy="1152525"/>
          </a:xfrm>
          <a:prstGeom prst="rect">
            <a:avLst/>
          </a:prstGeom>
          <a:noFill/>
          <a:ln w="9525" algn="ctr">
            <a:noFill/>
            <a:miter lim="800000"/>
          </a:ln>
        </p:spPr>
        <p:txBody>
          <a:bodyPr>
            <a:spAutoFit/>
          </a:bodyPr>
          <a:lstStyle/>
          <a:p>
            <a:pPr>
              <a:lnSpc>
                <a:spcPct val="145000"/>
              </a:lnSpc>
            </a:pPr>
            <a:r>
              <a:rPr lang="en-US" altLang="zh-CN" b="1">
                <a:latin typeface="Arial" panose="020B0604020202020204" pitchFamily="34" charset="0"/>
                <a:ea typeface="楷体_GB2312" pitchFamily="49" charset="-122"/>
              </a:rPr>
              <a:t>        </a:t>
            </a:r>
            <a:r>
              <a:rPr lang="zh-CN" altLang="en-US" b="1">
                <a:latin typeface="Arial" panose="020B0604020202020204" pitchFamily="34" charset="0"/>
                <a:ea typeface="楷体_GB2312" pitchFamily="49" charset="-122"/>
              </a:rPr>
              <a:t>软件包括系统软件、数据库管理系统以及一些应用软件。</a:t>
            </a:r>
            <a:endParaRPr lang="zh-CN" altLang="en-US" b="1">
              <a:latin typeface="Arial" panose="020B0604020202020204" pitchFamily="34" charset="0"/>
              <a:ea typeface="楷体_GB2312" pitchFamily="49" charset="-122"/>
            </a:endParaRPr>
          </a:p>
        </p:txBody>
      </p:sp>
      <p:sp>
        <p:nvSpPr>
          <p:cNvPr id="8198" name="Rectangle 6"/>
          <p:cNvSpPr>
            <a:spLocks noGrp="1" noChangeArrowheads="1"/>
          </p:cNvSpPr>
          <p:nvPr>
            <p:ph type="title"/>
          </p:nvPr>
        </p:nvSpPr>
        <p:spPr/>
        <p:txBody>
          <a:bodyPr/>
          <a:lstStyle/>
          <a:p>
            <a:pPr eaLnBrk="1" hangingPunct="1"/>
            <a:r>
              <a:rPr lang="zh-CN" altLang="en-US" sz="3600" smtClean="0">
                <a:solidFill>
                  <a:schemeClr val="tx1"/>
                </a:solidFill>
              </a:rPr>
              <a:t>第六章 管理信息系统的实施</a:t>
            </a:r>
            <a:endParaRPr lang="zh-CN" altLang="en-US" sz="3600" smtClean="0">
              <a:solidFill>
                <a:schemeClr val="tx1"/>
              </a:solidFill>
            </a:endParaRPr>
          </a:p>
        </p:txBody>
      </p:sp>
    </p:spTree>
  </p:cSld>
  <p:clrMapOvr>
    <a:masterClrMapping/>
  </p:clrMapOvr>
  <p:transition>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827088" y="1844675"/>
            <a:ext cx="2139950" cy="711200"/>
          </a:xfrm>
          <a:prstGeom prst="rect">
            <a:avLst/>
          </a:prstGeom>
          <a:noFill/>
          <a:ln w="9525" algn="ctr">
            <a:noFill/>
            <a:miter lim="800000"/>
          </a:ln>
        </p:spPr>
        <p:txBody>
          <a:bodyPr wrap="none">
            <a:spAutoFit/>
          </a:bodyPr>
          <a:lstStyle/>
          <a:p>
            <a:pPr>
              <a:lnSpc>
                <a:spcPct val="145000"/>
              </a:lnSpc>
            </a:pPr>
            <a:r>
              <a:rPr lang="en-US" altLang="zh-CN" sz="2800" b="1">
                <a:latin typeface="华文中宋" pitchFamily="2" charset="-122"/>
                <a:ea typeface="华文中宋" pitchFamily="2" charset="-122"/>
              </a:rPr>
              <a:t>3</a:t>
            </a:r>
            <a:r>
              <a:rPr lang="zh-CN" altLang="en-US" sz="2800" b="1">
                <a:latin typeface="华文中宋" pitchFamily="2" charset="-122"/>
                <a:ea typeface="华文中宋" pitchFamily="2" charset="-122"/>
              </a:rPr>
              <a:t>、人员培训</a:t>
            </a:r>
            <a:endParaRPr lang="zh-CN" altLang="en-US" sz="2800" b="1">
              <a:latin typeface="华文中宋" pitchFamily="2" charset="-122"/>
              <a:ea typeface="华文中宋" pitchFamily="2" charset="-122"/>
            </a:endParaRPr>
          </a:p>
        </p:txBody>
      </p:sp>
      <p:sp>
        <p:nvSpPr>
          <p:cNvPr id="9219" name="Text Box 3"/>
          <p:cNvSpPr txBox="1">
            <a:spLocks noChangeArrowheads="1"/>
          </p:cNvSpPr>
          <p:nvPr/>
        </p:nvSpPr>
        <p:spPr bwMode="auto">
          <a:xfrm>
            <a:off x="827088" y="2411413"/>
            <a:ext cx="7208837" cy="622300"/>
          </a:xfrm>
          <a:prstGeom prst="rect">
            <a:avLst/>
          </a:prstGeom>
          <a:noFill/>
          <a:ln w="9525" algn="ctr">
            <a:noFill/>
            <a:miter lim="800000"/>
          </a:ln>
        </p:spPr>
        <p:txBody>
          <a:bodyPr>
            <a:spAutoFit/>
          </a:bodyPr>
          <a:lstStyle/>
          <a:p>
            <a:pPr>
              <a:lnSpc>
                <a:spcPct val="145000"/>
              </a:lnSpc>
            </a:pPr>
            <a:r>
              <a:rPr lang="en-US" altLang="zh-CN" b="1">
                <a:latin typeface="Arial" panose="020B0604020202020204" pitchFamily="34" charset="0"/>
                <a:ea typeface="楷体_GB2312" pitchFamily="49" charset="-122"/>
              </a:rPr>
              <a:t>     </a:t>
            </a:r>
            <a:r>
              <a:rPr lang="zh-CN" altLang="en-US" b="1">
                <a:latin typeface="Arial" panose="020B0604020202020204" pitchFamily="34" charset="0"/>
                <a:ea typeface="楷体_GB2312" pitchFamily="49" charset="-122"/>
              </a:rPr>
              <a:t>主要指用户培训，包括主管人员和业务人员。</a:t>
            </a:r>
            <a:endParaRPr lang="zh-CN" altLang="en-US" b="1">
              <a:latin typeface="Arial" panose="020B0604020202020204" pitchFamily="34" charset="0"/>
              <a:ea typeface="楷体_GB2312" pitchFamily="49" charset="-122"/>
            </a:endParaRPr>
          </a:p>
        </p:txBody>
      </p:sp>
      <p:sp>
        <p:nvSpPr>
          <p:cNvPr id="9220" name="Text Box 4"/>
          <p:cNvSpPr txBox="1">
            <a:spLocks noChangeArrowheads="1"/>
          </p:cNvSpPr>
          <p:nvPr/>
        </p:nvSpPr>
        <p:spPr bwMode="auto">
          <a:xfrm>
            <a:off x="827088" y="3306763"/>
            <a:ext cx="2139950" cy="711200"/>
          </a:xfrm>
          <a:prstGeom prst="rect">
            <a:avLst/>
          </a:prstGeom>
          <a:noFill/>
          <a:ln w="9525" algn="ctr">
            <a:noFill/>
            <a:miter lim="800000"/>
          </a:ln>
        </p:spPr>
        <p:txBody>
          <a:bodyPr wrap="none">
            <a:spAutoFit/>
          </a:bodyPr>
          <a:lstStyle/>
          <a:p>
            <a:pPr>
              <a:lnSpc>
                <a:spcPct val="145000"/>
              </a:lnSpc>
            </a:pPr>
            <a:r>
              <a:rPr lang="en-US" altLang="zh-CN" sz="2800" b="1">
                <a:latin typeface="华文中宋" pitchFamily="2" charset="-122"/>
                <a:ea typeface="华文中宋" pitchFamily="2" charset="-122"/>
              </a:rPr>
              <a:t>4</a:t>
            </a:r>
            <a:r>
              <a:rPr lang="zh-CN" altLang="en-US" sz="2800" b="1">
                <a:latin typeface="华文中宋" pitchFamily="2" charset="-122"/>
                <a:ea typeface="华文中宋" pitchFamily="2" charset="-122"/>
              </a:rPr>
              <a:t>、数据准备</a:t>
            </a:r>
            <a:endParaRPr lang="zh-CN" altLang="en-US" sz="2800" b="1">
              <a:latin typeface="华文中宋" pitchFamily="2" charset="-122"/>
              <a:ea typeface="华文中宋" pitchFamily="2" charset="-122"/>
            </a:endParaRPr>
          </a:p>
        </p:txBody>
      </p:sp>
      <p:sp>
        <p:nvSpPr>
          <p:cNvPr id="9221" name="Text Box 5"/>
          <p:cNvSpPr txBox="1">
            <a:spLocks noChangeArrowheads="1"/>
          </p:cNvSpPr>
          <p:nvPr/>
        </p:nvSpPr>
        <p:spPr bwMode="auto">
          <a:xfrm>
            <a:off x="827088" y="4140200"/>
            <a:ext cx="7569200" cy="1152525"/>
          </a:xfrm>
          <a:prstGeom prst="rect">
            <a:avLst/>
          </a:prstGeom>
          <a:noFill/>
          <a:ln w="9525" algn="ctr">
            <a:noFill/>
            <a:miter lim="800000"/>
          </a:ln>
        </p:spPr>
        <p:txBody>
          <a:bodyPr>
            <a:spAutoFit/>
          </a:bodyPr>
          <a:lstStyle/>
          <a:p>
            <a:pPr>
              <a:lnSpc>
                <a:spcPct val="145000"/>
              </a:lnSpc>
            </a:pPr>
            <a:r>
              <a:rPr lang="en-US" altLang="zh-CN" b="1">
                <a:latin typeface="Arial" panose="020B0604020202020204" pitchFamily="34" charset="0"/>
                <a:ea typeface="楷体_GB2312" pitchFamily="49" charset="-122"/>
              </a:rPr>
              <a:t>        </a:t>
            </a:r>
            <a:r>
              <a:rPr lang="zh-CN" altLang="en-US" b="1">
                <a:latin typeface="Arial" panose="020B0604020202020204" pitchFamily="34" charset="0"/>
                <a:ea typeface="楷体_GB2312" pitchFamily="49" charset="-122"/>
              </a:rPr>
              <a:t>没有一定的基础数据的准备，系统调试就不能很好的进行。</a:t>
            </a:r>
            <a:endParaRPr lang="zh-CN" altLang="en-US" b="1">
              <a:latin typeface="Arial" panose="020B0604020202020204" pitchFamily="34" charset="0"/>
              <a:ea typeface="楷体_GB2312" pitchFamily="49" charset="-122"/>
            </a:endParaRPr>
          </a:p>
        </p:txBody>
      </p:sp>
      <p:sp>
        <p:nvSpPr>
          <p:cNvPr id="9222" name="Rectangle 7"/>
          <p:cNvSpPr>
            <a:spLocks noChangeArrowheads="1"/>
          </p:cNvSpPr>
          <p:nvPr/>
        </p:nvSpPr>
        <p:spPr bwMode="auto">
          <a:xfrm>
            <a:off x="1403350" y="971550"/>
            <a:ext cx="5800725" cy="641350"/>
          </a:xfrm>
          <a:prstGeom prst="rect">
            <a:avLst/>
          </a:prstGeom>
          <a:noFill/>
          <a:ln w="9525" algn="ctr">
            <a:noFill/>
            <a:miter lim="800000"/>
          </a:ln>
        </p:spPr>
        <p:txBody>
          <a:bodyPr wrap="none" lIns="90000" tIns="46800" rIns="90000" bIns="46800">
            <a:spAutoFit/>
          </a:bodyPr>
          <a:lstStyle/>
          <a:p>
            <a:r>
              <a:rPr lang="zh-CN" altLang="en-US" sz="3600" b="1"/>
              <a:t>第六章 管理信息系统的实施</a:t>
            </a:r>
            <a:endParaRPr lang="zh-CN" altLang="en-US" sz="3600" b="1"/>
          </a:p>
        </p:txBody>
      </p:sp>
    </p:spTree>
  </p:cSld>
  <p:clrMapOvr>
    <a:masterClrMapping/>
  </p:clrMapOvr>
  <p:transition>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sz="3600" b="1" smtClean="0">
                <a:solidFill>
                  <a:schemeClr val="tx1"/>
                </a:solidFill>
              </a:rPr>
              <a:t>系统实施的工作流程</a:t>
            </a:r>
            <a:endParaRPr lang="zh-CN" altLang="en-US" sz="3600" b="1" smtClean="0">
              <a:solidFill>
                <a:schemeClr val="tx1"/>
              </a:solidFill>
            </a:endParaRPr>
          </a:p>
        </p:txBody>
      </p:sp>
      <p:pic>
        <p:nvPicPr>
          <p:cNvPr id="10243" name="Picture 3" descr="6"/>
          <p:cNvPicPr>
            <a:picLocks noChangeAspect="1" noChangeArrowheads="1"/>
          </p:cNvPicPr>
          <p:nvPr/>
        </p:nvPicPr>
        <p:blipFill>
          <a:blip r:embed="rId1" cstate="print"/>
          <a:srcRect/>
          <a:stretch>
            <a:fillRect/>
          </a:stretch>
        </p:blipFill>
        <p:spPr bwMode="auto">
          <a:xfrm>
            <a:off x="684213" y="1773238"/>
            <a:ext cx="7848600" cy="4384675"/>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sz="3600" b="1" smtClean="0">
                <a:solidFill>
                  <a:schemeClr val="tx1"/>
                </a:solidFill>
              </a:rPr>
              <a:t>第六章 管理信息系统实施</a:t>
            </a:r>
            <a:endParaRPr lang="zh-CN" altLang="en-US" sz="3600" b="1" smtClean="0">
              <a:solidFill>
                <a:schemeClr val="tx1"/>
              </a:solidFill>
            </a:endParaRPr>
          </a:p>
        </p:txBody>
      </p:sp>
      <p:sp>
        <p:nvSpPr>
          <p:cNvPr id="11267" name="Rectangle 3"/>
          <p:cNvSpPr>
            <a:spLocks noGrp="1" noChangeArrowheads="1"/>
          </p:cNvSpPr>
          <p:nvPr>
            <p:ph type="body" idx="1"/>
          </p:nvPr>
        </p:nvSpPr>
        <p:spPr/>
        <p:txBody>
          <a:bodyPr/>
          <a:lstStyle/>
          <a:p>
            <a:pPr marL="685800" indent="-685800" algn="just" eaLnBrk="1" hangingPunct="1">
              <a:buFont typeface="Wingdings" panose="05000000000000000000" pitchFamily="2" charset="2"/>
              <a:buNone/>
            </a:pPr>
            <a:r>
              <a:rPr lang="en-US" altLang="zh-CN" b="1" smtClean="0">
                <a:solidFill>
                  <a:schemeClr val="tx1"/>
                </a:solidFill>
              </a:rPr>
              <a:t>  </a:t>
            </a:r>
            <a:r>
              <a:rPr lang="zh-CN" altLang="en-US" b="1" smtClean="0">
                <a:solidFill>
                  <a:schemeClr val="tx1"/>
                </a:solidFill>
              </a:rPr>
              <a:t>系统实施的特点</a:t>
            </a:r>
            <a:endParaRPr lang="zh-CN" altLang="en-US" b="1" smtClean="0">
              <a:solidFill>
                <a:schemeClr val="tx1"/>
              </a:solidFill>
            </a:endParaRPr>
          </a:p>
          <a:p>
            <a:pPr marL="1081405" lvl="1" indent="-609600" algn="just" eaLnBrk="1" hangingPunct="1">
              <a:buFont typeface="Wingdings" panose="05000000000000000000" pitchFamily="2" charset="2"/>
              <a:buChar char="p"/>
            </a:pPr>
            <a:r>
              <a:rPr lang="zh-CN" altLang="en-US" b="1" smtClean="0">
                <a:solidFill>
                  <a:schemeClr val="tx1"/>
                </a:solidFill>
              </a:rPr>
              <a:t>工作量大</a:t>
            </a:r>
            <a:endParaRPr lang="zh-CN" altLang="en-US" b="1" smtClean="0">
              <a:solidFill>
                <a:schemeClr val="tx1"/>
              </a:solidFill>
            </a:endParaRPr>
          </a:p>
          <a:p>
            <a:pPr marL="1081405" lvl="1" indent="-609600" algn="just" eaLnBrk="1" hangingPunct="1">
              <a:buFont typeface="Wingdings" panose="05000000000000000000" pitchFamily="2" charset="2"/>
              <a:buChar char="p"/>
            </a:pPr>
            <a:r>
              <a:rPr lang="zh-CN" altLang="en-US" b="1" smtClean="0">
                <a:solidFill>
                  <a:schemeClr val="tx1"/>
                </a:solidFill>
              </a:rPr>
              <a:t>投入人力、物力多</a:t>
            </a:r>
            <a:endParaRPr lang="zh-CN" altLang="en-US" b="1" smtClean="0">
              <a:solidFill>
                <a:schemeClr val="tx1"/>
              </a:solidFill>
            </a:endParaRPr>
          </a:p>
          <a:p>
            <a:pPr marL="1081405" lvl="1" indent="-609600" algn="just" eaLnBrk="1" hangingPunct="1">
              <a:buFont typeface="Wingdings" panose="05000000000000000000" pitchFamily="2" charset="2"/>
              <a:buChar char="p"/>
            </a:pPr>
            <a:r>
              <a:rPr lang="zh-CN" altLang="en-US" b="1" smtClean="0">
                <a:solidFill>
                  <a:schemeClr val="tx1"/>
                </a:solidFill>
              </a:rPr>
              <a:t>组织管理工作繁重</a:t>
            </a:r>
            <a:endParaRPr lang="zh-CN" altLang="en-US" b="1" smtClean="0">
              <a:solidFill>
                <a:schemeClr val="tx1"/>
              </a:solidFill>
            </a:endParaRPr>
          </a:p>
          <a:p>
            <a:pPr marL="1081405" lvl="1" indent="-609600" algn="just" eaLnBrk="1" hangingPunct="1"/>
            <a:endParaRPr lang="en-US" altLang="zh-CN" b="1" smtClean="0">
              <a:solidFill>
                <a:schemeClr val="tx1"/>
              </a:solidFill>
            </a:endParaRPr>
          </a:p>
        </p:txBody>
      </p:sp>
    </p:spTree>
  </p:cSld>
  <p:clrMapOvr>
    <a:masterClrMapping/>
  </p:clrMapOvr>
  <p:transition>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sz="3600" b="1" smtClean="0">
                <a:solidFill>
                  <a:schemeClr val="tx1"/>
                </a:solidFill>
              </a:rPr>
              <a:t>第六章 管理信息系统实施</a:t>
            </a:r>
            <a:endParaRPr lang="zh-CN" altLang="en-US" sz="3600" b="1" smtClean="0">
              <a:solidFill>
                <a:schemeClr val="tx1"/>
              </a:solidFill>
            </a:endParaRPr>
          </a:p>
        </p:txBody>
      </p:sp>
      <p:sp>
        <p:nvSpPr>
          <p:cNvPr id="12291" name="Rectangle 3"/>
          <p:cNvSpPr>
            <a:spLocks noGrp="1" noChangeArrowheads="1"/>
          </p:cNvSpPr>
          <p:nvPr>
            <p:ph type="body" idx="1"/>
          </p:nvPr>
        </p:nvSpPr>
        <p:spPr/>
        <p:txBody>
          <a:bodyPr/>
          <a:lstStyle/>
          <a:p>
            <a:pPr marL="685800" indent="-685800" algn="just" eaLnBrk="1" hangingPunct="1">
              <a:buFont typeface="Wingdings" panose="05000000000000000000" pitchFamily="2" charset="2"/>
              <a:buNone/>
            </a:pPr>
            <a:r>
              <a:rPr lang="en-US" altLang="zh-CN" b="1" smtClean="0">
                <a:solidFill>
                  <a:schemeClr val="tx1"/>
                </a:solidFill>
              </a:rPr>
              <a:t> </a:t>
            </a:r>
            <a:r>
              <a:rPr lang="zh-CN" altLang="en-US" b="1" smtClean="0">
                <a:solidFill>
                  <a:schemeClr val="tx1"/>
                </a:solidFill>
              </a:rPr>
              <a:t>系统实施的方法</a:t>
            </a:r>
            <a:endParaRPr lang="zh-CN" altLang="en-US" b="1" smtClean="0">
              <a:solidFill>
                <a:schemeClr val="tx1"/>
              </a:solidFill>
            </a:endParaRPr>
          </a:p>
          <a:p>
            <a:pPr marL="1081405" lvl="1" indent="-609600" algn="just" eaLnBrk="1" hangingPunct="1">
              <a:buFont typeface="Wingdings" panose="05000000000000000000" pitchFamily="2" charset="2"/>
              <a:buChar char="p"/>
            </a:pPr>
            <a:r>
              <a:rPr lang="zh-CN" altLang="en-US" b="1" smtClean="0">
                <a:solidFill>
                  <a:schemeClr val="tx1"/>
                </a:solidFill>
              </a:rPr>
              <a:t>划分版本的基本原则</a:t>
            </a:r>
            <a:endParaRPr lang="zh-CN" altLang="en-US" b="1" smtClean="0">
              <a:solidFill>
                <a:schemeClr val="tx1"/>
              </a:solidFill>
            </a:endParaRPr>
          </a:p>
          <a:p>
            <a:pPr marL="1081405" lvl="1" indent="-609600" algn="just" eaLnBrk="1" hangingPunct="1">
              <a:buFont typeface="Wingdings" panose="05000000000000000000" pitchFamily="2" charset="2"/>
              <a:buChar char="p"/>
            </a:pPr>
            <a:r>
              <a:rPr lang="zh-CN" altLang="en-US" b="1" smtClean="0">
                <a:solidFill>
                  <a:schemeClr val="tx1"/>
                </a:solidFill>
              </a:rPr>
              <a:t>确定版本的规模</a:t>
            </a:r>
            <a:endParaRPr lang="zh-CN" altLang="en-US" b="1" smtClean="0">
              <a:solidFill>
                <a:schemeClr val="tx1"/>
              </a:solidFill>
            </a:endParaRPr>
          </a:p>
          <a:p>
            <a:pPr marL="1081405" lvl="1" indent="-609600" algn="just" eaLnBrk="1" hangingPunct="1">
              <a:buFont typeface="Wingdings" panose="05000000000000000000" pitchFamily="2" charset="2"/>
              <a:buChar char="p"/>
            </a:pPr>
            <a:r>
              <a:rPr lang="zh-CN" altLang="en-US" b="1" smtClean="0">
                <a:solidFill>
                  <a:schemeClr val="tx1"/>
                </a:solidFill>
              </a:rPr>
              <a:t>实现复杂模块的方法</a:t>
            </a:r>
            <a:endParaRPr lang="zh-CN" altLang="en-US" b="1" smtClean="0">
              <a:solidFill>
                <a:schemeClr val="tx1"/>
              </a:solidFill>
            </a:endParaRPr>
          </a:p>
          <a:p>
            <a:pPr marL="1081405" lvl="1" indent="-609600" algn="just" eaLnBrk="1" hangingPunct="1">
              <a:buFont typeface="Wingdings" panose="05000000000000000000" pitchFamily="2" charset="2"/>
              <a:buChar char="p"/>
            </a:pPr>
            <a:r>
              <a:rPr lang="zh-CN" altLang="en-US" b="1" smtClean="0">
                <a:solidFill>
                  <a:schemeClr val="tx1"/>
                </a:solidFill>
              </a:rPr>
              <a:t>安排实现模块的顺序</a:t>
            </a:r>
            <a:endParaRPr lang="zh-CN" altLang="en-US" b="1" smtClean="0">
              <a:solidFill>
                <a:schemeClr val="tx1"/>
              </a:solidFill>
            </a:endParaRPr>
          </a:p>
        </p:txBody>
      </p:sp>
    </p:spTree>
  </p:cSld>
  <p:clrMapOvr>
    <a:masterClrMapping/>
  </p:clrMapOvr>
  <p:transition>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50938" y="409575"/>
            <a:ext cx="7716837" cy="1171575"/>
          </a:xfrm>
          <a:noFill/>
        </p:spPr>
        <p:txBody>
          <a:bodyPr anchor="ctr"/>
          <a:lstStyle/>
          <a:p>
            <a:pPr eaLnBrk="1" hangingPunct="1"/>
            <a:r>
              <a:rPr lang="zh-CN" altLang="en-US" sz="4000" b="1" smtClean="0">
                <a:solidFill>
                  <a:schemeClr val="tx1"/>
                </a:solidFill>
              </a:rPr>
              <a:t>自顶向下的实现方法</a:t>
            </a:r>
            <a:endParaRPr lang="zh-CN" altLang="en-US" sz="4000" b="1" smtClean="0">
              <a:solidFill>
                <a:schemeClr val="tx1"/>
              </a:solidFill>
            </a:endParaRPr>
          </a:p>
        </p:txBody>
      </p:sp>
      <p:sp>
        <p:nvSpPr>
          <p:cNvPr id="1814531" name="Rectangle 3"/>
          <p:cNvSpPr>
            <a:spLocks noChangeArrowheads="1"/>
          </p:cNvSpPr>
          <p:nvPr>
            <p:ph type="body" sz="half" idx="1"/>
          </p:nvPr>
        </p:nvSpPr>
        <p:spPr>
          <a:xfrm>
            <a:off x="684213" y="2133600"/>
            <a:ext cx="8002587" cy="4419600"/>
          </a:xfrm>
        </p:spPr>
        <p:txBody>
          <a:bodyPr/>
          <a:lstStyle/>
          <a:p>
            <a:pPr marL="0" indent="184150" eaLnBrk="1" hangingPunct="1">
              <a:spcBef>
                <a:spcPct val="0"/>
              </a:spcBef>
              <a:buFont typeface="Wingdings" panose="05000000000000000000" pitchFamily="2" charset="2"/>
              <a:buNone/>
            </a:pPr>
            <a:r>
              <a:rPr lang="zh-CN" altLang="en-US" sz="2800" b="1" smtClean="0">
                <a:solidFill>
                  <a:schemeClr val="tx1"/>
                </a:solidFill>
              </a:rPr>
              <a:t>版本的划分需要考虑以下几个方面：</a:t>
            </a:r>
            <a:endParaRPr lang="zh-CN" altLang="en-US" sz="2800" b="1" smtClean="0">
              <a:solidFill>
                <a:schemeClr val="tx1"/>
              </a:solidFill>
            </a:endParaRPr>
          </a:p>
          <a:p>
            <a:pPr marL="0" indent="184150" eaLnBrk="1" hangingPunct="1">
              <a:spcBef>
                <a:spcPct val="0"/>
              </a:spcBef>
              <a:buFont typeface="Wingdings" panose="05000000000000000000" pitchFamily="2" charset="2"/>
              <a:buNone/>
            </a:pPr>
            <a:r>
              <a:rPr lang="en-US" altLang="zh-CN" sz="2800" b="1" smtClean="0">
                <a:solidFill>
                  <a:schemeClr val="tx1"/>
                </a:solidFill>
              </a:rPr>
              <a:t>(1)</a:t>
            </a:r>
            <a:r>
              <a:rPr lang="zh-CN" altLang="en-US" sz="2800" b="1" smtClean="0">
                <a:solidFill>
                  <a:schemeClr val="tx1"/>
                </a:solidFill>
              </a:rPr>
              <a:t>先实现控制部分，后实现执行部分，先上层后下层。 </a:t>
            </a:r>
            <a:endParaRPr lang="zh-CN" altLang="en-US" sz="2800" b="1" smtClean="0">
              <a:solidFill>
                <a:schemeClr val="tx1"/>
              </a:solidFill>
            </a:endParaRPr>
          </a:p>
          <a:p>
            <a:pPr marL="0" indent="184150" eaLnBrk="1" hangingPunct="1">
              <a:spcBef>
                <a:spcPct val="0"/>
              </a:spcBef>
              <a:buFont typeface="Wingdings" panose="05000000000000000000" pitchFamily="2" charset="2"/>
              <a:buNone/>
            </a:pPr>
            <a:r>
              <a:rPr lang="en-US" altLang="zh-CN" sz="2800" b="1" smtClean="0">
                <a:solidFill>
                  <a:schemeClr val="tx1"/>
                </a:solidFill>
              </a:rPr>
              <a:t>(2) </a:t>
            </a:r>
            <a:r>
              <a:rPr lang="zh-CN" altLang="en-US" sz="2800" b="1" smtClean="0">
                <a:solidFill>
                  <a:schemeClr val="tx1"/>
                </a:solidFill>
              </a:rPr>
              <a:t>根据开发力量、设备、培训等方面的情况确定每个版本实现多少模块、实现哪些模块。</a:t>
            </a:r>
            <a:endParaRPr lang="zh-CN" altLang="en-US" sz="2800" b="1" smtClean="0">
              <a:solidFill>
                <a:schemeClr val="tx1"/>
              </a:solidFill>
            </a:endParaRPr>
          </a:p>
          <a:p>
            <a:pPr marL="0" indent="184150" eaLnBrk="1" hangingPunct="1">
              <a:spcBef>
                <a:spcPct val="0"/>
              </a:spcBef>
              <a:buFont typeface="Wingdings" panose="05000000000000000000" pitchFamily="2" charset="2"/>
              <a:buNone/>
            </a:pPr>
            <a:r>
              <a:rPr lang="en-US" altLang="zh-CN" sz="2800" b="1" smtClean="0">
                <a:solidFill>
                  <a:schemeClr val="tx1"/>
                </a:solidFill>
              </a:rPr>
              <a:t>(3)</a:t>
            </a:r>
            <a:r>
              <a:rPr lang="zh-CN" altLang="en-US" sz="2800" b="1" smtClean="0">
                <a:solidFill>
                  <a:schemeClr val="tx1"/>
                </a:solidFill>
              </a:rPr>
              <a:t>复杂的模块分散在几个版本中逐步实现。</a:t>
            </a:r>
            <a:endParaRPr lang="zh-CN" altLang="en-US" sz="2800" b="1" smtClean="0">
              <a:solidFill>
                <a:schemeClr val="tx1"/>
              </a:solidFill>
            </a:endParaRPr>
          </a:p>
          <a:p>
            <a:pPr marL="0" indent="184150" algn="just" eaLnBrk="1" hangingPunct="1">
              <a:spcBef>
                <a:spcPct val="0"/>
              </a:spcBef>
              <a:buFont typeface="Wingdings" panose="05000000000000000000" pitchFamily="2" charset="2"/>
              <a:buNone/>
            </a:pPr>
            <a:r>
              <a:rPr lang="en-US" altLang="zh-CN" sz="2800" b="1" smtClean="0">
                <a:solidFill>
                  <a:schemeClr val="tx1"/>
                </a:solidFill>
              </a:rPr>
              <a:t>(4)</a:t>
            </a:r>
            <a:r>
              <a:rPr lang="zh-CN" altLang="en-US" sz="2800" b="1" smtClean="0">
                <a:solidFill>
                  <a:schemeClr val="tx1"/>
                </a:solidFill>
              </a:rPr>
              <a:t>兼顾功能模块和数据库的实现。</a:t>
            </a:r>
            <a:endParaRPr lang="zh-CN" altLang="en-US" sz="2800" b="1" smtClean="0">
              <a:solidFill>
                <a:schemeClr val="tx1"/>
              </a:solidFill>
            </a:endParaRPr>
          </a:p>
          <a:p>
            <a:pPr marL="0" indent="184150" algn="just" eaLnBrk="1" hangingPunct="1">
              <a:spcBef>
                <a:spcPct val="0"/>
              </a:spcBef>
              <a:buFont typeface="Wingdings" panose="05000000000000000000" pitchFamily="2" charset="2"/>
              <a:buNone/>
            </a:pPr>
            <a:r>
              <a:rPr lang="en-US" altLang="zh-CN" sz="2800" b="1" smtClean="0">
                <a:solidFill>
                  <a:schemeClr val="tx1"/>
                </a:solidFill>
              </a:rPr>
              <a:t>(5)</a:t>
            </a:r>
            <a:r>
              <a:rPr lang="zh-CN" altLang="en-US" sz="2800" b="1" smtClean="0">
                <a:solidFill>
                  <a:schemeClr val="tx1"/>
                </a:solidFill>
              </a:rPr>
              <a:t>兼顾硬件、软件、人员培训方面的情况。</a:t>
            </a:r>
            <a:r>
              <a:rPr lang="zh-CN" altLang="en-US" sz="2800" smtClean="0">
                <a:solidFill>
                  <a:srgbClr val="000000"/>
                </a:solidFill>
              </a:rPr>
              <a:t>  </a:t>
            </a:r>
            <a:endParaRPr lang="zh-CN" altLang="en-US" sz="2800" smtClean="0">
              <a:solidFill>
                <a:srgbClr val="000000"/>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8145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4531"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xfrm>
            <a:off x="611188" y="2017713"/>
            <a:ext cx="7705725" cy="4114800"/>
          </a:xfrm>
        </p:spPr>
        <p:txBody>
          <a:bodyPr/>
          <a:lstStyle/>
          <a:p>
            <a:pPr marL="95250" indent="-95250" eaLnBrk="1" hangingPunct="1">
              <a:lnSpc>
                <a:spcPct val="110000"/>
              </a:lnSpc>
              <a:buFont typeface="Wingdings" panose="05000000000000000000" pitchFamily="2" charset="2"/>
              <a:buNone/>
            </a:pPr>
            <a:r>
              <a:rPr lang="en-US" altLang="zh-CN" sz="2800" b="1" smtClean="0">
                <a:solidFill>
                  <a:schemeClr val="tx1"/>
                </a:solidFill>
              </a:rPr>
              <a:t>       MIS</a:t>
            </a:r>
            <a:r>
              <a:rPr lang="zh-CN" altLang="en-US" sz="2800" b="1" smtClean="0">
                <a:solidFill>
                  <a:schemeClr val="tx1"/>
                </a:solidFill>
              </a:rPr>
              <a:t>物理系统的实施是计算机系统和通信网络系统设备的订购、机房的准备和设备的安装调试等一系列活动。　</a:t>
            </a:r>
            <a:endParaRPr lang="zh-CN" altLang="en-US" sz="2400" smtClean="0"/>
          </a:p>
          <a:p>
            <a:pPr marL="95250" indent="-95250" eaLnBrk="1" hangingPunct="1">
              <a:lnSpc>
                <a:spcPct val="110000"/>
              </a:lnSpc>
              <a:buFont typeface="Wingdings" panose="05000000000000000000" pitchFamily="2" charset="2"/>
              <a:buNone/>
            </a:pPr>
            <a:r>
              <a:rPr lang="en-US" altLang="zh-CN" sz="2400" smtClean="0"/>
              <a:t>6.1.1 </a:t>
            </a:r>
            <a:r>
              <a:rPr lang="zh-CN" altLang="en-US" sz="2400" b="1" smtClean="0"/>
              <a:t>选择供应商的标准</a:t>
            </a:r>
            <a:endParaRPr lang="zh-CN" altLang="en-US" sz="2400" b="1" smtClean="0"/>
          </a:p>
          <a:p>
            <a:pPr marL="723900" lvl="1" indent="-449580" eaLnBrk="1" hangingPunct="1">
              <a:lnSpc>
                <a:spcPct val="105000"/>
              </a:lnSpc>
            </a:pPr>
            <a:r>
              <a:rPr lang="zh-CN" altLang="en-US" sz="2400" b="1" smtClean="0">
                <a:latin typeface="Times New Roman" panose="02020603050405020304" pitchFamily="18" charset="0"/>
              </a:rPr>
              <a:t>系统安装主要是指对各种软、硬件设备的购置、安装以及整个系统调试运行</a:t>
            </a:r>
            <a:endParaRPr lang="zh-CN" altLang="en-US" sz="2400" b="1" smtClean="0">
              <a:latin typeface="Times New Roman" panose="02020603050405020304" pitchFamily="18" charset="0"/>
            </a:endParaRPr>
          </a:p>
          <a:p>
            <a:pPr marL="723900" lvl="1" indent="-449580" eaLnBrk="1" hangingPunct="1">
              <a:lnSpc>
                <a:spcPct val="105000"/>
              </a:lnSpc>
            </a:pPr>
            <a:r>
              <a:rPr lang="zh-CN" altLang="en-US" sz="2400" b="1" smtClean="0">
                <a:latin typeface="Times New Roman" panose="02020603050405020304" pitchFamily="18" charset="0"/>
              </a:rPr>
              <a:t>选择供应商的标准是：实力雄厚、信誉可靠、质优价低、售后服务好</a:t>
            </a:r>
            <a:endParaRPr lang="zh-CN" altLang="en-US" sz="2400" b="1" smtClean="0">
              <a:latin typeface="Times New Roman" panose="02020603050405020304" pitchFamily="18" charset="0"/>
            </a:endParaRPr>
          </a:p>
        </p:txBody>
      </p:sp>
      <p:sp>
        <p:nvSpPr>
          <p:cNvPr id="14339" name="AutoShape 3">
            <a:hlinkClick r:id="" action="ppaction://noaction" highlightClick="1"/>
          </p:cNvPr>
          <p:cNvSpPr>
            <a:spLocks noChangeArrowheads="1"/>
          </p:cNvSpPr>
          <p:nvPr/>
        </p:nvSpPr>
        <p:spPr bwMode="auto">
          <a:xfrm>
            <a:off x="1403350" y="908050"/>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6.1  </a:t>
            </a:r>
            <a:r>
              <a:rPr lang="zh-CN" altLang="en-US" sz="3200" b="1">
                <a:solidFill>
                  <a:srgbClr val="0A0A0E"/>
                </a:solidFill>
                <a:latin typeface="Times New Roman" panose="02020603050405020304" pitchFamily="18" charset="0"/>
              </a:rPr>
              <a:t>物理系统的实施</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sz="half" idx="1"/>
          </p:nvPr>
        </p:nvSpPr>
        <p:spPr>
          <a:xfrm>
            <a:off x="827088" y="2017713"/>
            <a:ext cx="7489825" cy="4114800"/>
          </a:xfrm>
        </p:spPr>
        <p:txBody>
          <a:bodyPr/>
          <a:lstStyle/>
          <a:p>
            <a:pPr marL="0" indent="0" eaLnBrk="1" hangingPunct="1">
              <a:lnSpc>
                <a:spcPct val="110000"/>
              </a:lnSpc>
              <a:buFont typeface="Wingdings" panose="05000000000000000000" pitchFamily="2" charset="2"/>
              <a:buNone/>
            </a:pPr>
            <a:r>
              <a:rPr lang="en-US" altLang="zh-CN" sz="2800" b="1" smtClean="0"/>
              <a:t>6.1.2 </a:t>
            </a:r>
            <a:r>
              <a:rPr lang="zh-CN" altLang="en-US" sz="2800" b="1" smtClean="0"/>
              <a:t>选择安装地点的思路</a:t>
            </a:r>
            <a:r>
              <a:rPr lang="zh-CN" altLang="en-US" sz="2800" smtClean="0"/>
              <a:t> </a:t>
            </a:r>
            <a:endParaRPr lang="zh-CN" altLang="en-US" sz="2800" smtClean="0"/>
          </a:p>
          <a:p>
            <a:pPr marL="532130" lvl="1" indent="-352425" eaLnBrk="1" hangingPunct="1">
              <a:lnSpc>
                <a:spcPct val="105000"/>
              </a:lnSpc>
              <a:buClr>
                <a:srgbClr val="FFFFFF"/>
              </a:buClr>
            </a:pPr>
            <a:r>
              <a:rPr lang="zh-CN" altLang="en-US" b="1" smtClean="0">
                <a:latin typeface="Times New Roman" panose="02020603050405020304" pitchFamily="18" charset="0"/>
              </a:rPr>
              <a:t>考虑系统对电缆、电话或数据通讯服务、工作空间和存储、噪音和通讯条件及交通情况的要求</a:t>
            </a:r>
            <a:endParaRPr lang="zh-CN" altLang="en-US" b="1" smtClean="0">
              <a:latin typeface="Times New Roman" panose="02020603050405020304" pitchFamily="18" charset="0"/>
            </a:endParaRPr>
          </a:p>
          <a:p>
            <a:pPr marL="532130" lvl="1" indent="-352425" eaLnBrk="1" hangingPunct="1">
              <a:lnSpc>
                <a:spcPct val="105000"/>
              </a:lnSpc>
              <a:buClr>
                <a:srgbClr val="FFFFFF"/>
              </a:buClr>
            </a:pPr>
            <a:r>
              <a:rPr lang="zh-CN" altLang="en-US" b="1" smtClean="0">
                <a:latin typeface="Times New Roman" panose="02020603050405020304" pitchFamily="18" charset="0"/>
              </a:rPr>
              <a:t>例如，使用专门的地板，让电缆通过地板孔道，连接中央处理机及各设备，保证安全；提供不中断电源，以免丢失数据</a:t>
            </a:r>
            <a:endParaRPr lang="zh-CN" altLang="en-US" b="1" smtClean="0">
              <a:latin typeface="Times New Roman" panose="02020603050405020304" pitchFamily="18" charset="0"/>
            </a:endParaRPr>
          </a:p>
        </p:txBody>
      </p:sp>
      <p:sp>
        <p:nvSpPr>
          <p:cNvPr id="15363" name="AutoShape 4">
            <a:hlinkClick r:id="" action="ppaction://noaction" highlightClick="1"/>
          </p:cNvPr>
          <p:cNvSpPr>
            <a:spLocks noChangeArrowheads="1"/>
          </p:cNvSpPr>
          <p:nvPr/>
        </p:nvSpPr>
        <p:spPr bwMode="auto">
          <a:xfrm>
            <a:off x="11874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6.1  </a:t>
            </a:r>
            <a:r>
              <a:rPr lang="zh-CN" altLang="en-US" sz="3200" b="1">
                <a:solidFill>
                  <a:srgbClr val="0A0A0E"/>
                </a:solidFill>
                <a:latin typeface="Times New Roman" panose="02020603050405020304" pitchFamily="18" charset="0"/>
              </a:rPr>
              <a:t>物理系统的实施</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a:xfrm>
            <a:off x="1042988" y="2133600"/>
            <a:ext cx="7415212" cy="4032250"/>
          </a:xfrm>
        </p:spPr>
        <p:txBody>
          <a:bodyPr/>
          <a:lstStyle/>
          <a:p>
            <a:pPr marL="0" indent="0" eaLnBrk="1" hangingPunct="1">
              <a:spcBef>
                <a:spcPct val="0"/>
              </a:spcBef>
              <a:buClrTx/>
              <a:buSzTx/>
              <a:buFontTx/>
              <a:buNone/>
            </a:pPr>
            <a:r>
              <a:rPr lang="en-US" altLang="zh-CN" sz="2800" b="1" smtClean="0">
                <a:solidFill>
                  <a:schemeClr val="tx1"/>
                </a:solidFill>
              </a:rPr>
              <a:t>       </a:t>
            </a:r>
            <a:r>
              <a:rPr lang="zh-CN" altLang="en-US" sz="2800" b="1" smtClean="0">
                <a:solidFill>
                  <a:schemeClr val="tx1"/>
                </a:solidFill>
              </a:rPr>
              <a:t>编程（</a:t>
            </a:r>
            <a:r>
              <a:rPr lang="en-US" altLang="zh-CN" sz="2800" b="1" smtClean="0">
                <a:solidFill>
                  <a:schemeClr val="tx1"/>
                </a:solidFill>
              </a:rPr>
              <a:t>Coding</a:t>
            </a:r>
            <a:r>
              <a:rPr lang="zh-CN" altLang="en-US" sz="2800" b="1" smtClean="0">
                <a:solidFill>
                  <a:schemeClr val="tx1"/>
                </a:solidFill>
              </a:rPr>
              <a:t>）就是为系统各个模块编写程序。根据结构化方法设计了详细方案，又有了高级语言，初级程序员都可以参加这一阶段的工作。</a:t>
            </a:r>
            <a:endParaRPr lang="zh-CN" altLang="en-US" sz="2800" b="1" smtClean="0">
              <a:solidFill>
                <a:schemeClr val="tx1"/>
              </a:solidFill>
            </a:endParaRPr>
          </a:p>
        </p:txBody>
      </p:sp>
      <p:sp>
        <p:nvSpPr>
          <p:cNvPr id="16387" name="AutoShape 4">
            <a:hlinkClick r:id="" action="ppaction://noaction" highlightClick="1"/>
          </p:cNvPr>
          <p:cNvSpPr>
            <a:spLocks noChangeArrowheads="1"/>
          </p:cNvSpPr>
          <p:nvPr/>
        </p:nvSpPr>
        <p:spPr bwMode="auto">
          <a:xfrm>
            <a:off x="1908175" y="981075"/>
            <a:ext cx="2667000"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6.2 </a:t>
            </a:r>
            <a:r>
              <a:rPr lang="zh-CN" altLang="en-US" sz="3200" b="1">
                <a:solidFill>
                  <a:srgbClr val="0A0A0E"/>
                </a:solidFill>
                <a:latin typeface="Times New Roman" panose="02020603050405020304" pitchFamily="18" charset="0"/>
              </a:rPr>
              <a:t>程序设计 </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0738" name="Rectangle 2"/>
          <p:cNvSpPr>
            <a:spLocks noChangeArrowheads="1"/>
          </p:cNvSpPr>
          <p:nvPr/>
        </p:nvSpPr>
        <p:spPr bwMode="auto">
          <a:xfrm>
            <a:off x="755650" y="1749425"/>
            <a:ext cx="7561263" cy="3695700"/>
          </a:xfrm>
          <a:prstGeom prst="rect">
            <a:avLst/>
          </a:prstGeom>
          <a:noFill/>
          <a:ln w="9525" algn="ctr">
            <a:noFill/>
            <a:miter lim="800000"/>
          </a:ln>
        </p:spPr>
        <p:txBody>
          <a:bodyPr anchor="ctr">
            <a:spAutoFit/>
          </a:bodyPr>
          <a:lstStyle/>
          <a:p>
            <a:pPr>
              <a:lnSpc>
                <a:spcPct val="160000"/>
              </a:lnSpc>
            </a:pPr>
            <a:r>
              <a:rPr lang="en-US" altLang="zh-CN" sz="2800" b="1">
                <a:latin typeface="楷体_GB2312" pitchFamily="49" charset="-122"/>
                <a:ea typeface="楷体_GB2312" pitchFamily="49" charset="-122"/>
              </a:rPr>
              <a:t>⑴ </a:t>
            </a:r>
            <a:r>
              <a:rPr lang="zh-CN" altLang="en-US" sz="2800" b="1">
                <a:latin typeface="楷体_GB2312" pitchFamily="49" charset="-122"/>
                <a:ea typeface="楷体_GB2312" pitchFamily="49" charset="-122"/>
              </a:rPr>
              <a:t>可维护性 </a:t>
            </a:r>
            <a:endParaRPr lang="zh-CN" altLang="en-US" sz="2800" b="1">
              <a:latin typeface="楷体_GB2312" pitchFamily="49" charset="-122"/>
              <a:ea typeface="楷体_GB2312" pitchFamily="49" charset="-122"/>
            </a:endParaRPr>
          </a:p>
          <a:p>
            <a:pPr>
              <a:lnSpc>
                <a:spcPct val="160000"/>
              </a:lnSpc>
              <a:buClr>
                <a:schemeClr val="tx2"/>
              </a:buClr>
              <a:buSzPct val="105000"/>
            </a:pPr>
            <a:r>
              <a:rPr lang="zh-CN" altLang="en-US" b="1">
                <a:latin typeface="Arial" panose="020B0604020202020204" pitchFamily="34" charset="0"/>
              </a:rPr>
              <a:t>     由于信息系统需求的不确定性，系统需求可能会随着环境的变化而不断变化，因此，就必须对系统功能进行完善和调整，为此，就要对程序进行补充或修改。此外，由于计算机软硬件的更新换代也需要对程序进行相应的升级。</a:t>
            </a:r>
            <a:endParaRPr lang="zh-CN" altLang="en-US" b="1">
              <a:latin typeface="Arial" panose="020B0604020202020204" pitchFamily="34" charset="0"/>
            </a:endParaRPr>
          </a:p>
        </p:txBody>
      </p:sp>
      <p:sp>
        <p:nvSpPr>
          <p:cNvPr id="17411" name="Rectangle 3"/>
          <p:cNvSpPr>
            <a:spLocks noGrp="1" noChangeArrowheads="1"/>
          </p:cNvSpPr>
          <p:nvPr>
            <p:ph type="title"/>
          </p:nvPr>
        </p:nvSpPr>
        <p:spPr>
          <a:xfrm>
            <a:off x="1116013" y="188913"/>
            <a:ext cx="7793037" cy="1462087"/>
          </a:xfrm>
        </p:spPr>
        <p:txBody>
          <a:bodyPr/>
          <a:lstStyle/>
          <a:p>
            <a:pPr eaLnBrk="1" hangingPunct="1"/>
            <a:r>
              <a:rPr lang="en-US" altLang="zh-CN" smtClean="0">
                <a:solidFill>
                  <a:schemeClr val="tx1"/>
                </a:solidFill>
              </a:rPr>
              <a:t>  </a:t>
            </a:r>
            <a:r>
              <a:rPr lang="zh-CN" altLang="en-US" sz="3600" b="1" smtClean="0">
                <a:solidFill>
                  <a:schemeClr val="tx1"/>
                </a:solidFill>
              </a:rPr>
              <a:t>程序设计的目标</a:t>
            </a:r>
            <a:endParaRPr lang="zh-CN" altLang="en-US" sz="3600" b="1" smtClean="0">
              <a:solidFill>
                <a:schemeClr val="tx1"/>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1780738"/>
                                        </p:tgtEl>
                                        <p:attrNameLst>
                                          <p:attrName>style.visibility</p:attrName>
                                        </p:attrNameLst>
                                      </p:cBhvr>
                                      <p:to>
                                        <p:strVal val="visible"/>
                                      </p:to>
                                    </p:set>
                                    <p:animScale>
                                      <p:cBhvr>
                                        <p:cTn id="7" dur="1000" decel="50000" fill="hold">
                                          <p:stCondLst>
                                            <p:cond delay="0"/>
                                          </p:stCondLst>
                                        </p:cTn>
                                        <p:tgtEl>
                                          <p:spTgt spid="17807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780738"/>
                                        </p:tgtEl>
                                        <p:attrNameLst>
                                          <p:attrName>ppt_x</p:attrName>
                                          <p:attrName>ppt_y</p:attrName>
                                        </p:attrNameLst>
                                      </p:cBhvr>
                                    </p:animMotion>
                                    <p:animEffect transition="in" filter="fade">
                                      <p:cBhvr>
                                        <p:cTn id="9" dur="1000"/>
                                        <p:tgtEl>
                                          <p:spTgt spid="1780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073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62" name="Rectangle 2"/>
          <p:cNvSpPr>
            <a:spLocks noChangeArrowheads="1"/>
          </p:cNvSpPr>
          <p:nvPr/>
        </p:nvSpPr>
        <p:spPr bwMode="auto">
          <a:xfrm>
            <a:off x="611188" y="1920875"/>
            <a:ext cx="7250112" cy="2378075"/>
          </a:xfrm>
          <a:prstGeom prst="rect">
            <a:avLst/>
          </a:prstGeom>
          <a:noFill/>
          <a:ln w="9525" algn="ctr">
            <a:noFill/>
            <a:miter lim="800000"/>
          </a:ln>
        </p:spPr>
        <p:txBody>
          <a:bodyPr anchor="ctr">
            <a:spAutoFit/>
          </a:bodyPr>
          <a:lstStyle/>
          <a:p>
            <a:pPr>
              <a:lnSpc>
                <a:spcPct val="125000"/>
              </a:lnSpc>
            </a:pPr>
            <a:r>
              <a:rPr lang="en-US" altLang="zh-CN" sz="2800" b="1">
                <a:latin typeface="楷体_GB2312" pitchFamily="49" charset="-122"/>
                <a:ea typeface="楷体_GB2312" pitchFamily="49" charset="-122"/>
              </a:rPr>
              <a:t>⑵ </a:t>
            </a:r>
            <a:r>
              <a:rPr lang="zh-CN" altLang="en-US" sz="2800" b="1">
                <a:latin typeface="楷体_GB2312" pitchFamily="49" charset="-122"/>
                <a:ea typeface="楷体_GB2312" pitchFamily="49" charset="-122"/>
              </a:rPr>
              <a:t>可靠性</a:t>
            </a:r>
            <a:r>
              <a:rPr lang="zh-CN" altLang="en-US" b="1">
                <a:latin typeface="Arial" panose="020B0604020202020204" pitchFamily="34" charset="0"/>
              </a:rPr>
              <a:t>：程序应具有较好的容错能力。 </a:t>
            </a:r>
            <a:endParaRPr lang="zh-CN" altLang="en-US" b="1">
              <a:latin typeface="Arial" panose="020B0604020202020204" pitchFamily="34" charset="0"/>
            </a:endParaRPr>
          </a:p>
          <a:p>
            <a:pPr lvl="1">
              <a:lnSpc>
                <a:spcPct val="160000"/>
              </a:lnSpc>
              <a:buClr>
                <a:schemeClr val="accent2"/>
              </a:buClr>
              <a:buFontTx/>
              <a:buChar char="•"/>
            </a:pPr>
            <a:r>
              <a:rPr lang="zh-CN" altLang="en-US" b="1">
                <a:latin typeface="Arial" panose="020B0604020202020204" pitchFamily="34" charset="0"/>
              </a:rPr>
              <a:t>正常情况下能正确工作。 </a:t>
            </a:r>
            <a:endParaRPr lang="zh-CN" altLang="en-US" b="1">
              <a:latin typeface="Arial" panose="020B0604020202020204" pitchFamily="34" charset="0"/>
            </a:endParaRPr>
          </a:p>
          <a:p>
            <a:pPr lvl="1">
              <a:lnSpc>
                <a:spcPct val="160000"/>
              </a:lnSpc>
              <a:buClr>
                <a:schemeClr val="accent2"/>
              </a:buClr>
              <a:buFontTx/>
              <a:buChar char="•"/>
            </a:pPr>
            <a:r>
              <a:rPr lang="zh-CN" altLang="en-US" b="1">
                <a:latin typeface="Arial" panose="020B0604020202020204" pitchFamily="34" charset="0"/>
              </a:rPr>
              <a:t>意外情况下应便于处理，不至产生意外的操作，从而造成严重损失。</a:t>
            </a:r>
            <a:r>
              <a:rPr lang="zh-CN" altLang="en-US">
                <a:latin typeface="Arial" panose="020B0604020202020204" pitchFamily="34" charset="0"/>
              </a:rPr>
              <a:t> </a:t>
            </a:r>
            <a:endParaRPr lang="zh-CN" altLang="en-US">
              <a:latin typeface="Arial" panose="020B0604020202020204" pitchFamily="34" charset="0"/>
            </a:endParaRPr>
          </a:p>
        </p:txBody>
      </p:sp>
      <p:sp>
        <p:nvSpPr>
          <p:cNvPr id="1781763" name="Rectangle 3"/>
          <p:cNvSpPr>
            <a:spLocks noChangeArrowheads="1"/>
          </p:cNvSpPr>
          <p:nvPr/>
        </p:nvSpPr>
        <p:spPr bwMode="auto">
          <a:xfrm>
            <a:off x="611188" y="4508500"/>
            <a:ext cx="7250112" cy="1373188"/>
          </a:xfrm>
          <a:prstGeom prst="rect">
            <a:avLst/>
          </a:prstGeom>
          <a:noFill/>
          <a:ln w="9525" algn="ctr">
            <a:noFill/>
            <a:miter lim="800000"/>
          </a:ln>
        </p:spPr>
        <p:txBody>
          <a:bodyPr anchor="ctr">
            <a:spAutoFit/>
          </a:bodyPr>
          <a:lstStyle/>
          <a:p>
            <a:pPr>
              <a:lnSpc>
                <a:spcPct val="160000"/>
              </a:lnSpc>
            </a:pPr>
            <a:r>
              <a:rPr lang="en-US" altLang="zh-CN" sz="2800" b="1">
                <a:latin typeface="楷体_GB2312" pitchFamily="49" charset="-122"/>
                <a:ea typeface="楷体_GB2312" pitchFamily="49" charset="-122"/>
              </a:rPr>
              <a:t>⑶ </a:t>
            </a:r>
            <a:r>
              <a:rPr lang="zh-CN" altLang="en-US" sz="2800" b="1">
                <a:latin typeface="楷体_GB2312" pitchFamily="49" charset="-122"/>
                <a:ea typeface="楷体_GB2312" pitchFamily="49" charset="-122"/>
              </a:rPr>
              <a:t>可理解性：</a:t>
            </a:r>
            <a:r>
              <a:rPr lang="zh-CN" altLang="en-US" b="1">
                <a:latin typeface="Arial" panose="020B0604020202020204" pitchFamily="34" charset="0"/>
              </a:rPr>
              <a:t>程序不仅要求逻辑正确，计算机能够执行，而且应当层次清楚，便于阅读。 </a:t>
            </a:r>
            <a:endParaRPr lang="zh-CN" altLang="en-US" b="1">
              <a:latin typeface="Arial" panose="020B0604020202020204" pitchFamily="34" charset="0"/>
            </a:endParaRPr>
          </a:p>
        </p:txBody>
      </p:sp>
      <p:sp>
        <p:nvSpPr>
          <p:cNvPr id="18436" name="Rectangle 4"/>
          <p:cNvSpPr>
            <a:spLocks noChangeArrowheads="1"/>
          </p:cNvSpPr>
          <p:nvPr/>
        </p:nvSpPr>
        <p:spPr bwMode="auto">
          <a:xfrm>
            <a:off x="1116013" y="188913"/>
            <a:ext cx="7793037" cy="1462087"/>
          </a:xfrm>
          <a:prstGeom prst="rect">
            <a:avLst/>
          </a:prstGeom>
          <a:noFill/>
          <a:ln w="9525">
            <a:noFill/>
            <a:miter lim="800000"/>
          </a:ln>
        </p:spPr>
        <p:txBody>
          <a:bodyPr anchor="b"/>
          <a:lstStyle/>
          <a:p>
            <a:r>
              <a:rPr lang="en-US" altLang="zh-CN" sz="4400"/>
              <a:t>  </a:t>
            </a:r>
            <a:r>
              <a:rPr lang="zh-CN" altLang="en-US" sz="3600" b="1"/>
              <a:t>程序设计的目标</a:t>
            </a:r>
            <a:endParaRPr lang="zh-CN" altLang="en-US" sz="3600" b="1"/>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1781762"/>
                                        </p:tgtEl>
                                        <p:attrNameLst>
                                          <p:attrName>style.visibility</p:attrName>
                                        </p:attrNameLst>
                                      </p:cBhvr>
                                      <p:to>
                                        <p:strVal val="visible"/>
                                      </p:to>
                                    </p:set>
                                    <p:animScale>
                                      <p:cBhvr>
                                        <p:cTn id="7" dur="1000" decel="50000" fill="hold">
                                          <p:stCondLst>
                                            <p:cond delay="0"/>
                                          </p:stCondLst>
                                        </p:cTn>
                                        <p:tgtEl>
                                          <p:spTgt spid="178176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781762"/>
                                        </p:tgtEl>
                                        <p:attrNameLst>
                                          <p:attrName>ppt_x</p:attrName>
                                          <p:attrName>ppt_y</p:attrName>
                                        </p:attrNameLst>
                                      </p:cBhvr>
                                    </p:animMotion>
                                    <p:animEffect transition="in" filter="fade">
                                      <p:cBhvr>
                                        <p:cTn id="9" dur="1000"/>
                                        <p:tgtEl>
                                          <p:spTgt spid="1781762"/>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1781763"/>
                                        </p:tgtEl>
                                        <p:attrNameLst>
                                          <p:attrName>style.visibility</p:attrName>
                                        </p:attrNameLst>
                                      </p:cBhvr>
                                      <p:to>
                                        <p:strVal val="visible"/>
                                      </p:to>
                                    </p:set>
                                    <p:animEffect transition="in" filter="wipe(down)">
                                      <p:cBhvr>
                                        <p:cTn id="14" dur="580">
                                          <p:stCondLst>
                                            <p:cond delay="0"/>
                                          </p:stCondLst>
                                        </p:cTn>
                                        <p:tgtEl>
                                          <p:spTgt spid="1781763"/>
                                        </p:tgtEl>
                                      </p:cBhvr>
                                    </p:animEffect>
                                    <p:anim calcmode="lin" valueType="num">
                                      <p:cBhvr>
                                        <p:cTn id="15" dur="1822" tmFilter="0,0; 0.14,0.36; 0.43,0.73; 0.71,0.91; 1.0,1.0">
                                          <p:stCondLst>
                                            <p:cond delay="0"/>
                                          </p:stCondLst>
                                        </p:cTn>
                                        <p:tgtEl>
                                          <p:spTgt spid="1781763"/>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781763"/>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781763"/>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781763"/>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781763"/>
                                        </p:tgtEl>
                                        <p:attrNameLst>
                                          <p:attrName>ppt_y</p:attrName>
                                        </p:attrNameLst>
                                      </p:cBhvr>
                                      <p:tavLst>
                                        <p:tav tm="0" fmla="#ppt_y-sin(pi*$)/81">
                                          <p:val>
                                            <p:fltVal val="0"/>
                                          </p:val>
                                        </p:tav>
                                        <p:tav tm="100000">
                                          <p:val>
                                            <p:fltVal val="1"/>
                                          </p:val>
                                        </p:tav>
                                      </p:tavLst>
                                    </p:anim>
                                    <p:animScale>
                                      <p:cBhvr>
                                        <p:cTn id="20" dur="26">
                                          <p:stCondLst>
                                            <p:cond delay="650"/>
                                          </p:stCondLst>
                                        </p:cTn>
                                        <p:tgtEl>
                                          <p:spTgt spid="1781763"/>
                                        </p:tgtEl>
                                      </p:cBhvr>
                                      <p:to x="100000" y="60000"/>
                                    </p:animScale>
                                    <p:animScale>
                                      <p:cBhvr>
                                        <p:cTn id="21" dur="166" decel="50000">
                                          <p:stCondLst>
                                            <p:cond delay="676"/>
                                          </p:stCondLst>
                                        </p:cTn>
                                        <p:tgtEl>
                                          <p:spTgt spid="1781763"/>
                                        </p:tgtEl>
                                      </p:cBhvr>
                                      <p:to x="100000" y="100000"/>
                                    </p:animScale>
                                    <p:animScale>
                                      <p:cBhvr>
                                        <p:cTn id="22" dur="26">
                                          <p:stCondLst>
                                            <p:cond delay="1312"/>
                                          </p:stCondLst>
                                        </p:cTn>
                                        <p:tgtEl>
                                          <p:spTgt spid="1781763"/>
                                        </p:tgtEl>
                                      </p:cBhvr>
                                      <p:to x="100000" y="80000"/>
                                    </p:animScale>
                                    <p:animScale>
                                      <p:cBhvr>
                                        <p:cTn id="23" dur="166" decel="50000">
                                          <p:stCondLst>
                                            <p:cond delay="1338"/>
                                          </p:stCondLst>
                                        </p:cTn>
                                        <p:tgtEl>
                                          <p:spTgt spid="1781763"/>
                                        </p:tgtEl>
                                      </p:cBhvr>
                                      <p:to x="100000" y="100000"/>
                                    </p:animScale>
                                    <p:animScale>
                                      <p:cBhvr>
                                        <p:cTn id="24" dur="26">
                                          <p:stCondLst>
                                            <p:cond delay="1642"/>
                                          </p:stCondLst>
                                        </p:cTn>
                                        <p:tgtEl>
                                          <p:spTgt spid="1781763"/>
                                        </p:tgtEl>
                                      </p:cBhvr>
                                      <p:to x="100000" y="90000"/>
                                    </p:animScale>
                                    <p:animScale>
                                      <p:cBhvr>
                                        <p:cTn id="25" dur="166" decel="50000">
                                          <p:stCondLst>
                                            <p:cond delay="1668"/>
                                          </p:stCondLst>
                                        </p:cTn>
                                        <p:tgtEl>
                                          <p:spTgt spid="1781763"/>
                                        </p:tgtEl>
                                      </p:cBhvr>
                                      <p:to x="100000" y="100000"/>
                                    </p:animScale>
                                    <p:animScale>
                                      <p:cBhvr>
                                        <p:cTn id="26" dur="26">
                                          <p:stCondLst>
                                            <p:cond delay="1808"/>
                                          </p:stCondLst>
                                        </p:cTn>
                                        <p:tgtEl>
                                          <p:spTgt spid="1781763"/>
                                        </p:tgtEl>
                                      </p:cBhvr>
                                      <p:to x="100000" y="95000"/>
                                    </p:animScale>
                                    <p:animScale>
                                      <p:cBhvr>
                                        <p:cTn id="27" dur="166" decel="50000">
                                          <p:stCondLst>
                                            <p:cond delay="1834"/>
                                          </p:stCondLst>
                                        </p:cTn>
                                        <p:tgtEl>
                                          <p:spTgt spid="178176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62" grpId="0"/>
      <p:bldP spid="178176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2786" name="Rectangle 2"/>
          <p:cNvSpPr>
            <a:spLocks noChangeArrowheads="1"/>
          </p:cNvSpPr>
          <p:nvPr/>
        </p:nvSpPr>
        <p:spPr bwMode="auto">
          <a:xfrm>
            <a:off x="539750" y="1916113"/>
            <a:ext cx="8064500" cy="4279900"/>
          </a:xfrm>
          <a:prstGeom prst="rect">
            <a:avLst/>
          </a:prstGeom>
          <a:noFill/>
          <a:ln w="9525" algn="ctr">
            <a:noFill/>
            <a:miter lim="800000"/>
          </a:ln>
        </p:spPr>
        <p:txBody>
          <a:bodyPr anchor="ctr">
            <a:spAutoFit/>
          </a:bodyPr>
          <a:lstStyle/>
          <a:p>
            <a:pPr>
              <a:lnSpc>
                <a:spcPct val="160000"/>
              </a:lnSpc>
            </a:pPr>
            <a:r>
              <a:rPr lang="en-US" altLang="zh-CN" sz="2800" b="1">
                <a:latin typeface="楷体_GB2312" pitchFamily="49" charset="-122"/>
                <a:ea typeface="楷体_GB2312" pitchFamily="49" charset="-122"/>
              </a:rPr>
              <a:t>⑷ </a:t>
            </a:r>
            <a:r>
              <a:rPr lang="zh-CN" altLang="en-US" sz="2800" b="1">
                <a:latin typeface="楷体_GB2312" pitchFamily="49" charset="-122"/>
                <a:ea typeface="楷体_GB2312" pitchFamily="49" charset="-122"/>
              </a:rPr>
              <a:t>效率： 程序能否有效地利用计算机资源</a:t>
            </a:r>
            <a:endParaRPr lang="zh-CN" altLang="en-US" sz="2800" b="1">
              <a:latin typeface="楷体_GB2312" pitchFamily="49" charset="-122"/>
              <a:ea typeface="楷体_GB2312" pitchFamily="49" charset="-122"/>
            </a:endParaRPr>
          </a:p>
          <a:p>
            <a:pPr lvl="1">
              <a:lnSpc>
                <a:spcPct val="160000"/>
              </a:lnSpc>
              <a:buClr>
                <a:schemeClr val="tx2"/>
              </a:buClr>
              <a:buFontTx/>
              <a:buChar char="•"/>
            </a:pPr>
            <a:r>
              <a:rPr lang="zh-CN" altLang="en-US" b="1">
                <a:latin typeface="Arial" panose="020B0604020202020204" pitchFamily="34" charset="0"/>
              </a:rPr>
              <a:t> 程序效率的地位： 已不像以前那样举足轻重了，因为硬件价格大幅度下降，而其性能却不断完善和提高。</a:t>
            </a:r>
            <a:endParaRPr lang="zh-CN" altLang="en-US" b="1">
              <a:latin typeface="Arial" panose="020B0604020202020204" pitchFamily="34" charset="0"/>
            </a:endParaRPr>
          </a:p>
          <a:p>
            <a:pPr lvl="1">
              <a:lnSpc>
                <a:spcPct val="160000"/>
              </a:lnSpc>
              <a:buClr>
                <a:schemeClr val="tx2"/>
              </a:buClr>
              <a:buFontTx/>
              <a:buChar char="•"/>
            </a:pPr>
            <a:r>
              <a:rPr lang="zh-CN" altLang="en-US" b="1">
                <a:latin typeface="Arial" panose="020B0604020202020204" pitchFamily="34" charset="0"/>
              </a:rPr>
              <a:t> 程序设计人员工作效率的地位日益重要。不仅能降低软件开发成本；而且可明显降低程序的出错率，进而减轻维护人员的工作负担。为了提高程序设计效率，应充分利用各种软件开发工具。</a:t>
            </a:r>
            <a:endParaRPr lang="zh-CN" altLang="en-US" b="1">
              <a:latin typeface="Arial" panose="020B0604020202020204" pitchFamily="34" charset="0"/>
            </a:endParaRPr>
          </a:p>
        </p:txBody>
      </p:sp>
      <p:sp>
        <p:nvSpPr>
          <p:cNvPr id="19459" name="Rectangle 3"/>
          <p:cNvSpPr>
            <a:spLocks noChangeArrowheads="1"/>
          </p:cNvSpPr>
          <p:nvPr/>
        </p:nvSpPr>
        <p:spPr bwMode="auto">
          <a:xfrm>
            <a:off x="1116013" y="188913"/>
            <a:ext cx="7793037" cy="1462087"/>
          </a:xfrm>
          <a:prstGeom prst="rect">
            <a:avLst/>
          </a:prstGeom>
          <a:noFill/>
          <a:ln w="9525">
            <a:noFill/>
            <a:miter lim="800000"/>
          </a:ln>
        </p:spPr>
        <p:txBody>
          <a:bodyPr anchor="b"/>
          <a:lstStyle/>
          <a:p>
            <a:r>
              <a:rPr lang="en-US" altLang="zh-CN" sz="4400"/>
              <a:t>  </a:t>
            </a:r>
            <a:r>
              <a:rPr lang="zh-CN" altLang="en-US" sz="3600" b="1"/>
              <a:t>程序设计的目标</a:t>
            </a:r>
            <a:endParaRPr lang="zh-CN" altLang="en-US" sz="3600" b="1"/>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782786"/>
                                        </p:tgtEl>
                                        <p:attrNameLst>
                                          <p:attrName>style.visibility</p:attrName>
                                        </p:attrNameLst>
                                      </p:cBhvr>
                                      <p:to>
                                        <p:strVal val="visible"/>
                                      </p:to>
                                    </p:set>
                                    <p:anim calcmode="lin" valueType="num">
                                      <p:cBhvr>
                                        <p:cTn id="7" dur="500" fill="hold"/>
                                        <p:tgtEl>
                                          <p:spTgt spid="1782786"/>
                                        </p:tgtEl>
                                        <p:attrNameLst>
                                          <p:attrName>ppt_w</p:attrName>
                                        </p:attrNameLst>
                                      </p:cBhvr>
                                      <p:tavLst>
                                        <p:tav tm="0">
                                          <p:val>
                                            <p:fltVal val="0"/>
                                          </p:val>
                                        </p:tav>
                                        <p:tav tm="100000">
                                          <p:val>
                                            <p:strVal val="#ppt_w"/>
                                          </p:val>
                                        </p:tav>
                                      </p:tavLst>
                                    </p:anim>
                                    <p:anim calcmode="lin" valueType="num">
                                      <p:cBhvr>
                                        <p:cTn id="8" dur="500" fill="hold"/>
                                        <p:tgtEl>
                                          <p:spTgt spid="178278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278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468313" y="2781300"/>
            <a:ext cx="8066087" cy="2994025"/>
          </a:xfrm>
          <a:prstGeom prst="rect">
            <a:avLst/>
          </a:prstGeom>
          <a:noFill/>
          <a:ln w="9525" algn="ctr">
            <a:noFill/>
            <a:miter lim="800000"/>
          </a:ln>
        </p:spPr>
        <p:txBody>
          <a:bodyPr anchor="ctr">
            <a:spAutoFit/>
          </a:bodyPr>
          <a:lstStyle/>
          <a:p>
            <a:pPr>
              <a:lnSpc>
                <a:spcPct val="170000"/>
              </a:lnSpc>
              <a:buClr>
                <a:schemeClr val="tx2"/>
              </a:buClr>
              <a:buFontTx/>
              <a:buChar char="•"/>
            </a:pPr>
            <a:r>
              <a:rPr lang="zh-CN" altLang="en-US" sz="2800" b="1">
                <a:latin typeface="Arial" panose="020B0604020202020204" pitchFamily="34" charset="0"/>
              </a:rPr>
              <a:t>在过去的小程序设计中，主要强调程序的正确和效率。</a:t>
            </a:r>
            <a:endParaRPr lang="zh-CN" altLang="en-US" sz="2800" b="1">
              <a:latin typeface="Arial" panose="020B0604020202020204" pitchFamily="34" charset="0"/>
            </a:endParaRPr>
          </a:p>
          <a:p>
            <a:pPr>
              <a:lnSpc>
                <a:spcPct val="170000"/>
              </a:lnSpc>
              <a:buClr>
                <a:schemeClr val="tx2"/>
              </a:buClr>
              <a:buFontTx/>
              <a:buChar char="•"/>
            </a:pPr>
            <a:r>
              <a:rPr lang="zh-CN" altLang="en-US" sz="2800" b="1">
                <a:latin typeface="Arial" panose="020B0604020202020204" pitchFamily="34" charset="0"/>
              </a:rPr>
              <a:t>对于大型程序，人们则倾向于首先强调程序的可维护性、可靠性和可理解性，然后才是效率。 </a:t>
            </a:r>
            <a:endParaRPr lang="zh-CN" altLang="en-US" sz="2800" b="1">
              <a:latin typeface="Arial" panose="020B0604020202020204" pitchFamily="34" charset="0"/>
            </a:endParaRPr>
          </a:p>
        </p:txBody>
      </p:sp>
      <p:sp>
        <p:nvSpPr>
          <p:cNvPr id="20483" name="Rectangle 3"/>
          <p:cNvSpPr>
            <a:spLocks noChangeArrowheads="1"/>
          </p:cNvSpPr>
          <p:nvPr/>
        </p:nvSpPr>
        <p:spPr bwMode="auto">
          <a:xfrm>
            <a:off x="684213" y="784225"/>
            <a:ext cx="4248150" cy="976313"/>
          </a:xfrm>
          <a:prstGeom prst="rect">
            <a:avLst/>
          </a:prstGeom>
          <a:noFill/>
          <a:ln w="9525" algn="ctr">
            <a:noFill/>
            <a:miter lim="800000"/>
          </a:ln>
        </p:spPr>
        <p:txBody>
          <a:bodyPr anchor="ctr">
            <a:spAutoFit/>
          </a:bodyPr>
          <a:lstStyle/>
          <a:p>
            <a:pPr algn="ctr">
              <a:lnSpc>
                <a:spcPct val="145000"/>
              </a:lnSpc>
            </a:pPr>
            <a:r>
              <a:rPr lang="zh-CN" altLang="en-US" sz="4000">
                <a:solidFill>
                  <a:schemeClr val="hlink"/>
                </a:solidFill>
                <a:latin typeface="Arial" panose="020B0604020202020204" pitchFamily="34" charset="0"/>
                <a:ea typeface="黑体" panose="02010609060101010101" pitchFamily="2" charset="-122"/>
              </a:rPr>
              <a:t>注意</a:t>
            </a:r>
            <a:endParaRPr lang="zh-CN" altLang="en-US" sz="4000">
              <a:solidFill>
                <a:schemeClr val="hlink"/>
              </a:solidFill>
              <a:latin typeface="Arial" panose="020B0604020202020204" pitchFamily="34" charset="0"/>
              <a:ea typeface="黑体" panose="02010609060101010101" pitchFamily="2" charset="-122"/>
            </a:endParaRPr>
          </a:p>
        </p:txBody>
      </p:sp>
      <p:sp>
        <p:nvSpPr>
          <p:cNvPr id="20484" name="Rectangle 4"/>
          <p:cNvSpPr>
            <a:spLocks noChangeArrowheads="1"/>
          </p:cNvSpPr>
          <p:nvPr/>
        </p:nvSpPr>
        <p:spPr bwMode="auto">
          <a:xfrm>
            <a:off x="611188" y="947738"/>
            <a:ext cx="1368425" cy="647700"/>
          </a:xfrm>
          <a:prstGeom prst="rect">
            <a:avLst/>
          </a:prstGeom>
          <a:noFill/>
          <a:ln w="9525" algn="ctr">
            <a:noFill/>
            <a:miter lim="800000"/>
          </a:ln>
        </p:spPr>
        <p:txBody>
          <a:bodyPr wrap="none" anchor="ctr">
            <a:spAutoFit/>
          </a:bodyPr>
          <a:lstStyle/>
          <a:p>
            <a:endParaRPr lang="zh-CN" altLang="en-US"/>
          </a:p>
        </p:txBody>
      </p:sp>
      <p:sp>
        <p:nvSpPr>
          <p:cNvPr id="20485" name="Rectangle 5"/>
          <p:cNvSpPr>
            <a:spLocks noChangeArrowheads="1"/>
          </p:cNvSpPr>
          <p:nvPr/>
        </p:nvSpPr>
        <p:spPr bwMode="auto">
          <a:xfrm>
            <a:off x="755650" y="2133600"/>
            <a:ext cx="7685088" cy="711200"/>
          </a:xfrm>
          <a:prstGeom prst="rect">
            <a:avLst/>
          </a:prstGeom>
          <a:noFill/>
          <a:ln w="9525" algn="ctr">
            <a:noFill/>
            <a:miter lim="800000"/>
          </a:ln>
        </p:spPr>
        <p:txBody>
          <a:bodyPr wrap="none">
            <a:spAutoFit/>
          </a:bodyPr>
          <a:lstStyle/>
          <a:p>
            <a:pPr>
              <a:lnSpc>
                <a:spcPct val="145000"/>
              </a:lnSpc>
            </a:pPr>
            <a:r>
              <a:rPr lang="zh-CN" altLang="en-US" sz="2800" b="1">
                <a:latin typeface="Arial" panose="020B0604020202020204" pitchFamily="34" charset="0"/>
                <a:ea typeface="楷体_GB2312" pitchFamily="49" charset="-122"/>
              </a:rPr>
              <a:t>程序效率、可维护性、可理解性三者之间的关系</a:t>
            </a:r>
            <a:endParaRPr lang="zh-CN" altLang="en-US" sz="2800" b="1">
              <a:latin typeface="Arial" panose="020B0604020202020204" pitchFamily="34" charset="0"/>
              <a:ea typeface="楷体_GB2312" pitchFamily="49" charset="-122"/>
            </a:endParaRPr>
          </a:p>
        </p:txBody>
      </p:sp>
    </p:spTree>
  </p:cSld>
  <p:clrMapOvr>
    <a:masterClrMapping/>
  </p:clrMapOvr>
  <p:transition>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xfrm>
            <a:off x="685800" y="1981200"/>
            <a:ext cx="7772400" cy="4184650"/>
          </a:xfrm>
        </p:spPr>
        <p:txBody>
          <a:bodyPr/>
          <a:lstStyle/>
          <a:p>
            <a:pPr marL="0" indent="0" eaLnBrk="1" hangingPunct="1">
              <a:lnSpc>
                <a:spcPct val="90000"/>
              </a:lnSpc>
              <a:spcBef>
                <a:spcPct val="0"/>
              </a:spcBef>
              <a:buFontTx/>
              <a:buNone/>
            </a:pPr>
            <a:r>
              <a:rPr lang="zh-CN" altLang="en-US" sz="2800" b="1" smtClean="0"/>
              <a:t>程序设计的基本要求</a:t>
            </a:r>
            <a:endParaRPr lang="zh-CN" altLang="en-US" sz="2800" b="1" smtClean="0">
              <a:latin typeface="宋体" panose="02010600030101010101" pitchFamily="2" charset="-122"/>
            </a:endParaRPr>
          </a:p>
          <a:p>
            <a:pPr marL="627380" lvl="1" indent="-447675" eaLnBrk="1" hangingPunct="1">
              <a:buSzPct val="60000"/>
            </a:pPr>
            <a:r>
              <a:rPr lang="zh-CN" altLang="en-US" sz="2400" b="1" smtClean="0"/>
              <a:t>程序的功能必须按照规定的要求，正确地满足预期的需要</a:t>
            </a:r>
            <a:endParaRPr lang="zh-CN" altLang="en-US" sz="2400" b="1" smtClean="0"/>
          </a:p>
          <a:p>
            <a:pPr marL="627380" lvl="1" indent="-447675" eaLnBrk="1" hangingPunct="1">
              <a:buSzPct val="60000"/>
            </a:pPr>
            <a:r>
              <a:rPr lang="zh-CN" altLang="en-US" sz="2400" b="1" smtClean="0"/>
              <a:t>程序内容清晰、明了、便于阅读和理解</a:t>
            </a:r>
            <a:endParaRPr lang="zh-CN" altLang="en-US" sz="2400" b="1" smtClean="0"/>
          </a:p>
          <a:p>
            <a:pPr marL="627380" lvl="1" indent="-447675" eaLnBrk="1" hangingPunct="1">
              <a:buSzPct val="60000"/>
            </a:pPr>
            <a:r>
              <a:rPr lang="zh-CN" altLang="en-US" sz="2400" b="1" smtClean="0"/>
              <a:t>程序结构严谨、简捷、算法和语句选用合理，执行速度快，节省机时</a:t>
            </a:r>
            <a:endParaRPr lang="zh-CN" altLang="en-US" sz="2400" b="1" smtClean="0"/>
          </a:p>
          <a:p>
            <a:pPr marL="627380" lvl="1" indent="-447675" eaLnBrk="1" hangingPunct="1">
              <a:buSzPct val="60000"/>
            </a:pPr>
            <a:r>
              <a:rPr lang="zh-CN" altLang="en-US" sz="2400" b="1" smtClean="0"/>
              <a:t>程序和数据的存储、调用安排得当，节省存储空间</a:t>
            </a:r>
            <a:endParaRPr lang="zh-CN" altLang="en-US" sz="2400" b="1" smtClean="0"/>
          </a:p>
          <a:p>
            <a:pPr marL="627380" lvl="1" indent="-447675" eaLnBrk="1" hangingPunct="1">
              <a:buSzPct val="60000"/>
            </a:pPr>
            <a:r>
              <a:rPr lang="zh-CN" altLang="en-US" sz="2400" b="1" smtClean="0"/>
              <a:t>程序适应性强。程序交付使用后，若应用问题或外界环境有了变化时，调整和修改程序比较简便易行</a:t>
            </a:r>
            <a:endParaRPr lang="zh-CN" altLang="en-US" sz="2400" b="1" smtClean="0"/>
          </a:p>
        </p:txBody>
      </p:sp>
      <p:sp>
        <p:nvSpPr>
          <p:cNvPr id="21507" name="AutoShape 3">
            <a:hlinkClick r:id="" action="ppaction://noaction" highlightClick="1"/>
          </p:cNvPr>
          <p:cNvSpPr>
            <a:spLocks noChangeArrowheads="1"/>
          </p:cNvSpPr>
          <p:nvPr/>
        </p:nvSpPr>
        <p:spPr bwMode="auto">
          <a:xfrm>
            <a:off x="1908175" y="981075"/>
            <a:ext cx="3887788"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6.2 </a:t>
            </a:r>
            <a:r>
              <a:rPr lang="zh-CN" altLang="en-US" sz="3600" b="1">
                <a:solidFill>
                  <a:srgbClr val="0A0A0E"/>
                </a:solidFill>
                <a:latin typeface="Times New Roman" panose="02020603050405020304" pitchFamily="18" charset="0"/>
              </a:rPr>
              <a:t>程序设计</a:t>
            </a:r>
            <a:r>
              <a:rPr lang="zh-CN" altLang="en-US" sz="3200" b="1">
                <a:solidFill>
                  <a:srgbClr val="0A0A0E"/>
                </a:solidFill>
                <a:latin typeface="Times New Roman" panose="02020603050405020304" pitchFamily="18" charset="0"/>
              </a:rPr>
              <a:t> </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476375" y="908050"/>
            <a:ext cx="6980238" cy="720725"/>
          </a:xfrm>
        </p:spPr>
        <p:txBody>
          <a:bodyPr/>
          <a:lstStyle/>
          <a:p>
            <a:pPr eaLnBrk="1" hangingPunct="1"/>
            <a:r>
              <a:rPr lang="en-US" altLang="zh-CN" sz="3600" b="1" smtClean="0">
                <a:solidFill>
                  <a:srgbClr val="0A0A0E"/>
                </a:solidFill>
                <a:latin typeface="Times New Roman" panose="02020603050405020304" pitchFamily="18" charset="0"/>
              </a:rPr>
              <a:t>6.2 </a:t>
            </a:r>
            <a:r>
              <a:rPr lang="zh-CN" altLang="en-US" sz="3600" b="1" smtClean="0">
                <a:solidFill>
                  <a:srgbClr val="0A0A0E"/>
                </a:solidFill>
                <a:latin typeface="Times New Roman" panose="02020603050405020304" pitchFamily="18" charset="0"/>
              </a:rPr>
              <a:t>程序设计</a:t>
            </a:r>
            <a:endParaRPr lang="zh-CN" altLang="en-US" sz="3600" b="1" smtClean="0">
              <a:solidFill>
                <a:srgbClr val="0A0A0E"/>
              </a:solidFill>
              <a:latin typeface="Times New Roman" panose="02020603050405020304" pitchFamily="18" charset="0"/>
            </a:endParaRPr>
          </a:p>
        </p:txBody>
      </p:sp>
      <p:sp>
        <p:nvSpPr>
          <p:cNvPr id="22531" name="Rectangle 3"/>
          <p:cNvSpPr>
            <a:spLocks noGrp="1" noChangeArrowheads="1"/>
          </p:cNvSpPr>
          <p:nvPr>
            <p:ph type="body" idx="1"/>
          </p:nvPr>
        </p:nvSpPr>
        <p:spPr>
          <a:xfrm>
            <a:off x="1042988" y="2060575"/>
            <a:ext cx="7200900" cy="3960813"/>
          </a:xfrm>
        </p:spPr>
        <p:txBody>
          <a:bodyPr/>
          <a:lstStyle/>
          <a:p>
            <a:pPr marL="0" indent="0" eaLnBrk="1" hangingPunct="1">
              <a:buFont typeface="Wingdings" panose="05000000000000000000" pitchFamily="2" charset="2"/>
              <a:buNone/>
            </a:pPr>
            <a:r>
              <a:rPr lang="en-US" altLang="zh-CN" sz="3600" smtClean="0"/>
              <a:t>1. </a:t>
            </a:r>
            <a:r>
              <a:rPr lang="zh-CN" altLang="en-US" sz="3600" b="1" smtClean="0"/>
              <a:t>程序设计的任务</a:t>
            </a:r>
            <a:endParaRPr lang="zh-CN" altLang="en-US" sz="3600" b="1" smtClean="0"/>
          </a:p>
          <a:p>
            <a:pPr marL="465455" lvl="1" algn="just" eaLnBrk="1" hangingPunct="1">
              <a:spcBef>
                <a:spcPct val="15000"/>
              </a:spcBef>
              <a:buClr>
                <a:srgbClr val="003366"/>
              </a:buClr>
              <a:buFontTx/>
              <a:buNone/>
            </a:pPr>
            <a:r>
              <a:rPr lang="zh-CN" altLang="en-US" b="1" smtClean="0">
                <a:latin typeface="Verdana" panose="020B0604030504040204" pitchFamily="34" charset="0"/>
              </a:rPr>
              <a:t>        根据系统设计说明书中关于模块的详细描述和处理过程的描述，选择合适的计算机语言来编制程序的工作。</a:t>
            </a:r>
            <a:endParaRPr lang="zh-CN" altLang="en-US" b="1" smtClean="0">
              <a:latin typeface="Verdana" panose="020B0604030504040204" pitchFamily="34" charset="0"/>
            </a:endParaRPr>
          </a:p>
        </p:txBody>
      </p:sp>
    </p:spTree>
  </p:cSld>
  <p:clrMapOvr>
    <a:masterClrMapping/>
  </p:clrMapOvr>
  <p:transition>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sz="3600" b="1" smtClean="0">
                <a:solidFill>
                  <a:srgbClr val="0A0A0E"/>
                </a:solidFill>
                <a:latin typeface="Times New Roman" panose="02020603050405020304" pitchFamily="18" charset="0"/>
              </a:rPr>
              <a:t>6.2 </a:t>
            </a:r>
            <a:r>
              <a:rPr lang="zh-CN" altLang="en-US" sz="3600" b="1" smtClean="0">
                <a:solidFill>
                  <a:srgbClr val="0A0A0E"/>
                </a:solidFill>
                <a:latin typeface="Times New Roman" panose="02020603050405020304" pitchFamily="18" charset="0"/>
              </a:rPr>
              <a:t>程序设计</a:t>
            </a:r>
            <a:endParaRPr lang="zh-CN" altLang="en-US" sz="3600" b="1" smtClean="0">
              <a:solidFill>
                <a:srgbClr val="0A0A0E"/>
              </a:solidFill>
              <a:latin typeface="Times New Roman" panose="02020603050405020304" pitchFamily="18" charset="0"/>
            </a:endParaRPr>
          </a:p>
        </p:txBody>
      </p:sp>
      <p:sp>
        <p:nvSpPr>
          <p:cNvPr id="23555" name="Rectangle 3"/>
          <p:cNvSpPr>
            <a:spLocks noGrp="1" noChangeArrowheads="1"/>
          </p:cNvSpPr>
          <p:nvPr>
            <p:ph type="body" idx="1"/>
          </p:nvPr>
        </p:nvSpPr>
        <p:spPr>
          <a:xfrm>
            <a:off x="1042988" y="1989138"/>
            <a:ext cx="6696075" cy="3886200"/>
          </a:xfrm>
        </p:spPr>
        <p:txBody>
          <a:bodyPr/>
          <a:lstStyle/>
          <a:p>
            <a:pPr marL="177800" indent="-177800" eaLnBrk="1" hangingPunct="1">
              <a:buClr>
                <a:srgbClr val="003366"/>
              </a:buClr>
              <a:buFont typeface="Wingdings" panose="05000000000000000000" pitchFamily="2" charset="2"/>
              <a:buNone/>
            </a:pPr>
            <a:r>
              <a:rPr lang="zh-CN" altLang="en-US" sz="2800" b="1" smtClean="0">
                <a:solidFill>
                  <a:schemeClr val="tx1"/>
                </a:solidFill>
              </a:rPr>
              <a:t>程序设计的方法</a:t>
            </a:r>
            <a:endParaRPr lang="zh-CN" altLang="en-US" sz="2800" b="1" smtClean="0">
              <a:solidFill>
                <a:schemeClr val="tx1"/>
              </a:solidFill>
            </a:endParaRPr>
          </a:p>
          <a:p>
            <a:pPr marL="177800" indent="-177800" eaLnBrk="1" hangingPunct="1">
              <a:buClr>
                <a:srgbClr val="003366"/>
              </a:buClr>
              <a:buFont typeface="Wingdings" panose="05000000000000000000" pitchFamily="2" charset="2"/>
              <a:buChar char="l"/>
            </a:pPr>
            <a:r>
              <a:rPr lang="zh-CN" altLang="en-US" sz="2800" b="1" smtClean="0">
                <a:solidFill>
                  <a:schemeClr val="tx1"/>
                </a:solidFill>
              </a:rPr>
              <a:t>结构化程序设计方法</a:t>
            </a:r>
            <a:endParaRPr lang="zh-CN" altLang="en-US" sz="2800" b="1" smtClean="0">
              <a:solidFill>
                <a:schemeClr val="tx1"/>
              </a:solidFill>
            </a:endParaRPr>
          </a:p>
          <a:p>
            <a:pPr marL="643255" lvl="1" eaLnBrk="1" hangingPunct="1">
              <a:buClr>
                <a:srgbClr val="003366"/>
              </a:buClr>
              <a:buSzPct val="60000"/>
              <a:buFont typeface="Wingdings" panose="05000000000000000000" pitchFamily="2" charset="2"/>
              <a:buNone/>
            </a:pPr>
            <a:r>
              <a:rPr lang="zh-CN" altLang="en-US" sz="2400" b="1" smtClean="0">
                <a:solidFill>
                  <a:schemeClr val="tx1"/>
                </a:solidFill>
              </a:rPr>
              <a:t>程序设计就是处理过程的设计</a:t>
            </a:r>
            <a:endParaRPr lang="zh-CN" altLang="en-US" sz="2400" b="1" smtClean="0">
              <a:solidFill>
                <a:schemeClr val="tx1"/>
              </a:solidFill>
            </a:endParaRPr>
          </a:p>
          <a:p>
            <a:pPr marL="177800" indent="-177800" eaLnBrk="1" hangingPunct="1">
              <a:buClr>
                <a:srgbClr val="003366"/>
              </a:buClr>
              <a:buFont typeface="Wingdings" panose="05000000000000000000" pitchFamily="2" charset="2"/>
              <a:buChar char="l"/>
            </a:pPr>
            <a:r>
              <a:rPr lang="zh-CN" altLang="en-US" sz="2800" b="1" smtClean="0">
                <a:solidFill>
                  <a:schemeClr val="tx1"/>
                </a:solidFill>
              </a:rPr>
              <a:t>面向对象程序设计方法</a:t>
            </a:r>
            <a:endParaRPr lang="zh-CN" altLang="en-US" sz="2800" b="1" smtClean="0">
              <a:solidFill>
                <a:schemeClr val="tx1"/>
              </a:solidFill>
            </a:endParaRPr>
          </a:p>
          <a:p>
            <a:pPr marL="643255" lvl="1" eaLnBrk="1" hangingPunct="1">
              <a:buClr>
                <a:srgbClr val="003366"/>
              </a:buClr>
              <a:buSzPct val="60000"/>
              <a:buFont typeface="Wingdings" panose="05000000000000000000" pitchFamily="2" charset="2"/>
              <a:buNone/>
            </a:pPr>
            <a:r>
              <a:rPr lang="zh-CN" altLang="en-US" sz="2400" b="1" smtClean="0">
                <a:solidFill>
                  <a:schemeClr val="tx1"/>
                </a:solidFill>
              </a:rPr>
              <a:t>程序设计主要指对象的设计</a:t>
            </a:r>
            <a:endParaRPr lang="zh-CN" altLang="en-US" sz="2400" b="1" smtClean="0">
              <a:solidFill>
                <a:schemeClr val="tx1"/>
              </a:solidFill>
            </a:endParaRPr>
          </a:p>
          <a:p>
            <a:pPr marL="177800" indent="-177800" eaLnBrk="1" hangingPunct="1">
              <a:buClr>
                <a:srgbClr val="003366"/>
              </a:buClr>
              <a:buFont typeface="Wingdings" panose="05000000000000000000" pitchFamily="2" charset="2"/>
              <a:buChar char="l"/>
            </a:pPr>
            <a:r>
              <a:rPr lang="zh-CN" altLang="en-US" sz="2800" b="1" smtClean="0">
                <a:solidFill>
                  <a:schemeClr val="tx1"/>
                </a:solidFill>
              </a:rPr>
              <a:t>可视化编程工具或开发环境</a:t>
            </a:r>
            <a:r>
              <a:rPr lang="zh-CN" altLang="en-US" sz="2000" smtClean="0"/>
              <a:t>         </a:t>
            </a:r>
            <a:endParaRPr lang="zh-CN" altLang="en-US" sz="2800" smtClean="0"/>
          </a:p>
          <a:p>
            <a:pPr marL="643255" lvl="1" eaLnBrk="1" hangingPunct="1">
              <a:lnSpc>
                <a:spcPct val="110000"/>
              </a:lnSpc>
              <a:spcBef>
                <a:spcPct val="0"/>
              </a:spcBef>
              <a:buClrTx/>
              <a:buFontTx/>
              <a:buNone/>
            </a:pPr>
            <a:endParaRPr lang="en-US" altLang="zh-CN" smtClean="0"/>
          </a:p>
        </p:txBody>
      </p:sp>
    </p:spTree>
  </p:cSld>
  <p:clrMapOvr>
    <a:masterClrMapping/>
  </p:clrMapOvr>
  <p:transition>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71550" y="908050"/>
            <a:ext cx="7696200" cy="914400"/>
          </a:xfrm>
          <a:noFill/>
        </p:spPr>
        <p:txBody>
          <a:bodyPr anchor="ctr"/>
          <a:lstStyle/>
          <a:p>
            <a:pPr eaLnBrk="1" hangingPunct="1"/>
            <a:r>
              <a:rPr lang="zh-CN" altLang="en-US" sz="3200" b="1" smtClean="0">
                <a:solidFill>
                  <a:schemeClr val="tx1"/>
                </a:solidFill>
              </a:rPr>
              <a:t>结构化程序设计</a:t>
            </a:r>
            <a:endParaRPr lang="zh-CN" altLang="en-US" sz="3200" b="1" smtClean="0">
              <a:solidFill>
                <a:schemeClr val="tx1"/>
              </a:solidFill>
            </a:endParaRPr>
          </a:p>
        </p:txBody>
      </p:sp>
      <p:sp>
        <p:nvSpPr>
          <p:cNvPr id="24579" name="Rectangle 3"/>
          <p:cNvSpPr>
            <a:spLocks noChangeArrowheads="1"/>
          </p:cNvSpPr>
          <p:nvPr>
            <p:ph type="body" sz="half" idx="1"/>
          </p:nvPr>
        </p:nvSpPr>
        <p:spPr>
          <a:xfrm>
            <a:off x="395288" y="2060575"/>
            <a:ext cx="8215312" cy="4797425"/>
          </a:xfrm>
        </p:spPr>
        <p:txBody>
          <a:bodyPr/>
          <a:lstStyle/>
          <a:p>
            <a:pPr marL="0" indent="0" algn="just" eaLnBrk="1" hangingPunct="1">
              <a:buFont typeface="Wingdings" panose="05000000000000000000" pitchFamily="2" charset="2"/>
              <a:buNone/>
            </a:pPr>
            <a:r>
              <a:rPr lang="zh-CN" altLang="en-US" sz="2400" b="1" smtClean="0">
                <a:solidFill>
                  <a:schemeClr val="tx1"/>
                </a:solidFill>
                <a:latin typeface="宋体" panose="02010600030101010101" pitchFamily="2" charset="-122"/>
              </a:rPr>
              <a:t>结构化程序设计包括以下四方面的内容： </a:t>
            </a:r>
            <a:endParaRPr lang="zh-CN" altLang="en-US" sz="2400" b="1" smtClean="0">
              <a:solidFill>
                <a:schemeClr val="tx1"/>
              </a:solidFill>
              <a:latin typeface="宋体" panose="02010600030101010101" pitchFamily="2" charset="-122"/>
            </a:endParaRPr>
          </a:p>
          <a:p>
            <a:pPr marL="0" indent="0" algn="just" eaLnBrk="1" hangingPunct="1">
              <a:buFont typeface="Wingdings" panose="05000000000000000000" pitchFamily="2" charset="2"/>
              <a:buNone/>
            </a:pPr>
            <a:r>
              <a:rPr lang="en-US" altLang="zh-CN" sz="2400" b="1" smtClean="0">
                <a:solidFill>
                  <a:schemeClr val="tx1"/>
                </a:solidFill>
                <a:latin typeface="宋体" panose="02010600030101010101" pitchFamily="2" charset="-122"/>
              </a:rPr>
              <a:t>(1)</a:t>
            </a:r>
            <a:r>
              <a:rPr lang="zh-CN" altLang="en-US" sz="2400" b="1" smtClean="0">
                <a:solidFill>
                  <a:schemeClr val="tx1"/>
                </a:solidFill>
                <a:latin typeface="宋体" panose="02010600030101010101" pitchFamily="2" charset="-122"/>
              </a:rPr>
              <a:t>限制使用</a:t>
            </a:r>
            <a:r>
              <a:rPr lang="en-US" altLang="zh-CN" sz="2400" b="1" smtClean="0">
                <a:solidFill>
                  <a:schemeClr val="tx1"/>
                </a:solidFill>
                <a:latin typeface="宋体" panose="02010600030101010101" pitchFamily="2" charset="-122"/>
              </a:rPr>
              <a:t>GOTO</a:t>
            </a:r>
            <a:r>
              <a:rPr lang="zh-CN" altLang="en-US" sz="2400" b="1" smtClean="0">
                <a:solidFill>
                  <a:schemeClr val="tx1"/>
                </a:solidFill>
                <a:latin typeface="宋体" panose="02010600030101010101" pitchFamily="2" charset="-122"/>
              </a:rPr>
              <a:t>语句</a:t>
            </a:r>
            <a:endParaRPr lang="zh-CN" altLang="en-US" sz="2400" b="1" smtClean="0">
              <a:solidFill>
                <a:schemeClr val="tx1"/>
              </a:solidFill>
              <a:latin typeface="宋体" panose="02010600030101010101" pitchFamily="2" charset="-122"/>
            </a:endParaRPr>
          </a:p>
          <a:p>
            <a:pPr marL="0" indent="0" algn="just" eaLnBrk="1" hangingPunct="1">
              <a:buFont typeface="Wingdings" panose="05000000000000000000" pitchFamily="2" charset="2"/>
              <a:buNone/>
            </a:pPr>
            <a:r>
              <a:rPr lang="zh-CN" altLang="en-US" sz="2400" b="1" smtClean="0">
                <a:solidFill>
                  <a:schemeClr val="tx1"/>
                </a:solidFill>
                <a:latin typeface="宋体" panose="02010600030101010101" pitchFamily="2" charset="-122"/>
              </a:rPr>
              <a:t> 只用顺序结构、选择结构、循环结构这三种基本结构就能表达任何一个只有一个入口和一个出口的程序逻辑。为实际使用方便，往往允许增加多分支结构、</a:t>
            </a:r>
            <a:r>
              <a:rPr lang="en-US" altLang="zh-CN" sz="2400" b="1" smtClean="0">
                <a:solidFill>
                  <a:schemeClr val="tx1"/>
                </a:solidFill>
                <a:latin typeface="宋体" panose="02010600030101010101" pitchFamily="2" charset="-122"/>
              </a:rPr>
              <a:t>REPEAT</a:t>
            </a:r>
            <a:r>
              <a:rPr lang="zh-CN" altLang="en-US" sz="2400" b="1" smtClean="0">
                <a:solidFill>
                  <a:schemeClr val="tx1"/>
                </a:solidFill>
                <a:latin typeface="宋体" panose="02010600030101010101" pitchFamily="2" charset="-122"/>
              </a:rPr>
              <a:t>型循环等两三种结构。程序中可以完全不用</a:t>
            </a:r>
            <a:r>
              <a:rPr lang="en-US" altLang="zh-CN" sz="2400" b="1" smtClean="0">
                <a:solidFill>
                  <a:schemeClr val="tx1"/>
                </a:solidFill>
                <a:latin typeface="宋体" panose="02010600030101010101" pitchFamily="2" charset="-122"/>
              </a:rPr>
              <a:t>GOTO</a:t>
            </a:r>
            <a:r>
              <a:rPr lang="zh-CN" altLang="en-US" sz="2400" b="1" smtClean="0">
                <a:solidFill>
                  <a:schemeClr val="tx1"/>
                </a:solidFill>
                <a:latin typeface="宋体" panose="02010600030101010101" pitchFamily="2" charset="-122"/>
              </a:rPr>
              <a:t>语句。 </a:t>
            </a:r>
            <a:endParaRPr lang="zh-CN" altLang="en-US" sz="2400" b="1" smtClean="0">
              <a:solidFill>
                <a:schemeClr val="tx1"/>
              </a:solidFill>
              <a:latin typeface="宋体" panose="02010600030101010101" pitchFamily="2" charset="-122"/>
            </a:endParaRPr>
          </a:p>
          <a:p>
            <a:pPr marL="0" indent="0" algn="just" eaLnBrk="1" hangingPunct="1">
              <a:buFont typeface="Wingdings" panose="05000000000000000000" pitchFamily="2" charset="2"/>
              <a:buNone/>
            </a:pPr>
            <a:r>
              <a:rPr lang="en-US" altLang="zh-CN" sz="2400" b="1" smtClean="0">
                <a:solidFill>
                  <a:schemeClr val="tx1"/>
                </a:solidFill>
                <a:latin typeface="宋体" panose="02010600030101010101" pitchFamily="2" charset="-122"/>
              </a:rPr>
              <a:t>(2)</a:t>
            </a:r>
            <a:r>
              <a:rPr lang="zh-CN" altLang="en-US" sz="2400" b="1" smtClean="0">
                <a:solidFill>
                  <a:schemeClr val="tx1"/>
                </a:solidFill>
                <a:latin typeface="宋体" panose="02010600030101010101" pitchFamily="2" charset="-122"/>
              </a:rPr>
              <a:t>逐步求精的设计方法</a:t>
            </a:r>
            <a:endParaRPr lang="zh-CN" altLang="en-US" sz="2400" b="1" smtClean="0">
              <a:solidFill>
                <a:schemeClr val="tx1"/>
              </a:solidFill>
              <a:latin typeface="宋体" panose="02010600030101010101" pitchFamily="2" charset="-122"/>
            </a:endParaRPr>
          </a:p>
          <a:p>
            <a:pPr marL="0" indent="0" algn="just" eaLnBrk="1" hangingPunct="1">
              <a:buFont typeface="Wingdings" panose="05000000000000000000" pitchFamily="2" charset="2"/>
              <a:buNone/>
            </a:pPr>
            <a:r>
              <a:rPr lang="zh-CN" altLang="en-US" sz="2400" b="1" smtClean="0">
                <a:solidFill>
                  <a:schemeClr val="tx1"/>
                </a:solidFill>
                <a:latin typeface="宋体" panose="02010600030101010101" pitchFamily="2" charset="-122"/>
              </a:rPr>
              <a:t>    在一个程序模块内，先从该模块功能描述出发，一层层地逐步细化，直到最后分解、细化成语句为止。</a:t>
            </a:r>
            <a:endParaRPr lang="zh-CN" altLang="en-US" sz="2400" b="1" smtClean="0">
              <a:solidFill>
                <a:schemeClr val="tx1"/>
              </a:solidFill>
              <a:latin typeface="宋体" panose="02010600030101010101" pitchFamily="2" charset="-122"/>
            </a:endParaRPr>
          </a:p>
        </p:txBody>
      </p:sp>
    </p:spTree>
  </p:cSld>
  <p:clrMapOvr>
    <a:masterClrMapping/>
  </p:clrMapOvr>
  <p:transition>
    <p:fade thruBlk="1"/>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042988" y="765175"/>
            <a:ext cx="7696200" cy="914400"/>
          </a:xfrm>
          <a:noFill/>
        </p:spPr>
        <p:txBody>
          <a:bodyPr anchor="ctr"/>
          <a:lstStyle/>
          <a:p>
            <a:pPr eaLnBrk="1" hangingPunct="1"/>
            <a:r>
              <a:rPr lang="zh-CN" altLang="en-US" sz="3200" b="1" smtClean="0">
                <a:solidFill>
                  <a:schemeClr val="tx1"/>
                </a:solidFill>
              </a:rPr>
              <a:t>结构化程序设计</a:t>
            </a:r>
            <a:endParaRPr lang="zh-CN" altLang="en-US" sz="3200" b="1" smtClean="0">
              <a:solidFill>
                <a:schemeClr val="tx1"/>
              </a:solidFill>
            </a:endParaRPr>
          </a:p>
        </p:txBody>
      </p:sp>
      <p:sp>
        <p:nvSpPr>
          <p:cNvPr id="25603" name="Rectangle 3"/>
          <p:cNvSpPr>
            <a:spLocks noChangeArrowheads="1"/>
          </p:cNvSpPr>
          <p:nvPr>
            <p:ph type="body" sz="half" idx="1"/>
          </p:nvPr>
        </p:nvSpPr>
        <p:spPr>
          <a:xfrm>
            <a:off x="323850" y="2060575"/>
            <a:ext cx="8569325" cy="4187825"/>
          </a:xfrm>
        </p:spPr>
        <p:txBody>
          <a:bodyPr/>
          <a:lstStyle/>
          <a:p>
            <a:pPr marL="0" indent="0" algn="just" eaLnBrk="1" hangingPunct="1">
              <a:lnSpc>
                <a:spcPct val="90000"/>
              </a:lnSpc>
              <a:buFont typeface="Wingdings" panose="05000000000000000000" pitchFamily="2" charset="2"/>
              <a:buNone/>
            </a:pPr>
            <a:r>
              <a:rPr lang="en-US" altLang="zh-CN" sz="2800" b="1" smtClean="0">
                <a:solidFill>
                  <a:schemeClr val="tx1"/>
                </a:solidFill>
                <a:latin typeface="宋体" panose="02010600030101010101" pitchFamily="2" charset="-122"/>
              </a:rPr>
              <a:t>(3)</a:t>
            </a:r>
            <a:r>
              <a:rPr lang="zh-CN" altLang="en-US" sz="2800" b="1" smtClean="0">
                <a:solidFill>
                  <a:schemeClr val="tx1"/>
                </a:solidFill>
                <a:latin typeface="宋体" panose="02010600030101010101" pitchFamily="2" charset="-122"/>
              </a:rPr>
              <a:t>自顶向下的设计、编码和调试</a:t>
            </a:r>
            <a:endParaRPr lang="zh-CN" altLang="en-US" sz="2800" b="1" smtClean="0">
              <a:solidFill>
                <a:schemeClr val="tx1"/>
              </a:solidFill>
              <a:latin typeface="宋体" panose="02010600030101010101" pitchFamily="2" charset="-122"/>
            </a:endParaRPr>
          </a:p>
          <a:p>
            <a:pPr marL="0" indent="0" algn="just" eaLnBrk="1" hangingPunct="1">
              <a:lnSpc>
                <a:spcPct val="90000"/>
              </a:lnSpc>
              <a:buFont typeface="Wingdings" panose="05000000000000000000" pitchFamily="2" charset="2"/>
              <a:buNone/>
            </a:pPr>
            <a:r>
              <a:rPr lang="zh-CN" altLang="en-US" sz="2800" b="1" smtClean="0">
                <a:solidFill>
                  <a:schemeClr val="tx1"/>
                </a:solidFill>
                <a:latin typeface="宋体" panose="02010600030101010101" pitchFamily="2" charset="-122"/>
              </a:rPr>
              <a:t>这是把逐步求精的方法由程序模块内的设计推广到一个系统的设计与实现。 </a:t>
            </a:r>
            <a:endParaRPr lang="zh-CN" altLang="en-US" sz="2800" b="1" smtClean="0">
              <a:solidFill>
                <a:schemeClr val="tx1"/>
              </a:solidFill>
              <a:latin typeface="宋体" panose="02010600030101010101" pitchFamily="2" charset="-122"/>
            </a:endParaRPr>
          </a:p>
          <a:p>
            <a:pPr marL="0" indent="0" algn="just" eaLnBrk="1" hangingPunct="1">
              <a:lnSpc>
                <a:spcPct val="90000"/>
              </a:lnSpc>
              <a:buFont typeface="Wingdings" panose="05000000000000000000" pitchFamily="2" charset="2"/>
              <a:buNone/>
            </a:pPr>
            <a:r>
              <a:rPr lang="en-US" altLang="zh-CN" sz="2800" b="1" smtClean="0">
                <a:solidFill>
                  <a:schemeClr val="tx1"/>
                </a:solidFill>
                <a:latin typeface="宋体" panose="02010600030101010101" pitchFamily="2" charset="-122"/>
              </a:rPr>
              <a:t>(4)</a:t>
            </a:r>
            <a:r>
              <a:rPr lang="zh-CN" altLang="en-US" sz="2800" b="1" smtClean="0">
                <a:solidFill>
                  <a:schemeClr val="tx1"/>
                </a:solidFill>
                <a:latin typeface="宋体" panose="02010600030101010101" pitchFamily="2" charset="-122"/>
              </a:rPr>
              <a:t>主程序员制的组织形式</a:t>
            </a:r>
            <a:endParaRPr lang="zh-CN" altLang="en-US" sz="2800" b="1" smtClean="0">
              <a:solidFill>
                <a:schemeClr val="tx1"/>
              </a:solidFill>
              <a:latin typeface="宋体" panose="02010600030101010101" pitchFamily="2" charset="-122"/>
            </a:endParaRPr>
          </a:p>
          <a:p>
            <a:pPr marL="0" indent="0" algn="just" eaLnBrk="1" hangingPunct="1">
              <a:lnSpc>
                <a:spcPct val="90000"/>
              </a:lnSpc>
              <a:buFont typeface="Wingdings" panose="05000000000000000000" pitchFamily="2" charset="2"/>
              <a:buNone/>
            </a:pPr>
            <a:r>
              <a:rPr lang="zh-CN" altLang="en-US" sz="2800" b="1" smtClean="0">
                <a:solidFill>
                  <a:schemeClr val="tx1"/>
                </a:solidFill>
                <a:latin typeface="宋体" panose="02010600030101010101" pitchFamily="2" charset="-122"/>
              </a:rPr>
              <a:t>    这是程序人员的组织形式。程序资料员</a:t>
            </a:r>
            <a:r>
              <a:rPr lang="en-US" altLang="zh-CN" sz="2800" b="1" smtClean="0">
                <a:solidFill>
                  <a:schemeClr val="tx1"/>
                </a:solidFill>
                <a:latin typeface="宋体" panose="02010600030101010101" pitchFamily="2" charset="-122"/>
              </a:rPr>
              <a:t>(</a:t>
            </a:r>
            <a:r>
              <a:rPr lang="zh-CN" altLang="en-US" sz="2800" b="1" smtClean="0">
                <a:solidFill>
                  <a:schemeClr val="tx1"/>
                </a:solidFill>
                <a:latin typeface="宋体" panose="02010600030101010101" pitchFamily="2" charset="-122"/>
              </a:rPr>
              <a:t>或秘书</a:t>
            </a:r>
            <a:r>
              <a:rPr lang="en-US" altLang="zh-CN" sz="2800" b="1" smtClean="0">
                <a:solidFill>
                  <a:schemeClr val="tx1"/>
                </a:solidFill>
                <a:latin typeface="宋体" panose="02010600030101010101" pitchFamily="2" charset="-122"/>
              </a:rPr>
              <a:t>)</a:t>
            </a:r>
            <a:r>
              <a:rPr lang="zh-CN" altLang="en-US" sz="2800" b="1" smtClean="0">
                <a:solidFill>
                  <a:schemeClr val="tx1"/>
                </a:solidFill>
                <a:latin typeface="宋体" panose="02010600030101010101" pitchFamily="2" charset="-122"/>
              </a:rPr>
              <a:t>一人。其他技术人员按需要随时加入组内。主程序员负责整体项目的开发，并负责关键部分的设计、编码和调试。 </a:t>
            </a:r>
            <a:endParaRPr lang="zh-CN" altLang="en-US" sz="2800" b="1" smtClean="0">
              <a:solidFill>
                <a:schemeClr val="tx1"/>
              </a:solidFill>
              <a:latin typeface="宋体" panose="02010600030101010101" pitchFamily="2" charset="-122"/>
            </a:endParaRPr>
          </a:p>
        </p:txBody>
      </p:sp>
    </p:spTree>
  </p:cSld>
  <p:clrMapOvr>
    <a:masterClrMapping/>
  </p:clrMapOvr>
  <p:transition>
    <p:fade thruBlk="1"/>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187450" y="981075"/>
            <a:ext cx="7194550" cy="682625"/>
          </a:xfrm>
          <a:noFill/>
        </p:spPr>
        <p:txBody>
          <a:bodyPr anchor="ctr"/>
          <a:lstStyle/>
          <a:p>
            <a:pPr eaLnBrk="1" hangingPunct="1"/>
            <a:r>
              <a:rPr lang="zh-CN" altLang="en-US" sz="3200" b="1" smtClean="0">
                <a:solidFill>
                  <a:schemeClr val="tx1"/>
                </a:solidFill>
              </a:rPr>
              <a:t>结构化程序设计</a:t>
            </a:r>
            <a:endParaRPr lang="zh-CN" altLang="en-US" sz="3200" b="1" smtClean="0">
              <a:solidFill>
                <a:schemeClr val="tx1"/>
              </a:solidFill>
            </a:endParaRPr>
          </a:p>
        </p:txBody>
      </p:sp>
      <p:sp>
        <p:nvSpPr>
          <p:cNvPr id="26627" name="Rectangle 3"/>
          <p:cNvSpPr>
            <a:spLocks noChangeArrowheads="1"/>
          </p:cNvSpPr>
          <p:nvPr>
            <p:ph type="body" sz="half" idx="1"/>
          </p:nvPr>
        </p:nvSpPr>
        <p:spPr>
          <a:xfrm>
            <a:off x="755650" y="1989138"/>
            <a:ext cx="7778750" cy="4259262"/>
          </a:xfrm>
        </p:spPr>
        <p:txBody>
          <a:bodyPr/>
          <a:lstStyle/>
          <a:p>
            <a:pPr marL="0" indent="288925" algn="just" eaLnBrk="1" hangingPunct="1">
              <a:lnSpc>
                <a:spcPct val="90000"/>
              </a:lnSpc>
              <a:buFont typeface="Wingdings" panose="05000000000000000000" pitchFamily="2" charset="2"/>
              <a:buNone/>
            </a:pPr>
            <a:r>
              <a:rPr lang="zh-CN" altLang="en-US" sz="2400" b="1" smtClean="0">
                <a:solidFill>
                  <a:schemeClr val="tx1"/>
                </a:solidFill>
              </a:rPr>
              <a:t>作为这种组织形式中的一个程序员，为使自己的工作融人整个系统，与组内其他成员协调致地工作。必须严格遵守：</a:t>
            </a:r>
            <a:endParaRPr lang="zh-CN" altLang="en-US" sz="2400" b="1" smtClean="0">
              <a:solidFill>
                <a:schemeClr val="tx1"/>
              </a:solidFill>
            </a:endParaRPr>
          </a:p>
          <a:p>
            <a:pPr marL="0" indent="288925" algn="just" eaLnBrk="1" hangingPunct="1">
              <a:lnSpc>
                <a:spcPct val="90000"/>
              </a:lnSpc>
              <a:buFont typeface="Wingdings" panose="05000000000000000000" pitchFamily="2" charset="2"/>
              <a:buNone/>
            </a:pPr>
            <a:r>
              <a:rPr lang="zh-CN" altLang="en-US" sz="2400" b="1" smtClean="0">
                <a:solidFill>
                  <a:schemeClr val="tx1"/>
                </a:solidFill>
              </a:rPr>
              <a:t>① 不使用可能干扰其他模块的命令或函数；</a:t>
            </a:r>
            <a:endParaRPr lang="zh-CN" altLang="en-US" sz="2400" b="1" smtClean="0">
              <a:solidFill>
                <a:schemeClr val="tx1"/>
              </a:solidFill>
            </a:endParaRPr>
          </a:p>
          <a:p>
            <a:pPr marL="0" indent="288925" algn="just" eaLnBrk="1" hangingPunct="1">
              <a:lnSpc>
                <a:spcPct val="90000"/>
              </a:lnSpc>
              <a:buFont typeface="Wingdings" panose="05000000000000000000" pitchFamily="2" charset="2"/>
              <a:buNone/>
            </a:pPr>
            <a:r>
              <a:rPr lang="zh-CN" altLang="en-US" sz="2400" b="1" smtClean="0">
                <a:solidFill>
                  <a:schemeClr val="tx1"/>
                </a:solidFill>
              </a:rPr>
              <a:t>② 按总体设计的要求传递参数，不随意修改其内容与含义；</a:t>
            </a:r>
            <a:endParaRPr lang="zh-CN" altLang="en-US" sz="2400" b="1" smtClean="0">
              <a:solidFill>
                <a:schemeClr val="tx1"/>
              </a:solidFill>
            </a:endParaRPr>
          </a:p>
          <a:p>
            <a:pPr marL="0" indent="288925" algn="just" eaLnBrk="1" hangingPunct="1">
              <a:lnSpc>
                <a:spcPct val="90000"/>
              </a:lnSpc>
              <a:buFont typeface="Wingdings" panose="05000000000000000000" pitchFamily="2" charset="2"/>
              <a:buNone/>
            </a:pPr>
            <a:r>
              <a:rPr lang="zh-CN" altLang="en-US" sz="2400" b="1" smtClean="0">
                <a:solidFill>
                  <a:schemeClr val="tx1"/>
                </a:solidFill>
              </a:rPr>
              <a:t>③ 按规定的统一格式操作公用文件或数据库；</a:t>
            </a:r>
            <a:endParaRPr lang="zh-CN" altLang="en-US" sz="2400" b="1" smtClean="0">
              <a:solidFill>
                <a:schemeClr val="tx1"/>
              </a:solidFill>
            </a:endParaRPr>
          </a:p>
          <a:p>
            <a:pPr marL="0" indent="288925" algn="just" eaLnBrk="1" hangingPunct="1">
              <a:lnSpc>
                <a:spcPct val="90000"/>
              </a:lnSpc>
              <a:buFont typeface="Wingdings" panose="05000000000000000000" pitchFamily="2" charset="2"/>
              <a:buNone/>
            </a:pPr>
            <a:r>
              <a:rPr lang="zh-CN" altLang="en-US" sz="2400" b="1" smtClean="0">
                <a:solidFill>
                  <a:schemeClr val="tx1"/>
                </a:solidFill>
              </a:rPr>
              <a:t>④ 按统一的原则使用标识符；</a:t>
            </a:r>
            <a:endParaRPr lang="zh-CN" altLang="en-US" sz="2400" b="1" smtClean="0">
              <a:solidFill>
                <a:schemeClr val="tx1"/>
              </a:solidFill>
            </a:endParaRPr>
          </a:p>
          <a:p>
            <a:pPr marL="0" indent="288925" algn="just" eaLnBrk="1" hangingPunct="1">
              <a:lnSpc>
                <a:spcPct val="90000"/>
              </a:lnSpc>
              <a:buFont typeface="Wingdings" panose="05000000000000000000" pitchFamily="2" charset="2"/>
              <a:buNone/>
            </a:pPr>
            <a:r>
              <a:rPr lang="zh-CN" altLang="en-US" sz="2400" b="1" smtClean="0">
                <a:solidFill>
                  <a:schemeClr val="tx1"/>
                </a:solidFill>
              </a:rPr>
              <a:t>⑤ 按统一要求编写文档；</a:t>
            </a:r>
            <a:endParaRPr lang="en-US" altLang="zh-CN" sz="2400" b="1" smtClean="0">
              <a:solidFill>
                <a:schemeClr val="tx1"/>
              </a:solidFill>
            </a:endParaRPr>
          </a:p>
          <a:p>
            <a:pPr marL="0" indent="288925" algn="just" eaLnBrk="1" hangingPunct="1">
              <a:lnSpc>
                <a:spcPct val="90000"/>
              </a:lnSpc>
              <a:buFont typeface="Wingdings" panose="05000000000000000000" pitchFamily="2" charset="2"/>
              <a:buNone/>
            </a:pPr>
            <a:r>
              <a:rPr lang="zh-CN" altLang="en-US" sz="2400" b="1" smtClean="0">
                <a:solidFill>
                  <a:schemeClr val="tx1"/>
                </a:solidFill>
              </a:rPr>
              <a:t> ⑥保持程序风格的一致。 </a:t>
            </a:r>
            <a:endParaRPr lang="zh-CN" altLang="en-US" sz="2400" b="1" smtClean="0">
              <a:solidFill>
                <a:schemeClr val="tx1"/>
              </a:solidFill>
            </a:endParaRPr>
          </a:p>
        </p:txBody>
      </p:sp>
    </p:spTree>
  </p:cSld>
  <p:clrMapOvr>
    <a:masterClrMapping/>
  </p:clrMapOvr>
  <p:transition>
    <p:fade thruBlk="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258888" y="1052513"/>
            <a:ext cx="7123112" cy="611187"/>
          </a:xfrm>
          <a:noFill/>
        </p:spPr>
        <p:txBody>
          <a:bodyPr anchor="ctr"/>
          <a:lstStyle/>
          <a:p>
            <a:pPr eaLnBrk="1" hangingPunct="1"/>
            <a:r>
              <a:rPr lang="zh-CN" altLang="en-US" sz="3200" b="1" smtClean="0">
                <a:solidFill>
                  <a:schemeClr val="tx1"/>
                </a:solidFill>
              </a:rPr>
              <a:t>面向对象的程序设计</a:t>
            </a:r>
            <a:r>
              <a:rPr lang="zh-CN" altLang="en-US" sz="3200" smtClean="0">
                <a:solidFill>
                  <a:schemeClr val="folHlink"/>
                </a:solidFill>
              </a:rPr>
              <a:t> </a:t>
            </a:r>
            <a:endParaRPr lang="zh-CN" altLang="en-US" sz="3200" smtClean="0">
              <a:solidFill>
                <a:schemeClr val="folHlink"/>
              </a:solidFill>
            </a:endParaRPr>
          </a:p>
        </p:txBody>
      </p:sp>
      <p:sp>
        <p:nvSpPr>
          <p:cNvPr id="1823747" name="Rectangle 3"/>
          <p:cNvSpPr>
            <a:spLocks noChangeArrowheads="1"/>
          </p:cNvSpPr>
          <p:nvPr>
            <p:ph type="body" sz="half" idx="1"/>
          </p:nvPr>
        </p:nvSpPr>
        <p:spPr>
          <a:xfrm>
            <a:off x="395288" y="1916113"/>
            <a:ext cx="8367712" cy="4408487"/>
          </a:xfrm>
        </p:spPr>
        <p:txBody>
          <a:bodyPr/>
          <a:lstStyle/>
          <a:p>
            <a:pPr marL="0" indent="0" algn="just" eaLnBrk="1" hangingPunct="1">
              <a:buFont typeface="Wingdings" panose="05000000000000000000" pitchFamily="2" charset="2"/>
              <a:buNone/>
            </a:pPr>
            <a:r>
              <a:rPr lang="zh-CN" altLang="en-US" sz="2400" b="1" smtClean="0">
                <a:solidFill>
                  <a:schemeClr val="tx1"/>
                </a:solidFill>
                <a:latin typeface="宋体" panose="02010600030101010101" pitchFamily="2" charset="-122"/>
              </a:rPr>
              <a:t>面向对象程序设计</a:t>
            </a:r>
            <a:endParaRPr lang="zh-CN" altLang="en-US" sz="2400" b="1" smtClean="0">
              <a:solidFill>
                <a:schemeClr val="tx1"/>
              </a:solidFill>
              <a:latin typeface="宋体" panose="02010600030101010101" pitchFamily="2" charset="-122"/>
            </a:endParaRPr>
          </a:p>
          <a:p>
            <a:pPr marL="0" indent="0" algn="just" eaLnBrk="1" hangingPunct="1">
              <a:buFont typeface="Wingdings" panose="05000000000000000000" pitchFamily="2" charset="2"/>
              <a:buNone/>
            </a:pPr>
            <a:r>
              <a:rPr lang="zh-CN" altLang="en-US" sz="2400" b="1" smtClean="0">
                <a:solidFill>
                  <a:schemeClr val="tx1"/>
                </a:solidFill>
                <a:latin typeface="宋体" panose="02010600030101010101" pitchFamily="2" charset="-122"/>
              </a:rPr>
              <a:t>在</a:t>
            </a:r>
            <a:r>
              <a:rPr lang="en-US" altLang="zh-CN" sz="2400" b="1" smtClean="0">
                <a:solidFill>
                  <a:schemeClr val="tx1"/>
                </a:solidFill>
                <a:latin typeface="宋体" panose="02010600030101010101" pitchFamily="2" charset="-122"/>
              </a:rPr>
              <a:t>OOP</a:t>
            </a:r>
            <a:r>
              <a:rPr lang="zh-CN" altLang="en-US" sz="2400" b="1" smtClean="0">
                <a:solidFill>
                  <a:schemeClr val="tx1"/>
                </a:solidFill>
                <a:latin typeface="宋体" panose="02010600030101010101" pitchFamily="2" charset="-122"/>
              </a:rPr>
              <a:t>方法中，一个对象即是一个独立存在的实体，对象有各自的属性和行为，彼此以消息进行通信。</a:t>
            </a:r>
            <a:endParaRPr lang="zh-CN" altLang="en-US" sz="2400" b="1" smtClean="0">
              <a:solidFill>
                <a:schemeClr val="tx1"/>
              </a:solidFill>
              <a:latin typeface="宋体" panose="02010600030101010101" pitchFamily="2" charset="-122"/>
            </a:endParaRPr>
          </a:p>
          <a:p>
            <a:pPr marL="0" indent="0" algn="just" eaLnBrk="1" hangingPunct="1">
              <a:buClr>
                <a:srgbClr val="FF0000"/>
              </a:buClr>
              <a:buFont typeface="Webdings" panose="05030102010509060703" pitchFamily="18" charset="2"/>
              <a:buNone/>
            </a:pPr>
            <a:r>
              <a:rPr lang="zh-CN" altLang="en-US" sz="2400" b="1" smtClean="0">
                <a:solidFill>
                  <a:schemeClr val="tx1"/>
                </a:solidFill>
                <a:latin typeface="宋体" panose="02010600030101010101" pitchFamily="2" charset="-122"/>
              </a:rPr>
              <a:t>对象的属性只能通过自己的行为来改变，实现了数据封装，这便是对象的封装性。</a:t>
            </a:r>
            <a:endParaRPr lang="zh-CN" altLang="en-US" sz="2400" b="1" smtClean="0">
              <a:solidFill>
                <a:schemeClr val="tx1"/>
              </a:solidFill>
              <a:latin typeface="宋体" panose="02010600030101010101" pitchFamily="2" charset="-122"/>
            </a:endParaRPr>
          </a:p>
          <a:p>
            <a:pPr marL="0" indent="0" algn="just" eaLnBrk="1" hangingPunct="1">
              <a:buClr>
                <a:srgbClr val="FF0000"/>
              </a:buClr>
              <a:buFont typeface="Webdings" panose="05030102010509060703" pitchFamily="18" charset="2"/>
              <a:buNone/>
            </a:pPr>
            <a:r>
              <a:rPr lang="zh-CN" altLang="en-US" sz="2400" b="1" smtClean="0">
                <a:solidFill>
                  <a:schemeClr val="tx1"/>
                </a:solidFill>
                <a:latin typeface="宋体" panose="02010600030101010101" pitchFamily="2" charset="-122"/>
              </a:rPr>
              <a:t>而相关对象在进行合并分类后，有可能出现共享某些性质，通过抽象后使多种相关对象表现为一定的组织层次，底层次的对象继承其高层次对象的特性，这便是对象的继承性。</a:t>
            </a:r>
            <a:endParaRPr lang="zh-CN" altLang="en-US" sz="2400" b="1" smtClean="0">
              <a:solidFill>
                <a:schemeClr val="tx1"/>
              </a:solidFill>
              <a:latin typeface="宋体" panose="02010600030101010101" pitchFamily="2" charset="-122"/>
            </a:endParaRPr>
          </a:p>
          <a:p>
            <a:pPr marL="0" indent="0" algn="just" eaLnBrk="1" hangingPunct="1">
              <a:buClr>
                <a:srgbClr val="FF0000"/>
              </a:buClr>
              <a:buFont typeface="Webdings" panose="05030102010509060703" pitchFamily="18" charset="2"/>
              <a:buNone/>
            </a:pPr>
            <a:r>
              <a:rPr lang="zh-CN" altLang="en-US" sz="2400" b="1" smtClean="0">
                <a:solidFill>
                  <a:schemeClr val="tx1"/>
                </a:solidFill>
                <a:latin typeface="宋体" panose="02010600030101010101" pitchFamily="2" charset="-122"/>
              </a:rPr>
              <a:t>另外，对象的某一种操作在不同的条件环境下可以实现不同的处理，产生不同的结果，这就是对象的多态性。 </a:t>
            </a:r>
            <a:endParaRPr lang="zh-CN" altLang="en-US" sz="2400" b="1" smtClean="0">
              <a:solidFill>
                <a:schemeClr val="tx1"/>
              </a:solidFill>
              <a:latin typeface="宋体" panose="02010600030101010101" pitchFamily="2" charset="-122"/>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8237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374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042988" y="765175"/>
            <a:ext cx="7339012" cy="682625"/>
          </a:xfrm>
          <a:noFill/>
        </p:spPr>
        <p:txBody>
          <a:bodyPr anchor="ctr"/>
          <a:lstStyle/>
          <a:p>
            <a:pPr eaLnBrk="1" hangingPunct="1"/>
            <a:r>
              <a:rPr lang="zh-CN" altLang="en-US" sz="3200" b="1" smtClean="0">
                <a:solidFill>
                  <a:schemeClr val="tx1"/>
                </a:solidFill>
              </a:rPr>
              <a:t>可视化编程技术</a:t>
            </a:r>
            <a:r>
              <a:rPr lang="zh-CN" altLang="en-US" sz="3200" smtClean="0">
                <a:solidFill>
                  <a:schemeClr val="folHlink"/>
                </a:solidFill>
              </a:rPr>
              <a:t> </a:t>
            </a:r>
            <a:endParaRPr lang="zh-CN" altLang="en-US" sz="3200" smtClean="0">
              <a:solidFill>
                <a:schemeClr val="folHlink"/>
              </a:solidFill>
            </a:endParaRPr>
          </a:p>
        </p:txBody>
      </p:sp>
      <p:sp>
        <p:nvSpPr>
          <p:cNvPr id="1825795" name="Rectangle 3"/>
          <p:cNvSpPr>
            <a:spLocks noChangeArrowheads="1"/>
          </p:cNvSpPr>
          <p:nvPr>
            <p:ph type="body" sz="half" idx="1"/>
          </p:nvPr>
        </p:nvSpPr>
        <p:spPr>
          <a:xfrm>
            <a:off x="468313" y="2133600"/>
            <a:ext cx="8294687" cy="4191000"/>
          </a:xfrm>
        </p:spPr>
        <p:txBody>
          <a:bodyPr/>
          <a:lstStyle/>
          <a:p>
            <a:pPr marL="0" indent="376555" algn="just" eaLnBrk="1" hangingPunct="1">
              <a:lnSpc>
                <a:spcPct val="90000"/>
              </a:lnSpc>
              <a:spcBef>
                <a:spcPct val="0"/>
              </a:spcBef>
            </a:pPr>
            <a:r>
              <a:rPr lang="zh-CN" altLang="en-US" sz="2400" b="1" smtClean="0">
                <a:solidFill>
                  <a:schemeClr val="tx1"/>
                </a:solidFill>
              </a:rPr>
              <a:t>主要思想：</a:t>
            </a:r>
            <a:endParaRPr lang="zh-CN" altLang="en-US" sz="2400" b="1" smtClean="0">
              <a:solidFill>
                <a:schemeClr val="tx1"/>
              </a:solidFill>
            </a:endParaRPr>
          </a:p>
          <a:p>
            <a:pPr marL="0" indent="376555" algn="just" eaLnBrk="1" hangingPunct="1">
              <a:lnSpc>
                <a:spcPct val="90000"/>
              </a:lnSpc>
              <a:spcBef>
                <a:spcPct val="0"/>
              </a:spcBef>
              <a:buFont typeface="Wingdings" panose="05000000000000000000" pitchFamily="2" charset="2"/>
              <a:buNone/>
            </a:pPr>
            <a:r>
              <a:rPr lang="zh-CN" altLang="en-US" sz="2400" b="1" smtClean="0">
                <a:solidFill>
                  <a:schemeClr val="tx1"/>
                </a:solidFill>
              </a:rPr>
              <a:t>用图形工具和可重用部件来交互地编制程序。它把现有的或新建的模块代码封装于标准接口封包中，作为可视化编程编辑工具中的一个对象，用图符来表示和控制。</a:t>
            </a:r>
            <a:endParaRPr lang="zh-CN" altLang="en-US" sz="2400" b="1" smtClean="0">
              <a:solidFill>
                <a:schemeClr val="tx1"/>
              </a:solidFill>
            </a:endParaRPr>
          </a:p>
          <a:p>
            <a:pPr marL="0" indent="376555" algn="just" eaLnBrk="1" hangingPunct="1">
              <a:lnSpc>
                <a:spcPct val="90000"/>
              </a:lnSpc>
              <a:spcBef>
                <a:spcPct val="0"/>
              </a:spcBef>
            </a:pPr>
            <a:r>
              <a:rPr lang="zh-CN" altLang="en-US" sz="2400" b="1" smtClean="0">
                <a:solidFill>
                  <a:schemeClr val="tx1"/>
                </a:solidFill>
              </a:rPr>
              <a:t>可视化编程</a:t>
            </a:r>
            <a:endParaRPr lang="zh-CN" altLang="en-US" sz="2400" b="1" smtClean="0">
              <a:solidFill>
                <a:schemeClr val="tx1"/>
              </a:solidFill>
            </a:endParaRPr>
          </a:p>
          <a:p>
            <a:pPr marL="0" indent="376555" algn="just" eaLnBrk="1" hangingPunct="1">
              <a:lnSpc>
                <a:spcPct val="90000"/>
              </a:lnSpc>
              <a:spcBef>
                <a:spcPct val="0"/>
              </a:spcBef>
              <a:buFont typeface="Wingdings" panose="05000000000000000000" pitchFamily="2" charset="2"/>
              <a:buNone/>
            </a:pPr>
            <a:r>
              <a:rPr lang="zh-CN" altLang="en-US" sz="2400" b="1" smtClean="0">
                <a:solidFill>
                  <a:schemeClr val="tx1"/>
                </a:solidFill>
              </a:rPr>
              <a:t>一般基于事件驱动的原理。 </a:t>
            </a:r>
            <a:endParaRPr lang="zh-CN" altLang="en-US" sz="2400" b="1" smtClean="0">
              <a:solidFill>
                <a:schemeClr val="tx1"/>
              </a:solidFill>
            </a:endParaRPr>
          </a:p>
          <a:p>
            <a:pPr marL="0" indent="376555" algn="just" eaLnBrk="1" hangingPunct="1">
              <a:lnSpc>
                <a:spcPct val="90000"/>
              </a:lnSpc>
              <a:spcBef>
                <a:spcPct val="0"/>
              </a:spcBef>
            </a:pPr>
            <a:r>
              <a:rPr lang="zh-CN" altLang="en-US" sz="2400" b="1" smtClean="0">
                <a:solidFill>
                  <a:schemeClr val="tx1"/>
                </a:solidFill>
              </a:rPr>
              <a:t>面向对象编程技术和可视化编程开发环境的结合，改变了应用软件只有经过专门技术训练的专业编程人员才能开发的状况。它使软件开发变得容易，由于大量软件模块的重用和可视控件的引入，技术人员在掌握这些技术之后，就能有效地提高应用软件的开发效率，缩短开发周期，降低了开发成本，并且使应用软件界面风格统一，有很好的易用性。  </a:t>
            </a:r>
            <a:endParaRPr lang="zh-CN" altLang="en-US" sz="2400" b="1" smtClean="0">
              <a:solidFill>
                <a:schemeClr val="tx1"/>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8257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579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116013" y="1052513"/>
            <a:ext cx="7265987" cy="755650"/>
          </a:xfrm>
          <a:noFill/>
        </p:spPr>
        <p:txBody>
          <a:bodyPr anchor="ctr"/>
          <a:lstStyle/>
          <a:p>
            <a:pPr eaLnBrk="1" hangingPunct="1"/>
            <a:r>
              <a:rPr lang="zh-CN" altLang="en-US" sz="3200" b="1" smtClean="0">
                <a:solidFill>
                  <a:schemeClr val="tx1"/>
                </a:solidFill>
              </a:rPr>
              <a:t>程序的内部文档</a:t>
            </a:r>
            <a:r>
              <a:rPr lang="zh-CN" altLang="en-US" sz="3200" smtClean="0">
                <a:solidFill>
                  <a:schemeClr val="folHlink"/>
                </a:solidFill>
              </a:rPr>
              <a:t> </a:t>
            </a:r>
            <a:endParaRPr lang="zh-CN" altLang="en-US" sz="3200" smtClean="0">
              <a:solidFill>
                <a:schemeClr val="folHlink"/>
              </a:solidFill>
            </a:endParaRPr>
          </a:p>
        </p:txBody>
      </p:sp>
      <p:sp>
        <p:nvSpPr>
          <p:cNvPr id="29699" name="Rectangle 3"/>
          <p:cNvSpPr>
            <a:spLocks noChangeArrowheads="1"/>
          </p:cNvSpPr>
          <p:nvPr>
            <p:ph type="body" sz="half" idx="1"/>
          </p:nvPr>
        </p:nvSpPr>
        <p:spPr>
          <a:xfrm>
            <a:off x="755650" y="2060575"/>
            <a:ext cx="7702550" cy="4111625"/>
          </a:xfrm>
        </p:spPr>
        <p:txBody>
          <a:bodyPr/>
          <a:lstStyle/>
          <a:p>
            <a:pPr marL="0" indent="288925" algn="just" eaLnBrk="1" hangingPunct="1">
              <a:spcBef>
                <a:spcPct val="0"/>
              </a:spcBef>
              <a:buFont typeface="Wingdings" panose="05000000000000000000" pitchFamily="2" charset="2"/>
              <a:buNone/>
            </a:pPr>
            <a:r>
              <a:rPr lang="zh-CN" altLang="en-US" sz="2400" b="1" smtClean="0">
                <a:solidFill>
                  <a:schemeClr val="tx1"/>
                </a:solidFill>
                <a:latin typeface="宋体" panose="02010600030101010101" pitchFamily="2" charset="-122"/>
              </a:rPr>
              <a:t>程序的“内部文档”，指程序内部带有的说明材料，用注释语句书写。程序适当加注释后，阅读时就不必再看其他说明材料了。因此，这是提高程序可阅读性的有力手段。注释可以出现在程序的任何位置，但要与程序结构配合起来，效果才好。</a:t>
            </a:r>
            <a:endParaRPr lang="zh-CN" altLang="en-US" sz="2400" b="1" smtClean="0">
              <a:solidFill>
                <a:schemeClr val="tx1"/>
              </a:solidFill>
              <a:latin typeface="宋体" panose="02010600030101010101" pitchFamily="2" charset="-122"/>
            </a:endParaRPr>
          </a:p>
          <a:p>
            <a:pPr marL="0" indent="288925" algn="just" eaLnBrk="1" hangingPunct="1">
              <a:spcBef>
                <a:spcPct val="0"/>
              </a:spcBef>
              <a:buFont typeface="Wingdings" panose="05000000000000000000" pitchFamily="2" charset="2"/>
              <a:buNone/>
            </a:pPr>
            <a:r>
              <a:rPr lang="zh-CN" altLang="en-US" sz="2400" b="1" smtClean="0">
                <a:solidFill>
                  <a:schemeClr val="tx1"/>
                </a:solidFill>
                <a:latin typeface="宋体" panose="02010600030101010101" pitchFamily="2" charset="-122"/>
              </a:rPr>
              <a:t>注意以下几点：</a:t>
            </a:r>
            <a:endParaRPr lang="zh-CN" altLang="en-US" sz="2400" b="1" smtClean="0">
              <a:solidFill>
                <a:schemeClr val="tx1"/>
              </a:solidFill>
              <a:latin typeface="宋体" panose="02010600030101010101" pitchFamily="2" charset="-122"/>
            </a:endParaRPr>
          </a:p>
          <a:p>
            <a:pPr marL="0" indent="288925" algn="just" eaLnBrk="1" hangingPunct="1">
              <a:spcBef>
                <a:spcPct val="0"/>
              </a:spcBef>
              <a:buFont typeface="Wingdings" panose="05000000000000000000" pitchFamily="2" charset="2"/>
              <a:buNone/>
            </a:pPr>
            <a:r>
              <a:rPr lang="en-US" altLang="zh-CN" sz="2400" b="1" smtClean="0">
                <a:solidFill>
                  <a:schemeClr val="tx1"/>
                </a:solidFill>
                <a:latin typeface="宋体" panose="02010600030101010101" pitchFamily="2" charset="-122"/>
              </a:rPr>
              <a:t>(1)</a:t>
            </a:r>
            <a:r>
              <a:rPr lang="zh-CN" altLang="en-US" sz="2400" b="1" smtClean="0">
                <a:solidFill>
                  <a:schemeClr val="tx1"/>
                </a:solidFill>
                <a:latin typeface="宋体" panose="02010600030101010101" pitchFamily="2" charset="-122"/>
              </a:rPr>
              <a:t>注释必须与程序一致 </a:t>
            </a:r>
            <a:endParaRPr lang="zh-CN" altLang="en-US" sz="2400" b="1" smtClean="0">
              <a:solidFill>
                <a:schemeClr val="tx1"/>
              </a:solidFill>
              <a:latin typeface="宋体" panose="02010600030101010101" pitchFamily="2" charset="-122"/>
            </a:endParaRPr>
          </a:p>
          <a:p>
            <a:pPr marL="0" indent="288925" algn="just" eaLnBrk="1" hangingPunct="1">
              <a:spcBef>
                <a:spcPct val="0"/>
              </a:spcBef>
              <a:buFont typeface="Wingdings" panose="05000000000000000000" pitchFamily="2" charset="2"/>
              <a:buNone/>
            </a:pPr>
            <a:r>
              <a:rPr lang="en-US" altLang="zh-CN" sz="2400" b="1" smtClean="0">
                <a:solidFill>
                  <a:schemeClr val="tx1"/>
                </a:solidFill>
                <a:latin typeface="宋体" panose="02010600030101010101" pitchFamily="2" charset="-122"/>
              </a:rPr>
              <a:t>(2)</a:t>
            </a:r>
            <a:r>
              <a:rPr lang="zh-CN" altLang="en-US" sz="2400" b="1" smtClean="0">
                <a:solidFill>
                  <a:schemeClr val="tx1"/>
                </a:solidFill>
                <a:latin typeface="宋体" panose="02010600030101010101" pitchFamily="2" charset="-122"/>
              </a:rPr>
              <a:t>注释不是重复程序语句，而应提供从程序本身难以得到的信息。</a:t>
            </a:r>
            <a:endParaRPr lang="zh-CN" altLang="en-US" sz="2400" b="1" smtClean="0">
              <a:solidFill>
                <a:schemeClr val="tx1"/>
              </a:solidFill>
              <a:latin typeface="宋体" panose="02010600030101010101" pitchFamily="2" charset="-122"/>
            </a:endParaRPr>
          </a:p>
          <a:p>
            <a:pPr marL="0" indent="288925" algn="just" eaLnBrk="1" hangingPunct="1">
              <a:spcBef>
                <a:spcPct val="0"/>
              </a:spcBef>
              <a:buFont typeface="Wingdings" panose="05000000000000000000" pitchFamily="2" charset="2"/>
              <a:buNone/>
            </a:pPr>
            <a:r>
              <a:rPr lang="en-US" altLang="zh-CN" sz="2400" b="1" smtClean="0">
                <a:solidFill>
                  <a:schemeClr val="tx1"/>
                </a:solidFill>
                <a:latin typeface="宋体" panose="02010600030101010101" pitchFamily="2" charset="-122"/>
              </a:rPr>
              <a:t>(3)</a:t>
            </a:r>
            <a:r>
              <a:rPr lang="zh-CN" altLang="en-US" sz="2400" b="1" smtClean="0">
                <a:solidFill>
                  <a:schemeClr val="tx1"/>
                </a:solidFill>
                <a:latin typeface="宋体" panose="02010600030101010101" pitchFamily="2" charset="-122"/>
              </a:rPr>
              <a:t>对程序段作注释，而不是对每个语句作注释。</a:t>
            </a:r>
            <a:r>
              <a:rPr lang="zh-CN" altLang="en-US" sz="2400" smtClean="0">
                <a:solidFill>
                  <a:srgbClr val="FF0000"/>
                </a:solidFill>
              </a:rPr>
              <a:t> </a:t>
            </a:r>
            <a:endParaRPr lang="zh-CN" altLang="en-US" sz="2400" smtClean="0">
              <a:solidFill>
                <a:srgbClr val="FF0000"/>
              </a:solidFill>
            </a:endParaRPr>
          </a:p>
        </p:txBody>
      </p:sp>
    </p:spTree>
  </p:cSld>
  <p:clrMapOvr>
    <a:masterClrMapping/>
  </p:clrMapOvr>
  <p:transition>
    <p:fade thruBlk="1"/>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z="3600" b="1" smtClean="0">
                <a:solidFill>
                  <a:schemeClr val="tx1"/>
                </a:solidFill>
              </a:rPr>
              <a:t>程序错误的分类</a:t>
            </a:r>
            <a:r>
              <a:rPr lang="zh-CN" altLang="en-US" smtClean="0"/>
              <a:t> </a:t>
            </a:r>
            <a:endParaRPr lang="zh-CN" altLang="en-US" smtClean="0"/>
          </a:p>
        </p:txBody>
      </p:sp>
      <p:sp>
        <p:nvSpPr>
          <p:cNvPr id="30723" name="Rectangle 3"/>
          <p:cNvSpPr>
            <a:spLocks noGrp="1" noChangeArrowheads="1"/>
          </p:cNvSpPr>
          <p:nvPr>
            <p:ph type="body" idx="1"/>
          </p:nvPr>
        </p:nvSpPr>
        <p:spPr>
          <a:xfrm>
            <a:off x="684213" y="2060575"/>
            <a:ext cx="7772400" cy="3886200"/>
          </a:xfrm>
        </p:spPr>
        <p:txBody>
          <a:bodyPr/>
          <a:lstStyle/>
          <a:p>
            <a:pPr eaLnBrk="1" hangingPunct="1"/>
            <a:r>
              <a:rPr lang="zh-CN" altLang="en-US" sz="2800" b="1" smtClean="0"/>
              <a:t>语法错误</a:t>
            </a:r>
            <a:endParaRPr lang="zh-CN" altLang="en-US" sz="2800" b="1" smtClean="0"/>
          </a:p>
          <a:p>
            <a:pPr lvl="1" eaLnBrk="1" hangingPunct="1"/>
            <a:r>
              <a:rPr lang="zh-CN" altLang="en-US" sz="2400" b="1" smtClean="0"/>
              <a:t>程序设计人员对程序设计语言的理解不够，或程序设计基本功不扎实造成的结果。</a:t>
            </a:r>
            <a:endParaRPr lang="zh-CN" altLang="en-US" sz="2400" b="1" smtClean="0"/>
          </a:p>
          <a:p>
            <a:pPr eaLnBrk="1" hangingPunct="1"/>
            <a:r>
              <a:rPr lang="zh-CN" altLang="en-US" sz="2800" b="1" smtClean="0"/>
              <a:t>逻辑错误</a:t>
            </a:r>
            <a:endParaRPr lang="zh-CN" altLang="en-US" sz="2800" b="1" smtClean="0"/>
          </a:p>
          <a:p>
            <a:pPr lvl="1" eaLnBrk="1" hangingPunct="1"/>
            <a:r>
              <a:rPr lang="zh-CN" altLang="en-US" sz="2400" b="1" smtClean="0"/>
              <a:t>指那些虽然不违反系统规则，但是却不合逻辑或不合题目语义的错误。</a:t>
            </a:r>
            <a:endParaRPr lang="zh-CN" altLang="en-US" sz="2400" b="1" smtClean="0"/>
          </a:p>
        </p:txBody>
      </p:sp>
    </p:spTree>
  </p:cSld>
  <p:clrMapOvr>
    <a:masterClrMapping/>
  </p:clrMapOvr>
  <p:transition>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sz="half" idx="1"/>
          </p:nvPr>
        </p:nvSpPr>
        <p:spPr>
          <a:xfrm>
            <a:off x="468313" y="2017713"/>
            <a:ext cx="8488362" cy="4114800"/>
          </a:xfrm>
        </p:spPr>
        <p:txBody>
          <a:bodyPr/>
          <a:lstStyle/>
          <a:p>
            <a:pPr marL="0" indent="0" eaLnBrk="1" hangingPunct="1">
              <a:spcBef>
                <a:spcPct val="0"/>
              </a:spcBef>
              <a:buFontTx/>
              <a:buNone/>
            </a:pPr>
            <a:r>
              <a:rPr lang="zh-CN" altLang="en-US" sz="2800" b="1" smtClean="0"/>
              <a:t>程序设计语言的选择</a:t>
            </a:r>
            <a:endParaRPr lang="zh-CN" altLang="en-US" sz="2800" b="1" smtClean="0">
              <a:latin typeface="宋体" panose="02010600030101010101" pitchFamily="2" charset="-122"/>
            </a:endParaRPr>
          </a:p>
          <a:p>
            <a:pPr marL="532130" lvl="1" indent="-352425" eaLnBrk="1" hangingPunct="1">
              <a:buSzPct val="65000"/>
            </a:pPr>
            <a:r>
              <a:rPr lang="zh-CN" altLang="en-US" sz="2400" b="1" smtClean="0">
                <a:latin typeface="Times New Roman" panose="02020603050405020304" pitchFamily="18" charset="0"/>
              </a:rPr>
              <a:t>语言的结构化机制与数据管理能力</a:t>
            </a:r>
            <a:endParaRPr lang="zh-CN" altLang="en-US" sz="2400" b="1" smtClean="0">
              <a:latin typeface="Times New Roman" panose="02020603050405020304" pitchFamily="18" charset="0"/>
            </a:endParaRPr>
          </a:p>
          <a:p>
            <a:pPr marL="532130" lvl="1" indent="-352425" eaLnBrk="1" hangingPunct="1">
              <a:buSzPct val="65000"/>
            </a:pPr>
            <a:r>
              <a:rPr lang="zh-CN" altLang="en-US" sz="2400" b="1" smtClean="0">
                <a:latin typeface="Times New Roman" panose="02020603050405020304" pitchFamily="18" charset="0"/>
              </a:rPr>
              <a:t>选用高级语言应该有理想的模块化机制、可读性好的控制结构和数据结构，同时具备较强的数据管理能力</a:t>
            </a:r>
            <a:endParaRPr lang="zh-CN" altLang="en-US" sz="2400" b="1" smtClean="0"/>
          </a:p>
          <a:p>
            <a:pPr marL="532130" lvl="1" indent="-352425" eaLnBrk="1" hangingPunct="1">
              <a:buSzPct val="65000"/>
            </a:pPr>
            <a:r>
              <a:rPr lang="zh-CN" altLang="en-US" sz="2400" b="1" smtClean="0">
                <a:latin typeface="Times New Roman" panose="02020603050405020304" pitchFamily="18" charset="0"/>
              </a:rPr>
              <a:t>语言可提供的交互功能</a:t>
            </a:r>
            <a:endParaRPr lang="zh-CN" altLang="en-US" sz="2400" b="1" smtClean="0"/>
          </a:p>
          <a:p>
            <a:pPr marL="532130" lvl="1" indent="-352425" eaLnBrk="1" hangingPunct="1">
              <a:buSzPct val="65000"/>
            </a:pPr>
            <a:r>
              <a:rPr lang="zh-CN" altLang="en-US" sz="2400" b="1" smtClean="0">
                <a:latin typeface="Times New Roman" panose="02020603050405020304" pitchFamily="18" charset="0"/>
              </a:rPr>
              <a:t>有较丰富的软件工具</a:t>
            </a:r>
            <a:endParaRPr lang="zh-CN" altLang="en-US" sz="2400" b="1" smtClean="0">
              <a:latin typeface="Times New Roman" panose="02020603050405020304" pitchFamily="18" charset="0"/>
            </a:endParaRPr>
          </a:p>
          <a:p>
            <a:pPr marL="532130" lvl="1" indent="-352425" eaLnBrk="1" hangingPunct="1">
              <a:buSzPct val="65000"/>
            </a:pPr>
            <a:r>
              <a:rPr lang="zh-CN" altLang="en-US" sz="2400" b="1" smtClean="0">
                <a:latin typeface="Times New Roman" panose="02020603050405020304" pitchFamily="18" charset="0"/>
              </a:rPr>
              <a:t>开发人员的熟练程度</a:t>
            </a:r>
            <a:endParaRPr lang="zh-CN" altLang="en-US" sz="2400" b="1" smtClean="0">
              <a:latin typeface="Times New Roman" panose="02020603050405020304" pitchFamily="18" charset="0"/>
            </a:endParaRPr>
          </a:p>
          <a:p>
            <a:pPr marL="532130" lvl="1" indent="-352425" eaLnBrk="1" hangingPunct="1">
              <a:buSzPct val="65000"/>
            </a:pPr>
            <a:r>
              <a:rPr lang="zh-CN" altLang="en-US" sz="2400" b="1" smtClean="0">
                <a:latin typeface="Times New Roman" panose="02020603050405020304" pitchFamily="18" charset="0"/>
              </a:rPr>
              <a:t>软件可移植性要求</a:t>
            </a:r>
            <a:endParaRPr lang="zh-CN" altLang="en-US" sz="2400" b="1" smtClean="0">
              <a:latin typeface="Times New Roman" panose="02020603050405020304" pitchFamily="18" charset="0"/>
            </a:endParaRPr>
          </a:p>
          <a:p>
            <a:pPr marL="532130" lvl="1" indent="-352425" eaLnBrk="1" hangingPunct="1">
              <a:buSzPct val="65000"/>
            </a:pPr>
            <a:r>
              <a:rPr lang="zh-CN" altLang="en-US" sz="2400" b="1" smtClean="0">
                <a:latin typeface="Times New Roman" panose="02020603050405020304" pitchFamily="18" charset="0"/>
              </a:rPr>
              <a:t>系统用户的要求</a:t>
            </a:r>
            <a:endParaRPr lang="zh-CN" altLang="en-US" sz="2400" b="1" smtClean="0">
              <a:latin typeface="Times New Roman" panose="02020603050405020304" pitchFamily="18" charset="0"/>
            </a:endParaRPr>
          </a:p>
        </p:txBody>
      </p:sp>
      <p:sp>
        <p:nvSpPr>
          <p:cNvPr id="31747" name="AutoShape 4">
            <a:hlinkClick r:id="" action="ppaction://noaction" highlightClick="1"/>
          </p:cNvPr>
          <p:cNvSpPr>
            <a:spLocks noChangeArrowheads="1"/>
          </p:cNvSpPr>
          <p:nvPr/>
        </p:nvSpPr>
        <p:spPr bwMode="auto">
          <a:xfrm>
            <a:off x="1476375" y="836613"/>
            <a:ext cx="3887788"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6.2 </a:t>
            </a:r>
            <a:r>
              <a:rPr lang="zh-CN" altLang="en-US" sz="3600" b="1">
                <a:solidFill>
                  <a:srgbClr val="0A0A0E"/>
                </a:solidFill>
                <a:latin typeface="Times New Roman" panose="02020603050405020304" pitchFamily="18" charset="0"/>
              </a:rPr>
              <a:t>程序设计</a:t>
            </a:r>
            <a:r>
              <a:rPr lang="zh-CN" altLang="en-US" sz="3200" b="1">
                <a:solidFill>
                  <a:srgbClr val="0A0A0E"/>
                </a:solidFill>
                <a:latin typeface="Times New Roman" panose="02020603050405020304" pitchFamily="18" charset="0"/>
              </a:rPr>
              <a:t> </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z="3600" b="1" smtClean="0">
                <a:solidFill>
                  <a:srgbClr val="0A0A0E"/>
                </a:solidFill>
                <a:latin typeface="Times New Roman" panose="02020603050405020304" pitchFamily="18" charset="0"/>
              </a:rPr>
              <a:t>6.2 </a:t>
            </a:r>
            <a:r>
              <a:rPr lang="zh-CN" altLang="en-US" sz="3600" b="1" smtClean="0">
                <a:solidFill>
                  <a:srgbClr val="0A0A0E"/>
                </a:solidFill>
                <a:latin typeface="Times New Roman" panose="02020603050405020304" pitchFamily="18" charset="0"/>
              </a:rPr>
              <a:t>程序设计</a:t>
            </a:r>
            <a:endParaRPr lang="zh-CN" altLang="en-US" sz="3600" b="1" smtClean="0">
              <a:solidFill>
                <a:srgbClr val="0A0A0E"/>
              </a:solidFill>
              <a:latin typeface="Times New Roman" panose="02020603050405020304" pitchFamily="18" charset="0"/>
            </a:endParaRPr>
          </a:p>
        </p:txBody>
      </p:sp>
      <p:sp>
        <p:nvSpPr>
          <p:cNvPr id="32771" name="Rectangle 3"/>
          <p:cNvSpPr>
            <a:spLocks noGrp="1" noChangeArrowheads="1"/>
          </p:cNvSpPr>
          <p:nvPr>
            <p:ph type="body" idx="1"/>
          </p:nvPr>
        </p:nvSpPr>
        <p:spPr>
          <a:xfrm>
            <a:off x="179388" y="2060575"/>
            <a:ext cx="7772400" cy="4114800"/>
          </a:xfrm>
        </p:spPr>
        <p:txBody>
          <a:bodyPr/>
          <a:lstStyle/>
          <a:p>
            <a:pPr marL="685800" indent="-685800" eaLnBrk="1" hangingPunct="1">
              <a:buFont typeface="Wingdings" panose="05000000000000000000" pitchFamily="2" charset="2"/>
              <a:buNone/>
            </a:pPr>
            <a:r>
              <a:rPr lang="zh-CN" altLang="en-US" b="1" smtClean="0"/>
              <a:t>软件开发工具</a:t>
            </a:r>
            <a:endParaRPr lang="zh-CN" altLang="en-US" b="1" smtClean="0"/>
          </a:p>
          <a:p>
            <a:pPr marL="1081405" lvl="1" indent="-609600" eaLnBrk="1" hangingPunct="1">
              <a:buFont typeface="Wingdings" panose="05000000000000000000" pitchFamily="2" charset="2"/>
              <a:buChar char="p"/>
            </a:pPr>
            <a:r>
              <a:rPr lang="zh-CN" altLang="en-US" b="1" smtClean="0"/>
              <a:t>编程语言类</a:t>
            </a:r>
            <a:endParaRPr lang="zh-CN" altLang="en-US" b="1" smtClean="0"/>
          </a:p>
          <a:p>
            <a:pPr marL="1081405" lvl="1" indent="-609600" eaLnBrk="1" hangingPunct="1">
              <a:buFont typeface="Wingdings" panose="05000000000000000000" pitchFamily="2" charset="2"/>
              <a:buChar char="p"/>
            </a:pPr>
            <a:r>
              <a:rPr lang="zh-CN" altLang="en-US" b="1" smtClean="0"/>
              <a:t>数据库类</a:t>
            </a:r>
            <a:endParaRPr lang="zh-CN" altLang="en-US" b="1" smtClean="0"/>
          </a:p>
          <a:p>
            <a:pPr marL="1081405" lvl="1" indent="-609600" eaLnBrk="1" hangingPunct="1">
              <a:buFont typeface="Wingdings" panose="05000000000000000000" pitchFamily="2" charset="2"/>
              <a:buChar char="p"/>
            </a:pPr>
            <a:r>
              <a:rPr lang="zh-CN" altLang="en-US" b="1" smtClean="0"/>
              <a:t>可视化编程类</a:t>
            </a:r>
            <a:endParaRPr lang="zh-CN" altLang="en-US" b="1" smtClean="0"/>
          </a:p>
          <a:p>
            <a:pPr marL="1081405" lvl="1" indent="-609600" eaLnBrk="1" hangingPunct="1">
              <a:buFont typeface="Wingdings" panose="05000000000000000000" pitchFamily="2" charset="2"/>
              <a:buChar char="p"/>
            </a:pPr>
            <a:r>
              <a:rPr lang="zh-CN" altLang="en-US" b="1" smtClean="0"/>
              <a:t>专业系统类</a:t>
            </a:r>
            <a:endParaRPr lang="zh-CN" altLang="en-US" b="1" smtClean="0"/>
          </a:p>
          <a:p>
            <a:pPr marL="1081405" lvl="1" indent="-609600" eaLnBrk="1" hangingPunct="1">
              <a:buFont typeface="Wingdings" panose="05000000000000000000" pitchFamily="2" charset="2"/>
              <a:buChar char="p"/>
            </a:pPr>
            <a:r>
              <a:rPr lang="zh-CN" altLang="en-US" b="1" smtClean="0"/>
              <a:t>客户</a:t>
            </a:r>
            <a:r>
              <a:rPr lang="en-US" altLang="zh-CN" b="1" smtClean="0"/>
              <a:t>/</a:t>
            </a:r>
            <a:r>
              <a:rPr lang="zh-CN" altLang="en-US" b="1" smtClean="0"/>
              <a:t>服务器类</a:t>
            </a:r>
            <a:endParaRPr lang="zh-CN" altLang="en-US" b="1" smtClean="0"/>
          </a:p>
        </p:txBody>
      </p:sp>
      <p:sp>
        <p:nvSpPr>
          <p:cNvPr id="1784836" name="Rectangle 4"/>
          <p:cNvSpPr>
            <a:spLocks noChangeArrowheads="1"/>
          </p:cNvSpPr>
          <p:nvPr/>
        </p:nvSpPr>
        <p:spPr bwMode="auto">
          <a:xfrm>
            <a:off x="4500563" y="2419350"/>
            <a:ext cx="3411537" cy="400050"/>
          </a:xfrm>
          <a:prstGeom prst="rect">
            <a:avLst/>
          </a:prstGeom>
          <a:noFill/>
          <a:ln w="9525" algn="ctr">
            <a:noFill/>
            <a:miter lim="800000"/>
          </a:ln>
        </p:spPr>
        <p:txBody>
          <a:bodyPr wrap="none" anchor="ctr">
            <a:spAutoFit/>
          </a:bodyPr>
          <a:lstStyle/>
          <a:p>
            <a:r>
              <a:rPr lang="zh-CN" altLang="en-US" sz="2000" b="1">
                <a:latin typeface="黑体" panose="02010609060101010101" pitchFamily="2" charset="-122"/>
                <a:ea typeface="黑体" panose="02010609060101010101" pitchFamily="2" charset="-122"/>
              </a:rPr>
              <a:t>［电子表格软件开发工具］ </a:t>
            </a:r>
            <a:endParaRPr lang="zh-CN" altLang="en-US" sz="2000" b="1">
              <a:latin typeface="黑体" panose="02010609060101010101" pitchFamily="2" charset="-122"/>
              <a:ea typeface="黑体" panose="02010609060101010101" pitchFamily="2" charset="-122"/>
            </a:endParaRPr>
          </a:p>
        </p:txBody>
      </p:sp>
      <p:sp>
        <p:nvSpPr>
          <p:cNvPr id="1784837" name="Rectangle 5"/>
          <p:cNvSpPr>
            <a:spLocks noChangeArrowheads="1"/>
          </p:cNvSpPr>
          <p:nvPr/>
        </p:nvSpPr>
        <p:spPr bwMode="auto">
          <a:xfrm>
            <a:off x="4500563" y="2851150"/>
            <a:ext cx="4443412" cy="400050"/>
          </a:xfrm>
          <a:prstGeom prst="rect">
            <a:avLst/>
          </a:prstGeom>
          <a:noFill/>
          <a:ln w="9525" algn="ctr">
            <a:noFill/>
            <a:miter lim="800000"/>
          </a:ln>
        </p:spPr>
        <p:txBody>
          <a:bodyPr wrap="none" anchor="ctr">
            <a:spAutoFit/>
          </a:bodyPr>
          <a:lstStyle/>
          <a:p>
            <a:r>
              <a:rPr lang="zh-CN" altLang="en-US" sz="2000" b="1">
                <a:latin typeface="黑体" panose="02010609060101010101" pitchFamily="2" charset="-122"/>
                <a:ea typeface="黑体" panose="02010609060101010101" pitchFamily="2" charset="-122"/>
              </a:rPr>
              <a:t>［数据库管理系统提供的开发工具］ </a:t>
            </a:r>
            <a:endParaRPr lang="zh-CN" altLang="en-US" sz="2000" b="1">
              <a:latin typeface="黑体" panose="02010609060101010101" pitchFamily="2" charset="-122"/>
              <a:ea typeface="黑体" panose="02010609060101010101" pitchFamily="2" charset="-122"/>
            </a:endParaRPr>
          </a:p>
        </p:txBody>
      </p:sp>
      <p:sp>
        <p:nvSpPr>
          <p:cNvPr id="1784838" name="Rectangle 6"/>
          <p:cNvSpPr>
            <a:spLocks noChangeArrowheads="1"/>
          </p:cNvSpPr>
          <p:nvPr/>
        </p:nvSpPr>
        <p:spPr bwMode="auto">
          <a:xfrm>
            <a:off x="4535488" y="3284538"/>
            <a:ext cx="4608512" cy="396875"/>
          </a:xfrm>
          <a:prstGeom prst="rect">
            <a:avLst/>
          </a:prstGeom>
          <a:noFill/>
          <a:ln w="9525" algn="ctr">
            <a:noFill/>
            <a:miter lim="800000"/>
          </a:ln>
        </p:spPr>
        <p:txBody>
          <a:bodyPr anchor="ctr">
            <a:spAutoFit/>
          </a:bodyPr>
          <a:lstStyle/>
          <a:p>
            <a:r>
              <a:rPr lang="zh-CN" altLang="en-US" sz="2000" b="1">
                <a:latin typeface="黑体" panose="02010609060101010101" pitchFamily="2" charset="-122"/>
                <a:ea typeface="黑体" panose="02010609060101010101" pitchFamily="2" charset="-122"/>
              </a:rPr>
              <a:t>［套装软件工具］ </a:t>
            </a:r>
            <a:endParaRPr lang="zh-CN" altLang="en-US" sz="2000" b="1">
              <a:latin typeface="黑体" panose="02010609060101010101" pitchFamily="2" charset="-122"/>
              <a:ea typeface="黑体" panose="02010609060101010101" pitchFamily="2" charset="-122"/>
            </a:endParaRPr>
          </a:p>
        </p:txBody>
      </p:sp>
      <p:sp>
        <p:nvSpPr>
          <p:cNvPr id="1784839" name="Rectangle 7"/>
          <p:cNvSpPr>
            <a:spLocks noChangeArrowheads="1"/>
          </p:cNvSpPr>
          <p:nvPr/>
        </p:nvSpPr>
        <p:spPr bwMode="auto">
          <a:xfrm>
            <a:off x="4572000" y="3714750"/>
            <a:ext cx="3670300" cy="400050"/>
          </a:xfrm>
          <a:prstGeom prst="rect">
            <a:avLst/>
          </a:prstGeom>
          <a:noFill/>
          <a:ln w="9525" algn="ctr">
            <a:noFill/>
            <a:miter lim="800000"/>
          </a:ln>
        </p:spPr>
        <p:txBody>
          <a:bodyPr wrap="none" anchor="ctr">
            <a:spAutoFit/>
          </a:bodyPr>
          <a:lstStyle/>
          <a:p>
            <a:r>
              <a:rPr lang="zh-CN" altLang="en-US" sz="2000" b="1">
                <a:latin typeface="黑体" panose="02010609060101010101" pitchFamily="2" charset="-122"/>
                <a:ea typeface="黑体" panose="02010609060101010101" pitchFamily="2" charset="-122"/>
              </a:rPr>
              <a:t>［可视化图形界面编程工具］ </a:t>
            </a:r>
            <a:endParaRPr lang="zh-CN" altLang="en-US" sz="2000" b="1">
              <a:latin typeface="黑体" panose="02010609060101010101" pitchFamily="2" charset="-122"/>
              <a:ea typeface="黑体" panose="02010609060101010101" pitchFamily="2" charset="-122"/>
            </a:endParaRPr>
          </a:p>
        </p:txBody>
      </p:sp>
      <p:sp>
        <p:nvSpPr>
          <p:cNvPr id="1784840" name="Rectangle 8"/>
          <p:cNvSpPr>
            <a:spLocks noChangeArrowheads="1"/>
          </p:cNvSpPr>
          <p:nvPr/>
        </p:nvSpPr>
        <p:spPr bwMode="auto">
          <a:xfrm>
            <a:off x="4716463" y="4076700"/>
            <a:ext cx="4032250" cy="1235075"/>
          </a:xfrm>
          <a:prstGeom prst="rect">
            <a:avLst/>
          </a:prstGeom>
          <a:noFill/>
          <a:ln w="9525" algn="ctr">
            <a:noFill/>
            <a:miter lim="800000"/>
          </a:ln>
        </p:spPr>
        <p:txBody>
          <a:bodyPr anchor="ctr">
            <a:spAutoFit/>
          </a:bodyPr>
          <a:lstStyle/>
          <a:p>
            <a:pPr>
              <a:lnSpc>
                <a:spcPct val="125000"/>
              </a:lnSpc>
            </a:pPr>
            <a:r>
              <a:rPr lang="en-US" altLang="zh-CN" sz="2000" b="1">
                <a:latin typeface="Arial" panose="020B0604020202020204" pitchFamily="34" charset="0"/>
              </a:rPr>
              <a:t>⑴ MS Visual Foxpro </a:t>
            </a:r>
            <a:br>
              <a:rPr lang="en-US" altLang="zh-CN" sz="2000" b="1">
                <a:latin typeface="Arial" panose="020B0604020202020204" pitchFamily="34" charset="0"/>
              </a:rPr>
            </a:br>
            <a:r>
              <a:rPr lang="en-US" altLang="zh-CN" sz="2000" b="1">
                <a:latin typeface="Arial" panose="020B0604020202020204" pitchFamily="34" charset="0"/>
              </a:rPr>
              <a:t>⑵ MS Visual BASlC </a:t>
            </a:r>
            <a:br>
              <a:rPr lang="en-US" altLang="zh-CN" sz="2000" b="1">
                <a:latin typeface="Arial" panose="020B0604020202020204" pitchFamily="34" charset="0"/>
              </a:rPr>
            </a:br>
            <a:r>
              <a:rPr lang="en-US" altLang="zh-CN" sz="2000" b="1">
                <a:latin typeface="Arial" panose="020B0604020202020204" pitchFamily="34" charset="0"/>
              </a:rPr>
              <a:t>⑶ PowerBuilder</a:t>
            </a:r>
            <a:r>
              <a:rPr lang="zh-CN" altLang="en-US" sz="2000" b="1">
                <a:latin typeface="Arial" panose="020B0604020202020204" pitchFamily="34" charset="0"/>
              </a:rPr>
              <a:t>： </a:t>
            </a:r>
            <a:endParaRPr lang="zh-CN" altLang="en-US" sz="2000" b="1">
              <a:latin typeface="Arial" panose="020B0604020202020204" pitchFamily="34" charset="0"/>
            </a:endParaRPr>
          </a:p>
        </p:txBody>
      </p:sp>
      <p:sp>
        <p:nvSpPr>
          <p:cNvPr id="32777" name="Text Box 9"/>
          <p:cNvSpPr txBox="1">
            <a:spLocks noChangeArrowheads="1"/>
          </p:cNvSpPr>
          <p:nvPr/>
        </p:nvSpPr>
        <p:spPr bwMode="auto">
          <a:xfrm>
            <a:off x="4643438" y="1989138"/>
            <a:ext cx="3384550" cy="457200"/>
          </a:xfrm>
          <a:prstGeom prst="rect">
            <a:avLst/>
          </a:prstGeom>
          <a:noFill/>
          <a:ln w="9525" algn="ctr">
            <a:noFill/>
            <a:miter lim="800000"/>
          </a:ln>
        </p:spPr>
        <p:txBody>
          <a:bodyPr lIns="90000" tIns="46800" rIns="90000" bIns="46800">
            <a:spAutoFit/>
          </a:bodyPr>
          <a:lstStyle/>
          <a:p>
            <a:pPr>
              <a:spcBef>
                <a:spcPct val="50000"/>
              </a:spcBef>
            </a:pPr>
            <a:r>
              <a:rPr lang="zh-CN" altLang="en-US" b="1"/>
              <a:t>例如：</a:t>
            </a:r>
            <a:endParaRPr lang="zh-CN" altLang="en-US" b="1"/>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84836"/>
                                        </p:tgtEl>
                                        <p:attrNameLst>
                                          <p:attrName>style.visibility</p:attrName>
                                        </p:attrNameLst>
                                      </p:cBhvr>
                                      <p:to>
                                        <p:strVal val="visible"/>
                                      </p:to>
                                    </p:set>
                                    <p:animEffect transition="in" filter="dissolve">
                                      <p:cBhvr>
                                        <p:cTn id="7" dur="500"/>
                                        <p:tgtEl>
                                          <p:spTgt spid="17848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84837"/>
                                        </p:tgtEl>
                                        <p:attrNameLst>
                                          <p:attrName>style.visibility</p:attrName>
                                        </p:attrNameLst>
                                      </p:cBhvr>
                                      <p:to>
                                        <p:strVal val="visible"/>
                                      </p:to>
                                    </p:set>
                                    <p:animEffect transition="in" filter="dissolve">
                                      <p:cBhvr>
                                        <p:cTn id="12" dur="500"/>
                                        <p:tgtEl>
                                          <p:spTgt spid="1784837"/>
                                        </p:tgtEl>
                                      </p:cBhvr>
                                    </p:animEffect>
                                  </p:childTnLst>
                                </p:cTn>
                              </p:par>
                            </p:childTnLst>
                          </p:cTn>
                        </p:par>
                      </p:childTnLst>
                    </p:cTn>
                  </p:par>
                  <p:par>
                    <p:cTn id="13" fill="hold">
                      <p:stCondLst>
                        <p:cond delay="indefinite"/>
                      </p:stCondLst>
                      <p:childTnLst>
                        <p:par>
                          <p:cTn id="14" fill="hold">
                            <p:stCondLst>
                              <p:cond delay="0"/>
                            </p:stCondLst>
                            <p:childTnLst>
                              <p:par>
                                <p:cTn id="15" presetID="52" presetClass="entr" presetSubtype="0" fill="hold" grpId="0" nodeType="clickEffect">
                                  <p:stCondLst>
                                    <p:cond delay="0"/>
                                  </p:stCondLst>
                                  <p:childTnLst>
                                    <p:set>
                                      <p:cBhvr>
                                        <p:cTn id="16" dur="1" fill="hold">
                                          <p:stCondLst>
                                            <p:cond delay="0"/>
                                          </p:stCondLst>
                                        </p:cTn>
                                        <p:tgtEl>
                                          <p:spTgt spid="1784838"/>
                                        </p:tgtEl>
                                        <p:attrNameLst>
                                          <p:attrName>style.visibility</p:attrName>
                                        </p:attrNameLst>
                                      </p:cBhvr>
                                      <p:to>
                                        <p:strVal val="visible"/>
                                      </p:to>
                                    </p:set>
                                    <p:animScale>
                                      <p:cBhvr>
                                        <p:cTn id="17" dur="1000" decel="50000" fill="hold">
                                          <p:stCondLst>
                                            <p:cond delay="0"/>
                                          </p:stCondLst>
                                        </p:cTn>
                                        <p:tgtEl>
                                          <p:spTgt spid="17848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1784838"/>
                                        </p:tgtEl>
                                        <p:attrNameLst>
                                          <p:attrName>ppt_x</p:attrName>
                                          <p:attrName>ppt_y</p:attrName>
                                        </p:attrNameLst>
                                      </p:cBhvr>
                                    </p:animMotion>
                                    <p:animEffect transition="in" filter="fade">
                                      <p:cBhvr>
                                        <p:cTn id="19" dur="1000"/>
                                        <p:tgtEl>
                                          <p:spTgt spid="1784838"/>
                                        </p:tgtEl>
                                      </p:cBhvr>
                                    </p:animEffect>
                                  </p:childTnLst>
                                </p:cTn>
                              </p:par>
                            </p:childTnLst>
                          </p:cTn>
                        </p:par>
                      </p:childTnLst>
                    </p:cTn>
                  </p:par>
                  <p:par>
                    <p:cTn id="20" fill="hold">
                      <p:stCondLst>
                        <p:cond delay="indefinite"/>
                      </p:stCondLst>
                      <p:childTnLst>
                        <p:par>
                          <p:cTn id="21" fill="hold">
                            <p:stCondLst>
                              <p:cond delay="0"/>
                            </p:stCondLst>
                            <p:childTnLst>
                              <p:par>
                                <p:cTn id="22" presetID="25" presetClass="entr" presetSubtype="0" fill="hold" grpId="0" nodeType="clickEffect">
                                  <p:stCondLst>
                                    <p:cond delay="0"/>
                                  </p:stCondLst>
                                  <p:childTnLst>
                                    <p:set>
                                      <p:cBhvr>
                                        <p:cTn id="23" dur="1" fill="hold">
                                          <p:stCondLst>
                                            <p:cond delay="0"/>
                                          </p:stCondLst>
                                        </p:cTn>
                                        <p:tgtEl>
                                          <p:spTgt spid="1784839"/>
                                        </p:tgtEl>
                                        <p:attrNameLst>
                                          <p:attrName>style.visibility</p:attrName>
                                        </p:attrNameLst>
                                      </p:cBhvr>
                                      <p:to>
                                        <p:strVal val="visible"/>
                                      </p:to>
                                    </p:set>
                                    <p:anim calcmode="lin" valueType="num">
                                      <p:cBhvr>
                                        <p:cTn id="24" dur="500" decel="50000" fill="hold">
                                          <p:stCondLst>
                                            <p:cond delay="0"/>
                                          </p:stCondLst>
                                        </p:cTn>
                                        <p:tgtEl>
                                          <p:spTgt spid="1784839"/>
                                        </p:tgtEl>
                                        <p:attrNameLst>
                                          <p:attrName>style.rotation</p:attrName>
                                        </p:attrNameLst>
                                      </p:cBhvr>
                                      <p:tavLst>
                                        <p:tav tm="0">
                                          <p:val>
                                            <p:fltVal val="-90"/>
                                          </p:val>
                                        </p:tav>
                                        <p:tav tm="100000">
                                          <p:val>
                                            <p:fltVal val="0"/>
                                          </p:val>
                                        </p:tav>
                                      </p:tavLst>
                                    </p:anim>
                                    <p:anim calcmode="lin" valueType="num">
                                      <p:cBhvr>
                                        <p:cTn id="25" dur="500" decel="50000" fill="hold">
                                          <p:stCondLst>
                                            <p:cond delay="0"/>
                                          </p:stCondLst>
                                        </p:cTn>
                                        <p:tgtEl>
                                          <p:spTgt spid="1784839"/>
                                        </p:tgtEl>
                                        <p:attrNameLst>
                                          <p:attrName>ppt_w</p:attrName>
                                        </p:attrNameLst>
                                      </p:cBhvr>
                                      <p:tavLst>
                                        <p:tav tm="0">
                                          <p:val>
                                            <p:strVal val="#ppt_w"/>
                                          </p:val>
                                        </p:tav>
                                        <p:tav tm="100000">
                                          <p:val>
                                            <p:strVal val="#ppt_w*.05"/>
                                          </p:val>
                                        </p:tav>
                                      </p:tavLst>
                                    </p:anim>
                                    <p:anim calcmode="lin" valueType="num">
                                      <p:cBhvr>
                                        <p:cTn id="26" dur="500" accel="50000" fill="hold">
                                          <p:stCondLst>
                                            <p:cond delay="500"/>
                                          </p:stCondLst>
                                        </p:cTn>
                                        <p:tgtEl>
                                          <p:spTgt spid="1784839"/>
                                        </p:tgtEl>
                                        <p:attrNameLst>
                                          <p:attrName>ppt_w</p:attrName>
                                        </p:attrNameLst>
                                      </p:cBhvr>
                                      <p:tavLst>
                                        <p:tav tm="0">
                                          <p:val>
                                            <p:strVal val="#ppt_w*.05"/>
                                          </p:val>
                                        </p:tav>
                                        <p:tav tm="100000">
                                          <p:val>
                                            <p:strVal val="#ppt_w"/>
                                          </p:val>
                                        </p:tav>
                                      </p:tavLst>
                                    </p:anim>
                                    <p:anim calcmode="lin" valueType="num">
                                      <p:cBhvr>
                                        <p:cTn id="27" dur="1000" fill="hold"/>
                                        <p:tgtEl>
                                          <p:spTgt spid="1784839"/>
                                        </p:tgtEl>
                                        <p:attrNameLst>
                                          <p:attrName>ppt_h</p:attrName>
                                        </p:attrNameLst>
                                      </p:cBhvr>
                                      <p:tavLst>
                                        <p:tav tm="0">
                                          <p:val>
                                            <p:strVal val="#ppt_h"/>
                                          </p:val>
                                        </p:tav>
                                        <p:tav tm="100000">
                                          <p:val>
                                            <p:strVal val="#ppt_h"/>
                                          </p:val>
                                        </p:tav>
                                      </p:tavLst>
                                    </p:anim>
                                    <p:anim calcmode="lin" valueType="num">
                                      <p:cBhvr>
                                        <p:cTn id="28" dur="500" decel="50000" fill="hold">
                                          <p:stCondLst>
                                            <p:cond delay="0"/>
                                          </p:stCondLst>
                                        </p:cTn>
                                        <p:tgtEl>
                                          <p:spTgt spid="1784839"/>
                                        </p:tgtEl>
                                        <p:attrNameLst>
                                          <p:attrName>ppt_x</p:attrName>
                                        </p:attrNameLst>
                                      </p:cBhvr>
                                      <p:tavLst>
                                        <p:tav tm="0">
                                          <p:val>
                                            <p:strVal val="#ppt_x+.4"/>
                                          </p:val>
                                        </p:tav>
                                        <p:tav tm="100000">
                                          <p:val>
                                            <p:strVal val="#ppt_x"/>
                                          </p:val>
                                        </p:tav>
                                      </p:tavLst>
                                    </p:anim>
                                    <p:anim calcmode="lin" valueType="num">
                                      <p:cBhvr>
                                        <p:cTn id="29" dur="500" decel="50000" fill="hold">
                                          <p:stCondLst>
                                            <p:cond delay="0"/>
                                          </p:stCondLst>
                                        </p:cTn>
                                        <p:tgtEl>
                                          <p:spTgt spid="1784839"/>
                                        </p:tgtEl>
                                        <p:attrNameLst>
                                          <p:attrName>ppt_y</p:attrName>
                                        </p:attrNameLst>
                                      </p:cBhvr>
                                      <p:tavLst>
                                        <p:tav tm="0">
                                          <p:val>
                                            <p:strVal val="#ppt_y-.2"/>
                                          </p:val>
                                        </p:tav>
                                        <p:tav tm="100000">
                                          <p:val>
                                            <p:strVal val="#ppt_y+.1"/>
                                          </p:val>
                                        </p:tav>
                                      </p:tavLst>
                                    </p:anim>
                                    <p:anim calcmode="lin" valueType="num">
                                      <p:cBhvr>
                                        <p:cTn id="30" dur="500" accel="50000" fill="hold">
                                          <p:stCondLst>
                                            <p:cond delay="500"/>
                                          </p:stCondLst>
                                        </p:cTn>
                                        <p:tgtEl>
                                          <p:spTgt spid="1784839"/>
                                        </p:tgtEl>
                                        <p:attrNameLst>
                                          <p:attrName>ppt_y</p:attrName>
                                        </p:attrNameLst>
                                      </p:cBhvr>
                                      <p:tavLst>
                                        <p:tav tm="0">
                                          <p:val>
                                            <p:strVal val="#ppt_y+.1"/>
                                          </p:val>
                                        </p:tav>
                                        <p:tav tm="100000">
                                          <p:val>
                                            <p:strVal val="#ppt_y"/>
                                          </p:val>
                                        </p:tav>
                                      </p:tavLst>
                                    </p:anim>
                                    <p:animEffect transition="in" filter="fade">
                                      <p:cBhvr>
                                        <p:cTn id="31" dur="1000" decel="50000">
                                          <p:stCondLst>
                                            <p:cond delay="0"/>
                                          </p:stCondLst>
                                        </p:cTn>
                                        <p:tgtEl>
                                          <p:spTgt spid="1784839"/>
                                        </p:tgtEl>
                                      </p:cBhvr>
                                    </p:animEffect>
                                  </p:childTnLst>
                                </p:cTn>
                              </p:par>
                            </p:childTnLst>
                          </p:cTn>
                        </p:par>
                      </p:childTnLst>
                    </p:cTn>
                  </p:par>
                  <p:par>
                    <p:cTn id="32" fill="hold">
                      <p:stCondLst>
                        <p:cond delay="indefinite"/>
                      </p:stCondLst>
                      <p:childTnLst>
                        <p:par>
                          <p:cTn id="33" fill="hold">
                            <p:stCondLst>
                              <p:cond delay="0"/>
                            </p:stCondLst>
                            <p:childTnLst>
                              <p:par>
                                <p:cTn id="34" presetID="26" presetClass="entr" presetSubtype="0" fill="hold" grpId="0" nodeType="clickEffect">
                                  <p:stCondLst>
                                    <p:cond delay="0"/>
                                  </p:stCondLst>
                                  <p:childTnLst>
                                    <p:set>
                                      <p:cBhvr>
                                        <p:cTn id="35" dur="1" fill="hold">
                                          <p:stCondLst>
                                            <p:cond delay="0"/>
                                          </p:stCondLst>
                                        </p:cTn>
                                        <p:tgtEl>
                                          <p:spTgt spid="1784840"/>
                                        </p:tgtEl>
                                        <p:attrNameLst>
                                          <p:attrName>style.visibility</p:attrName>
                                        </p:attrNameLst>
                                      </p:cBhvr>
                                      <p:to>
                                        <p:strVal val="visible"/>
                                      </p:to>
                                    </p:set>
                                    <p:animEffect transition="in" filter="wipe(down)">
                                      <p:cBhvr>
                                        <p:cTn id="36" dur="580">
                                          <p:stCondLst>
                                            <p:cond delay="0"/>
                                          </p:stCondLst>
                                        </p:cTn>
                                        <p:tgtEl>
                                          <p:spTgt spid="1784840"/>
                                        </p:tgtEl>
                                      </p:cBhvr>
                                    </p:animEffect>
                                    <p:anim calcmode="lin" valueType="num">
                                      <p:cBhvr>
                                        <p:cTn id="37" dur="1822" tmFilter="0,0; 0.14,0.36; 0.43,0.73; 0.71,0.91; 1.0,1.0">
                                          <p:stCondLst>
                                            <p:cond delay="0"/>
                                          </p:stCondLst>
                                        </p:cTn>
                                        <p:tgtEl>
                                          <p:spTgt spid="1784840"/>
                                        </p:tgtEl>
                                        <p:attrNameLst>
                                          <p:attrName>ppt_x</p:attrName>
                                        </p:attrNameLst>
                                      </p:cBhvr>
                                      <p:tavLst>
                                        <p:tav tm="0">
                                          <p:val>
                                            <p:strVal val="#ppt_x-0.25"/>
                                          </p:val>
                                        </p:tav>
                                        <p:tav tm="100000">
                                          <p:val>
                                            <p:strVal val="#ppt_x"/>
                                          </p:val>
                                        </p:tav>
                                      </p:tavLst>
                                    </p:anim>
                                    <p:anim calcmode="lin" valueType="num">
                                      <p:cBhvr>
                                        <p:cTn id="38" dur="664" tmFilter="0.0,0.0; 0.25,0.07; 0.50,0.2; 0.75,0.467; 1.0,1.0">
                                          <p:stCondLst>
                                            <p:cond delay="0"/>
                                          </p:stCondLst>
                                        </p:cTn>
                                        <p:tgtEl>
                                          <p:spTgt spid="1784840"/>
                                        </p:tgtEl>
                                        <p:attrNameLst>
                                          <p:attrName>ppt_y</p:attrName>
                                        </p:attrNameLst>
                                      </p:cBhvr>
                                      <p:tavLst>
                                        <p:tav tm="0" fmla="#ppt_y-sin(pi*$)/3">
                                          <p:val>
                                            <p:fltVal val="0.5"/>
                                          </p:val>
                                        </p:tav>
                                        <p:tav tm="100000">
                                          <p:val>
                                            <p:fltVal val="1"/>
                                          </p:val>
                                        </p:tav>
                                      </p:tavLst>
                                    </p:anim>
                                    <p:anim calcmode="lin" valueType="num">
                                      <p:cBhvr>
                                        <p:cTn id="39" dur="664" tmFilter="0, 0; 0.125,0.2665; 0.25,0.4; 0.375,0.465; 0.5,0.5;  0.625,0.535; 0.75,0.6; 0.875,0.7335; 1,1">
                                          <p:stCondLst>
                                            <p:cond delay="664"/>
                                          </p:stCondLst>
                                        </p:cTn>
                                        <p:tgtEl>
                                          <p:spTgt spid="1784840"/>
                                        </p:tgtEl>
                                        <p:attrNameLst>
                                          <p:attrName>ppt_y</p:attrName>
                                        </p:attrNameLst>
                                      </p:cBhvr>
                                      <p:tavLst>
                                        <p:tav tm="0" fmla="#ppt_y-sin(pi*$)/9">
                                          <p:val>
                                            <p:fltVal val="0"/>
                                          </p:val>
                                        </p:tav>
                                        <p:tav tm="100000">
                                          <p:val>
                                            <p:fltVal val="1"/>
                                          </p:val>
                                        </p:tav>
                                      </p:tavLst>
                                    </p:anim>
                                    <p:anim calcmode="lin" valueType="num">
                                      <p:cBhvr>
                                        <p:cTn id="40" dur="332" tmFilter="0, 0; 0.125,0.2665; 0.25,0.4; 0.375,0.465; 0.5,0.5;  0.625,0.535; 0.75,0.6; 0.875,0.7335; 1,1">
                                          <p:stCondLst>
                                            <p:cond delay="1324"/>
                                          </p:stCondLst>
                                        </p:cTn>
                                        <p:tgtEl>
                                          <p:spTgt spid="1784840"/>
                                        </p:tgtEl>
                                        <p:attrNameLst>
                                          <p:attrName>ppt_y</p:attrName>
                                        </p:attrNameLst>
                                      </p:cBhvr>
                                      <p:tavLst>
                                        <p:tav tm="0" fmla="#ppt_y-sin(pi*$)/27">
                                          <p:val>
                                            <p:fltVal val="0"/>
                                          </p:val>
                                        </p:tav>
                                        <p:tav tm="100000">
                                          <p:val>
                                            <p:fltVal val="1"/>
                                          </p:val>
                                        </p:tav>
                                      </p:tavLst>
                                    </p:anim>
                                    <p:anim calcmode="lin" valueType="num">
                                      <p:cBhvr>
                                        <p:cTn id="41" dur="164" tmFilter="0, 0; 0.125,0.2665; 0.25,0.4; 0.375,0.465; 0.5,0.5;  0.625,0.535; 0.75,0.6; 0.875,0.7335; 1,1">
                                          <p:stCondLst>
                                            <p:cond delay="1656"/>
                                          </p:stCondLst>
                                        </p:cTn>
                                        <p:tgtEl>
                                          <p:spTgt spid="1784840"/>
                                        </p:tgtEl>
                                        <p:attrNameLst>
                                          <p:attrName>ppt_y</p:attrName>
                                        </p:attrNameLst>
                                      </p:cBhvr>
                                      <p:tavLst>
                                        <p:tav tm="0" fmla="#ppt_y-sin(pi*$)/81">
                                          <p:val>
                                            <p:fltVal val="0"/>
                                          </p:val>
                                        </p:tav>
                                        <p:tav tm="100000">
                                          <p:val>
                                            <p:fltVal val="1"/>
                                          </p:val>
                                        </p:tav>
                                      </p:tavLst>
                                    </p:anim>
                                    <p:animScale>
                                      <p:cBhvr>
                                        <p:cTn id="42" dur="26">
                                          <p:stCondLst>
                                            <p:cond delay="650"/>
                                          </p:stCondLst>
                                        </p:cTn>
                                        <p:tgtEl>
                                          <p:spTgt spid="1784840"/>
                                        </p:tgtEl>
                                      </p:cBhvr>
                                      <p:to x="100000" y="60000"/>
                                    </p:animScale>
                                    <p:animScale>
                                      <p:cBhvr>
                                        <p:cTn id="43" dur="166" decel="50000">
                                          <p:stCondLst>
                                            <p:cond delay="676"/>
                                          </p:stCondLst>
                                        </p:cTn>
                                        <p:tgtEl>
                                          <p:spTgt spid="1784840"/>
                                        </p:tgtEl>
                                      </p:cBhvr>
                                      <p:to x="100000" y="100000"/>
                                    </p:animScale>
                                    <p:animScale>
                                      <p:cBhvr>
                                        <p:cTn id="44" dur="26">
                                          <p:stCondLst>
                                            <p:cond delay="1312"/>
                                          </p:stCondLst>
                                        </p:cTn>
                                        <p:tgtEl>
                                          <p:spTgt spid="1784840"/>
                                        </p:tgtEl>
                                      </p:cBhvr>
                                      <p:to x="100000" y="80000"/>
                                    </p:animScale>
                                    <p:animScale>
                                      <p:cBhvr>
                                        <p:cTn id="45" dur="166" decel="50000">
                                          <p:stCondLst>
                                            <p:cond delay="1338"/>
                                          </p:stCondLst>
                                        </p:cTn>
                                        <p:tgtEl>
                                          <p:spTgt spid="1784840"/>
                                        </p:tgtEl>
                                      </p:cBhvr>
                                      <p:to x="100000" y="100000"/>
                                    </p:animScale>
                                    <p:animScale>
                                      <p:cBhvr>
                                        <p:cTn id="46" dur="26">
                                          <p:stCondLst>
                                            <p:cond delay="1642"/>
                                          </p:stCondLst>
                                        </p:cTn>
                                        <p:tgtEl>
                                          <p:spTgt spid="1784840"/>
                                        </p:tgtEl>
                                      </p:cBhvr>
                                      <p:to x="100000" y="90000"/>
                                    </p:animScale>
                                    <p:animScale>
                                      <p:cBhvr>
                                        <p:cTn id="47" dur="166" decel="50000">
                                          <p:stCondLst>
                                            <p:cond delay="1668"/>
                                          </p:stCondLst>
                                        </p:cTn>
                                        <p:tgtEl>
                                          <p:spTgt spid="1784840"/>
                                        </p:tgtEl>
                                      </p:cBhvr>
                                      <p:to x="100000" y="100000"/>
                                    </p:animScale>
                                    <p:animScale>
                                      <p:cBhvr>
                                        <p:cTn id="48" dur="26">
                                          <p:stCondLst>
                                            <p:cond delay="1808"/>
                                          </p:stCondLst>
                                        </p:cTn>
                                        <p:tgtEl>
                                          <p:spTgt spid="1784840"/>
                                        </p:tgtEl>
                                      </p:cBhvr>
                                      <p:to x="100000" y="95000"/>
                                    </p:animScale>
                                    <p:animScale>
                                      <p:cBhvr>
                                        <p:cTn id="49" dur="166" decel="50000">
                                          <p:stCondLst>
                                            <p:cond delay="1834"/>
                                          </p:stCondLst>
                                        </p:cTn>
                                        <p:tgtEl>
                                          <p:spTgt spid="178484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4836" grpId="0"/>
      <p:bldP spid="1784837" grpId="0"/>
      <p:bldP spid="1784838" grpId="0"/>
      <p:bldP spid="1784839" grpId="0"/>
      <p:bldP spid="178484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type="body" idx="1"/>
          </p:nvPr>
        </p:nvSpPr>
        <p:spPr>
          <a:xfrm>
            <a:off x="539750" y="1916113"/>
            <a:ext cx="7993063" cy="4681537"/>
          </a:xfrm>
        </p:spPr>
        <p:txBody>
          <a:bodyPr/>
          <a:lstStyle/>
          <a:p>
            <a:pPr marL="0" indent="0" defTabSz="284480" eaLnBrk="1" hangingPunct="1">
              <a:lnSpc>
                <a:spcPct val="110000"/>
              </a:lnSpc>
              <a:spcBef>
                <a:spcPct val="0"/>
              </a:spcBef>
              <a:buFontTx/>
              <a:buNone/>
              <a:tabLst>
                <a:tab pos="95250" algn="l"/>
              </a:tabLst>
            </a:pPr>
            <a:r>
              <a:rPr lang="en-US" altLang="zh-CN" sz="2800" smtClean="0"/>
              <a:t>6.3.1 </a:t>
            </a:r>
            <a:r>
              <a:rPr lang="zh-CN" altLang="en-US" sz="2800" smtClean="0"/>
              <a:t>软件测试</a:t>
            </a:r>
            <a:endParaRPr lang="zh-CN" altLang="en-US" sz="2800" smtClean="0"/>
          </a:p>
          <a:p>
            <a:pPr marL="0" indent="0" defTabSz="284480" eaLnBrk="1" hangingPunct="1">
              <a:lnSpc>
                <a:spcPct val="90000"/>
              </a:lnSpc>
              <a:buFont typeface="Wingdings" panose="05000000000000000000" pitchFamily="2" charset="2"/>
              <a:buNone/>
              <a:tabLst>
                <a:tab pos="95250" algn="l"/>
              </a:tabLst>
            </a:pPr>
            <a:r>
              <a:rPr lang="zh-CN" altLang="en-US" sz="2400" smtClean="0"/>
              <a:t>      测试是指软件产品生存周期内所有的检查、评审和确认活动，如设计评审、系统测试。狭义上讲，测试是对软件产品质量的检验和评价，它一方面检查软件产品质量中存在的质量问题，同时对产品质量进行客观的评价。 </a:t>
            </a:r>
            <a:endParaRPr lang="zh-CN" altLang="en-US" sz="2800" smtClean="0"/>
          </a:p>
          <a:p>
            <a:pPr marL="0" indent="0" defTabSz="284480" eaLnBrk="1" hangingPunct="1">
              <a:lnSpc>
                <a:spcPct val="90000"/>
              </a:lnSpc>
              <a:buFont typeface="Wingdings" panose="05000000000000000000" pitchFamily="2" charset="2"/>
              <a:buNone/>
              <a:tabLst>
                <a:tab pos="95250" algn="l"/>
              </a:tabLst>
            </a:pPr>
            <a:r>
              <a:rPr lang="zh-CN" altLang="en-US" sz="2400" smtClean="0"/>
              <a:t>测试的目的：</a:t>
            </a:r>
            <a:endParaRPr lang="zh-CN" altLang="en-US" sz="2400" smtClean="0"/>
          </a:p>
          <a:p>
            <a:pPr marL="179705" lvl="1" indent="0" defTabSz="284480" eaLnBrk="1" hangingPunct="1">
              <a:lnSpc>
                <a:spcPct val="90000"/>
              </a:lnSpc>
              <a:tabLst>
                <a:tab pos="95250" algn="l"/>
              </a:tabLst>
            </a:pPr>
            <a:r>
              <a:rPr lang="zh-CN" altLang="en-US" sz="2000" smtClean="0"/>
              <a:t>软件测试是以最少的时间和人力，系统地找出软件中潜在的各种错误和缺陷</a:t>
            </a:r>
            <a:endParaRPr lang="zh-CN" altLang="en-US" sz="2000" smtClean="0"/>
          </a:p>
          <a:p>
            <a:pPr marL="179705" lvl="1" indent="0" defTabSz="284480" eaLnBrk="1" hangingPunct="1">
              <a:lnSpc>
                <a:spcPct val="90000"/>
              </a:lnSpc>
              <a:tabLst>
                <a:tab pos="95250" algn="l"/>
              </a:tabLst>
            </a:pPr>
            <a:r>
              <a:rPr lang="zh-CN" altLang="en-US" sz="2000" smtClean="0"/>
              <a:t>为了发现错误而执行程序的过程；</a:t>
            </a:r>
            <a:endParaRPr lang="zh-CN" altLang="en-US" sz="2000" smtClean="0"/>
          </a:p>
          <a:p>
            <a:pPr marL="179705" lvl="1" indent="0" defTabSz="284480" eaLnBrk="1" hangingPunct="1">
              <a:lnSpc>
                <a:spcPct val="90000"/>
              </a:lnSpc>
              <a:tabLst>
                <a:tab pos="95250" algn="l"/>
              </a:tabLst>
            </a:pPr>
            <a:r>
              <a:rPr lang="zh-CN" altLang="en-US" sz="2000" smtClean="0"/>
              <a:t>测试是为了证明程序有错，而不是证明程序没有错误；</a:t>
            </a:r>
            <a:endParaRPr lang="zh-CN" altLang="en-US" sz="2000" smtClean="0"/>
          </a:p>
          <a:p>
            <a:pPr marL="179705" lvl="1" indent="0" defTabSz="284480" eaLnBrk="1" hangingPunct="1">
              <a:lnSpc>
                <a:spcPct val="90000"/>
              </a:lnSpc>
              <a:tabLst>
                <a:tab pos="95250" algn="l"/>
              </a:tabLst>
            </a:pPr>
            <a:r>
              <a:rPr lang="zh-CN" altLang="en-US" sz="2000" smtClean="0"/>
              <a:t>一个成功的测试是发现了至今未发现的错误的测试。</a:t>
            </a:r>
            <a:endParaRPr lang="zh-CN" altLang="en-US" sz="2000" smtClean="0"/>
          </a:p>
          <a:p>
            <a:pPr marL="179705" lvl="1" indent="0" defTabSz="284480" eaLnBrk="1" hangingPunct="1">
              <a:lnSpc>
                <a:spcPct val="90000"/>
              </a:lnSpc>
              <a:buFont typeface="Wingdings" panose="05000000000000000000" pitchFamily="2" charset="2"/>
              <a:buNone/>
              <a:tabLst>
                <a:tab pos="95250" algn="l"/>
              </a:tabLst>
            </a:pPr>
            <a:endParaRPr lang="zh-CN" altLang="en-US" sz="2000" smtClean="0"/>
          </a:p>
          <a:p>
            <a:pPr marL="179705" lvl="1" indent="0" defTabSz="284480" eaLnBrk="1" hangingPunct="1">
              <a:lnSpc>
                <a:spcPct val="90000"/>
              </a:lnSpc>
              <a:buFont typeface="Wingdings" panose="05000000000000000000" pitchFamily="2" charset="2"/>
              <a:buNone/>
              <a:tabLst>
                <a:tab pos="95250" algn="l"/>
              </a:tabLst>
            </a:pPr>
            <a:r>
              <a:rPr lang="zh-CN" altLang="en-US" sz="2000" b="1" smtClean="0"/>
              <a:t>整个生命周期不同阶段可能的测试活动和测试技术 </a:t>
            </a:r>
            <a:r>
              <a:rPr lang="en-US" altLang="zh-CN" sz="2000" b="1" smtClean="0"/>
              <a:t>:</a:t>
            </a:r>
            <a:endParaRPr lang="en-US" altLang="zh-CN" sz="2000" b="1" smtClean="0"/>
          </a:p>
        </p:txBody>
      </p:sp>
      <p:sp>
        <p:nvSpPr>
          <p:cNvPr id="33795" name="AutoShape 4">
            <a:hlinkClick r:id="" action="ppaction://noaction" highlightClick="1"/>
          </p:cNvPr>
          <p:cNvSpPr>
            <a:spLocks noChangeArrowheads="1"/>
          </p:cNvSpPr>
          <p:nvPr/>
        </p:nvSpPr>
        <p:spPr bwMode="auto">
          <a:xfrm>
            <a:off x="1331913" y="908050"/>
            <a:ext cx="4106862"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6.3  </a:t>
            </a:r>
            <a:r>
              <a:rPr lang="zh-CN" altLang="en-US" sz="3200" b="1">
                <a:solidFill>
                  <a:srgbClr val="0A0A0E"/>
                </a:solidFill>
                <a:latin typeface="Times New Roman" panose="02020603050405020304" pitchFamily="18" charset="0"/>
              </a:rPr>
              <a:t>软件测试与调试 </a:t>
            </a:r>
            <a:endParaRPr lang="zh-CN" altLang="en-US" sz="3200" b="1">
              <a:solidFill>
                <a:srgbClr val="0A0A0E"/>
              </a:solidFill>
              <a:latin typeface="Times New Roman" panose="02020603050405020304" pitchFamily="18" charset="0"/>
            </a:endParaRPr>
          </a:p>
        </p:txBody>
      </p:sp>
      <p:pic>
        <p:nvPicPr>
          <p:cNvPr id="1569798" name="Picture 6" descr="t03"/>
          <p:cNvPicPr>
            <a:picLocks noChangeAspect="1" noChangeArrowheads="1"/>
          </p:cNvPicPr>
          <p:nvPr/>
        </p:nvPicPr>
        <p:blipFill>
          <a:blip r:embed="rId1" cstate="print"/>
          <a:srcRect/>
          <a:stretch>
            <a:fillRect/>
          </a:stretch>
        </p:blipFill>
        <p:spPr bwMode="auto">
          <a:xfrm>
            <a:off x="179388" y="1989138"/>
            <a:ext cx="8713787" cy="4195762"/>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69798"/>
                                        </p:tgtEl>
                                        <p:attrNameLst>
                                          <p:attrName>style.visibility</p:attrName>
                                        </p:attrNameLst>
                                      </p:cBhvr>
                                      <p:to>
                                        <p:strVal val="visible"/>
                                      </p:to>
                                    </p:set>
                                    <p:animEffect transition="in" filter="blinds(horizontal)">
                                      <p:cBhvr>
                                        <p:cTn id="7" dur="500"/>
                                        <p:tgtEl>
                                          <p:spTgt spid="1569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xfrm>
            <a:off x="684213" y="1989138"/>
            <a:ext cx="7772400" cy="4114800"/>
          </a:xfrm>
        </p:spPr>
        <p:txBody>
          <a:bodyPr/>
          <a:lstStyle/>
          <a:p>
            <a:pPr marL="0" indent="0" defTabSz="284480" eaLnBrk="1" hangingPunct="1">
              <a:lnSpc>
                <a:spcPct val="110000"/>
              </a:lnSpc>
              <a:spcBef>
                <a:spcPct val="0"/>
              </a:spcBef>
              <a:buFontTx/>
              <a:buNone/>
              <a:tabLst>
                <a:tab pos="355600" algn="l"/>
              </a:tabLst>
            </a:pPr>
            <a:r>
              <a:rPr lang="en-US" altLang="zh-CN" sz="2800" smtClean="0">
                <a:latin typeface="Times New Roman" panose="02020603050405020304" pitchFamily="18" charset="0"/>
              </a:rPr>
              <a:t>1. </a:t>
            </a:r>
            <a:r>
              <a:rPr lang="zh-CN" altLang="en-US" sz="2800" b="1" smtClean="0">
                <a:latin typeface="Times New Roman" panose="02020603050405020304" pitchFamily="18" charset="0"/>
              </a:rPr>
              <a:t>软件测试的特征</a:t>
            </a:r>
            <a:endParaRPr lang="zh-CN" altLang="en-US" sz="2800" b="1" smtClean="0">
              <a:latin typeface="Times New Roman" panose="02020603050405020304" pitchFamily="18" charset="0"/>
            </a:endParaRPr>
          </a:p>
          <a:p>
            <a:pPr marL="532130" lvl="1" indent="-352425" defTabSz="284480" eaLnBrk="1" hangingPunct="1">
              <a:lnSpc>
                <a:spcPct val="110000"/>
              </a:lnSpc>
              <a:spcBef>
                <a:spcPct val="0"/>
              </a:spcBef>
              <a:buFont typeface="Wingdings" panose="05000000000000000000" pitchFamily="2" charset="2"/>
              <a:buChar char="p"/>
              <a:tabLst>
                <a:tab pos="355600" algn="l"/>
              </a:tabLst>
            </a:pPr>
            <a:r>
              <a:rPr lang="zh-CN" altLang="en-US" b="1" smtClean="0">
                <a:latin typeface="Times New Roman" panose="02020603050405020304" pitchFamily="18" charset="0"/>
              </a:rPr>
              <a:t>挑剔性</a:t>
            </a:r>
            <a:endParaRPr lang="zh-CN" altLang="en-US" b="1" smtClean="0">
              <a:latin typeface="Times New Roman" panose="02020603050405020304" pitchFamily="18" charset="0"/>
            </a:endParaRPr>
          </a:p>
          <a:p>
            <a:pPr marL="532130" lvl="1" indent="-352425" defTabSz="284480" eaLnBrk="1" hangingPunct="1">
              <a:lnSpc>
                <a:spcPct val="110000"/>
              </a:lnSpc>
              <a:spcBef>
                <a:spcPct val="0"/>
              </a:spcBef>
              <a:buFont typeface="Wingdings" panose="05000000000000000000" pitchFamily="2" charset="2"/>
              <a:buChar char="p"/>
              <a:tabLst>
                <a:tab pos="355600" algn="l"/>
              </a:tabLst>
            </a:pPr>
            <a:r>
              <a:rPr lang="zh-CN" altLang="en-US" b="1" smtClean="0">
                <a:latin typeface="Times New Roman" panose="02020603050405020304" pitchFamily="18" charset="0"/>
              </a:rPr>
              <a:t>复杂性</a:t>
            </a:r>
            <a:endParaRPr lang="zh-CN" altLang="en-US" b="1" smtClean="0">
              <a:latin typeface="Times New Roman" panose="02020603050405020304" pitchFamily="18" charset="0"/>
            </a:endParaRPr>
          </a:p>
          <a:p>
            <a:pPr marL="532130" lvl="1" indent="-352425" defTabSz="284480" eaLnBrk="1" hangingPunct="1">
              <a:lnSpc>
                <a:spcPct val="110000"/>
              </a:lnSpc>
              <a:spcBef>
                <a:spcPct val="0"/>
              </a:spcBef>
              <a:buFont typeface="Wingdings" panose="05000000000000000000" pitchFamily="2" charset="2"/>
              <a:buChar char="p"/>
              <a:tabLst>
                <a:tab pos="355600" algn="l"/>
              </a:tabLst>
            </a:pPr>
            <a:r>
              <a:rPr lang="zh-CN" altLang="en-US" b="1" smtClean="0">
                <a:latin typeface="Times New Roman" panose="02020603050405020304" pitchFamily="18" charset="0"/>
              </a:rPr>
              <a:t>不彻底性</a:t>
            </a:r>
            <a:endParaRPr lang="zh-CN" altLang="en-US" b="1" smtClean="0">
              <a:latin typeface="Times New Roman" panose="02020603050405020304" pitchFamily="18" charset="0"/>
            </a:endParaRPr>
          </a:p>
          <a:p>
            <a:pPr marL="532130" lvl="1" indent="-352425" defTabSz="284480" eaLnBrk="1" hangingPunct="1">
              <a:lnSpc>
                <a:spcPct val="110000"/>
              </a:lnSpc>
              <a:spcBef>
                <a:spcPct val="0"/>
              </a:spcBef>
              <a:buFont typeface="Wingdings" panose="05000000000000000000" pitchFamily="2" charset="2"/>
              <a:buChar char="p"/>
              <a:tabLst>
                <a:tab pos="355600" algn="l"/>
              </a:tabLst>
            </a:pPr>
            <a:r>
              <a:rPr lang="zh-CN" altLang="en-US" b="1" smtClean="0">
                <a:latin typeface="Times New Roman" panose="02020603050405020304" pitchFamily="18" charset="0"/>
              </a:rPr>
              <a:t>经济性</a:t>
            </a:r>
            <a:endParaRPr lang="zh-CN" altLang="en-US" b="1" smtClean="0">
              <a:latin typeface="Times New Roman" panose="02020603050405020304" pitchFamily="18" charset="0"/>
            </a:endParaRPr>
          </a:p>
        </p:txBody>
      </p:sp>
      <p:sp>
        <p:nvSpPr>
          <p:cNvPr id="34819" name="AutoShape 3">
            <a:hlinkClick r:id="" action="ppaction://noaction" highlightClick="1"/>
          </p:cNvPr>
          <p:cNvSpPr>
            <a:spLocks noChangeArrowheads="1"/>
          </p:cNvSpPr>
          <p:nvPr/>
        </p:nvSpPr>
        <p:spPr bwMode="auto">
          <a:xfrm>
            <a:off x="1476375" y="908050"/>
            <a:ext cx="4106863"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6.3.1 </a:t>
            </a:r>
            <a:r>
              <a:rPr lang="zh-CN" altLang="en-US" sz="3600" b="1">
                <a:solidFill>
                  <a:srgbClr val="0A0A0E"/>
                </a:solidFill>
                <a:latin typeface="Times New Roman" panose="02020603050405020304" pitchFamily="18" charset="0"/>
              </a:rPr>
              <a:t>软件测试</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sz="3600" b="1" smtClean="0">
                <a:solidFill>
                  <a:srgbClr val="0A0A0E"/>
                </a:solidFill>
                <a:latin typeface="Times New Roman" panose="02020603050405020304" pitchFamily="18" charset="0"/>
              </a:rPr>
              <a:t>6.3.1 </a:t>
            </a:r>
            <a:r>
              <a:rPr lang="zh-CN" altLang="en-US" sz="3600" b="1" smtClean="0">
                <a:solidFill>
                  <a:srgbClr val="0A0A0E"/>
                </a:solidFill>
                <a:latin typeface="Times New Roman" panose="02020603050405020304" pitchFamily="18" charset="0"/>
              </a:rPr>
              <a:t>软件测试</a:t>
            </a:r>
            <a:endParaRPr lang="zh-CN" altLang="en-US" sz="3600" b="1" smtClean="0">
              <a:solidFill>
                <a:srgbClr val="0A0A0E"/>
              </a:solidFill>
              <a:latin typeface="Times New Roman" panose="02020603050405020304" pitchFamily="18" charset="0"/>
            </a:endParaRPr>
          </a:p>
        </p:txBody>
      </p:sp>
      <p:sp>
        <p:nvSpPr>
          <p:cNvPr id="35843" name="Rectangle 3"/>
          <p:cNvSpPr>
            <a:spLocks noGrp="1" noChangeArrowheads="1"/>
          </p:cNvSpPr>
          <p:nvPr>
            <p:ph type="body" idx="1"/>
          </p:nvPr>
        </p:nvSpPr>
        <p:spPr>
          <a:xfrm>
            <a:off x="468313" y="2017713"/>
            <a:ext cx="8486775" cy="4114800"/>
          </a:xfrm>
        </p:spPr>
        <p:txBody>
          <a:bodyPr/>
          <a:lstStyle/>
          <a:p>
            <a:pPr marL="685800" indent="-685800" eaLnBrk="1" hangingPunct="1">
              <a:buFont typeface="Wingdings" panose="05000000000000000000" pitchFamily="2" charset="2"/>
              <a:buNone/>
            </a:pPr>
            <a:r>
              <a:rPr lang="en-US" altLang="zh-CN" b="1" smtClean="0">
                <a:solidFill>
                  <a:schemeClr val="tx1"/>
                </a:solidFill>
              </a:rPr>
              <a:t>2.</a:t>
            </a:r>
            <a:r>
              <a:rPr lang="zh-CN" altLang="en-US" b="1" smtClean="0"/>
              <a:t>测试基本原则</a:t>
            </a:r>
            <a:endParaRPr lang="zh-CN" altLang="en-US" b="1" smtClean="0"/>
          </a:p>
          <a:p>
            <a:pPr marL="1081405" lvl="1" indent="-609600" eaLnBrk="1" hangingPunct="1">
              <a:buFont typeface="Wingdings" panose="05000000000000000000" pitchFamily="2" charset="2"/>
              <a:buChar char="p"/>
            </a:pPr>
            <a:r>
              <a:rPr lang="zh-CN" altLang="en-US" b="1" smtClean="0"/>
              <a:t>测试队伍的建立</a:t>
            </a:r>
            <a:endParaRPr lang="zh-CN" altLang="en-US" b="1" smtClean="0"/>
          </a:p>
          <a:p>
            <a:pPr marL="1081405" lvl="1" indent="-609600" eaLnBrk="1" hangingPunct="1">
              <a:buFont typeface="Wingdings" panose="05000000000000000000" pitchFamily="2" charset="2"/>
              <a:buChar char="p"/>
            </a:pPr>
            <a:r>
              <a:rPr lang="zh-CN" altLang="en-US" b="1" smtClean="0"/>
              <a:t>测试用例的设计</a:t>
            </a:r>
            <a:endParaRPr lang="zh-CN" altLang="en-US" b="1" smtClean="0"/>
          </a:p>
          <a:p>
            <a:pPr marL="1081405" lvl="1" indent="-609600" eaLnBrk="1" hangingPunct="1">
              <a:buFont typeface="Wingdings" panose="05000000000000000000" pitchFamily="2" charset="2"/>
              <a:buChar char="p"/>
            </a:pPr>
            <a:r>
              <a:rPr lang="zh-CN" altLang="en-US" b="1" smtClean="0"/>
              <a:t>测试数据的选择</a:t>
            </a:r>
            <a:endParaRPr lang="zh-CN" altLang="en-US" b="1" smtClean="0"/>
          </a:p>
          <a:p>
            <a:pPr marL="1081405" lvl="1" indent="-609600" eaLnBrk="1" hangingPunct="1">
              <a:buFont typeface="Wingdings" panose="05000000000000000000" pitchFamily="2" charset="2"/>
              <a:buChar char="p"/>
            </a:pPr>
            <a:r>
              <a:rPr lang="zh-CN" altLang="en-US" b="1" smtClean="0"/>
              <a:t>测试功能的确定</a:t>
            </a:r>
            <a:endParaRPr lang="zh-CN" altLang="en-US" b="1" smtClean="0"/>
          </a:p>
          <a:p>
            <a:pPr marL="1081405" lvl="1" indent="-609600" eaLnBrk="1" hangingPunct="1">
              <a:buFont typeface="Wingdings" panose="05000000000000000000" pitchFamily="2" charset="2"/>
              <a:buChar char="p"/>
            </a:pPr>
            <a:r>
              <a:rPr lang="zh-CN" altLang="en-US" b="1" smtClean="0"/>
              <a:t>测试文档的管理</a:t>
            </a:r>
            <a:endParaRPr lang="zh-CN" altLang="en-US" b="1" smtClean="0"/>
          </a:p>
        </p:txBody>
      </p:sp>
    </p:spTree>
  </p:cSld>
  <p:clrMapOvr>
    <a:masterClrMapping/>
  </p:clrMapOvr>
  <p:transition>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zh-CN" sz="3600" b="1" smtClean="0">
                <a:solidFill>
                  <a:srgbClr val="0A0A0E"/>
                </a:solidFill>
                <a:latin typeface="Times New Roman" panose="02020603050405020304" pitchFamily="18" charset="0"/>
              </a:rPr>
              <a:t>6.3.1 </a:t>
            </a:r>
            <a:r>
              <a:rPr lang="zh-CN" altLang="en-US" sz="3600" b="1" smtClean="0">
                <a:solidFill>
                  <a:srgbClr val="0A0A0E"/>
                </a:solidFill>
                <a:latin typeface="Times New Roman" panose="02020603050405020304" pitchFamily="18" charset="0"/>
              </a:rPr>
              <a:t>软件测试</a:t>
            </a:r>
            <a:endParaRPr lang="zh-CN" altLang="en-US" sz="3600" b="1" smtClean="0">
              <a:solidFill>
                <a:srgbClr val="0A0A0E"/>
              </a:solidFill>
              <a:latin typeface="Times New Roman" panose="02020603050405020304" pitchFamily="18" charset="0"/>
            </a:endParaRPr>
          </a:p>
        </p:txBody>
      </p:sp>
      <p:sp>
        <p:nvSpPr>
          <p:cNvPr id="36867" name="Rectangle 3"/>
          <p:cNvSpPr>
            <a:spLocks noGrp="1" noChangeArrowheads="1"/>
          </p:cNvSpPr>
          <p:nvPr>
            <p:ph type="body" idx="1"/>
          </p:nvPr>
        </p:nvSpPr>
        <p:spPr>
          <a:xfrm>
            <a:off x="755650" y="2017713"/>
            <a:ext cx="8199438" cy="4114800"/>
          </a:xfrm>
        </p:spPr>
        <p:txBody>
          <a:bodyPr/>
          <a:lstStyle/>
          <a:p>
            <a:pPr marL="685800" indent="-685800" eaLnBrk="1" hangingPunct="1">
              <a:buFont typeface="Wingdings" panose="05000000000000000000" pitchFamily="2" charset="2"/>
              <a:buNone/>
            </a:pPr>
            <a:r>
              <a:rPr lang="en-US" altLang="zh-CN" sz="2800" b="1" smtClean="0">
                <a:solidFill>
                  <a:schemeClr val="tx1"/>
                </a:solidFill>
              </a:rPr>
              <a:t>3.</a:t>
            </a:r>
            <a:r>
              <a:rPr lang="zh-CN" altLang="en-US" sz="2800" b="1" smtClean="0">
                <a:solidFill>
                  <a:schemeClr val="tx1"/>
                </a:solidFill>
              </a:rPr>
              <a:t>测试文档</a:t>
            </a:r>
            <a:endParaRPr lang="zh-CN" altLang="en-US" sz="2800" b="1" smtClean="0">
              <a:solidFill>
                <a:schemeClr val="tx1"/>
              </a:solidFill>
            </a:endParaRPr>
          </a:p>
          <a:p>
            <a:pPr marL="1081405" lvl="1" indent="-609600" eaLnBrk="1" hangingPunct="1">
              <a:buFont typeface="Wingdings" panose="05000000000000000000" pitchFamily="2" charset="2"/>
              <a:buChar char="p"/>
            </a:pPr>
            <a:r>
              <a:rPr lang="zh-CN" altLang="en-US" sz="2400" b="1" smtClean="0">
                <a:solidFill>
                  <a:schemeClr val="tx1"/>
                </a:solidFill>
              </a:rPr>
              <a:t>测试计划</a:t>
            </a:r>
            <a:endParaRPr lang="zh-CN" altLang="en-US" sz="2400" b="1" smtClean="0">
              <a:solidFill>
                <a:schemeClr val="tx1"/>
              </a:solidFill>
            </a:endParaRPr>
          </a:p>
          <a:p>
            <a:pPr marL="1443355" lvl="2" indent="-533400" eaLnBrk="1" hangingPunct="1"/>
            <a:r>
              <a:rPr lang="zh-CN" altLang="en-US" sz="2000" b="1" smtClean="0">
                <a:solidFill>
                  <a:schemeClr val="tx1"/>
                </a:solidFill>
              </a:rPr>
              <a:t>测试项目的名称、目的、步骤、进度、测试用例</a:t>
            </a:r>
            <a:endParaRPr lang="zh-CN" altLang="en-US" sz="2000" b="1" smtClean="0">
              <a:solidFill>
                <a:schemeClr val="tx1"/>
              </a:solidFill>
            </a:endParaRPr>
          </a:p>
          <a:p>
            <a:pPr marL="1443355" lvl="2" indent="-533400" eaLnBrk="1" hangingPunct="1"/>
            <a:r>
              <a:rPr lang="zh-CN" altLang="en-US" sz="2000" b="1" smtClean="0">
                <a:solidFill>
                  <a:schemeClr val="tx1"/>
                </a:solidFill>
              </a:rPr>
              <a:t>测试用例</a:t>
            </a:r>
            <a:r>
              <a:rPr lang="en-US" altLang="zh-CN" sz="2000" b="1" smtClean="0">
                <a:solidFill>
                  <a:schemeClr val="tx1"/>
                </a:solidFill>
              </a:rPr>
              <a:t>={</a:t>
            </a:r>
            <a:r>
              <a:rPr lang="zh-CN" altLang="en-US" sz="2000" b="1" smtClean="0">
                <a:solidFill>
                  <a:schemeClr val="tx1"/>
                </a:solidFill>
              </a:rPr>
              <a:t>测试数据</a:t>
            </a:r>
            <a:r>
              <a:rPr lang="en-US" altLang="zh-CN" sz="2000" b="1" smtClean="0">
                <a:solidFill>
                  <a:schemeClr val="tx1"/>
                </a:solidFill>
              </a:rPr>
              <a:t>+</a:t>
            </a:r>
            <a:r>
              <a:rPr lang="zh-CN" altLang="en-US" sz="2000" b="1" smtClean="0">
                <a:solidFill>
                  <a:schemeClr val="tx1"/>
                </a:solidFill>
              </a:rPr>
              <a:t>期望结果</a:t>
            </a:r>
            <a:r>
              <a:rPr lang="en-US" altLang="zh-CN" sz="2000" b="1" smtClean="0">
                <a:solidFill>
                  <a:schemeClr val="tx1"/>
                </a:solidFill>
              </a:rPr>
              <a:t>}</a:t>
            </a:r>
            <a:endParaRPr lang="en-US" altLang="zh-CN" sz="2000" b="1" smtClean="0">
              <a:solidFill>
                <a:schemeClr val="tx1"/>
              </a:solidFill>
            </a:endParaRPr>
          </a:p>
          <a:p>
            <a:pPr marL="1081405" lvl="1" indent="-609600" eaLnBrk="1" hangingPunct="1">
              <a:buFont typeface="Wingdings" panose="05000000000000000000" pitchFamily="2" charset="2"/>
              <a:buChar char="p"/>
            </a:pPr>
            <a:r>
              <a:rPr lang="zh-CN" altLang="en-US" sz="2400" b="1" smtClean="0">
                <a:solidFill>
                  <a:schemeClr val="tx1"/>
                </a:solidFill>
              </a:rPr>
              <a:t>测试报告</a:t>
            </a:r>
            <a:endParaRPr lang="zh-CN" altLang="en-US" sz="2400" b="1" smtClean="0">
              <a:solidFill>
                <a:schemeClr val="tx1"/>
              </a:solidFill>
            </a:endParaRPr>
          </a:p>
          <a:p>
            <a:pPr marL="1443355" lvl="2" indent="-533400" eaLnBrk="1" hangingPunct="1"/>
            <a:r>
              <a:rPr lang="zh-CN" altLang="en-US" sz="2000" b="1" smtClean="0">
                <a:solidFill>
                  <a:schemeClr val="tx1"/>
                </a:solidFill>
              </a:rPr>
              <a:t>测试项目的名称、实测结果与期望结果的比较、发现的问题、测试达到的效果</a:t>
            </a:r>
            <a:endParaRPr lang="zh-CN" altLang="en-US" sz="2000" b="1" smtClean="0">
              <a:solidFill>
                <a:schemeClr val="tx1"/>
              </a:solidFill>
            </a:endParaRPr>
          </a:p>
          <a:p>
            <a:pPr marL="1443355" lvl="2" indent="-533400" eaLnBrk="1" hangingPunct="1"/>
            <a:r>
              <a:rPr lang="zh-CN" altLang="en-US" sz="2000" b="1" smtClean="0">
                <a:solidFill>
                  <a:schemeClr val="tx1"/>
                </a:solidFill>
              </a:rPr>
              <a:t>测试结果</a:t>
            </a:r>
            <a:r>
              <a:rPr lang="en-US" altLang="zh-CN" sz="2000" b="1" smtClean="0">
                <a:solidFill>
                  <a:schemeClr val="tx1"/>
                </a:solidFill>
              </a:rPr>
              <a:t>={</a:t>
            </a:r>
            <a:r>
              <a:rPr lang="zh-CN" altLang="en-US" sz="2000" b="1" smtClean="0">
                <a:solidFill>
                  <a:schemeClr val="tx1"/>
                </a:solidFill>
              </a:rPr>
              <a:t>测试数据</a:t>
            </a:r>
            <a:r>
              <a:rPr lang="en-US" altLang="zh-CN" sz="2000" b="1" smtClean="0">
                <a:solidFill>
                  <a:schemeClr val="tx1"/>
                </a:solidFill>
              </a:rPr>
              <a:t>+</a:t>
            </a:r>
            <a:r>
              <a:rPr lang="zh-CN" altLang="en-US" sz="2000" b="1" smtClean="0">
                <a:solidFill>
                  <a:schemeClr val="tx1"/>
                </a:solidFill>
              </a:rPr>
              <a:t>期望结果</a:t>
            </a:r>
            <a:r>
              <a:rPr lang="en-US" altLang="zh-CN" sz="2000" b="1" smtClean="0">
                <a:solidFill>
                  <a:schemeClr val="tx1"/>
                </a:solidFill>
              </a:rPr>
              <a:t>+</a:t>
            </a:r>
            <a:r>
              <a:rPr lang="zh-CN" altLang="en-US" sz="2000" b="1" smtClean="0">
                <a:solidFill>
                  <a:schemeClr val="tx1"/>
                </a:solidFill>
              </a:rPr>
              <a:t>实际结果</a:t>
            </a:r>
            <a:r>
              <a:rPr lang="en-US" altLang="zh-CN" sz="2000" b="1" smtClean="0">
                <a:solidFill>
                  <a:schemeClr val="tx1"/>
                </a:solidFill>
              </a:rPr>
              <a:t>}</a:t>
            </a:r>
            <a:endParaRPr lang="en-US" altLang="zh-CN" sz="2000" b="1" smtClean="0">
              <a:solidFill>
                <a:schemeClr val="tx1"/>
              </a:solidFill>
            </a:endParaRPr>
          </a:p>
        </p:txBody>
      </p:sp>
    </p:spTree>
  </p:cSld>
  <p:clrMapOvr>
    <a:masterClrMapping/>
  </p:clrMapOvr>
  <p:transition>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zh-CN" sz="3600" b="1" smtClean="0">
                <a:solidFill>
                  <a:srgbClr val="0A0A0E"/>
                </a:solidFill>
                <a:latin typeface="Times New Roman" panose="02020603050405020304" pitchFamily="18" charset="0"/>
              </a:rPr>
              <a:t>6.3.1 </a:t>
            </a:r>
            <a:r>
              <a:rPr lang="zh-CN" altLang="en-US" sz="3600" b="1" smtClean="0">
                <a:solidFill>
                  <a:srgbClr val="0A0A0E"/>
                </a:solidFill>
                <a:latin typeface="Times New Roman" panose="02020603050405020304" pitchFamily="18" charset="0"/>
              </a:rPr>
              <a:t>软件测试</a:t>
            </a:r>
            <a:endParaRPr lang="zh-CN" altLang="en-US" sz="3600" b="1" smtClean="0">
              <a:solidFill>
                <a:srgbClr val="0A0A0E"/>
              </a:solidFill>
              <a:latin typeface="Times New Roman" panose="02020603050405020304" pitchFamily="18" charset="0"/>
            </a:endParaRPr>
          </a:p>
        </p:txBody>
      </p:sp>
      <p:sp>
        <p:nvSpPr>
          <p:cNvPr id="37891" name="Rectangle 3"/>
          <p:cNvSpPr>
            <a:spLocks noGrp="1" noChangeArrowheads="1"/>
          </p:cNvSpPr>
          <p:nvPr>
            <p:ph type="body" idx="1"/>
          </p:nvPr>
        </p:nvSpPr>
        <p:spPr>
          <a:xfrm>
            <a:off x="755650" y="2060575"/>
            <a:ext cx="7772400" cy="4114800"/>
          </a:xfrm>
        </p:spPr>
        <p:txBody>
          <a:bodyPr/>
          <a:lstStyle/>
          <a:p>
            <a:pPr marL="365125" indent="-365125" eaLnBrk="1" hangingPunct="1">
              <a:buFont typeface="Wingdings" panose="05000000000000000000" pitchFamily="2" charset="2"/>
              <a:buNone/>
            </a:pPr>
            <a:r>
              <a:rPr lang="en-US" altLang="zh-CN" b="1" smtClean="0">
                <a:solidFill>
                  <a:schemeClr val="tx1"/>
                </a:solidFill>
              </a:rPr>
              <a:t>4.</a:t>
            </a:r>
            <a:r>
              <a:rPr lang="zh-CN" altLang="en-US" b="1" smtClean="0">
                <a:solidFill>
                  <a:schemeClr val="tx1"/>
                </a:solidFill>
              </a:rPr>
              <a:t>测试步骤</a:t>
            </a:r>
            <a:endParaRPr lang="zh-CN" altLang="en-US" b="1" smtClean="0">
              <a:solidFill>
                <a:schemeClr val="tx1"/>
              </a:solidFill>
            </a:endParaRPr>
          </a:p>
          <a:p>
            <a:pPr marL="898525" lvl="1" indent="-354330" eaLnBrk="1" hangingPunct="1">
              <a:buFont typeface="Wingdings" panose="05000000000000000000" pitchFamily="2" charset="2"/>
              <a:buChar char="p"/>
            </a:pPr>
            <a:r>
              <a:rPr lang="zh-CN" altLang="en-US" b="1" smtClean="0">
                <a:solidFill>
                  <a:schemeClr val="tx1"/>
                </a:solidFill>
              </a:rPr>
              <a:t>模块测试</a:t>
            </a:r>
            <a:endParaRPr lang="zh-CN" altLang="en-US" b="1" smtClean="0">
              <a:solidFill>
                <a:schemeClr val="tx1"/>
              </a:solidFill>
            </a:endParaRPr>
          </a:p>
          <a:p>
            <a:pPr marL="1431925" lvl="2" indent="-354330" eaLnBrk="1" hangingPunct="1"/>
            <a:r>
              <a:rPr lang="zh-CN" altLang="en-US" b="1" smtClean="0">
                <a:solidFill>
                  <a:schemeClr val="tx1"/>
                </a:solidFill>
              </a:rPr>
              <a:t>是在每个单独的模块中进行，包括模块界面、内部数据结构、独立路径错误处理和边界条件等项目</a:t>
            </a:r>
            <a:endParaRPr lang="zh-CN" altLang="en-US" b="1" smtClean="0">
              <a:solidFill>
                <a:schemeClr val="tx1"/>
              </a:solidFill>
            </a:endParaRPr>
          </a:p>
          <a:p>
            <a:pPr marL="898525" lvl="1" indent="-354330" eaLnBrk="1" hangingPunct="1">
              <a:buFont typeface="Wingdings" panose="05000000000000000000" pitchFamily="2" charset="2"/>
              <a:buChar char="p"/>
            </a:pPr>
            <a:r>
              <a:rPr lang="zh-CN" altLang="en-US" b="1" smtClean="0">
                <a:solidFill>
                  <a:schemeClr val="tx1"/>
                </a:solidFill>
              </a:rPr>
              <a:t>集成测试</a:t>
            </a:r>
            <a:endParaRPr lang="zh-CN" altLang="en-US" b="1" smtClean="0">
              <a:solidFill>
                <a:schemeClr val="tx1"/>
              </a:solidFill>
            </a:endParaRPr>
          </a:p>
          <a:p>
            <a:pPr marL="1431925" lvl="2" indent="-354330" eaLnBrk="1" hangingPunct="1"/>
            <a:r>
              <a:rPr lang="zh-CN" altLang="en-US" b="1" smtClean="0">
                <a:solidFill>
                  <a:schemeClr val="tx1"/>
                </a:solidFill>
              </a:rPr>
              <a:t>将各模块集中，形成一个完整的软件，对该软件进行测试</a:t>
            </a:r>
            <a:endParaRPr lang="zh-CN" altLang="en-US" b="1" smtClean="0">
              <a:solidFill>
                <a:schemeClr val="tx1"/>
              </a:solidFill>
            </a:endParaRPr>
          </a:p>
        </p:txBody>
      </p:sp>
    </p:spTree>
  </p:cSld>
  <p:clrMapOvr>
    <a:masterClrMapping/>
  </p:clrMapOvr>
  <p:transition>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zh-CN" sz="3600" b="1" smtClean="0">
                <a:solidFill>
                  <a:srgbClr val="0A0A0E"/>
                </a:solidFill>
                <a:latin typeface="Times New Roman" panose="02020603050405020304" pitchFamily="18" charset="0"/>
              </a:rPr>
              <a:t>6.3.1 </a:t>
            </a:r>
            <a:r>
              <a:rPr lang="zh-CN" altLang="en-US" sz="3600" b="1" smtClean="0">
                <a:solidFill>
                  <a:srgbClr val="0A0A0E"/>
                </a:solidFill>
                <a:latin typeface="Times New Roman" panose="02020603050405020304" pitchFamily="18" charset="0"/>
              </a:rPr>
              <a:t>软件测试</a:t>
            </a:r>
            <a:endParaRPr lang="zh-CN" altLang="en-US" sz="3600" b="1" smtClean="0">
              <a:solidFill>
                <a:srgbClr val="0A0A0E"/>
              </a:solidFill>
              <a:latin typeface="Times New Roman" panose="02020603050405020304" pitchFamily="18" charset="0"/>
            </a:endParaRPr>
          </a:p>
        </p:txBody>
      </p:sp>
      <p:sp>
        <p:nvSpPr>
          <p:cNvPr id="38915" name="Rectangle 3"/>
          <p:cNvSpPr>
            <a:spLocks noGrp="1" noChangeArrowheads="1"/>
          </p:cNvSpPr>
          <p:nvPr>
            <p:ph type="body" idx="1"/>
          </p:nvPr>
        </p:nvSpPr>
        <p:spPr/>
        <p:txBody>
          <a:bodyPr/>
          <a:lstStyle/>
          <a:p>
            <a:pPr marL="441325" indent="-441325" eaLnBrk="1" hangingPunct="1">
              <a:buFont typeface="Wingdings" panose="05000000000000000000" pitchFamily="2" charset="2"/>
              <a:buChar char="p"/>
            </a:pPr>
            <a:r>
              <a:rPr lang="zh-CN" altLang="en-US" b="1" smtClean="0"/>
              <a:t>系统测试</a:t>
            </a:r>
            <a:endParaRPr lang="zh-CN" altLang="en-US" b="1" smtClean="0"/>
          </a:p>
          <a:p>
            <a:pPr marL="974725" lvl="1" indent="-354330" eaLnBrk="1" hangingPunct="1"/>
            <a:r>
              <a:rPr lang="zh-CN" altLang="en-US" b="1" smtClean="0"/>
              <a:t>将被测软件放在系统环境中进行测试</a:t>
            </a:r>
            <a:endParaRPr lang="zh-CN" altLang="en-US" b="1" smtClean="0"/>
          </a:p>
          <a:p>
            <a:pPr marL="441325" indent="-441325" eaLnBrk="1" hangingPunct="1">
              <a:buFont typeface="Wingdings" panose="05000000000000000000" pitchFamily="2" charset="2"/>
              <a:buChar char="p"/>
            </a:pPr>
            <a:r>
              <a:rPr lang="zh-CN" altLang="en-US" b="1" smtClean="0"/>
              <a:t>验收测试</a:t>
            </a:r>
            <a:endParaRPr lang="zh-CN" altLang="en-US" b="1" smtClean="0"/>
          </a:p>
          <a:p>
            <a:pPr marL="974725" lvl="1" indent="-354330" eaLnBrk="1" hangingPunct="1"/>
            <a:r>
              <a:rPr lang="zh-CN" altLang="en-US" b="1" smtClean="0"/>
              <a:t>用户参与的测试，对系统的最后确认</a:t>
            </a:r>
            <a:endParaRPr lang="zh-CN" altLang="en-US" b="1" smtClean="0"/>
          </a:p>
        </p:txBody>
      </p:sp>
    </p:spTree>
  </p:cSld>
  <p:clrMapOvr>
    <a:masterClrMapping/>
  </p:clrMapOvr>
  <p:transition>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body" idx="1"/>
          </p:nvPr>
        </p:nvSpPr>
        <p:spPr>
          <a:xfrm>
            <a:off x="755650" y="1989138"/>
            <a:ext cx="7777163" cy="4464050"/>
          </a:xfrm>
        </p:spPr>
        <p:txBody>
          <a:bodyPr/>
          <a:lstStyle/>
          <a:p>
            <a:pPr marL="0" indent="0" defTabSz="284480" eaLnBrk="1" hangingPunct="1">
              <a:lnSpc>
                <a:spcPct val="110000"/>
              </a:lnSpc>
              <a:spcBef>
                <a:spcPct val="0"/>
              </a:spcBef>
              <a:buFontTx/>
              <a:buNone/>
              <a:tabLst>
                <a:tab pos="95250" algn="l"/>
              </a:tabLst>
            </a:pPr>
            <a:r>
              <a:rPr lang="zh-CN" altLang="en-US" sz="2800" b="1" smtClean="0"/>
              <a:t>测试种类</a:t>
            </a:r>
            <a:endParaRPr lang="zh-CN" altLang="en-US" sz="2800" b="1" smtClean="0"/>
          </a:p>
          <a:p>
            <a:pPr marL="0" indent="0" defTabSz="284480" eaLnBrk="1" hangingPunct="1">
              <a:lnSpc>
                <a:spcPct val="110000"/>
              </a:lnSpc>
              <a:spcBef>
                <a:spcPct val="0"/>
              </a:spcBef>
              <a:buFontTx/>
              <a:buNone/>
              <a:tabLst>
                <a:tab pos="95250" algn="l"/>
              </a:tabLst>
            </a:pPr>
            <a:r>
              <a:rPr lang="en-US" altLang="zh-CN" sz="2400" b="1" smtClean="0">
                <a:latin typeface="宋体" panose="02010600030101010101" pitchFamily="2" charset="-122"/>
              </a:rPr>
              <a:t>1</a:t>
            </a:r>
            <a:r>
              <a:rPr lang="zh-CN" altLang="en-US" sz="2400" b="1" smtClean="0">
                <a:latin typeface="宋体" panose="02010600030101010101" pitchFamily="2" charset="-122"/>
              </a:rPr>
              <a:t>）静态测试：目的是通过对程序静态结构的检查，找出编译时不能发现的错误。 </a:t>
            </a:r>
            <a:endParaRPr lang="zh-CN" altLang="en-US" sz="2400" b="1" smtClean="0">
              <a:latin typeface="宋体" panose="02010600030101010101" pitchFamily="2" charset="-122"/>
            </a:endParaRPr>
          </a:p>
          <a:p>
            <a:pPr marL="532130" lvl="1" indent="-352425" defTabSz="284480" eaLnBrk="1" hangingPunct="1">
              <a:lnSpc>
                <a:spcPct val="110000"/>
              </a:lnSpc>
              <a:spcBef>
                <a:spcPct val="0"/>
              </a:spcBef>
              <a:buFontTx/>
              <a:buChar char="•"/>
              <a:tabLst>
                <a:tab pos="95250" algn="l"/>
              </a:tabLst>
            </a:pPr>
            <a:r>
              <a:rPr lang="zh-CN" altLang="en-US" sz="2400" b="1" smtClean="0">
                <a:latin typeface="宋体" panose="02010600030101010101" pitchFamily="2" charset="-122"/>
              </a:rPr>
              <a:t>静态分析器分析（自动方式）</a:t>
            </a:r>
            <a:endParaRPr lang="zh-CN" altLang="en-US" sz="2400" b="1" smtClean="0">
              <a:latin typeface="宋体" panose="02010600030101010101" pitchFamily="2" charset="-122"/>
            </a:endParaRPr>
          </a:p>
          <a:p>
            <a:pPr marL="532130" lvl="1" indent="-352425" defTabSz="284480" eaLnBrk="1" hangingPunct="1">
              <a:lnSpc>
                <a:spcPct val="110000"/>
              </a:lnSpc>
              <a:spcBef>
                <a:spcPct val="0"/>
              </a:spcBef>
              <a:buFontTx/>
              <a:buChar char="•"/>
              <a:tabLst>
                <a:tab pos="95250" algn="l"/>
              </a:tabLst>
            </a:pPr>
            <a:r>
              <a:rPr lang="zh-CN" altLang="en-US" sz="2400" b="1" smtClean="0">
                <a:latin typeface="宋体" panose="02010600030101010101" pitchFamily="2" charset="-122"/>
              </a:rPr>
              <a:t>代码评审（人工方式）：代码会审、走查、办公桌检查</a:t>
            </a:r>
            <a:endParaRPr lang="zh-CN" altLang="en-US" sz="2400" b="1" smtClean="0">
              <a:latin typeface="宋体" panose="02010600030101010101" pitchFamily="2" charset="-122"/>
            </a:endParaRPr>
          </a:p>
          <a:p>
            <a:pPr marL="0" indent="0" defTabSz="284480" eaLnBrk="1" hangingPunct="1">
              <a:lnSpc>
                <a:spcPct val="110000"/>
              </a:lnSpc>
              <a:spcBef>
                <a:spcPct val="0"/>
              </a:spcBef>
              <a:buFontTx/>
              <a:buNone/>
              <a:tabLst>
                <a:tab pos="95250" algn="l"/>
              </a:tabLst>
            </a:pPr>
            <a:r>
              <a:rPr lang="en-US" altLang="zh-CN" sz="2400" b="1" smtClean="0">
                <a:latin typeface="宋体" panose="02010600030101010101" pitchFamily="2" charset="-122"/>
              </a:rPr>
              <a:t>2</a:t>
            </a:r>
            <a:r>
              <a:rPr lang="zh-CN" altLang="en-US" sz="2400" b="1" smtClean="0">
                <a:latin typeface="宋体" panose="02010600030101010101" pitchFamily="2" charset="-122"/>
              </a:rPr>
              <a:t>）动态测试：是把事先设计好的测试用例作用于被测程序，比较测试结果和预期的结果是否一致，如果不一致，则说明被测程序可能存在错误。 </a:t>
            </a:r>
            <a:endParaRPr lang="zh-CN" altLang="en-US" sz="2400" b="1" smtClean="0">
              <a:latin typeface="宋体" panose="02010600030101010101" pitchFamily="2" charset="-122"/>
            </a:endParaRPr>
          </a:p>
          <a:p>
            <a:pPr marL="532130" lvl="1" indent="-352425" defTabSz="284480" eaLnBrk="1" hangingPunct="1">
              <a:lnSpc>
                <a:spcPct val="110000"/>
              </a:lnSpc>
              <a:spcBef>
                <a:spcPct val="0"/>
              </a:spcBef>
              <a:buFontTx/>
              <a:buChar char="•"/>
              <a:tabLst>
                <a:tab pos="95250" algn="l"/>
              </a:tabLst>
            </a:pPr>
            <a:r>
              <a:rPr lang="zh-CN" altLang="en-US" sz="2400" b="1" smtClean="0">
                <a:latin typeface="宋体" panose="02010600030101010101" pitchFamily="2" charset="-122"/>
              </a:rPr>
              <a:t>黑盒测试</a:t>
            </a:r>
            <a:endParaRPr lang="zh-CN" altLang="en-US" sz="2400" b="1" smtClean="0">
              <a:latin typeface="宋体" panose="02010600030101010101" pitchFamily="2" charset="-122"/>
            </a:endParaRPr>
          </a:p>
          <a:p>
            <a:pPr marL="532130" lvl="1" indent="-352425" defTabSz="284480" eaLnBrk="1" hangingPunct="1">
              <a:lnSpc>
                <a:spcPct val="110000"/>
              </a:lnSpc>
              <a:spcBef>
                <a:spcPct val="0"/>
              </a:spcBef>
              <a:buFontTx/>
              <a:buChar char="•"/>
              <a:tabLst>
                <a:tab pos="95250" algn="l"/>
              </a:tabLst>
            </a:pPr>
            <a:r>
              <a:rPr lang="zh-CN" altLang="en-US" sz="2400" b="1" smtClean="0">
                <a:latin typeface="宋体" panose="02010600030101010101" pitchFamily="2" charset="-122"/>
              </a:rPr>
              <a:t>白盒测试</a:t>
            </a:r>
            <a:endParaRPr lang="zh-CN" altLang="en-US" sz="2400" b="1" smtClean="0">
              <a:latin typeface="宋体" panose="02010600030101010101" pitchFamily="2" charset="-122"/>
            </a:endParaRPr>
          </a:p>
        </p:txBody>
      </p:sp>
      <p:sp>
        <p:nvSpPr>
          <p:cNvPr id="39939" name="AutoShape 4">
            <a:hlinkClick r:id="" action="ppaction://noaction" highlightClick="1"/>
          </p:cNvPr>
          <p:cNvSpPr>
            <a:spLocks noChangeArrowheads="1"/>
          </p:cNvSpPr>
          <p:nvPr/>
        </p:nvSpPr>
        <p:spPr bwMode="auto">
          <a:xfrm>
            <a:off x="1619250" y="1052513"/>
            <a:ext cx="4106863" cy="758825"/>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6.3.1 </a:t>
            </a:r>
            <a:r>
              <a:rPr lang="zh-CN" altLang="en-US" sz="3200" b="1">
                <a:solidFill>
                  <a:srgbClr val="0A0A0E"/>
                </a:solidFill>
                <a:latin typeface="Times New Roman" panose="02020603050405020304" pitchFamily="18" charset="0"/>
              </a:rPr>
              <a:t>软件测试</a:t>
            </a:r>
            <a:endParaRPr lang="zh-CN" altLang="en-US" sz="3200" b="1">
              <a:solidFill>
                <a:srgbClr val="0A0A0E"/>
              </a:solidFill>
              <a:latin typeface="Times New Roman" panose="02020603050405020304" pitchFamily="18" charset="0"/>
            </a:endParaRPr>
          </a:p>
        </p:txBody>
      </p:sp>
      <p:grpSp>
        <p:nvGrpSpPr>
          <p:cNvPr id="39949" name="Group 13"/>
          <p:cNvGrpSpPr/>
          <p:nvPr/>
        </p:nvGrpSpPr>
        <p:grpSpPr bwMode="auto">
          <a:xfrm>
            <a:off x="962025" y="4437063"/>
            <a:ext cx="8181975" cy="1800225"/>
            <a:chOff x="606" y="2795"/>
            <a:chExt cx="5154" cy="1134"/>
          </a:xfrm>
        </p:grpSpPr>
        <p:sp>
          <p:nvSpPr>
            <p:cNvPr id="39942" name="Oval 6">
              <a:hlinkClick r:id="rId1" action="ppaction://hlinksldjump"/>
            </p:cNvPr>
            <p:cNvSpPr>
              <a:spLocks noChangeArrowheads="1"/>
            </p:cNvSpPr>
            <p:nvPr/>
          </p:nvSpPr>
          <p:spPr bwMode="auto">
            <a:xfrm>
              <a:off x="606" y="2795"/>
              <a:ext cx="1321" cy="363"/>
            </a:xfrm>
            <a:prstGeom prst="ellipse">
              <a:avLst/>
            </a:prstGeom>
            <a:noFill/>
            <a:ln w="38100">
              <a:solidFill>
                <a:schemeClr val="hlink"/>
              </a:solidFill>
              <a:round/>
            </a:ln>
            <a:effectLst/>
          </p:spPr>
          <p:txBody>
            <a:bodyPr wrap="none" anchor="ctr"/>
            <a:lstStyle/>
            <a:p>
              <a:endParaRPr lang="zh-CN" altLang="en-US"/>
            </a:p>
          </p:txBody>
        </p:sp>
        <p:sp>
          <p:nvSpPr>
            <p:cNvPr id="39943" name="AutoShape 7">
              <a:hlinkClick r:id="rId1" action="ppaction://hlinksldjump"/>
            </p:cNvPr>
            <p:cNvSpPr>
              <a:spLocks noChangeArrowheads="1"/>
            </p:cNvSpPr>
            <p:nvPr/>
          </p:nvSpPr>
          <p:spPr bwMode="auto">
            <a:xfrm>
              <a:off x="1746" y="2976"/>
              <a:ext cx="4014" cy="953"/>
            </a:xfrm>
            <a:prstGeom prst="wedgeRoundRectCallout">
              <a:avLst>
                <a:gd name="adj1" fmla="val -59440"/>
                <a:gd name="adj2" fmla="val -64375"/>
                <a:gd name="adj3" fmla="val 16667"/>
              </a:avLst>
            </a:prstGeom>
            <a:solidFill>
              <a:srgbClr val="800000"/>
            </a:solidFill>
            <a:ln w="9525">
              <a:solidFill>
                <a:schemeClr val="tx1"/>
              </a:solidFill>
              <a:miter lim="800000"/>
            </a:ln>
            <a:effectLst/>
          </p:spPr>
          <p:txBody>
            <a:bodyPr lIns="18000" rIns="18000"/>
            <a:lstStyle/>
            <a:p>
              <a:pPr marL="361950" indent="-361950">
                <a:buFontTx/>
                <a:buChar char="•"/>
              </a:pPr>
              <a:r>
                <a:rPr kumimoji="1" lang="zh-CN" altLang="en-US" b="1">
                  <a:solidFill>
                    <a:schemeClr val="bg1"/>
                  </a:solidFill>
                  <a:latin typeface="Arial" panose="020B0604020202020204" pitchFamily="34" charset="0"/>
                </a:rPr>
                <a:t>通过运行软件来检验软件的动态行为和运行结果的正确性</a:t>
              </a:r>
              <a:endParaRPr kumimoji="1" lang="zh-CN" altLang="en-US" b="1">
                <a:solidFill>
                  <a:schemeClr val="bg1"/>
                </a:solidFill>
                <a:latin typeface="Arial" panose="020B0604020202020204" pitchFamily="34" charset="0"/>
              </a:endParaRPr>
            </a:p>
            <a:p>
              <a:pPr marL="361950" indent="-361950">
                <a:buFontTx/>
                <a:buChar char="•"/>
              </a:pPr>
              <a:r>
                <a:rPr kumimoji="1" lang="zh-CN" altLang="en-US" b="1">
                  <a:solidFill>
                    <a:schemeClr val="bg1"/>
                  </a:solidFill>
                  <a:latin typeface="Arial" panose="020B0604020202020204" pitchFamily="34" charset="0"/>
                </a:rPr>
                <a:t>约可找出</a:t>
              </a:r>
              <a:r>
                <a:rPr kumimoji="1" lang="en-US" altLang="zh-CN" b="1">
                  <a:solidFill>
                    <a:schemeClr val="bg1"/>
                  </a:solidFill>
                  <a:latin typeface="Arial" panose="020B0604020202020204" pitchFamily="34" charset="0"/>
                </a:rPr>
                <a:t>30</a:t>
              </a:r>
              <a:r>
                <a:rPr kumimoji="1" lang="zh-CN" altLang="en-US" b="1">
                  <a:solidFill>
                    <a:schemeClr val="bg1"/>
                  </a:solidFill>
                  <a:latin typeface="Arial" panose="020B0604020202020204" pitchFamily="34" charset="0"/>
                </a:rPr>
                <a:t>～</a:t>
              </a:r>
              <a:r>
                <a:rPr kumimoji="1" lang="en-US" altLang="zh-CN" b="1">
                  <a:solidFill>
                    <a:schemeClr val="bg1"/>
                  </a:solidFill>
                  <a:latin typeface="Arial" panose="020B0604020202020204" pitchFamily="34" charset="0"/>
                </a:rPr>
                <a:t>70%</a:t>
              </a:r>
              <a:r>
                <a:rPr kumimoji="1" lang="zh-CN" altLang="en-US" b="1">
                  <a:solidFill>
                    <a:schemeClr val="bg1"/>
                  </a:solidFill>
                  <a:latin typeface="Arial" panose="020B0604020202020204" pitchFamily="34" charset="0"/>
                </a:rPr>
                <a:t>的逻辑设计错误</a:t>
              </a:r>
              <a:r>
                <a:rPr kumimoji="1" lang="zh-CN" altLang="en-US" sz="2800" b="1">
                  <a:solidFill>
                    <a:schemeClr val="bg1"/>
                  </a:solidFill>
                  <a:latin typeface="Arial" panose="020B0604020202020204" pitchFamily="34" charset="0"/>
                </a:rPr>
                <a:t> </a:t>
              </a:r>
              <a:endParaRPr kumimoji="1" lang="zh-CN" altLang="en-US" sz="2800" b="1">
                <a:solidFill>
                  <a:schemeClr val="bg1"/>
                </a:solidFill>
                <a:latin typeface="Arial" panose="020B0604020202020204" pitchFamily="34" charset="0"/>
              </a:endParaRPr>
            </a:p>
          </p:txBody>
        </p:sp>
      </p:grpSp>
      <p:grpSp>
        <p:nvGrpSpPr>
          <p:cNvPr id="39948" name="Group 12"/>
          <p:cNvGrpSpPr/>
          <p:nvPr/>
        </p:nvGrpSpPr>
        <p:grpSpPr bwMode="auto">
          <a:xfrm>
            <a:off x="1042988" y="1628775"/>
            <a:ext cx="8101012" cy="1439863"/>
            <a:chOff x="657" y="1026"/>
            <a:chExt cx="5103" cy="907"/>
          </a:xfrm>
        </p:grpSpPr>
        <p:sp>
          <p:nvSpPr>
            <p:cNvPr id="39946" name="Oval 10"/>
            <p:cNvSpPr>
              <a:spLocks noChangeArrowheads="1"/>
            </p:cNvSpPr>
            <p:nvPr/>
          </p:nvSpPr>
          <p:spPr bwMode="auto">
            <a:xfrm>
              <a:off x="657" y="1525"/>
              <a:ext cx="1089" cy="363"/>
            </a:xfrm>
            <a:prstGeom prst="ellipse">
              <a:avLst/>
            </a:prstGeom>
            <a:noFill/>
            <a:ln w="38100">
              <a:solidFill>
                <a:schemeClr val="hlink"/>
              </a:solidFill>
              <a:round/>
            </a:ln>
            <a:effectLst/>
          </p:spPr>
          <p:txBody>
            <a:bodyPr wrap="none" anchor="ctr"/>
            <a:lstStyle/>
            <a:p>
              <a:endParaRPr lang="zh-CN" altLang="en-US"/>
            </a:p>
          </p:txBody>
        </p:sp>
        <p:sp>
          <p:nvSpPr>
            <p:cNvPr id="39947" name="AutoShape 11"/>
            <p:cNvSpPr>
              <a:spLocks noChangeArrowheads="1"/>
            </p:cNvSpPr>
            <p:nvPr/>
          </p:nvSpPr>
          <p:spPr bwMode="auto">
            <a:xfrm>
              <a:off x="1854" y="1026"/>
              <a:ext cx="3906" cy="907"/>
            </a:xfrm>
            <a:prstGeom prst="wedgeRoundRectCallout">
              <a:avLst>
                <a:gd name="adj1" fmla="val -62134"/>
                <a:gd name="adj2" fmla="val 9648"/>
                <a:gd name="adj3" fmla="val 16667"/>
              </a:avLst>
            </a:prstGeom>
            <a:solidFill>
              <a:srgbClr val="800000"/>
            </a:solidFill>
            <a:ln w="9525">
              <a:solidFill>
                <a:schemeClr val="tx1"/>
              </a:solidFill>
              <a:miter lim="800000"/>
            </a:ln>
            <a:effectLst/>
          </p:spPr>
          <p:txBody>
            <a:bodyPr lIns="18000" rIns="18000"/>
            <a:lstStyle/>
            <a:p>
              <a:pPr marL="361950" indent="-361950">
                <a:buFontTx/>
                <a:buChar char="•"/>
              </a:pPr>
              <a:r>
                <a:rPr kumimoji="1" lang="zh-CN" altLang="en-US" b="1">
                  <a:solidFill>
                    <a:schemeClr val="bg1"/>
                  </a:solidFill>
                  <a:latin typeface="Arial" panose="020B0604020202020204" pitchFamily="34" charset="0"/>
                </a:rPr>
                <a:t>基本特征是在对软件进行分析、检查和测试，不实际运行被测试的软件</a:t>
              </a:r>
              <a:endParaRPr kumimoji="1" lang="zh-CN" altLang="en-US" b="1">
                <a:solidFill>
                  <a:schemeClr val="bg1"/>
                </a:solidFill>
                <a:latin typeface="Arial" panose="020B0604020202020204" pitchFamily="34" charset="0"/>
              </a:endParaRPr>
            </a:p>
            <a:p>
              <a:pPr marL="361950" indent="-361950">
                <a:buFontTx/>
                <a:buChar char="•"/>
              </a:pPr>
              <a:r>
                <a:rPr kumimoji="1" lang="zh-CN" altLang="en-US" b="1">
                  <a:solidFill>
                    <a:schemeClr val="bg1"/>
                  </a:solidFill>
                  <a:latin typeface="Arial" panose="020B0604020202020204" pitchFamily="34" charset="0"/>
                </a:rPr>
                <a:t>约可找出</a:t>
              </a:r>
              <a:r>
                <a:rPr kumimoji="1" lang="en-US" altLang="zh-CN" b="1">
                  <a:solidFill>
                    <a:schemeClr val="bg1"/>
                  </a:solidFill>
                  <a:latin typeface="Arial" panose="020B0604020202020204" pitchFamily="34" charset="0"/>
                </a:rPr>
                <a:t>30</a:t>
              </a:r>
              <a:r>
                <a:rPr kumimoji="1" lang="zh-CN" altLang="en-US" b="1">
                  <a:solidFill>
                    <a:schemeClr val="bg1"/>
                  </a:solidFill>
                  <a:latin typeface="Arial" panose="020B0604020202020204" pitchFamily="34" charset="0"/>
                </a:rPr>
                <a:t>～</a:t>
              </a:r>
              <a:r>
                <a:rPr kumimoji="1" lang="en-US" altLang="zh-CN" b="1">
                  <a:solidFill>
                    <a:schemeClr val="bg1"/>
                  </a:solidFill>
                  <a:latin typeface="Arial" panose="020B0604020202020204" pitchFamily="34" charset="0"/>
                </a:rPr>
                <a:t>70%</a:t>
              </a:r>
              <a:r>
                <a:rPr kumimoji="1" lang="zh-CN" altLang="en-US" b="1">
                  <a:solidFill>
                    <a:schemeClr val="bg1"/>
                  </a:solidFill>
                  <a:latin typeface="Arial" panose="020B0604020202020204" pitchFamily="34" charset="0"/>
                </a:rPr>
                <a:t>的逻辑设计错误 </a:t>
              </a:r>
              <a:endParaRPr kumimoji="1" lang="zh-CN" altLang="en-US" b="1">
                <a:solidFill>
                  <a:schemeClr val="bg1"/>
                </a:solidFill>
                <a:latin typeface="Arial" panose="020B0604020202020204" pitchFamily="34" charset="0"/>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948"/>
                                        </p:tgtEl>
                                        <p:attrNameLst>
                                          <p:attrName>style.visibility</p:attrName>
                                        </p:attrNameLst>
                                      </p:cBhvr>
                                      <p:to>
                                        <p:strVal val="visible"/>
                                      </p:to>
                                    </p:set>
                                    <p:animEffect transition="in" filter="blinds(horizontal)">
                                      <p:cBhvr>
                                        <p:cTn id="7" dur="500"/>
                                        <p:tgtEl>
                                          <p:spTgt spid="399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949"/>
                                        </p:tgtEl>
                                        <p:attrNameLst>
                                          <p:attrName>style.visibility</p:attrName>
                                        </p:attrNameLst>
                                      </p:cBhvr>
                                      <p:to>
                                        <p:strVal val="visible"/>
                                      </p:to>
                                    </p:set>
                                    <p:animEffect transition="in" filter="blinds(horizontal)">
                                      <p:cBhvr>
                                        <p:cTn id="12" dur="500"/>
                                        <p:tgtEl>
                                          <p:spTgt spid="39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body" idx="1"/>
          </p:nvPr>
        </p:nvSpPr>
        <p:spPr>
          <a:xfrm>
            <a:off x="755650" y="1773238"/>
            <a:ext cx="7772400" cy="5084762"/>
          </a:xfrm>
        </p:spPr>
        <p:txBody>
          <a:bodyPr/>
          <a:lstStyle/>
          <a:p>
            <a:pPr marL="0" indent="0" defTabSz="284480" eaLnBrk="1" hangingPunct="1">
              <a:lnSpc>
                <a:spcPct val="110000"/>
              </a:lnSpc>
              <a:spcBef>
                <a:spcPct val="0"/>
              </a:spcBef>
              <a:buFontTx/>
              <a:buNone/>
              <a:tabLst>
                <a:tab pos="95250" algn="l"/>
              </a:tabLst>
            </a:pPr>
            <a:r>
              <a:rPr lang="en-US" altLang="zh-CN" sz="2400" smtClean="0"/>
              <a:t>       </a:t>
            </a:r>
            <a:r>
              <a:rPr lang="zh-CN" altLang="en-US" sz="2400" b="1" smtClean="0"/>
              <a:t>代码会审是由一组人通过阅读、讨论和争议对程序进行静态分析的过程。会审小组由组长、</a:t>
            </a:r>
            <a:r>
              <a:rPr lang="en-US" altLang="zh-CN" sz="2400" b="1" smtClean="0"/>
              <a:t>2</a:t>
            </a:r>
            <a:r>
              <a:rPr lang="zh-CN" altLang="en-US" sz="2400" b="1" smtClean="0"/>
              <a:t>～</a:t>
            </a:r>
            <a:r>
              <a:rPr lang="en-US" altLang="zh-CN" sz="2400" b="1" smtClean="0"/>
              <a:t>3</a:t>
            </a:r>
            <a:r>
              <a:rPr lang="zh-CN" altLang="en-US" sz="2400" b="1" smtClean="0"/>
              <a:t>名程序设计和测试人员及程序员组成。会审小组在充分阅读待审程序文本、控制流程图及有关要求、规范等文件基础上，召开代码会审会，程序员逐句讲解程序的逻辑，并展开热烈的讨论甚至争议，以揭示错误的关键所在。</a:t>
            </a:r>
            <a:endParaRPr lang="zh-CN" altLang="en-US" sz="2400" b="1" smtClean="0"/>
          </a:p>
          <a:p>
            <a:pPr marL="0" indent="0" defTabSz="284480" eaLnBrk="1" hangingPunct="1">
              <a:lnSpc>
                <a:spcPct val="110000"/>
              </a:lnSpc>
              <a:spcBef>
                <a:spcPct val="0"/>
              </a:spcBef>
              <a:buFontTx/>
              <a:buNone/>
              <a:tabLst>
                <a:tab pos="95250" algn="l"/>
              </a:tabLst>
            </a:pPr>
            <a:r>
              <a:rPr lang="zh-CN" altLang="en-US" sz="2400" b="1" smtClean="0">
                <a:solidFill>
                  <a:schemeClr val="hlink"/>
                </a:solidFill>
              </a:rPr>
              <a:t>需要注意两点：</a:t>
            </a:r>
            <a:endParaRPr lang="zh-CN" altLang="en-US" sz="2400" b="1" smtClean="0">
              <a:solidFill>
                <a:schemeClr val="hlink"/>
              </a:solidFill>
            </a:endParaRPr>
          </a:p>
          <a:p>
            <a:pPr marL="0" indent="0" defTabSz="284480" eaLnBrk="1" hangingPunct="1">
              <a:lnSpc>
                <a:spcPct val="110000"/>
              </a:lnSpc>
              <a:spcBef>
                <a:spcPct val="0"/>
              </a:spcBef>
              <a:buClr>
                <a:schemeClr val="hlink"/>
              </a:buClr>
              <a:tabLst>
                <a:tab pos="95250" algn="l"/>
              </a:tabLst>
            </a:pPr>
            <a:r>
              <a:rPr lang="zh-CN" altLang="en-US" sz="2400" b="1" smtClean="0"/>
              <a:t>一是在代码审查时，必须要检查被测软件是否通过编译，只有正确了之后才进行代码会审；</a:t>
            </a:r>
            <a:endParaRPr lang="zh-CN" altLang="en-US" sz="2400" b="1" smtClean="0"/>
          </a:p>
          <a:p>
            <a:pPr marL="0" indent="0" defTabSz="284480" eaLnBrk="1" hangingPunct="1">
              <a:lnSpc>
                <a:spcPct val="110000"/>
              </a:lnSpc>
              <a:spcBef>
                <a:spcPct val="0"/>
              </a:spcBef>
              <a:buClr>
                <a:schemeClr val="hlink"/>
              </a:buClr>
              <a:tabLst>
                <a:tab pos="95250" algn="l"/>
              </a:tabLst>
            </a:pPr>
            <a:r>
              <a:rPr lang="zh-CN" altLang="en-US" sz="2400" b="1" smtClean="0"/>
              <a:t>二是一定要保证有足够的时间让测试小组对问题进行充分的讨论，只有这样才能有效地提高测试效率，避免走弯路。  </a:t>
            </a:r>
            <a:endParaRPr lang="zh-CN" altLang="en-US" sz="2400" b="1" smtClean="0"/>
          </a:p>
        </p:txBody>
      </p:sp>
      <p:sp>
        <p:nvSpPr>
          <p:cNvPr id="40963" name="AutoShape 3">
            <a:hlinkClick r:id="" action="ppaction://noaction" highlightClick="1"/>
          </p:cNvPr>
          <p:cNvSpPr>
            <a:spLocks noChangeArrowheads="1"/>
          </p:cNvSpPr>
          <p:nvPr/>
        </p:nvSpPr>
        <p:spPr bwMode="auto">
          <a:xfrm>
            <a:off x="1619250" y="1052513"/>
            <a:ext cx="4106863" cy="758825"/>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6.3.1 </a:t>
            </a:r>
            <a:r>
              <a:rPr lang="zh-CN" altLang="en-US" sz="3200" b="1">
                <a:solidFill>
                  <a:srgbClr val="0A0A0E"/>
                </a:solidFill>
                <a:latin typeface="Times New Roman" panose="02020603050405020304" pitchFamily="18" charset="0"/>
              </a:rPr>
              <a:t>软件测试</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xfrm>
            <a:off x="611188" y="1484313"/>
            <a:ext cx="8208962" cy="5157787"/>
          </a:xfrm>
        </p:spPr>
        <p:txBody>
          <a:bodyPr/>
          <a:lstStyle/>
          <a:p>
            <a:pPr marL="0" indent="0" defTabSz="284480" eaLnBrk="1" hangingPunct="1">
              <a:lnSpc>
                <a:spcPct val="110000"/>
              </a:lnSpc>
              <a:spcBef>
                <a:spcPct val="0"/>
              </a:spcBef>
              <a:buFontTx/>
              <a:buNone/>
              <a:tabLst>
                <a:tab pos="355600" algn="l"/>
              </a:tabLst>
            </a:pPr>
            <a:endParaRPr lang="en-US" altLang="zh-CN" sz="1900" smtClean="0"/>
          </a:p>
          <a:p>
            <a:pPr marL="532130" lvl="1" indent="-352425" defTabSz="284480" eaLnBrk="1" hangingPunct="1">
              <a:lnSpc>
                <a:spcPct val="105000"/>
              </a:lnSpc>
              <a:tabLst>
                <a:tab pos="355600" algn="l"/>
              </a:tabLst>
            </a:pPr>
            <a:r>
              <a:rPr lang="zh-CN" altLang="en-US" sz="2400" b="1" smtClean="0">
                <a:latin typeface="Times New Roman" panose="02020603050405020304" pitchFamily="18" charset="0"/>
              </a:rPr>
              <a:t>白盒测试时，测试者清楚被测试程序的内部结构。它从程序的逻辑结构人手，按照一定的原则来设计测试用例，设定测试数据。</a:t>
            </a:r>
            <a:endParaRPr lang="zh-CN" altLang="en-US" sz="2400" b="1" smtClean="0">
              <a:latin typeface="Times New Roman" panose="02020603050405020304" pitchFamily="18" charset="0"/>
            </a:endParaRPr>
          </a:p>
          <a:p>
            <a:pPr marL="532130" lvl="1" indent="-352425" defTabSz="284480" eaLnBrk="1" hangingPunct="1">
              <a:lnSpc>
                <a:spcPct val="105000"/>
              </a:lnSpc>
              <a:tabLst>
                <a:tab pos="355600" algn="l"/>
              </a:tabLst>
            </a:pPr>
            <a:r>
              <a:rPr lang="zh-CN" altLang="en-US" sz="2400" b="1" smtClean="0">
                <a:latin typeface="Times New Roman" panose="02020603050405020304" pitchFamily="18" charset="0"/>
              </a:rPr>
              <a:t>黑盒测试时，测试者把被测程序看成一个黑盒，完全用不着关心程序的内部结构。设计测试用例时，仅以程序的外部功能为根据。</a:t>
            </a:r>
            <a:endParaRPr lang="zh-CN" altLang="en-US" sz="2400" b="1" smtClean="0">
              <a:latin typeface="Times New Roman" panose="02020603050405020304" pitchFamily="18" charset="0"/>
            </a:endParaRPr>
          </a:p>
          <a:p>
            <a:pPr marL="532130" lvl="1" indent="-352425" defTabSz="284480" eaLnBrk="1" hangingPunct="1">
              <a:lnSpc>
                <a:spcPct val="105000"/>
              </a:lnSpc>
              <a:tabLst>
                <a:tab pos="355600" algn="l"/>
              </a:tabLst>
            </a:pPr>
            <a:r>
              <a:rPr lang="zh-CN" altLang="en-US" sz="2400" b="1" smtClean="0">
                <a:latin typeface="Times New Roman" panose="02020603050405020304" pitchFamily="18" charset="0"/>
              </a:rPr>
              <a:t>测试中标常见病错误种类</a:t>
            </a:r>
            <a:r>
              <a:rPr lang="en-US" altLang="zh-CN" sz="2400" b="1" smtClean="0">
                <a:latin typeface="Times New Roman" panose="02020603050405020304" pitchFamily="18" charset="0"/>
              </a:rPr>
              <a:t>:</a:t>
            </a:r>
            <a:endParaRPr lang="en-US" altLang="zh-CN" sz="2400" b="1" smtClean="0">
              <a:latin typeface="Times New Roman" panose="02020603050405020304" pitchFamily="18" charset="0"/>
            </a:endParaRPr>
          </a:p>
          <a:p>
            <a:pPr marL="803275" lvl="2" indent="-92075" defTabSz="284480" eaLnBrk="1" hangingPunct="1">
              <a:lnSpc>
                <a:spcPct val="105000"/>
              </a:lnSpc>
              <a:tabLst>
                <a:tab pos="355600" algn="l"/>
              </a:tabLst>
            </a:pPr>
            <a:r>
              <a:rPr lang="zh-CN" altLang="en-US" b="1" smtClean="0">
                <a:latin typeface="Times New Roman" panose="02020603050405020304" pitchFamily="18" charset="0"/>
              </a:rPr>
              <a:t>功能 错误</a:t>
            </a:r>
            <a:endParaRPr lang="zh-CN" altLang="en-US" b="1" smtClean="0">
              <a:latin typeface="Times New Roman" panose="02020603050405020304" pitchFamily="18" charset="0"/>
            </a:endParaRPr>
          </a:p>
          <a:p>
            <a:pPr marL="803275" lvl="2" indent="-92075" defTabSz="284480" eaLnBrk="1" hangingPunct="1">
              <a:lnSpc>
                <a:spcPct val="105000"/>
              </a:lnSpc>
              <a:tabLst>
                <a:tab pos="355600" algn="l"/>
              </a:tabLst>
            </a:pPr>
            <a:r>
              <a:rPr lang="zh-CN" altLang="en-US" b="1" smtClean="0">
                <a:latin typeface="Times New Roman" panose="02020603050405020304" pitchFamily="18" charset="0"/>
              </a:rPr>
              <a:t>系统错误</a:t>
            </a:r>
            <a:endParaRPr lang="zh-CN" altLang="en-US" b="1" smtClean="0">
              <a:latin typeface="Times New Roman" panose="02020603050405020304" pitchFamily="18" charset="0"/>
            </a:endParaRPr>
          </a:p>
          <a:p>
            <a:pPr marL="803275" lvl="2" indent="-92075" defTabSz="284480" eaLnBrk="1" hangingPunct="1">
              <a:lnSpc>
                <a:spcPct val="105000"/>
              </a:lnSpc>
              <a:tabLst>
                <a:tab pos="355600" algn="l"/>
              </a:tabLst>
            </a:pPr>
            <a:r>
              <a:rPr lang="zh-CN" altLang="en-US" b="1" smtClean="0">
                <a:latin typeface="Times New Roman" panose="02020603050405020304" pitchFamily="18" charset="0"/>
              </a:rPr>
              <a:t>过程错误</a:t>
            </a:r>
            <a:endParaRPr lang="zh-CN" altLang="en-US" b="1" smtClean="0">
              <a:latin typeface="Times New Roman" panose="02020603050405020304" pitchFamily="18" charset="0"/>
            </a:endParaRPr>
          </a:p>
          <a:p>
            <a:pPr marL="803275" lvl="2" indent="-92075" defTabSz="284480" eaLnBrk="1" hangingPunct="1">
              <a:lnSpc>
                <a:spcPct val="105000"/>
              </a:lnSpc>
              <a:tabLst>
                <a:tab pos="355600" algn="l"/>
              </a:tabLst>
            </a:pPr>
            <a:r>
              <a:rPr lang="zh-CN" altLang="en-US" b="1" smtClean="0">
                <a:latin typeface="Times New Roman" panose="02020603050405020304" pitchFamily="18" charset="0"/>
              </a:rPr>
              <a:t>编码错误</a:t>
            </a:r>
            <a:endParaRPr lang="zh-CN" altLang="en-US" b="1" smtClean="0">
              <a:latin typeface="Times New Roman" panose="02020603050405020304" pitchFamily="18" charset="0"/>
            </a:endParaRPr>
          </a:p>
        </p:txBody>
      </p:sp>
      <p:sp>
        <p:nvSpPr>
          <p:cNvPr id="41987" name="AutoShape 3">
            <a:hlinkClick r:id="" action="ppaction://noaction" highlightClick="1"/>
          </p:cNvPr>
          <p:cNvSpPr>
            <a:spLocks noChangeArrowheads="1"/>
          </p:cNvSpPr>
          <p:nvPr/>
        </p:nvSpPr>
        <p:spPr bwMode="auto">
          <a:xfrm>
            <a:off x="1476375" y="908050"/>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6.3.1 </a:t>
            </a:r>
            <a:r>
              <a:rPr lang="zh-CN" altLang="en-US" sz="3200" b="1">
                <a:solidFill>
                  <a:srgbClr val="0A0A0E"/>
                </a:solidFill>
                <a:latin typeface="Times New Roman" panose="02020603050405020304" pitchFamily="18" charset="0"/>
              </a:rPr>
              <a:t>软件测试</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xfrm>
            <a:off x="395288" y="1916113"/>
            <a:ext cx="8426450" cy="4392612"/>
          </a:xfrm>
        </p:spPr>
        <p:txBody>
          <a:bodyPr/>
          <a:lstStyle/>
          <a:p>
            <a:pPr marL="0" indent="0" defTabSz="284480" eaLnBrk="1" hangingPunct="1">
              <a:lnSpc>
                <a:spcPct val="110000"/>
              </a:lnSpc>
              <a:spcBef>
                <a:spcPct val="0"/>
              </a:spcBef>
              <a:buFontTx/>
              <a:buNone/>
              <a:tabLst>
                <a:tab pos="95250" algn="l"/>
              </a:tabLst>
            </a:pPr>
            <a:r>
              <a:rPr lang="zh-CN" altLang="en-US" sz="2400" b="1" smtClean="0"/>
              <a:t>测试用例：为达到最佳的测试效果或高效的揭露隐藏的错误而精心设计的少量测试数据，称之为测试用例。 </a:t>
            </a:r>
            <a:endParaRPr lang="zh-CN" altLang="en-US" sz="2400" b="1" smtClean="0"/>
          </a:p>
          <a:p>
            <a:pPr marL="532130" lvl="1" indent="-352425" defTabSz="284480" eaLnBrk="1" hangingPunct="1">
              <a:lnSpc>
                <a:spcPct val="80000"/>
              </a:lnSpc>
              <a:buFont typeface="Wingdings" panose="05000000000000000000" pitchFamily="2" charset="2"/>
              <a:buNone/>
              <a:tabLst>
                <a:tab pos="95250" algn="l"/>
              </a:tabLst>
            </a:pPr>
            <a:r>
              <a:rPr lang="zh-CN" altLang="en-US" sz="2400" b="1" smtClean="0"/>
              <a:t>测试用例可以被定义为如下</a:t>
            </a:r>
            <a:r>
              <a:rPr lang="en-US" altLang="zh-CN" sz="2400" b="1" smtClean="0"/>
              <a:t>6</a:t>
            </a:r>
            <a:r>
              <a:rPr lang="zh-CN" altLang="en-US" sz="2400" b="1" smtClean="0"/>
              <a:t>元组：</a:t>
            </a:r>
            <a:endParaRPr lang="zh-CN" altLang="en-US" sz="2400" b="1" smtClean="0"/>
          </a:p>
          <a:p>
            <a:pPr marL="532130" lvl="1" indent="-352425" defTabSz="284480" eaLnBrk="1" hangingPunct="1">
              <a:lnSpc>
                <a:spcPct val="80000"/>
              </a:lnSpc>
              <a:tabLst>
                <a:tab pos="95250" algn="l"/>
              </a:tabLst>
            </a:pPr>
            <a:r>
              <a:rPr lang="zh-CN" altLang="en-US" sz="2400" b="1" smtClean="0"/>
              <a:t>测试索引</a:t>
            </a:r>
            <a:endParaRPr lang="zh-CN" altLang="en-US" sz="2400" b="1" smtClean="0"/>
          </a:p>
          <a:p>
            <a:pPr marL="532130" lvl="1" indent="-352425" defTabSz="284480" eaLnBrk="1" hangingPunct="1">
              <a:lnSpc>
                <a:spcPct val="80000"/>
              </a:lnSpc>
              <a:tabLst>
                <a:tab pos="95250" algn="l"/>
              </a:tabLst>
            </a:pPr>
            <a:r>
              <a:rPr lang="zh-CN" altLang="en-US" sz="2400" b="1" smtClean="0"/>
              <a:t>测试环境</a:t>
            </a:r>
            <a:endParaRPr lang="zh-CN" altLang="en-US" sz="2400" b="1" smtClean="0"/>
          </a:p>
          <a:p>
            <a:pPr marL="532130" lvl="1" indent="-352425" defTabSz="284480" eaLnBrk="1" hangingPunct="1">
              <a:lnSpc>
                <a:spcPct val="80000"/>
              </a:lnSpc>
              <a:tabLst>
                <a:tab pos="95250" algn="l"/>
              </a:tabLst>
            </a:pPr>
            <a:r>
              <a:rPr lang="zh-CN" altLang="en-US" sz="2400" b="1" smtClean="0"/>
              <a:t>测试输入</a:t>
            </a:r>
            <a:endParaRPr lang="zh-CN" altLang="en-US" sz="2400" b="1" smtClean="0"/>
          </a:p>
          <a:p>
            <a:pPr marL="532130" lvl="1" indent="-352425" defTabSz="284480" eaLnBrk="1" hangingPunct="1">
              <a:lnSpc>
                <a:spcPct val="80000"/>
              </a:lnSpc>
              <a:tabLst>
                <a:tab pos="95250" algn="l"/>
              </a:tabLst>
            </a:pPr>
            <a:r>
              <a:rPr lang="zh-CN" altLang="en-US" sz="2400" b="1" smtClean="0"/>
              <a:t>测试操作</a:t>
            </a:r>
            <a:endParaRPr lang="zh-CN" altLang="en-US" sz="2400" b="1" smtClean="0"/>
          </a:p>
          <a:p>
            <a:pPr marL="532130" lvl="1" indent="-352425" defTabSz="284480" eaLnBrk="1" hangingPunct="1">
              <a:lnSpc>
                <a:spcPct val="80000"/>
              </a:lnSpc>
              <a:tabLst>
                <a:tab pos="95250" algn="l"/>
              </a:tabLst>
            </a:pPr>
            <a:r>
              <a:rPr lang="zh-CN" altLang="en-US" sz="2400" b="1" smtClean="0"/>
              <a:t>预期结果</a:t>
            </a:r>
            <a:endParaRPr lang="zh-CN" altLang="en-US" sz="2400" b="1" smtClean="0"/>
          </a:p>
          <a:p>
            <a:pPr marL="532130" lvl="1" indent="-352425" defTabSz="284480" eaLnBrk="1" hangingPunct="1">
              <a:lnSpc>
                <a:spcPct val="80000"/>
              </a:lnSpc>
              <a:tabLst>
                <a:tab pos="95250" algn="l"/>
              </a:tabLst>
            </a:pPr>
            <a:r>
              <a:rPr lang="zh-CN" altLang="en-US" sz="2400" b="1" smtClean="0"/>
              <a:t>评价标准</a:t>
            </a:r>
            <a:endParaRPr lang="zh-CN" altLang="en-US" sz="2400" b="1" smtClean="0"/>
          </a:p>
          <a:p>
            <a:pPr marL="532130" lvl="1" indent="-352425" defTabSz="284480">
              <a:lnSpc>
                <a:spcPct val="80000"/>
              </a:lnSpc>
              <a:spcBef>
                <a:spcPct val="25000"/>
              </a:spcBef>
              <a:buClr>
                <a:srgbClr val="003366"/>
              </a:buClr>
              <a:buFont typeface="Verdana" panose="020B0604030504040204" pitchFamily="34" charset="0"/>
              <a:buChar char="−"/>
              <a:tabLst>
                <a:tab pos="95250" algn="l"/>
              </a:tabLst>
            </a:pPr>
            <a:r>
              <a:rPr lang="zh-CN" altLang="en-US" sz="2400" b="1" smtClean="0">
                <a:latin typeface="宋体" panose="02010600030101010101" pitchFamily="2" charset="-122"/>
              </a:rPr>
              <a:t>兼顾合理的输入和</a:t>
            </a:r>
            <a:r>
              <a:rPr lang="zh-CN" altLang="en-US" sz="2400" b="1" smtClean="0">
                <a:latin typeface="宋体" panose="02010600030101010101" pitchFamily="2" charset="-122"/>
                <a:hlinkClick r:id="rId1" action="ppaction://hlinksldjump"/>
              </a:rPr>
              <a:t>不合理</a:t>
            </a:r>
            <a:r>
              <a:rPr lang="zh-CN" altLang="en-US" sz="2400" b="1" smtClean="0">
                <a:latin typeface="宋体" panose="02010600030101010101" pitchFamily="2" charset="-122"/>
              </a:rPr>
              <a:t>的输入数据</a:t>
            </a:r>
            <a:endParaRPr lang="zh-CN" altLang="en-US" sz="2400" b="1" smtClean="0">
              <a:latin typeface="宋体" panose="02010600030101010101" pitchFamily="2" charset="-122"/>
            </a:endParaRPr>
          </a:p>
          <a:p>
            <a:pPr marL="532130" lvl="1" indent="-352425" defTabSz="284480">
              <a:lnSpc>
                <a:spcPct val="80000"/>
              </a:lnSpc>
              <a:spcBef>
                <a:spcPct val="25000"/>
              </a:spcBef>
              <a:buClr>
                <a:srgbClr val="003366"/>
              </a:buClr>
              <a:buFont typeface="Verdana" panose="020B0604030504040204" pitchFamily="34" charset="0"/>
              <a:buChar char="−"/>
              <a:tabLst>
                <a:tab pos="95250" algn="l"/>
              </a:tabLst>
            </a:pPr>
            <a:r>
              <a:rPr lang="zh-CN" altLang="en-US" sz="2400" b="1" smtClean="0"/>
              <a:t>不仅检查程序是否实现预期功能，还</a:t>
            </a:r>
            <a:r>
              <a:rPr lang="zh-CN" altLang="en-US" sz="2400" b="1" smtClean="0">
                <a:latin typeface="宋体" panose="02010600030101010101" pitchFamily="2" charset="-122"/>
              </a:rPr>
              <a:t>应检查程序是否作了不该做的事</a:t>
            </a:r>
            <a:endParaRPr lang="zh-CN" altLang="en-US" sz="2400" b="1" smtClean="0"/>
          </a:p>
          <a:p>
            <a:pPr marL="532130" lvl="1" indent="-352425" defTabSz="284480" eaLnBrk="1" hangingPunct="1">
              <a:lnSpc>
                <a:spcPct val="80000"/>
              </a:lnSpc>
              <a:buFont typeface="Wingdings" panose="05000000000000000000" pitchFamily="2" charset="2"/>
              <a:buNone/>
              <a:tabLst>
                <a:tab pos="95250" algn="l"/>
              </a:tabLst>
            </a:pPr>
            <a:endParaRPr lang="zh-CN" altLang="en-US" sz="2400" b="1" smtClean="0"/>
          </a:p>
        </p:txBody>
      </p:sp>
      <p:sp>
        <p:nvSpPr>
          <p:cNvPr id="43011" name="AutoShape 3">
            <a:hlinkClick r:id="" action="ppaction://noaction" highlightClick="1"/>
          </p:cNvPr>
          <p:cNvSpPr>
            <a:spLocks noChangeArrowheads="1"/>
          </p:cNvSpPr>
          <p:nvPr/>
        </p:nvSpPr>
        <p:spPr bwMode="auto">
          <a:xfrm>
            <a:off x="1619250" y="1052513"/>
            <a:ext cx="4106863" cy="758825"/>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6.3.1 </a:t>
            </a:r>
            <a:r>
              <a:rPr lang="zh-CN" altLang="en-US" sz="3200" b="1">
                <a:solidFill>
                  <a:srgbClr val="0A0A0E"/>
                </a:solidFill>
                <a:latin typeface="Times New Roman" panose="02020603050405020304" pitchFamily="18" charset="0"/>
              </a:rPr>
              <a:t>软件测试</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body" idx="4294967295"/>
          </p:nvPr>
        </p:nvSpPr>
        <p:spPr>
          <a:xfrm>
            <a:off x="539750" y="1628775"/>
            <a:ext cx="8208963" cy="4752975"/>
          </a:xfrm>
        </p:spPr>
        <p:txBody>
          <a:bodyPr/>
          <a:lstStyle/>
          <a:p>
            <a:pPr marL="0" indent="0" defTabSz="284480" eaLnBrk="1" hangingPunct="1">
              <a:lnSpc>
                <a:spcPct val="110000"/>
              </a:lnSpc>
              <a:spcBef>
                <a:spcPct val="0"/>
              </a:spcBef>
              <a:buFontTx/>
              <a:buNone/>
              <a:tabLst>
                <a:tab pos="95250" algn="l"/>
              </a:tabLst>
            </a:pPr>
            <a:endParaRPr lang="zh-CN" altLang="en-US" sz="2800" b="1" smtClean="0"/>
          </a:p>
          <a:p>
            <a:pPr marL="532130" lvl="1" indent="-352425" defTabSz="284480" eaLnBrk="1" hangingPunct="1">
              <a:lnSpc>
                <a:spcPct val="90000"/>
              </a:lnSpc>
              <a:buFont typeface="Wingdings" panose="05000000000000000000" pitchFamily="2" charset="2"/>
              <a:buNone/>
              <a:tabLst>
                <a:tab pos="95250" algn="l"/>
              </a:tabLst>
            </a:pPr>
            <a:r>
              <a:rPr lang="zh-CN" altLang="en-US" b="1" smtClean="0"/>
              <a:t>测试用例的用途：</a:t>
            </a:r>
            <a:endParaRPr lang="zh-CN" altLang="en-US" b="1" smtClean="0"/>
          </a:p>
          <a:p>
            <a:pPr marL="532130" lvl="1" indent="-352425" defTabSz="284480" eaLnBrk="1" hangingPunct="1">
              <a:lnSpc>
                <a:spcPct val="90000"/>
              </a:lnSpc>
              <a:tabLst>
                <a:tab pos="95250" algn="l"/>
              </a:tabLst>
            </a:pPr>
            <a:r>
              <a:rPr lang="zh-CN" altLang="en-US" b="1" smtClean="0"/>
              <a:t>在开始实施测试之前设计好测试用例，可以避免盲目测试并提高测试效率。测试用例的使用令软件测试的实施重点突出、目的明确。</a:t>
            </a:r>
            <a:endParaRPr lang="zh-CN" altLang="en-US" b="1" smtClean="0"/>
          </a:p>
          <a:p>
            <a:pPr marL="532130" lvl="1" indent="-352425" defTabSz="284480" eaLnBrk="1" hangingPunct="1">
              <a:lnSpc>
                <a:spcPct val="90000"/>
              </a:lnSpc>
              <a:tabLst>
                <a:tab pos="95250" algn="l"/>
              </a:tabLst>
            </a:pPr>
            <a:r>
              <a:rPr lang="zh-CN" altLang="en-US" b="1" smtClean="0"/>
              <a:t>在软件版本更新后只需修正少部分的测试用例便可展开测试工作，降低工作强度、缩短项目周期。</a:t>
            </a:r>
            <a:endParaRPr lang="zh-CN" altLang="en-US" b="1" smtClean="0"/>
          </a:p>
          <a:p>
            <a:pPr marL="532130" lvl="1" indent="-352425" defTabSz="284480" eaLnBrk="1" hangingPunct="1">
              <a:lnSpc>
                <a:spcPct val="90000"/>
              </a:lnSpc>
              <a:tabLst>
                <a:tab pos="95250" algn="l"/>
              </a:tabLst>
            </a:pPr>
            <a:r>
              <a:rPr lang="zh-CN" altLang="en-US" b="1" smtClean="0"/>
              <a:t>功能模块的通用化和复用化使软件易于开发，而相对于功能模块的测试用例的通用化和复用化则会使软件测试易于开展，并随着测试用例的不断精化其效率也不断攀升。</a:t>
            </a:r>
            <a:endParaRPr lang="zh-CN" altLang="en-US" b="1" smtClean="0"/>
          </a:p>
        </p:txBody>
      </p:sp>
      <p:sp>
        <p:nvSpPr>
          <p:cNvPr id="157699" name="AutoShape 3">
            <a:hlinkClick r:id="" action="ppaction://noaction" highlightClick="1"/>
          </p:cNvPr>
          <p:cNvSpPr>
            <a:spLocks noChangeArrowheads="1"/>
          </p:cNvSpPr>
          <p:nvPr/>
        </p:nvSpPr>
        <p:spPr bwMode="auto">
          <a:xfrm>
            <a:off x="1619250" y="1052513"/>
            <a:ext cx="4106863" cy="758825"/>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6.3.1 </a:t>
            </a:r>
            <a:r>
              <a:rPr lang="zh-CN" altLang="en-US" sz="3200" b="1">
                <a:solidFill>
                  <a:srgbClr val="0A0A0E"/>
                </a:solidFill>
                <a:latin typeface="Times New Roman" panose="02020603050405020304" pitchFamily="18" charset="0"/>
              </a:rPr>
              <a:t>软件测试</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xfrm>
            <a:off x="250825" y="1773238"/>
            <a:ext cx="8642350" cy="5400675"/>
          </a:xfrm>
        </p:spPr>
        <p:txBody>
          <a:bodyPr/>
          <a:lstStyle/>
          <a:p>
            <a:pPr marL="532130" lvl="1" indent="-352425" defTabSz="284480" eaLnBrk="1" hangingPunct="1">
              <a:buFont typeface="Wingdings" panose="05000000000000000000" pitchFamily="2" charset="2"/>
              <a:buNone/>
              <a:tabLst>
                <a:tab pos="95250" algn="l"/>
              </a:tabLst>
            </a:pPr>
            <a:r>
              <a:rPr lang="en-US" altLang="zh-CN" smtClean="0"/>
              <a:t>      </a:t>
            </a:r>
            <a:r>
              <a:rPr lang="zh-CN" altLang="en-US" b="1" smtClean="0"/>
              <a:t>白盒测试方案时，测试者必须检查程序的内部结构，从检查程序的逻辑着手，对所有逻辑路径进行测试，得出测试数据。</a:t>
            </a:r>
            <a:endParaRPr lang="zh-CN" altLang="en-US" b="1" smtClean="0"/>
          </a:p>
          <a:p>
            <a:pPr marL="532130" lvl="1" indent="-352425" defTabSz="284480" eaLnBrk="1" hangingPunct="1">
              <a:buFont typeface="Wingdings" panose="05000000000000000000" pitchFamily="2" charset="2"/>
              <a:buNone/>
              <a:tabLst>
                <a:tab pos="95250" algn="l"/>
              </a:tabLst>
            </a:pPr>
            <a:r>
              <a:rPr lang="zh-CN" altLang="en-US" b="1" smtClean="0"/>
              <a:t>       白盒测试的主要方法</a:t>
            </a:r>
            <a:r>
              <a:rPr lang="en-US" altLang="zh-CN" b="1" smtClean="0"/>
              <a:t>: </a:t>
            </a:r>
            <a:r>
              <a:rPr lang="zh-CN" altLang="en-US" b="1" smtClean="0"/>
              <a:t>逻辑驱动、路径测试等，主要用于软件验证，检验语法错误、编译错误、性能问题、逻辑问题、判定条件问题、编程规范等。</a:t>
            </a:r>
            <a:r>
              <a:rPr lang="zh-CN" altLang="en-US" smtClean="0"/>
              <a:t> </a:t>
            </a:r>
            <a:endParaRPr lang="zh-CN" altLang="en-US" smtClean="0"/>
          </a:p>
        </p:txBody>
      </p:sp>
      <p:sp>
        <p:nvSpPr>
          <p:cNvPr id="44035" name="AutoShape 3">
            <a:hlinkClick r:id="" action="ppaction://noaction" highlightClick="1"/>
          </p:cNvPr>
          <p:cNvSpPr>
            <a:spLocks noChangeArrowheads="1"/>
          </p:cNvSpPr>
          <p:nvPr/>
        </p:nvSpPr>
        <p:spPr bwMode="auto">
          <a:xfrm>
            <a:off x="1908175" y="908050"/>
            <a:ext cx="4106863" cy="758825"/>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zh-CN" altLang="en-US" sz="3200" b="1">
                <a:solidFill>
                  <a:srgbClr val="0A0A0E"/>
                </a:solidFill>
                <a:latin typeface="Times New Roman" panose="02020603050405020304" pitchFamily="18" charset="0"/>
              </a:rPr>
              <a:t>白盒测试</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smtClean="0">
                <a:solidFill>
                  <a:schemeClr val="bg1"/>
                </a:solidFill>
              </a:rPr>
              <a:t>白盒测试</a:t>
            </a:r>
            <a:endParaRPr lang="zh-CN" altLang="en-US" smtClean="0">
              <a:solidFill>
                <a:schemeClr val="bg1"/>
              </a:solidFill>
            </a:endParaRPr>
          </a:p>
        </p:txBody>
      </p:sp>
      <p:sp>
        <p:nvSpPr>
          <p:cNvPr id="45059" name="Rectangle 3"/>
          <p:cNvSpPr>
            <a:spLocks noGrp="1" noChangeArrowheads="1"/>
          </p:cNvSpPr>
          <p:nvPr>
            <p:ph type="body" idx="1"/>
          </p:nvPr>
        </p:nvSpPr>
        <p:spPr/>
        <p:txBody>
          <a:bodyPr/>
          <a:lstStyle/>
          <a:p>
            <a:pPr eaLnBrk="1" hangingPunct="1">
              <a:buClr>
                <a:schemeClr val="bg1"/>
              </a:buClr>
              <a:buFont typeface="Wingdings" panose="05000000000000000000" pitchFamily="2" charset="2"/>
              <a:buChar char="Ø"/>
            </a:pPr>
            <a:r>
              <a:rPr lang="en-US" altLang="zh-CN" b="1" smtClean="0">
                <a:solidFill>
                  <a:schemeClr val="bg1"/>
                </a:solidFill>
              </a:rPr>
              <a:t> </a:t>
            </a:r>
            <a:r>
              <a:rPr lang="zh-CN" altLang="en-US" sz="2400" b="1" smtClean="0">
                <a:solidFill>
                  <a:schemeClr val="bg1"/>
                </a:solidFill>
                <a:ea typeface="隶书" pitchFamily="49" charset="-122"/>
              </a:rPr>
              <a:t>优点</a:t>
            </a:r>
            <a:endParaRPr lang="zh-CN" altLang="en-US" sz="2400" b="1" smtClean="0">
              <a:solidFill>
                <a:schemeClr val="bg1"/>
              </a:solidFill>
              <a:ea typeface="隶书" pitchFamily="49" charset="-122"/>
            </a:endParaRPr>
          </a:p>
          <a:p>
            <a:pPr eaLnBrk="1" hangingPunct="1">
              <a:buClr>
                <a:schemeClr val="bg1"/>
              </a:buClr>
              <a:buFont typeface="Wingdings" panose="05000000000000000000" pitchFamily="2" charset="2"/>
              <a:buNone/>
            </a:pPr>
            <a:endParaRPr lang="en-US" altLang="zh-CN" b="1" smtClean="0">
              <a:solidFill>
                <a:schemeClr val="bg1"/>
              </a:solidFill>
            </a:endParaRPr>
          </a:p>
        </p:txBody>
      </p:sp>
      <p:sp>
        <p:nvSpPr>
          <p:cNvPr id="45060" name="AutoShape 4"/>
          <p:cNvSpPr>
            <a:spLocks noChangeArrowheads="1"/>
          </p:cNvSpPr>
          <p:nvPr/>
        </p:nvSpPr>
        <p:spPr bwMode="auto">
          <a:xfrm rot="-5400000">
            <a:off x="1113631" y="3002757"/>
            <a:ext cx="2719387" cy="3079750"/>
          </a:xfrm>
          <a:prstGeom prst="homePlate">
            <a:avLst>
              <a:gd name="adj" fmla="val 11384"/>
            </a:avLst>
          </a:prstGeom>
          <a:noFill/>
          <a:ln w="6350">
            <a:solidFill>
              <a:schemeClr val="tx1"/>
            </a:solidFill>
            <a:miter lim="800000"/>
          </a:ln>
        </p:spPr>
        <p:txBody>
          <a:bodyPr wrap="none" lIns="0" tIns="0" rIns="0" bIns="0" anchor="ctr"/>
          <a:lstStyle/>
          <a:p>
            <a:endParaRPr lang="zh-CN" altLang="en-US"/>
          </a:p>
        </p:txBody>
      </p:sp>
      <p:sp>
        <p:nvSpPr>
          <p:cNvPr id="1732613" name="Rectangle 5"/>
          <p:cNvSpPr>
            <a:spLocks noChangeArrowheads="1"/>
          </p:cNvSpPr>
          <p:nvPr/>
        </p:nvSpPr>
        <p:spPr bwMode="auto">
          <a:xfrm>
            <a:off x="1042988" y="3582988"/>
            <a:ext cx="2852737" cy="2216150"/>
          </a:xfrm>
          <a:prstGeom prst="rect">
            <a:avLst/>
          </a:prstGeom>
          <a:solidFill>
            <a:schemeClr val="accent2"/>
          </a:solidFill>
          <a:ln w="6350">
            <a:noFill/>
            <a:miter lim="800000"/>
          </a:ln>
          <a:effectLst>
            <a:outerShdw dist="35921" dir="2700000" algn="ctr" rotWithShape="0">
              <a:schemeClr val="hlink"/>
            </a:outerShdw>
          </a:effectLst>
        </p:spPr>
        <p:txBody>
          <a:bodyPr wrap="none" lIns="0" tIns="0" rIns="0" bIns="0" anchor="ctr"/>
          <a:lstStyle/>
          <a:p>
            <a:pPr algn="ctr">
              <a:defRPr/>
            </a:pPr>
            <a:r>
              <a:rPr lang="zh-CN" altLang="en-US" b="1">
                <a:latin typeface="隶书" pitchFamily="49" charset="-122"/>
                <a:ea typeface="隶书" pitchFamily="49" charset="-122"/>
              </a:rPr>
              <a:t>知道所设计的测试</a:t>
            </a:r>
            <a:endParaRPr lang="zh-CN" altLang="en-US" b="1">
              <a:latin typeface="隶书" pitchFamily="49" charset="-122"/>
              <a:ea typeface="隶书" pitchFamily="49" charset="-122"/>
            </a:endParaRPr>
          </a:p>
          <a:p>
            <a:pPr algn="ctr">
              <a:defRPr/>
            </a:pPr>
            <a:r>
              <a:rPr lang="zh-CN" altLang="en-US" b="1">
                <a:latin typeface="隶书" pitchFamily="49" charset="-122"/>
                <a:ea typeface="隶书" pitchFamily="49" charset="-122"/>
              </a:rPr>
              <a:t>用例在代码级上哪</a:t>
            </a:r>
            <a:endParaRPr lang="zh-CN" altLang="en-US" b="1">
              <a:latin typeface="隶书" pitchFamily="49" charset="-122"/>
              <a:ea typeface="隶书" pitchFamily="49" charset="-122"/>
            </a:endParaRPr>
          </a:p>
          <a:p>
            <a:pPr algn="ctr">
              <a:defRPr/>
            </a:pPr>
            <a:r>
              <a:rPr lang="zh-CN" altLang="en-US" b="1">
                <a:latin typeface="隶书" pitchFamily="49" charset="-122"/>
                <a:ea typeface="隶书" pitchFamily="49" charset="-122"/>
              </a:rPr>
              <a:t>些地方被忽略掉 </a:t>
            </a:r>
            <a:endParaRPr lang="zh-CN" altLang="en-US" b="1">
              <a:latin typeface="隶书" pitchFamily="49" charset="-122"/>
              <a:ea typeface="隶书" pitchFamily="49" charset="-122"/>
            </a:endParaRPr>
          </a:p>
        </p:txBody>
      </p:sp>
      <p:sp>
        <p:nvSpPr>
          <p:cNvPr id="45062" name="Oval 6"/>
          <p:cNvSpPr>
            <a:spLocks noChangeArrowheads="1"/>
          </p:cNvSpPr>
          <p:nvPr/>
        </p:nvSpPr>
        <p:spPr bwMode="auto">
          <a:xfrm>
            <a:off x="2405063" y="3114675"/>
            <a:ext cx="136525" cy="136525"/>
          </a:xfrm>
          <a:prstGeom prst="ellipse">
            <a:avLst/>
          </a:prstGeom>
          <a:solidFill>
            <a:schemeClr val="tx1"/>
          </a:solidFill>
          <a:ln w="6350">
            <a:noFill/>
            <a:round/>
          </a:ln>
        </p:spPr>
        <p:txBody>
          <a:bodyPr wrap="none" lIns="0" tIns="0" rIns="0" bIns="0" anchor="ctr"/>
          <a:lstStyle/>
          <a:p>
            <a:endParaRPr lang="zh-CN" altLang="en-US"/>
          </a:p>
        </p:txBody>
      </p:sp>
      <p:sp>
        <p:nvSpPr>
          <p:cNvPr id="45063" name="Line 7"/>
          <p:cNvSpPr>
            <a:spLocks noChangeShapeType="1"/>
          </p:cNvSpPr>
          <p:nvPr/>
        </p:nvSpPr>
        <p:spPr bwMode="auto">
          <a:xfrm flipV="1">
            <a:off x="2471738" y="2470150"/>
            <a:ext cx="0" cy="708025"/>
          </a:xfrm>
          <a:prstGeom prst="line">
            <a:avLst/>
          </a:prstGeom>
          <a:noFill/>
          <a:ln w="19050">
            <a:solidFill>
              <a:schemeClr val="tx1"/>
            </a:solidFill>
            <a:round/>
          </a:ln>
        </p:spPr>
        <p:txBody>
          <a:bodyPr wrap="none" lIns="0" tIns="0" rIns="0" bIns="0" anchor="ctr"/>
          <a:lstStyle/>
          <a:p>
            <a:endParaRPr lang="zh-CN" altLang="en-US"/>
          </a:p>
        </p:txBody>
      </p:sp>
      <p:grpSp>
        <p:nvGrpSpPr>
          <p:cNvPr id="45064" name="Group 8"/>
          <p:cNvGrpSpPr/>
          <p:nvPr/>
        </p:nvGrpSpPr>
        <p:grpSpPr bwMode="auto">
          <a:xfrm>
            <a:off x="2484438" y="2349500"/>
            <a:ext cx="244475" cy="244475"/>
            <a:chOff x="1613" y="1453"/>
            <a:chExt cx="180" cy="180"/>
          </a:xfrm>
        </p:grpSpPr>
        <p:sp>
          <p:nvSpPr>
            <p:cNvPr id="45076" name="Oval 9"/>
            <p:cNvSpPr>
              <a:spLocks noChangeArrowheads="1"/>
            </p:cNvSpPr>
            <p:nvPr/>
          </p:nvSpPr>
          <p:spPr bwMode="auto">
            <a:xfrm>
              <a:off x="1613" y="1453"/>
              <a:ext cx="180" cy="180"/>
            </a:xfrm>
            <a:prstGeom prst="ellipse">
              <a:avLst/>
            </a:prstGeom>
            <a:solidFill>
              <a:schemeClr val="hlink"/>
            </a:solidFill>
            <a:ln w="6350">
              <a:noFill/>
              <a:round/>
            </a:ln>
          </p:spPr>
          <p:txBody>
            <a:bodyPr wrap="none" lIns="0" tIns="0" rIns="0" bIns="0" anchor="ctr"/>
            <a:lstStyle/>
            <a:p>
              <a:endParaRPr lang="zh-CN" altLang="en-US"/>
            </a:p>
          </p:txBody>
        </p:sp>
        <p:sp>
          <p:nvSpPr>
            <p:cNvPr id="45077" name="Oval 10"/>
            <p:cNvSpPr>
              <a:spLocks noChangeArrowheads="1"/>
            </p:cNvSpPr>
            <p:nvPr/>
          </p:nvSpPr>
          <p:spPr bwMode="auto">
            <a:xfrm>
              <a:off x="1660" y="1500"/>
              <a:ext cx="86" cy="86"/>
            </a:xfrm>
            <a:prstGeom prst="ellipse">
              <a:avLst/>
            </a:prstGeom>
            <a:solidFill>
              <a:schemeClr val="bg1"/>
            </a:solidFill>
            <a:ln w="6350">
              <a:noFill/>
              <a:round/>
            </a:ln>
          </p:spPr>
          <p:txBody>
            <a:bodyPr wrap="none" lIns="0" tIns="0" rIns="0" bIns="0" anchor="ctr"/>
            <a:lstStyle/>
            <a:p>
              <a:endParaRPr lang="zh-CN" altLang="en-US"/>
            </a:p>
          </p:txBody>
        </p:sp>
      </p:grpSp>
      <p:sp>
        <p:nvSpPr>
          <p:cNvPr id="45065" name="Arc 11"/>
          <p:cNvSpPr/>
          <p:nvPr/>
        </p:nvSpPr>
        <p:spPr bwMode="auto">
          <a:xfrm rot="5400000" flipH="1" flipV="1">
            <a:off x="2467769" y="2340769"/>
            <a:ext cx="141288" cy="133350"/>
          </a:xfrm>
          <a:custGeom>
            <a:avLst/>
            <a:gdLst>
              <a:gd name="T0" fmla="*/ 0 w 22821"/>
              <a:gd name="T1" fmla="*/ 216 h 21600"/>
              <a:gd name="T2" fmla="*/ 141288 w 22821"/>
              <a:gd name="T3" fmla="*/ 133350 h 21600"/>
              <a:gd name="T4" fmla="*/ 7559 w 22821"/>
              <a:gd name="T5" fmla="*/ 133350 h 21600"/>
              <a:gd name="T6" fmla="*/ 0 60000 65536"/>
              <a:gd name="T7" fmla="*/ 0 60000 65536"/>
              <a:gd name="T8" fmla="*/ 0 60000 65536"/>
              <a:gd name="T9" fmla="*/ 0 w 22821"/>
              <a:gd name="T10" fmla="*/ 0 h 21600"/>
              <a:gd name="T11" fmla="*/ 22821 w 22821"/>
              <a:gd name="T12" fmla="*/ 21600 h 21600"/>
            </a:gdLst>
            <a:ahLst/>
            <a:cxnLst>
              <a:cxn ang="T6">
                <a:pos x="T0" y="T1"/>
              </a:cxn>
              <a:cxn ang="T7">
                <a:pos x="T2" y="T3"/>
              </a:cxn>
              <a:cxn ang="T8">
                <a:pos x="T4" y="T5"/>
              </a:cxn>
            </a:cxnLst>
            <a:rect l="T9" t="T10" r="T11" b="T12"/>
            <a:pathLst>
              <a:path w="22821" h="21600" fill="none" extrusionOk="0">
                <a:moveTo>
                  <a:pt x="-1" y="34"/>
                </a:moveTo>
                <a:cubicBezTo>
                  <a:pt x="406" y="11"/>
                  <a:pt x="813" y="-1"/>
                  <a:pt x="1221" y="0"/>
                </a:cubicBezTo>
                <a:cubicBezTo>
                  <a:pt x="13150" y="0"/>
                  <a:pt x="22821" y="9670"/>
                  <a:pt x="22821" y="21600"/>
                </a:cubicBezTo>
              </a:path>
              <a:path w="22821" h="21600" stroke="0" extrusionOk="0">
                <a:moveTo>
                  <a:pt x="-1" y="34"/>
                </a:moveTo>
                <a:cubicBezTo>
                  <a:pt x="406" y="11"/>
                  <a:pt x="813" y="-1"/>
                  <a:pt x="1221" y="0"/>
                </a:cubicBezTo>
                <a:cubicBezTo>
                  <a:pt x="13150" y="0"/>
                  <a:pt x="22821" y="9670"/>
                  <a:pt x="22821" y="21600"/>
                </a:cubicBezTo>
                <a:lnTo>
                  <a:pt x="1221" y="21600"/>
                </a:lnTo>
                <a:close/>
              </a:path>
            </a:pathLst>
          </a:custGeom>
          <a:noFill/>
          <a:ln w="19050">
            <a:solidFill>
              <a:schemeClr val="tx1"/>
            </a:solidFill>
            <a:round/>
          </a:ln>
        </p:spPr>
        <p:txBody>
          <a:bodyPr wrap="none" lIns="0" tIns="0" rIns="0" bIns="0" anchor="ctr"/>
          <a:lstStyle/>
          <a:p>
            <a:endParaRPr lang="zh-CN" altLang="en-US"/>
          </a:p>
        </p:txBody>
      </p:sp>
      <p:sp>
        <p:nvSpPr>
          <p:cNvPr id="45066" name="AutoShape 12"/>
          <p:cNvSpPr>
            <a:spLocks noChangeArrowheads="1"/>
          </p:cNvSpPr>
          <p:nvPr/>
        </p:nvSpPr>
        <p:spPr bwMode="auto">
          <a:xfrm rot="-5400000">
            <a:off x="5007769" y="3372644"/>
            <a:ext cx="2719388" cy="3079750"/>
          </a:xfrm>
          <a:prstGeom prst="homePlate">
            <a:avLst>
              <a:gd name="adj" fmla="val 11384"/>
            </a:avLst>
          </a:prstGeom>
          <a:noFill/>
          <a:ln w="6350">
            <a:solidFill>
              <a:schemeClr val="tx1"/>
            </a:solidFill>
            <a:miter lim="800000"/>
          </a:ln>
        </p:spPr>
        <p:txBody>
          <a:bodyPr wrap="none" lIns="0" tIns="0" rIns="0" bIns="0" anchor="ctr"/>
          <a:lstStyle/>
          <a:p>
            <a:endParaRPr lang="zh-CN" altLang="en-US"/>
          </a:p>
        </p:txBody>
      </p:sp>
      <p:sp>
        <p:nvSpPr>
          <p:cNvPr id="1732621" name="Rectangle 13"/>
          <p:cNvSpPr>
            <a:spLocks noChangeArrowheads="1"/>
          </p:cNvSpPr>
          <p:nvPr/>
        </p:nvSpPr>
        <p:spPr bwMode="auto">
          <a:xfrm>
            <a:off x="4937125" y="3952875"/>
            <a:ext cx="2851150" cy="2216150"/>
          </a:xfrm>
          <a:prstGeom prst="rect">
            <a:avLst/>
          </a:prstGeom>
          <a:solidFill>
            <a:schemeClr val="accent2"/>
          </a:solidFill>
          <a:ln w="6350">
            <a:noFill/>
            <a:miter lim="800000"/>
          </a:ln>
          <a:effectLst>
            <a:outerShdw dist="35921" dir="2700000" algn="ctr" rotWithShape="0">
              <a:schemeClr val="hlink"/>
            </a:outerShdw>
          </a:effectLst>
        </p:spPr>
        <p:txBody>
          <a:bodyPr wrap="none" lIns="0" tIns="0" rIns="0" bIns="0" anchor="ctr"/>
          <a:lstStyle/>
          <a:p>
            <a:pPr>
              <a:defRPr/>
            </a:pPr>
            <a:r>
              <a:rPr lang="zh-CN" altLang="en-US" b="1">
                <a:latin typeface="隶书" pitchFamily="49" charset="-122"/>
                <a:ea typeface="隶书" pitchFamily="49" charset="-122"/>
              </a:rPr>
              <a:t>帮助软件测试人员</a:t>
            </a:r>
            <a:endParaRPr lang="zh-CN" altLang="en-US" b="1">
              <a:latin typeface="隶书" pitchFamily="49" charset="-122"/>
              <a:ea typeface="隶书" pitchFamily="49" charset="-122"/>
            </a:endParaRPr>
          </a:p>
          <a:p>
            <a:pPr>
              <a:defRPr/>
            </a:pPr>
            <a:r>
              <a:rPr lang="zh-CN" altLang="en-US" b="1">
                <a:latin typeface="隶书" pitchFamily="49" charset="-122"/>
                <a:ea typeface="隶书" pitchFamily="49" charset="-122"/>
              </a:rPr>
              <a:t>增大代码的覆盖</a:t>
            </a:r>
            <a:endParaRPr lang="zh-CN" altLang="en-US" b="1">
              <a:latin typeface="隶书" pitchFamily="49" charset="-122"/>
              <a:ea typeface="隶书" pitchFamily="49" charset="-122"/>
            </a:endParaRPr>
          </a:p>
          <a:p>
            <a:pPr>
              <a:defRPr/>
            </a:pPr>
            <a:r>
              <a:rPr lang="zh-CN" altLang="en-US" b="1">
                <a:latin typeface="隶书" pitchFamily="49" charset="-122"/>
                <a:ea typeface="隶书" pitchFamily="49" charset="-122"/>
              </a:rPr>
              <a:t>率，提高代码的质</a:t>
            </a:r>
            <a:endParaRPr lang="zh-CN" altLang="en-US" b="1">
              <a:latin typeface="隶书" pitchFamily="49" charset="-122"/>
              <a:ea typeface="隶书" pitchFamily="49" charset="-122"/>
            </a:endParaRPr>
          </a:p>
          <a:p>
            <a:pPr>
              <a:defRPr/>
            </a:pPr>
            <a:r>
              <a:rPr lang="zh-CN" altLang="en-US" b="1">
                <a:latin typeface="隶书" pitchFamily="49" charset="-122"/>
                <a:ea typeface="隶书" pitchFamily="49" charset="-122"/>
              </a:rPr>
              <a:t>量，发现代码中隐</a:t>
            </a:r>
            <a:endParaRPr lang="zh-CN" altLang="en-US" b="1">
              <a:latin typeface="隶书" pitchFamily="49" charset="-122"/>
              <a:ea typeface="隶书" pitchFamily="49" charset="-122"/>
            </a:endParaRPr>
          </a:p>
          <a:p>
            <a:pPr>
              <a:defRPr/>
            </a:pPr>
            <a:r>
              <a:rPr lang="zh-CN" altLang="en-US" b="1">
                <a:latin typeface="隶书" pitchFamily="49" charset="-122"/>
                <a:ea typeface="隶书" pitchFamily="49" charset="-122"/>
              </a:rPr>
              <a:t>藏的问题</a:t>
            </a:r>
            <a:r>
              <a:rPr lang="zh-CN" altLang="en-US" b="1">
                <a:solidFill>
                  <a:schemeClr val="bg1"/>
                </a:solidFill>
                <a:latin typeface="隶书" pitchFamily="49" charset="-122"/>
                <a:ea typeface="隶书" pitchFamily="49" charset="-122"/>
              </a:rPr>
              <a:t> </a:t>
            </a:r>
            <a:endParaRPr lang="zh-CN" altLang="en-US" b="1">
              <a:solidFill>
                <a:schemeClr val="bg1"/>
              </a:solidFill>
              <a:latin typeface="隶书" pitchFamily="49" charset="-122"/>
              <a:ea typeface="隶书" pitchFamily="49" charset="-122"/>
            </a:endParaRPr>
          </a:p>
        </p:txBody>
      </p:sp>
      <p:sp>
        <p:nvSpPr>
          <p:cNvPr id="45068" name="Oval 14"/>
          <p:cNvSpPr>
            <a:spLocks noChangeArrowheads="1"/>
          </p:cNvSpPr>
          <p:nvPr/>
        </p:nvSpPr>
        <p:spPr bwMode="auto">
          <a:xfrm>
            <a:off x="6299200" y="3484563"/>
            <a:ext cx="136525" cy="136525"/>
          </a:xfrm>
          <a:prstGeom prst="ellipse">
            <a:avLst/>
          </a:prstGeom>
          <a:solidFill>
            <a:schemeClr val="tx1"/>
          </a:solidFill>
          <a:ln w="6350">
            <a:noFill/>
            <a:round/>
          </a:ln>
        </p:spPr>
        <p:txBody>
          <a:bodyPr wrap="none" lIns="0" tIns="0" rIns="0" bIns="0" anchor="ctr"/>
          <a:lstStyle/>
          <a:p>
            <a:endParaRPr lang="zh-CN" altLang="en-US"/>
          </a:p>
        </p:txBody>
      </p:sp>
      <p:sp>
        <p:nvSpPr>
          <p:cNvPr id="45069" name="Line 15"/>
          <p:cNvSpPr>
            <a:spLocks noChangeShapeType="1"/>
          </p:cNvSpPr>
          <p:nvPr/>
        </p:nvSpPr>
        <p:spPr bwMode="auto">
          <a:xfrm flipH="1" flipV="1">
            <a:off x="6364288" y="2473325"/>
            <a:ext cx="0" cy="1066800"/>
          </a:xfrm>
          <a:prstGeom prst="line">
            <a:avLst/>
          </a:prstGeom>
          <a:noFill/>
          <a:ln w="19050">
            <a:solidFill>
              <a:schemeClr val="tx1"/>
            </a:solidFill>
            <a:round/>
          </a:ln>
        </p:spPr>
        <p:txBody>
          <a:bodyPr wrap="none" lIns="0" tIns="0" rIns="0" bIns="0" anchor="ctr"/>
          <a:lstStyle/>
          <a:p>
            <a:endParaRPr lang="zh-CN" altLang="en-US"/>
          </a:p>
        </p:txBody>
      </p:sp>
      <p:grpSp>
        <p:nvGrpSpPr>
          <p:cNvPr id="45070" name="Group 16"/>
          <p:cNvGrpSpPr/>
          <p:nvPr/>
        </p:nvGrpSpPr>
        <p:grpSpPr bwMode="auto">
          <a:xfrm flipH="1">
            <a:off x="6107113" y="2349500"/>
            <a:ext cx="244475" cy="244475"/>
            <a:chOff x="1613" y="1453"/>
            <a:chExt cx="180" cy="180"/>
          </a:xfrm>
        </p:grpSpPr>
        <p:sp>
          <p:nvSpPr>
            <p:cNvPr id="45074" name="Oval 17"/>
            <p:cNvSpPr>
              <a:spLocks noChangeArrowheads="1"/>
            </p:cNvSpPr>
            <p:nvPr/>
          </p:nvSpPr>
          <p:spPr bwMode="auto">
            <a:xfrm>
              <a:off x="1613" y="1453"/>
              <a:ext cx="180" cy="180"/>
            </a:xfrm>
            <a:prstGeom prst="ellipse">
              <a:avLst/>
            </a:prstGeom>
            <a:solidFill>
              <a:schemeClr val="hlink"/>
            </a:solidFill>
            <a:ln w="6350">
              <a:noFill/>
              <a:round/>
            </a:ln>
          </p:spPr>
          <p:txBody>
            <a:bodyPr wrap="none" lIns="0" tIns="0" rIns="0" bIns="0" anchor="ctr"/>
            <a:lstStyle/>
            <a:p>
              <a:endParaRPr lang="zh-CN" altLang="en-US"/>
            </a:p>
          </p:txBody>
        </p:sp>
        <p:sp>
          <p:nvSpPr>
            <p:cNvPr id="45075" name="Oval 18"/>
            <p:cNvSpPr>
              <a:spLocks noChangeArrowheads="1"/>
            </p:cNvSpPr>
            <p:nvPr/>
          </p:nvSpPr>
          <p:spPr bwMode="auto">
            <a:xfrm>
              <a:off x="1660" y="1500"/>
              <a:ext cx="86" cy="86"/>
            </a:xfrm>
            <a:prstGeom prst="ellipse">
              <a:avLst/>
            </a:prstGeom>
            <a:solidFill>
              <a:schemeClr val="bg1"/>
            </a:solidFill>
            <a:ln w="6350">
              <a:noFill/>
              <a:round/>
            </a:ln>
          </p:spPr>
          <p:txBody>
            <a:bodyPr wrap="none" lIns="0" tIns="0" rIns="0" bIns="0" anchor="ctr"/>
            <a:lstStyle/>
            <a:p>
              <a:endParaRPr lang="zh-CN" altLang="en-US"/>
            </a:p>
          </p:txBody>
        </p:sp>
      </p:grpSp>
      <p:sp>
        <p:nvSpPr>
          <p:cNvPr id="45071" name="Arc 19"/>
          <p:cNvSpPr/>
          <p:nvPr/>
        </p:nvSpPr>
        <p:spPr bwMode="auto">
          <a:xfrm rot="16200000" flipV="1">
            <a:off x="6226969" y="2340769"/>
            <a:ext cx="141288" cy="133350"/>
          </a:xfrm>
          <a:custGeom>
            <a:avLst/>
            <a:gdLst>
              <a:gd name="T0" fmla="*/ 0 w 22821"/>
              <a:gd name="T1" fmla="*/ 216 h 21600"/>
              <a:gd name="T2" fmla="*/ 141288 w 22821"/>
              <a:gd name="T3" fmla="*/ 133350 h 21600"/>
              <a:gd name="T4" fmla="*/ 7559 w 22821"/>
              <a:gd name="T5" fmla="*/ 133350 h 21600"/>
              <a:gd name="T6" fmla="*/ 0 60000 65536"/>
              <a:gd name="T7" fmla="*/ 0 60000 65536"/>
              <a:gd name="T8" fmla="*/ 0 60000 65536"/>
              <a:gd name="T9" fmla="*/ 0 w 22821"/>
              <a:gd name="T10" fmla="*/ 0 h 21600"/>
              <a:gd name="T11" fmla="*/ 22821 w 22821"/>
              <a:gd name="T12" fmla="*/ 21600 h 21600"/>
            </a:gdLst>
            <a:ahLst/>
            <a:cxnLst>
              <a:cxn ang="T6">
                <a:pos x="T0" y="T1"/>
              </a:cxn>
              <a:cxn ang="T7">
                <a:pos x="T2" y="T3"/>
              </a:cxn>
              <a:cxn ang="T8">
                <a:pos x="T4" y="T5"/>
              </a:cxn>
            </a:cxnLst>
            <a:rect l="T9" t="T10" r="T11" b="T12"/>
            <a:pathLst>
              <a:path w="22821" h="21600" fill="none" extrusionOk="0">
                <a:moveTo>
                  <a:pt x="-1" y="34"/>
                </a:moveTo>
                <a:cubicBezTo>
                  <a:pt x="406" y="11"/>
                  <a:pt x="813" y="-1"/>
                  <a:pt x="1221" y="0"/>
                </a:cubicBezTo>
                <a:cubicBezTo>
                  <a:pt x="13150" y="0"/>
                  <a:pt x="22821" y="9670"/>
                  <a:pt x="22821" y="21600"/>
                </a:cubicBezTo>
              </a:path>
              <a:path w="22821" h="21600" stroke="0" extrusionOk="0">
                <a:moveTo>
                  <a:pt x="-1" y="34"/>
                </a:moveTo>
                <a:cubicBezTo>
                  <a:pt x="406" y="11"/>
                  <a:pt x="813" y="-1"/>
                  <a:pt x="1221" y="0"/>
                </a:cubicBezTo>
                <a:cubicBezTo>
                  <a:pt x="13150" y="0"/>
                  <a:pt x="22821" y="9670"/>
                  <a:pt x="22821" y="21600"/>
                </a:cubicBezTo>
                <a:lnTo>
                  <a:pt x="1221" y="21600"/>
                </a:lnTo>
                <a:close/>
              </a:path>
            </a:pathLst>
          </a:custGeom>
          <a:noFill/>
          <a:ln w="19050">
            <a:solidFill>
              <a:schemeClr val="tx1"/>
            </a:solidFill>
            <a:round/>
          </a:ln>
        </p:spPr>
        <p:txBody>
          <a:bodyPr wrap="none" lIns="0" tIns="0" rIns="0" bIns="0" anchor="ctr"/>
          <a:lstStyle/>
          <a:p>
            <a:endParaRPr lang="zh-CN" altLang="en-US"/>
          </a:p>
        </p:txBody>
      </p:sp>
      <p:sp>
        <p:nvSpPr>
          <p:cNvPr id="45072" name="Line 20"/>
          <p:cNvSpPr>
            <a:spLocks noChangeShapeType="1"/>
          </p:cNvSpPr>
          <p:nvPr/>
        </p:nvSpPr>
        <p:spPr bwMode="auto">
          <a:xfrm flipH="1">
            <a:off x="2595563" y="2336800"/>
            <a:ext cx="3635375" cy="0"/>
          </a:xfrm>
          <a:prstGeom prst="line">
            <a:avLst/>
          </a:prstGeom>
          <a:noFill/>
          <a:ln w="19050">
            <a:solidFill>
              <a:schemeClr val="tx1"/>
            </a:solidFill>
            <a:round/>
          </a:ln>
        </p:spPr>
        <p:txBody>
          <a:bodyPr wrap="none" lIns="0" tIns="0" rIns="0" bIns="0" anchor="ctr"/>
          <a:lstStyle/>
          <a:p>
            <a:endParaRPr lang="zh-CN" altLang="en-US"/>
          </a:p>
        </p:txBody>
      </p:sp>
      <p:sp>
        <p:nvSpPr>
          <p:cNvPr id="45073" name="AutoShape 21">
            <a:hlinkClick r:id="" action="ppaction://noaction" highlightClick="1"/>
          </p:cNvPr>
          <p:cNvSpPr>
            <a:spLocks noChangeArrowheads="1"/>
          </p:cNvSpPr>
          <p:nvPr/>
        </p:nvSpPr>
        <p:spPr bwMode="auto">
          <a:xfrm>
            <a:off x="1908175" y="908050"/>
            <a:ext cx="4106863" cy="758825"/>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zh-CN" altLang="en-US" sz="3200" b="1">
                <a:solidFill>
                  <a:srgbClr val="0A0A0E"/>
                </a:solidFill>
                <a:latin typeface="Times New Roman" panose="02020603050405020304" pitchFamily="18" charset="0"/>
              </a:rPr>
              <a:t>白盒测试</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32613">
                                            <p:txEl>
                                              <p:pRg st="0" end="0"/>
                                            </p:txEl>
                                          </p:spTgt>
                                        </p:tgtEl>
                                        <p:attrNameLst>
                                          <p:attrName>style.visibility</p:attrName>
                                        </p:attrNameLst>
                                      </p:cBhvr>
                                      <p:to>
                                        <p:strVal val="visible"/>
                                      </p:to>
                                    </p:set>
                                    <p:animEffect transition="in" filter="blinds(horizontal)">
                                      <p:cBhvr>
                                        <p:cTn id="7" dur="500"/>
                                        <p:tgtEl>
                                          <p:spTgt spid="1732613">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32613">
                                            <p:txEl>
                                              <p:pRg st="1" end="1"/>
                                            </p:txEl>
                                          </p:spTgt>
                                        </p:tgtEl>
                                        <p:attrNameLst>
                                          <p:attrName>style.visibility</p:attrName>
                                        </p:attrNameLst>
                                      </p:cBhvr>
                                      <p:to>
                                        <p:strVal val="visible"/>
                                      </p:to>
                                    </p:set>
                                    <p:animEffect transition="in" filter="blinds(horizontal)">
                                      <p:cBhvr>
                                        <p:cTn id="11" dur="500"/>
                                        <p:tgtEl>
                                          <p:spTgt spid="1732613">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32613">
                                            <p:txEl>
                                              <p:pRg st="2" end="2"/>
                                            </p:txEl>
                                          </p:spTgt>
                                        </p:tgtEl>
                                        <p:attrNameLst>
                                          <p:attrName>style.visibility</p:attrName>
                                        </p:attrNameLst>
                                      </p:cBhvr>
                                      <p:to>
                                        <p:strVal val="visible"/>
                                      </p:to>
                                    </p:set>
                                    <p:animEffect transition="in" filter="blinds(horizontal)">
                                      <p:cBhvr>
                                        <p:cTn id="15" dur="500"/>
                                        <p:tgtEl>
                                          <p:spTgt spid="1732613">
                                            <p:txEl>
                                              <p:pRg st="2" end="2"/>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32621">
                                            <p:txEl>
                                              <p:pRg st="0" end="0"/>
                                            </p:txEl>
                                          </p:spTgt>
                                        </p:tgtEl>
                                        <p:attrNameLst>
                                          <p:attrName>style.visibility</p:attrName>
                                        </p:attrNameLst>
                                      </p:cBhvr>
                                      <p:to>
                                        <p:strVal val="visible"/>
                                      </p:to>
                                    </p:set>
                                    <p:animEffect transition="in" filter="blinds(horizontal)">
                                      <p:cBhvr>
                                        <p:cTn id="19" dur="500"/>
                                        <p:tgtEl>
                                          <p:spTgt spid="1732621">
                                            <p:txEl>
                                              <p:pRg st="0" end="0"/>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732621">
                                            <p:txEl>
                                              <p:pRg st="1" end="1"/>
                                            </p:txEl>
                                          </p:spTgt>
                                        </p:tgtEl>
                                        <p:attrNameLst>
                                          <p:attrName>style.visibility</p:attrName>
                                        </p:attrNameLst>
                                      </p:cBhvr>
                                      <p:to>
                                        <p:strVal val="visible"/>
                                      </p:to>
                                    </p:set>
                                    <p:animEffect transition="in" filter="blinds(horizontal)">
                                      <p:cBhvr>
                                        <p:cTn id="23" dur="500"/>
                                        <p:tgtEl>
                                          <p:spTgt spid="1732621">
                                            <p:txEl>
                                              <p:pRg st="1" end="1"/>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732621">
                                            <p:txEl>
                                              <p:pRg st="2" end="2"/>
                                            </p:txEl>
                                          </p:spTgt>
                                        </p:tgtEl>
                                        <p:attrNameLst>
                                          <p:attrName>style.visibility</p:attrName>
                                        </p:attrNameLst>
                                      </p:cBhvr>
                                      <p:to>
                                        <p:strVal val="visible"/>
                                      </p:to>
                                    </p:set>
                                    <p:animEffect transition="in" filter="blinds(horizontal)">
                                      <p:cBhvr>
                                        <p:cTn id="27" dur="500"/>
                                        <p:tgtEl>
                                          <p:spTgt spid="1732621">
                                            <p:txEl>
                                              <p:pRg st="2" end="2"/>
                                            </p:txEl>
                                          </p:spTgt>
                                        </p:tgtEl>
                                      </p:cBhvr>
                                    </p:animEffect>
                                  </p:childTnLst>
                                </p:cTn>
                              </p:par>
                            </p:childTnLst>
                          </p:cTn>
                        </p:par>
                        <p:par>
                          <p:cTn id="28" fill="hold">
                            <p:stCondLst>
                              <p:cond delay="3000"/>
                            </p:stCondLst>
                            <p:childTnLst>
                              <p:par>
                                <p:cTn id="29" presetID="3" presetClass="entr" presetSubtype="10" fill="hold" nodeType="afterEffect">
                                  <p:stCondLst>
                                    <p:cond delay="0"/>
                                  </p:stCondLst>
                                  <p:childTnLst>
                                    <p:set>
                                      <p:cBhvr>
                                        <p:cTn id="30" dur="1" fill="hold">
                                          <p:stCondLst>
                                            <p:cond delay="0"/>
                                          </p:stCondLst>
                                        </p:cTn>
                                        <p:tgtEl>
                                          <p:spTgt spid="1732621">
                                            <p:txEl>
                                              <p:pRg st="3" end="3"/>
                                            </p:txEl>
                                          </p:spTgt>
                                        </p:tgtEl>
                                        <p:attrNameLst>
                                          <p:attrName>style.visibility</p:attrName>
                                        </p:attrNameLst>
                                      </p:cBhvr>
                                      <p:to>
                                        <p:strVal val="visible"/>
                                      </p:to>
                                    </p:set>
                                    <p:animEffect transition="in" filter="blinds(horizontal)">
                                      <p:cBhvr>
                                        <p:cTn id="31" dur="500"/>
                                        <p:tgtEl>
                                          <p:spTgt spid="1732621">
                                            <p:txEl>
                                              <p:pRg st="3" end="3"/>
                                            </p:txEl>
                                          </p:spTgt>
                                        </p:tgtEl>
                                      </p:cBhvr>
                                    </p:animEffect>
                                  </p:childTnLst>
                                </p:cTn>
                              </p:par>
                            </p:childTnLst>
                          </p:cTn>
                        </p:par>
                        <p:par>
                          <p:cTn id="32" fill="hold">
                            <p:stCondLst>
                              <p:cond delay="3500"/>
                            </p:stCondLst>
                            <p:childTnLst>
                              <p:par>
                                <p:cTn id="33" presetID="3" presetClass="entr" presetSubtype="10" fill="hold" nodeType="afterEffect">
                                  <p:stCondLst>
                                    <p:cond delay="0"/>
                                  </p:stCondLst>
                                  <p:childTnLst>
                                    <p:set>
                                      <p:cBhvr>
                                        <p:cTn id="34" dur="1" fill="hold">
                                          <p:stCondLst>
                                            <p:cond delay="0"/>
                                          </p:stCondLst>
                                        </p:cTn>
                                        <p:tgtEl>
                                          <p:spTgt spid="1732621">
                                            <p:txEl>
                                              <p:pRg st="4" end="4"/>
                                            </p:txEl>
                                          </p:spTgt>
                                        </p:tgtEl>
                                        <p:attrNameLst>
                                          <p:attrName>style.visibility</p:attrName>
                                        </p:attrNameLst>
                                      </p:cBhvr>
                                      <p:to>
                                        <p:strVal val="visible"/>
                                      </p:to>
                                    </p:set>
                                    <p:animEffect transition="in" filter="blinds(horizontal)">
                                      <p:cBhvr>
                                        <p:cTn id="35" dur="500"/>
                                        <p:tgtEl>
                                          <p:spTgt spid="17326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smtClean="0">
                <a:solidFill>
                  <a:schemeClr val="bg1"/>
                </a:solidFill>
              </a:rPr>
              <a:t>白盒测试</a:t>
            </a:r>
            <a:endParaRPr lang="zh-CN" altLang="en-US" smtClean="0">
              <a:solidFill>
                <a:schemeClr val="bg1"/>
              </a:solidFill>
            </a:endParaRPr>
          </a:p>
        </p:txBody>
      </p:sp>
      <p:sp>
        <p:nvSpPr>
          <p:cNvPr id="1733635" name="Rectangle 3"/>
          <p:cNvSpPr>
            <a:spLocks noGrp="1" noChangeArrowheads="1"/>
          </p:cNvSpPr>
          <p:nvPr>
            <p:ph type="body" idx="1"/>
          </p:nvPr>
        </p:nvSpPr>
        <p:spPr>
          <a:xfrm>
            <a:off x="539750" y="1844675"/>
            <a:ext cx="7772400" cy="4114800"/>
          </a:xfrm>
        </p:spPr>
        <p:txBody>
          <a:bodyPr/>
          <a:lstStyle/>
          <a:p>
            <a:pPr eaLnBrk="1" hangingPunct="1">
              <a:lnSpc>
                <a:spcPct val="80000"/>
              </a:lnSpc>
              <a:buClr>
                <a:schemeClr val="bg1"/>
              </a:buClr>
              <a:buFont typeface="Wingdings" panose="05000000000000000000" pitchFamily="2" charset="2"/>
              <a:buChar char="Ø"/>
            </a:pPr>
            <a:r>
              <a:rPr lang="en-US" altLang="zh-CN" sz="1800" b="1" smtClean="0">
                <a:solidFill>
                  <a:schemeClr val="bg1"/>
                </a:solidFill>
              </a:rPr>
              <a:t> </a:t>
            </a:r>
            <a:r>
              <a:rPr lang="zh-CN" altLang="en-US" sz="2400" b="1" smtClean="0">
                <a:solidFill>
                  <a:schemeClr val="tx1"/>
                </a:solidFill>
                <a:ea typeface="隶书" pitchFamily="49" charset="-122"/>
              </a:rPr>
              <a:t>缺点</a:t>
            </a:r>
            <a:endParaRPr lang="zh-CN" altLang="en-US" sz="2400" b="1" smtClean="0">
              <a:solidFill>
                <a:schemeClr val="tx1"/>
              </a:solidFill>
              <a:ea typeface="隶书" pitchFamily="49" charset="-122"/>
            </a:endParaRPr>
          </a:p>
          <a:p>
            <a:pPr eaLnBrk="1" hangingPunct="1">
              <a:lnSpc>
                <a:spcPct val="80000"/>
              </a:lnSpc>
              <a:buClr>
                <a:schemeClr val="bg1"/>
              </a:buClr>
              <a:buFont typeface="Wingdings" panose="05000000000000000000" pitchFamily="2" charset="2"/>
              <a:buNone/>
            </a:pPr>
            <a:endParaRPr lang="zh-CN" altLang="en-US" sz="1800" b="1" smtClean="0">
              <a:solidFill>
                <a:schemeClr val="tx1"/>
              </a:solidFill>
            </a:endParaRPr>
          </a:p>
          <a:p>
            <a:pPr eaLnBrk="1" hangingPunct="1">
              <a:lnSpc>
                <a:spcPct val="80000"/>
              </a:lnSpc>
              <a:buClr>
                <a:schemeClr val="bg1"/>
              </a:buClr>
              <a:buFont typeface="Wingdings" panose="05000000000000000000" pitchFamily="2" charset="2"/>
              <a:buNone/>
            </a:pPr>
            <a:r>
              <a:rPr lang="zh-CN" altLang="en-US" sz="1200" b="1" smtClean="0">
                <a:solidFill>
                  <a:schemeClr val="tx1"/>
                </a:solidFill>
              </a:rPr>
              <a:t>                       </a:t>
            </a:r>
            <a:endParaRPr lang="zh-CN" altLang="en-US" sz="1200" b="1" smtClean="0">
              <a:solidFill>
                <a:schemeClr val="tx1"/>
              </a:solidFill>
            </a:endParaRPr>
          </a:p>
          <a:p>
            <a:pPr eaLnBrk="1" hangingPunct="1">
              <a:lnSpc>
                <a:spcPct val="80000"/>
              </a:lnSpc>
              <a:buClr>
                <a:schemeClr val="bg1"/>
              </a:buClr>
              <a:buFont typeface="Wingdings" panose="05000000000000000000" pitchFamily="2" charset="2"/>
              <a:buNone/>
            </a:pPr>
            <a:r>
              <a:rPr lang="zh-CN" altLang="en-US" sz="1200" b="1" smtClean="0">
                <a:solidFill>
                  <a:schemeClr val="tx1"/>
                </a:solidFill>
              </a:rPr>
              <a:t>                         </a:t>
            </a:r>
            <a:endParaRPr lang="zh-CN" altLang="en-US" sz="1200" b="1" smtClean="0">
              <a:solidFill>
                <a:schemeClr val="tx1"/>
              </a:solidFill>
            </a:endParaRPr>
          </a:p>
          <a:p>
            <a:pPr eaLnBrk="1" hangingPunct="1">
              <a:lnSpc>
                <a:spcPct val="80000"/>
              </a:lnSpc>
              <a:buClr>
                <a:schemeClr val="bg1"/>
              </a:buClr>
              <a:buFont typeface="Wingdings" panose="05000000000000000000" pitchFamily="2" charset="2"/>
              <a:buNone/>
            </a:pPr>
            <a:r>
              <a:rPr lang="zh-CN" altLang="en-US" sz="2000" b="1" smtClean="0">
                <a:solidFill>
                  <a:schemeClr val="tx1"/>
                </a:solidFill>
                <a:ea typeface="隶书" pitchFamily="49" charset="-122"/>
              </a:rPr>
              <a:t>                       </a:t>
            </a:r>
            <a:r>
              <a:rPr lang="zh-CN" altLang="en-US" sz="2400" b="1" smtClean="0">
                <a:solidFill>
                  <a:schemeClr val="tx1"/>
                </a:solidFill>
                <a:latin typeface="隶书" pitchFamily="49" charset="-122"/>
                <a:ea typeface="隶书" pitchFamily="49" charset="-122"/>
              </a:rPr>
              <a:t>程序运行会有很多不同路径，</a:t>
            </a:r>
            <a:endParaRPr lang="zh-CN" altLang="en-US" sz="2400" b="1" smtClean="0">
              <a:solidFill>
                <a:schemeClr val="tx1"/>
              </a:solidFill>
              <a:latin typeface="隶书" pitchFamily="49" charset="-122"/>
              <a:ea typeface="隶书" pitchFamily="49" charset="-122"/>
            </a:endParaRPr>
          </a:p>
          <a:p>
            <a:pPr eaLnBrk="1" hangingPunct="1">
              <a:lnSpc>
                <a:spcPct val="80000"/>
              </a:lnSpc>
              <a:buClr>
                <a:schemeClr val="bg1"/>
              </a:buClr>
              <a:buFont typeface="Wingdings" panose="05000000000000000000" pitchFamily="2" charset="2"/>
              <a:buNone/>
            </a:pPr>
            <a:r>
              <a:rPr lang="zh-CN" altLang="en-US" sz="2400" b="1" smtClean="0">
                <a:solidFill>
                  <a:schemeClr val="tx1"/>
                </a:solidFill>
                <a:latin typeface="隶书" pitchFamily="49" charset="-122"/>
                <a:ea typeface="隶书" pitchFamily="49" charset="-122"/>
              </a:rPr>
              <a:t>           不可能测试所有运行路径；</a:t>
            </a:r>
            <a:endParaRPr lang="zh-CN" altLang="en-US" sz="2400" b="1" smtClean="0">
              <a:solidFill>
                <a:schemeClr val="tx1"/>
              </a:solidFill>
              <a:latin typeface="隶书" pitchFamily="49" charset="-122"/>
              <a:ea typeface="隶书" pitchFamily="49" charset="-122"/>
            </a:endParaRPr>
          </a:p>
          <a:p>
            <a:pPr eaLnBrk="1" hangingPunct="1">
              <a:lnSpc>
                <a:spcPct val="80000"/>
              </a:lnSpc>
              <a:buClr>
                <a:schemeClr val="bg1"/>
              </a:buClr>
              <a:buFont typeface="Wingdings" panose="05000000000000000000" pitchFamily="2" charset="2"/>
              <a:buNone/>
            </a:pPr>
            <a:endParaRPr lang="zh-CN" altLang="en-US" sz="1200" b="1" smtClean="0">
              <a:solidFill>
                <a:schemeClr val="tx1"/>
              </a:solidFill>
            </a:endParaRPr>
          </a:p>
          <a:p>
            <a:pPr eaLnBrk="1" hangingPunct="1">
              <a:lnSpc>
                <a:spcPct val="80000"/>
              </a:lnSpc>
              <a:buClr>
                <a:schemeClr val="bg1"/>
              </a:buClr>
              <a:buFont typeface="Wingdings" panose="05000000000000000000" pitchFamily="2" charset="2"/>
              <a:buNone/>
            </a:pPr>
            <a:endParaRPr lang="zh-CN" altLang="en-US" sz="1200" b="1" smtClean="0">
              <a:solidFill>
                <a:schemeClr val="tx1"/>
              </a:solidFill>
            </a:endParaRPr>
          </a:p>
          <a:p>
            <a:pPr eaLnBrk="1" hangingPunct="1">
              <a:lnSpc>
                <a:spcPct val="80000"/>
              </a:lnSpc>
              <a:buClr>
                <a:schemeClr val="bg1"/>
              </a:buClr>
              <a:buFont typeface="Wingdings" panose="05000000000000000000" pitchFamily="2" charset="2"/>
              <a:buNone/>
            </a:pPr>
            <a:endParaRPr lang="zh-CN" altLang="en-US" sz="1200" b="1" smtClean="0">
              <a:solidFill>
                <a:schemeClr val="tx1"/>
              </a:solidFill>
            </a:endParaRPr>
          </a:p>
          <a:p>
            <a:pPr eaLnBrk="1" hangingPunct="1">
              <a:lnSpc>
                <a:spcPct val="80000"/>
              </a:lnSpc>
              <a:buClr>
                <a:schemeClr val="bg1"/>
              </a:buClr>
              <a:buFont typeface="Wingdings" panose="05000000000000000000" pitchFamily="2" charset="2"/>
              <a:buNone/>
            </a:pPr>
            <a:r>
              <a:rPr lang="zh-CN" altLang="en-US" sz="1200" b="1" smtClean="0">
                <a:solidFill>
                  <a:schemeClr val="tx1"/>
                </a:solidFill>
              </a:rPr>
              <a:t>                                      </a:t>
            </a:r>
            <a:r>
              <a:rPr lang="zh-CN" altLang="en-US" sz="2400" b="1" smtClean="0">
                <a:solidFill>
                  <a:schemeClr val="tx1"/>
                </a:solidFill>
                <a:latin typeface="隶书" pitchFamily="49" charset="-122"/>
                <a:ea typeface="隶书" pitchFamily="49" charset="-122"/>
              </a:rPr>
              <a:t>测试基于代码，只能测试开发人员做的</a:t>
            </a:r>
            <a:endParaRPr lang="zh-CN" altLang="en-US" sz="2400" b="1" smtClean="0">
              <a:solidFill>
                <a:schemeClr val="tx1"/>
              </a:solidFill>
              <a:latin typeface="隶书" pitchFamily="49" charset="-122"/>
              <a:ea typeface="隶书" pitchFamily="49" charset="-122"/>
            </a:endParaRPr>
          </a:p>
          <a:p>
            <a:pPr eaLnBrk="1" hangingPunct="1">
              <a:lnSpc>
                <a:spcPct val="80000"/>
              </a:lnSpc>
              <a:buClr>
                <a:schemeClr val="bg1"/>
              </a:buClr>
              <a:buFont typeface="Wingdings" panose="05000000000000000000" pitchFamily="2" charset="2"/>
              <a:buNone/>
            </a:pPr>
            <a:r>
              <a:rPr lang="zh-CN" altLang="en-US" sz="2400" b="1" smtClean="0">
                <a:solidFill>
                  <a:schemeClr val="tx1"/>
                </a:solidFill>
                <a:latin typeface="隶书" pitchFamily="49" charset="-122"/>
                <a:ea typeface="隶书" pitchFamily="49" charset="-122"/>
              </a:rPr>
              <a:t>           对不对，而不能知道设计的正确与否，</a:t>
            </a:r>
            <a:endParaRPr lang="zh-CN" altLang="en-US" sz="2400" b="1" smtClean="0">
              <a:solidFill>
                <a:schemeClr val="tx1"/>
              </a:solidFill>
              <a:latin typeface="隶书" pitchFamily="49" charset="-122"/>
              <a:ea typeface="隶书" pitchFamily="49" charset="-122"/>
            </a:endParaRPr>
          </a:p>
          <a:p>
            <a:pPr eaLnBrk="1" hangingPunct="1">
              <a:lnSpc>
                <a:spcPct val="80000"/>
              </a:lnSpc>
              <a:buClr>
                <a:schemeClr val="bg1"/>
              </a:buClr>
              <a:buFont typeface="Wingdings" panose="05000000000000000000" pitchFamily="2" charset="2"/>
              <a:buNone/>
            </a:pPr>
            <a:r>
              <a:rPr lang="zh-CN" altLang="en-US" sz="2400" b="1" smtClean="0">
                <a:solidFill>
                  <a:schemeClr val="tx1"/>
                </a:solidFill>
                <a:latin typeface="隶书" pitchFamily="49" charset="-122"/>
                <a:ea typeface="隶书" pitchFamily="49" charset="-122"/>
              </a:rPr>
              <a:t>           可能会漏掉一些功能需求；</a:t>
            </a:r>
            <a:endParaRPr lang="zh-CN" altLang="en-US" sz="2400" b="1" smtClean="0">
              <a:solidFill>
                <a:schemeClr val="tx1"/>
              </a:solidFill>
              <a:latin typeface="隶书" pitchFamily="49" charset="-122"/>
              <a:ea typeface="隶书" pitchFamily="49" charset="-122"/>
            </a:endParaRPr>
          </a:p>
          <a:p>
            <a:pPr eaLnBrk="1" hangingPunct="1">
              <a:lnSpc>
                <a:spcPct val="80000"/>
              </a:lnSpc>
              <a:buClr>
                <a:schemeClr val="bg1"/>
              </a:buClr>
              <a:buFont typeface="Wingdings" panose="05000000000000000000" pitchFamily="2" charset="2"/>
              <a:buNone/>
            </a:pPr>
            <a:endParaRPr lang="zh-CN" altLang="en-US" sz="1400" b="1" smtClean="0">
              <a:solidFill>
                <a:schemeClr val="tx1"/>
              </a:solidFill>
            </a:endParaRPr>
          </a:p>
          <a:p>
            <a:pPr eaLnBrk="1" hangingPunct="1">
              <a:lnSpc>
                <a:spcPct val="80000"/>
              </a:lnSpc>
              <a:buClr>
                <a:schemeClr val="bg1"/>
              </a:buClr>
              <a:buFont typeface="Wingdings" panose="05000000000000000000" pitchFamily="2" charset="2"/>
              <a:buNone/>
            </a:pPr>
            <a:endParaRPr lang="zh-CN" altLang="en-US" sz="1200" b="1" smtClean="0">
              <a:solidFill>
                <a:schemeClr val="tx1"/>
              </a:solidFill>
            </a:endParaRPr>
          </a:p>
          <a:p>
            <a:pPr eaLnBrk="1" hangingPunct="1">
              <a:lnSpc>
                <a:spcPct val="80000"/>
              </a:lnSpc>
              <a:buClr>
                <a:schemeClr val="bg1"/>
              </a:buClr>
              <a:buFont typeface="Wingdings" panose="05000000000000000000" pitchFamily="2" charset="2"/>
              <a:buNone/>
            </a:pPr>
            <a:r>
              <a:rPr lang="zh-CN" altLang="en-US" sz="1200" b="1" smtClean="0">
                <a:solidFill>
                  <a:schemeClr val="tx1"/>
                </a:solidFill>
              </a:rPr>
              <a:t>                     </a:t>
            </a:r>
            <a:endParaRPr lang="zh-CN" altLang="en-US" sz="1200" b="1" smtClean="0">
              <a:solidFill>
                <a:schemeClr val="tx1"/>
              </a:solidFill>
            </a:endParaRPr>
          </a:p>
          <a:p>
            <a:pPr eaLnBrk="1" hangingPunct="1">
              <a:lnSpc>
                <a:spcPct val="80000"/>
              </a:lnSpc>
              <a:buClr>
                <a:schemeClr val="bg1"/>
              </a:buClr>
              <a:buFont typeface="Wingdings" panose="05000000000000000000" pitchFamily="2" charset="2"/>
              <a:buNone/>
            </a:pPr>
            <a:r>
              <a:rPr lang="zh-CN" altLang="en-US" sz="1200" b="1" smtClean="0">
                <a:solidFill>
                  <a:schemeClr val="tx1"/>
                </a:solidFill>
              </a:rPr>
              <a:t>                                        </a:t>
            </a:r>
            <a:r>
              <a:rPr lang="zh-CN" altLang="en-US" sz="2400" b="1" smtClean="0">
                <a:solidFill>
                  <a:schemeClr val="tx1"/>
                </a:solidFill>
                <a:latin typeface="隶书" pitchFamily="49" charset="-122"/>
                <a:ea typeface="隶书" pitchFamily="49" charset="-122"/>
              </a:rPr>
              <a:t>系统庞大时，测试开销会非常大。</a:t>
            </a:r>
            <a:r>
              <a:rPr lang="zh-CN" altLang="en-US" sz="2000" smtClean="0">
                <a:solidFill>
                  <a:schemeClr val="tx1"/>
                </a:solidFill>
                <a:latin typeface="隶书" pitchFamily="49" charset="-122"/>
                <a:ea typeface="隶书" pitchFamily="49" charset="-122"/>
              </a:rPr>
              <a:t> </a:t>
            </a:r>
            <a:r>
              <a:rPr lang="zh-CN" altLang="en-US" sz="2000" b="1" smtClean="0">
                <a:solidFill>
                  <a:schemeClr val="tx1"/>
                </a:solidFill>
                <a:latin typeface="隶书" pitchFamily="49" charset="-122"/>
                <a:ea typeface="隶书" pitchFamily="49" charset="-122"/>
              </a:rPr>
              <a:t>  </a:t>
            </a:r>
            <a:endParaRPr lang="zh-CN" altLang="en-US" sz="2000" b="1" smtClean="0">
              <a:solidFill>
                <a:schemeClr val="tx1"/>
              </a:solidFill>
              <a:latin typeface="隶书" pitchFamily="49" charset="-122"/>
              <a:ea typeface="隶书" pitchFamily="49" charset="-122"/>
            </a:endParaRPr>
          </a:p>
          <a:p>
            <a:pPr eaLnBrk="1" hangingPunct="1">
              <a:lnSpc>
                <a:spcPct val="80000"/>
              </a:lnSpc>
              <a:buClr>
                <a:schemeClr val="bg1"/>
              </a:buClr>
              <a:buFont typeface="Wingdings" panose="05000000000000000000" pitchFamily="2" charset="2"/>
              <a:buNone/>
            </a:pPr>
            <a:endParaRPr lang="en-US" altLang="zh-CN" sz="2000" b="1" smtClean="0">
              <a:solidFill>
                <a:schemeClr val="tx1"/>
              </a:solidFill>
              <a:latin typeface="隶书" pitchFamily="49" charset="-122"/>
              <a:ea typeface="隶书" pitchFamily="49" charset="-122"/>
            </a:endParaRPr>
          </a:p>
        </p:txBody>
      </p:sp>
      <p:sp>
        <p:nvSpPr>
          <p:cNvPr id="46084" name="Oval 4"/>
          <p:cNvSpPr>
            <a:spLocks noChangeArrowheads="1"/>
          </p:cNvSpPr>
          <p:nvPr/>
        </p:nvSpPr>
        <p:spPr bwMode="auto">
          <a:xfrm>
            <a:off x="539750" y="2420938"/>
            <a:ext cx="1266825" cy="1266825"/>
          </a:xfrm>
          <a:prstGeom prst="ellipse">
            <a:avLst/>
          </a:prstGeom>
          <a:gradFill rotWithShape="0">
            <a:gsLst>
              <a:gs pos="0">
                <a:srgbClr val="F0F3FC"/>
              </a:gs>
              <a:gs pos="100000">
                <a:srgbClr val="0033CC"/>
              </a:gs>
            </a:gsLst>
            <a:path path="shape">
              <a:fillToRect l="50000" t="50000" r="50000" b="50000"/>
            </a:path>
          </a:gradFill>
          <a:ln w="9525">
            <a:solidFill>
              <a:schemeClr val="tx1"/>
            </a:solidFill>
            <a:round/>
          </a:ln>
        </p:spPr>
        <p:txBody>
          <a:bodyPr wrap="none" anchor="ctr"/>
          <a:lstStyle/>
          <a:p>
            <a:endParaRPr lang="zh-CN" altLang="en-US"/>
          </a:p>
        </p:txBody>
      </p:sp>
      <p:sp>
        <p:nvSpPr>
          <p:cNvPr id="46085" name="Text Box 5"/>
          <p:cNvSpPr txBox="1">
            <a:spLocks noChangeArrowheads="1"/>
          </p:cNvSpPr>
          <p:nvPr/>
        </p:nvSpPr>
        <p:spPr bwMode="auto">
          <a:xfrm>
            <a:off x="1000125" y="2833688"/>
            <a:ext cx="354013" cy="457200"/>
          </a:xfrm>
          <a:prstGeom prst="rect">
            <a:avLst/>
          </a:prstGeom>
          <a:noFill/>
          <a:ln w="9525">
            <a:noFill/>
            <a:miter lim="800000"/>
          </a:ln>
        </p:spPr>
        <p:txBody>
          <a:bodyPr wrap="none" anchor="ctr">
            <a:spAutoFit/>
          </a:bodyPr>
          <a:lstStyle/>
          <a:p>
            <a:pPr algn="ctr" eaLnBrk="0" hangingPunct="0"/>
            <a:r>
              <a:rPr lang="en-US" altLang="zh-CN" b="1">
                <a:solidFill>
                  <a:schemeClr val="tx2"/>
                </a:solidFill>
                <a:latin typeface="Arial" panose="020B0604020202020204" pitchFamily="34" charset="0"/>
              </a:rPr>
              <a:t>1</a:t>
            </a:r>
            <a:endParaRPr lang="en-US" altLang="zh-CN" b="1">
              <a:solidFill>
                <a:schemeClr val="tx2"/>
              </a:solidFill>
              <a:latin typeface="Arial" panose="020B0604020202020204" pitchFamily="34" charset="0"/>
            </a:endParaRPr>
          </a:p>
        </p:txBody>
      </p:sp>
      <p:sp>
        <p:nvSpPr>
          <p:cNvPr id="46086" name="Oval 6"/>
          <p:cNvSpPr>
            <a:spLocks noChangeArrowheads="1"/>
          </p:cNvSpPr>
          <p:nvPr/>
        </p:nvSpPr>
        <p:spPr bwMode="auto">
          <a:xfrm>
            <a:off x="539750" y="3789363"/>
            <a:ext cx="1266825" cy="1266825"/>
          </a:xfrm>
          <a:prstGeom prst="ellipse">
            <a:avLst/>
          </a:prstGeom>
          <a:gradFill rotWithShape="0">
            <a:gsLst>
              <a:gs pos="0">
                <a:srgbClr val="F0F3FC"/>
              </a:gs>
              <a:gs pos="100000">
                <a:srgbClr val="0033CC"/>
              </a:gs>
            </a:gsLst>
            <a:path path="shape">
              <a:fillToRect l="50000" t="50000" r="50000" b="50000"/>
            </a:path>
          </a:gradFill>
          <a:ln w="9525">
            <a:solidFill>
              <a:schemeClr val="tx1"/>
            </a:solidFill>
            <a:round/>
          </a:ln>
        </p:spPr>
        <p:txBody>
          <a:bodyPr wrap="none" anchor="ctr"/>
          <a:lstStyle/>
          <a:p>
            <a:endParaRPr lang="zh-CN" altLang="en-US"/>
          </a:p>
        </p:txBody>
      </p:sp>
      <p:sp>
        <p:nvSpPr>
          <p:cNvPr id="46087" name="Text Box 7"/>
          <p:cNvSpPr txBox="1">
            <a:spLocks noChangeArrowheads="1"/>
          </p:cNvSpPr>
          <p:nvPr/>
        </p:nvSpPr>
        <p:spPr bwMode="auto">
          <a:xfrm>
            <a:off x="996950" y="4203700"/>
            <a:ext cx="354013" cy="457200"/>
          </a:xfrm>
          <a:prstGeom prst="rect">
            <a:avLst/>
          </a:prstGeom>
          <a:noFill/>
          <a:ln w="9525">
            <a:noFill/>
            <a:miter lim="800000"/>
          </a:ln>
        </p:spPr>
        <p:txBody>
          <a:bodyPr wrap="none" anchor="ctr">
            <a:spAutoFit/>
          </a:bodyPr>
          <a:lstStyle/>
          <a:p>
            <a:pPr algn="ctr" eaLnBrk="0" hangingPunct="0"/>
            <a:r>
              <a:rPr lang="en-US" altLang="zh-CN" b="1">
                <a:solidFill>
                  <a:schemeClr val="tx2"/>
                </a:solidFill>
                <a:latin typeface="Arial" panose="020B0604020202020204" pitchFamily="34" charset="0"/>
              </a:rPr>
              <a:t>2</a:t>
            </a:r>
            <a:endParaRPr lang="en-US" altLang="zh-CN" b="1">
              <a:solidFill>
                <a:schemeClr val="tx2"/>
              </a:solidFill>
              <a:latin typeface="Arial" panose="020B0604020202020204" pitchFamily="34" charset="0"/>
            </a:endParaRPr>
          </a:p>
        </p:txBody>
      </p:sp>
      <p:sp>
        <p:nvSpPr>
          <p:cNvPr id="46088" name="Oval 8"/>
          <p:cNvSpPr>
            <a:spLocks noChangeArrowheads="1"/>
          </p:cNvSpPr>
          <p:nvPr/>
        </p:nvSpPr>
        <p:spPr bwMode="auto">
          <a:xfrm>
            <a:off x="539750" y="5229225"/>
            <a:ext cx="1266825" cy="1266825"/>
          </a:xfrm>
          <a:prstGeom prst="ellipse">
            <a:avLst/>
          </a:prstGeom>
          <a:gradFill rotWithShape="0">
            <a:gsLst>
              <a:gs pos="0">
                <a:srgbClr val="F0F3FC"/>
              </a:gs>
              <a:gs pos="100000">
                <a:srgbClr val="0033CC"/>
              </a:gs>
            </a:gsLst>
            <a:path path="shape">
              <a:fillToRect l="50000" t="50000" r="50000" b="50000"/>
            </a:path>
          </a:gradFill>
          <a:ln w="9525">
            <a:solidFill>
              <a:schemeClr val="tx1"/>
            </a:solidFill>
            <a:round/>
          </a:ln>
        </p:spPr>
        <p:txBody>
          <a:bodyPr wrap="none" anchor="ctr"/>
          <a:lstStyle/>
          <a:p>
            <a:endParaRPr lang="zh-CN" altLang="en-US"/>
          </a:p>
        </p:txBody>
      </p:sp>
      <p:sp>
        <p:nvSpPr>
          <p:cNvPr id="46089" name="Text Box 9"/>
          <p:cNvSpPr txBox="1">
            <a:spLocks noChangeArrowheads="1"/>
          </p:cNvSpPr>
          <p:nvPr/>
        </p:nvSpPr>
        <p:spPr bwMode="auto">
          <a:xfrm>
            <a:off x="996950" y="5643563"/>
            <a:ext cx="354013" cy="457200"/>
          </a:xfrm>
          <a:prstGeom prst="rect">
            <a:avLst/>
          </a:prstGeom>
          <a:noFill/>
          <a:ln w="9525">
            <a:noFill/>
            <a:miter lim="800000"/>
          </a:ln>
        </p:spPr>
        <p:txBody>
          <a:bodyPr wrap="none" anchor="ctr">
            <a:spAutoFit/>
          </a:bodyPr>
          <a:lstStyle/>
          <a:p>
            <a:pPr algn="ctr" eaLnBrk="0" hangingPunct="0"/>
            <a:r>
              <a:rPr lang="en-US" altLang="zh-CN" b="1">
                <a:solidFill>
                  <a:schemeClr val="tx2"/>
                </a:solidFill>
                <a:latin typeface="Arial" panose="020B0604020202020204" pitchFamily="34" charset="0"/>
              </a:rPr>
              <a:t>3</a:t>
            </a:r>
            <a:endParaRPr lang="en-US" altLang="zh-CN" b="1">
              <a:solidFill>
                <a:schemeClr val="tx2"/>
              </a:solidFill>
              <a:latin typeface="Arial" panose="020B0604020202020204" pitchFamily="34" charset="0"/>
            </a:endParaRPr>
          </a:p>
        </p:txBody>
      </p:sp>
      <p:sp>
        <p:nvSpPr>
          <p:cNvPr id="46090" name="AutoShape 10">
            <a:hlinkClick r:id="" action="ppaction://noaction" highlightClick="1"/>
          </p:cNvPr>
          <p:cNvSpPr>
            <a:spLocks noChangeArrowheads="1"/>
          </p:cNvSpPr>
          <p:nvPr/>
        </p:nvSpPr>
        <p:spPr bwMode="auto">
          <a:xfrm>
            <a:off x="1908175" y="908050"/>
            <a:ext cx="4106863" cy="758825"/>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zh-CN" altLang="en-US" sz="3600" b="1">
                <a:solidFill>
                  <a:srgbClr val="0A0A0E"/>
                </a:solidFill>
                <a:latin typeface="Times New Roman" panose="02020603050405020304" pitchFamily="18" charset="0"/>
              </a:rPr>
              <a:t>白盒测试</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33635">
                                            <p:txEl>
                                              <p:pRg st="3" end="3"/>
                                            </p:txEl>
                                          </p:spTgt>
                                        </p:tgtEl>
                                        <p:attrNameLst>
                                          <p:attrName>style.visibility</p:attrName>
                                        </p:attrNameLst>
                                      </p:cBhvr>
                                      <p:to>
                                        <p:strVal val="visible"/>
                                      </p:to>
                                    </p:set>
                                    <p:animEffect transition="in" filter="blinds(horizontal)">
                                      <p:cBhvr>
                                        <p:cTn id="7" dur="500"/>
                                        <p:tgtEl>
                                          <p:spTgt spid="1733635">
                                            <p:txEl>
                                              <p:pRg st="3" end="3"/>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33635">
                                            <p:txEl>
                                              <p:pRg st="4" end="4"/>
                                            </p:txEl>
                                          </p:spTgt>
                                        </p:tgtEl>
                                        <p:attrNameLst>
                                          <p:attrName>style.visibility</p:attrName>
                                        </p:attrNameLst>
                                      </p:cBhvr>
                                      <p:to>
                                        <p:strVal val="visible"/>
                                      </p:to>
                                    </p:set>
                                    <p:animEffect transition="in" filter="blinds(horizontal)">
                                      <p:cBhvr>
                                        <p:cTn id="11" dur="500"/>
                                        <p:tgtEl>
                                          <p:spTgt spid="1733635">
                                            <p:txEl>
                                              <p:pRg st="4" end="4"/>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33635">
                                            <p:txEl>
                                              <p:pRg st="5" end="5"/>
                                            </p:txEl>
                                          </p:spTgt>
                                        </p:tgtEl>
                                        <p:attrNameLst>
                                          <p:attrName>style.visibility</p:attrName>
                                        </p:attrNameLst>
                                      </p:cBhvr>
                                      <p:to>
                                        <p:strVal val="visible"/>
                                      </p:to>
                                    </p:set>
                                    <p:animEffect transition="in" filter="blinds(horizontal)">
                                      <p:cBhvr>
                                        <p:cTn id="15" dur="500"/>
                                        <p:tgtEl>
                                          <p:spTgt spid="1733635">
                                            <p:txEl>
                                              <p:pRg st="5" end="5"/>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33635">
                                            <p:txEl>
                                              <p:pRg st="9" end="9"/>
                                            </p:txEl>
                                          </p:spTgt>
                                        </p:tgtEl>
                                        <p:attrNameLst>
                                          <p:attrName>style.visibility</p:attrName>
                                        </p:attrNameLst>
                                      </p:cBhvr>
                                      <p:to>
                                        <p:strVal val="visible"/>
                                      </p:to>
                                    </p:set>
                                    <p:animEffect transition="in" filter="blinds(horizontal)">
                                      <p:cBhvr>
                                        <p:cTn id="19" dur="500"/>
                                        <p:tgtEl>
                                          <p:spTgt spid="1733635">
                                            <p:txEl>
                                              <p:pRg st="9" end="9"/>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733635">
                                            <p:txEl>
                                              <p:pRg st="10" end="10"/>
                                            </p:txEl>
                                          </p:spTgt>
                                        </p:tgtEl>
                                        <p:attrNameLst>
                                          <p:attrName>style.visibility</p:attrName>
                                        </p:attrNameLst>
                                      </p:cBhvr>
                                      <p:to>
                                        <p:strVal val="visible"/>
                                      </p:to>
                                    </p:set>
                                    <p:animEffect transition="in" filter="blinds(horizontal)">
                                      <p:cBhvr>
                                        <p:cTn id="23" dur="500"/>
                                        <p:tgtEl>
                                          <p:spTgt spid="1733635">
                                            <p:txEl>
                                              <p:pRg st="10" end="10"/>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733635">
                                            <p:txEl>
                                              <p:pRg st="11" end="11"/>
                                            </p:txEl>
                                          </p:spTgt>
                                        </p:tgtEl>
                                        <p:attrNameLst>
                                          <p:attrName>style.visibility</p:attrName>
                                        </p:attrNameLst>
                                      </p:cBhvr>
                                      <p:to>
                                        <p:strVal val="visible"/>
                                      </p:to>
                                    </p:set>
                                    <p:animEffect transition="in" filter="blinds(horizontal)">
                                      <p:cBhvr>
                                        <p:cTn id="27" dur="500"/>
                                        <p:tgtEl>
                                          <p:spTgt spid="1733635">
                                            <p:txEl>
                                              <p:pRg st="11" end="11"/>
                                            </p:txEl>
                                          </p:spTgt>
                                        </p:tgtEl>
                                      </p:cBhvr>
                                    </p:animEffect>
                                  </p:childTnLst>
                                </p:cTn>
                              </p:par>
                            </p:childTnLst>
                          </p:cTn>
                        </p:par>
                        <p:par>
                          <p:cTn id="28" fill="hold">
                            <p:stCondLst>
                              <p:cond delay="3000"/>
                            </p:stCondLst>
                            <p:childTnLst>
                              <p:par>
                                <p:cTn id="29" presetID="3" presetClass="entr" presetSubtype="10" fill="hold" nodeType="afterEffect">
                                  <p:stCondLst>
                                    <p:cond delay="0"/>
                                  </p:stCondLst>
                                  <p:childTnLst>
                                    <p:set>
                                      <p:cBhvr>
                                        <p:cTn id="30" dur="1" fill="hold">
                                          <p:stCondLst>
                                            <p:cond delay="0"/>
                                          </p:stCondLst>
                                        </p:cTn>
                                        <p:tgtEl>
                                          <p:spTgt spid="1733635">
                                            <p:txEl>
                                              <p:pRg st="14" end="14"/>
                                            </p:txEl>
                                          </p:spTgt>
                                        </p:tgtEl>
                                        <p:attrNameLst>
                                          <p:attrName>style.visibility</p:attrName>
                                        </p:attrNameLst>
                                      </p:cBhvr>
                                      <p:to>
                                        <p:strVal val="visible"/>
                                      </p:to>
                                    </p:set>
                                    <p:animEffect transition="in" filter="blinds(horizontal)">
                                      <p:cBhvr>
                                        <p:cTn id="31" dur="500"/>
                                        <p:tgtEl>
                                          <p:spTgt spid="1733635">
                                            <p:txEl>
                                              <p:pRg st="14" end="14"/>
                                            </p:txEl>
                                          </p:spTgt>
                                        </p:tgtEl>
                                      </p:cBhvr>
                                    </p:animEffect>
                                  </p:childTnLst>
                                </p:cTn>
                              </p:par>
                            </p:childTnLst>
                          </p:cTn>
                        </p:par>
                        <p:par>
                          <p:cTn id="32" fill="hold">
                            <p:stCondLst>
                              <p:cond delay="3500"/>
                            </p:stCondLst>
                            <p:childTnLst>
                              <p:par>
                                <p:cTn id="33" presetID="3" presetClass="entr" presetSubtype="10" fill="hold" nodeType="afterEffect">
                                  <p:stCondLst>
                                    <p:cond delay="0"/>
                                  </p:stCondLst>
                                  <p:childTnLst>
                                    <p:set>
                                      <p:cBhvr>
                                        <p:cTn id="34" dur="1" fill="hold">
                                          <p:stCondLst>
                                            <p:cond delay="0"/>
                                          </p:stCondLst>
                                        </p:cTn>
                                        <p:tgtEl>
                                          <p:spTgt spid="1733635">
                                            <p:txEl>
                                              <p:pRg st="15" end="15"/>
                                            </p:txEl>
                                          </p:spTgt>
                                        </p:tgtEl>
                                        <p:attrNameLst>
                                          <p:attrName>style.visibility</p:attrName>
                                        </p:attrNameLst>
                                      </p:cBhvr>
                                      <p:to>
                                        <p:strVal val="visible"/>
                                      </p:to>
                                    </p:set>
                                    <p:animEffect transition="in" filter="blinds(horizontal)">
                                      <p:cBhvr>
                                        <p:cTn id="35" dur="500"/>
                                        <p:tgtEl>
                                          <p:spTgt spid="173363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sz="3600" b="1" smtClean="0">
                <a:solidFill>
                  <a:srgbClr val="0A0A0E"/>
                </a:solidFill>
                <a:latin typeface="Times New Roman" panose="02020603050405020304" pitchFamily="18" charset="0"/>
              </a:rPr>
              <a:t>白盒测试</a:t>
            </a:r>
            <a:endParaRPr lang="zh-CN" altLang="en-US" sz="3600" b="1" smtClean="0">
              <a:solidFill>
                <a:srgbClr val="0A0A0E"/>
              </a:solidFill>
              <a:latin typeface="Times New Roman" panose="02020603050405020304" pitchFamily="18" charset="0"/>
            </a:endParaRPr>
          </a:p>
        </p:txBody>
      </p:sp>
      <p:sp>
        <p:nvSpPr>
          <p:cNvPr id="47107" name="Rectangle 3"/>
          <p:cNvSpPr>
            <a:spLocks noGrp="1" noChangeArrowheads="1"/>
          </p:cNvSpPr>
          <p:nvPr>
            <p:ph type="body" idx="1"/>
          </p:nvPr>
        </p:nvSpPr>
        <p:spPr>
          <a:xfrm>
            <a:off x="611188" y="2017713"/>
            <a:ext cx="8343900" cy="4114800"/>
          </a:xfrm>
        </p:spPr>
        <p:txBody>
          <a:bodyPr/>
          <a:lstStyle/>
          <a:p>
            <a:pPr eaLnBrk="1" hangingPunct="1">
              <a:buFont typeface="Wingdings" panose="05000000000000000000" pitchFamily="2" charset="2"/>
              <a:buNone/>
            </a:pPr>
            <a:r>
              <a:rPr lang="en-US" altLang="zh-CN" sz="2800" b="1" smtClean="0">
                <a:solidFill>
                  <a:schemeClr val="tx1"/>
                </a:solidFill>
                <a:ea typeface="PMingLiU" panose="02020500000000000000" pitchFamily="18" charset="-120"/>
              </a:rPr>
              <a:t> </a:t>
            </a:r>
            <a:r>
              <a:rPr lang="zh-CN" altLang="en-US" sz="2800" b="1" smtClean="0">
                <a:solidFill>
                  <a:schemeClr val="tx1"/>
                </a:solidFill>
                <a:ea typeface="PMingLiU" panose="02020500000000000000" pitchFamily="18" charset="-120"/>
              </a:rPr>
              <a:t>测试用例的设计</a:t>
            </a:r>
            <a:endParaRPr lang="zh-CN" altLang="en-US" sz="2800" b="1" smtClean="0">
              <a:solidFill>
                <a:schemeClr val="tx1"/>
              </a:solidFill>
              <a:ea typeface="PMingLiU" panose="02020500000000000000" pitchFamily="18" charset="-120"/>
            </a:endParaRPr>
          </a:p>
          <a:p>
            <a:pPr lvl="1" eaLnBrk="1" hangingPunct="1">
              <a:buFont typeface="Wingdings" panose="05000000000000000000" pitchFamily="2" charset="2"/>
              <a:buChar char="p"/>
            </a:pPr>
            <a:r>
              <a:rPr lang="zh-CN" altLang="en-US" b="1" smtClean="0">
                <a:solidFill>
                  <a:schemeClr val="tx1"/>
                </a:solidFill>
                <a:ea typeface="PMingLiU" panose="02020500000000000000" pitchFamily="18" charset="-120"/>
              </a:rPr>
              <a:t>语句覆盖</a:t>
            </a:r>
            <a:r>
              <a:rPr kumimoji="1" lang="zh-CN" altLang="en-US" b="1" smtClean="0">
                <a:solidFill>
                  <a:schemeClr val="tx1"/>
                </a:solidFill>
                <a:ea typeface="PMingLiU" panose="02020500000000000000" pitchFamily="18" charset="-120"/>
              </a:rPr>
              <a:t>法</a:t>
            </a:r>
            <a:endParaRPr kumimoji="1" lang="zh-CN" altLang="en-US" b="1" smtClean="0">
              <a:solidFill>
                <a:schemeClr val="tx1"/>
              </a:solidFill>
              <a:ea typeface="PMingLiU" panose="02020500000000000000" pitchFamily="18" charset="-120"/>
            </a:endParaRPr>
          </a:p>
        </p:txBody>
      </p:sp>
      <p:graphicFrame>
        <p:nvGraphicFramePr>
          <p:cNvPr id="1794052" name="Group 4"/>
          <p:cNvGraphicFramePr>
            <a:graphicFrameLocks noGrp="1"/>
          </p:cNvGraphicFramePr>
          <p:nvPr/>
        </p:nvGraphicFramePr>
        <p:xfrm>
          <a:off x="1054100" y="3211513"/>
          <a:ext cx="2667000" cy="2738438"/>
        </p:xfrm>
        <a:graphic>
          <a:graphicData uri="http://schemas.openxmlformats.org/drawingml/2006/table">
            <a:tbl>
              <a:tblPr/>
              <a:tblGrid>
                <a:gridCol w="1363663"/>
                <a:gridCol w="1303337"/>
              </a:tblGrid>
              <a:tr h="12017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测试</a:t>
                      </a:r>
                      <a:endPar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用例</a:t>
                      </a:r>
                      <a:endPar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覆盖</a:t>
                      </a:r>
                      <a:endPar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路径</a:t>
                      </a:r>
                      <a:endPar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15367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bl>
          </a:graphicData>
        </a:graphic>
      </p:graphicFrame>
      <p:sp>
        <p:nvSpPr>
          <p:cNvPr id="1794063" name="Text Box 15"/>
          <p:cNvSpPr txBox="1">
            <a:spLocks noChangeArrowheads="1"/>
          </p:cNvSpPr>
          <p:nvPr/>
        </p:nvSpPr>
        <p:spPr bwMode="auto">
          <a:xfrm>
            <a:off x="1282700" y="4505325"/>
            <a:ext cx="838200" cy="1373188"/>
          </a:xfrm>
          <a:prstGeom prst="rect">
            <a:avLst/>
          </a:prstGeom>
          <a:noFill/>
          <a:ln w="9525">
            <a:noFill/>
            <a:miter lim="800000"/>
          </a:ln>
        </p:spPr>
        <p:txBody>
          <a:bodyPr>
            <a:spAutoFit/>
          </a:bodyPr>
          <a:lstStyle/>
          <a:p>
            <a:pPr algn="ctr"/>
            <a:r>
              <a:rPr kumimoji="1" lang="en-US" altLang="zh-CN" sz="2800" b="1">
                <a:solidFill>
                  <a:srgbClr val="003366"/>
                </a:solidFill>
                <a:latin typeface="Times New Roman" panose="02020603050405020304" pitchFamily="18" charset="0"/>
              </a:rPr>
              <a:t>A=2</a:t>
            </a:r>
            <a:endParaRPr kumimoji="1" lang="en-US" altLang="zh-CN" sz="2800" b="1">
              <a:solidFill>
                <a:srgbClr val="003366"/>
              </a:solidFill>
              <a:latin typeface="Times New Roman" panose="02020603050405020304" pitchFamily="18" charset="0"/>
            </a:endParaRPr>
          </a:p>
          <a:p>
            <a:pPr algn="ctr"/>
            <a:r>
              <a:rPr kumimoji="1" lang="en-US" altLang="zh-CN" sz="2800" b="1">
                <a:solidFill>
                  <a:srgbClr val="003366"/>
                </a:solidFill>
                <a:latin typeface="Times New Roman" panose="02020603050405020304" pitchFamily="18" charset="0"/>
              </a:rPr>
              <a:t>B=0</a:t>
            </a:r>
            <a:endParaRPr kumimoji="1" lang="en-US" altLang="zh-CN" sz="2800" b="1">
              <a:solidFill>
                <a:srgbClr val="003366"/>
              </a:solidFill>
              <a:latin typeface="Times New Roman" panose="02020603050405020304" pitchFamily="18" charset="0"/>
            </a:endParaRPr>
          </a:p>
          <a:p>
            <a:pPr algn="ctr"/>
            <a:r>
              <a:rPr kumimoji="1" lang="en-US" altLang="zh-CN" sz="2800" b="1">
                <a:solidFill>
                  <a:srgbClr val="003366"/>
                </a:solidFill>
                <a:latin typeface="Times New Roman" panose="02020603050405020304" pitchFamily="18" charset="0"/>
              </a:rPr>
              <a:t>X=3</a:t>
            </a:r>
            <a:endParaRPr kumimoji="1" lang="en-US" altLang="zh-CN" sz="2800" b="1">
              <a:solidFill>
                <a:srgbClr val="003366"/>
              </a:solidFill>
              <a:latin typeface="Times New Roman" panose="02020603050405020304" pitchFamily="18" charset="0"/>
            </a:endParaRPr>
          </a:p>
        </p:txBody>
      </p:sp>
      <p:sp>
        <p:nvSpPr>
          <p:cNvPr id="1794064" name="Text Box 16"/>
          <p:cNvSpPr txBox="1">
            <a:spLocks noChangeArrowheads="1"/>
          </p:cNvSpPr>
          <p:nvPr/>
        </p:nvSpPr>
        <p:spPr bwMode="auto">
          <a:xfrm>
            <a:off x="2654300" y="4811713"/>
            <a:ext cx="838200" cy="519112"/>
          </a:xfrm>
          <a:prstGeom prst="rect">
            <a:avLst/>
          </a:prstGeom>
          <a:noFill/>
          <a:ln w="9525">
            <a:noFill/>
            <a:miter lim="800000"/>
          </a:ln>
        </p:spPr>
        <p:txBody>
          <a:bodyPr>
            <a:spAutoFit/>
          </a:bodyPr>
          <a:lstStyle/>
          <a:p>
            <a:pPr algn="ctr"/>
            <a:r>
              <a:rPr kumimoji="1" lang="en-US" altLang="zh-CN" sz="2800" b="1">
                <a:latin typeface="Times New Roman" panose="02020603050405020304" pitchFamily="18" charset="0"/>
              </a:rPr>
              <a:t>ace</a:t>
            </a:r>
            <a:endParaRPr kumimoji="1" lang="en-US" altLang="zh-CN" sz="2800" b="1">
              <a:latin typeface="Times New Roman" panose="02020603050405020304" pitchFamily="18" charset="0"/>
            </a:endParaRPr>
          </a:p>
        </p:txBody>
      </p:sp>
      <p:grpSp>
        <p:nvGrpSpPr>
          <p:cNvPr id="2" name="Group 17"/>
          <p:cNvGrpSpPr/>
          <p:nvPr/>
        </p:nvGrpSpPr>
        <p:grpSpPr bwMode="auto">
          <a:xfrm>
            <a:off x="4254500" y="1487488"/>
            <a:ext cx="4800600" cy="4605337"/>
            <a:chOff x="1368" y="720"/>
            <a:chExt cx="3024" cy="3264"/>
          </a:xfrm>
        </p:grpSpPr>
        <p:sp>
          <p:nvSpPr>
            <p:cNvPr id="47136" name="Line 18"/>
            <p:cNvSpPr>
              <a:spLocks noChangeShapeType="1"/>
            </p:cNvSpPr>
            <p:nvPr/>
          </p:nvSpPr>
          <p:spPr bwMode="auto">
            <a:xfrm>
              <a:off x="2712" y="816"/>
              <a:ext cx="0" cy="384"/>
            </a:xfrm>
            <a:prstGeom prst="line">
              <a:avLst/>
            </a:prstGeom>
            <a:noFill/>
            <a:ln w="28575">
              <a:solidFill>
                <a:srgbClr val="003366"/>
              </a:solidFill>
              <a:round/>
              <a:tailEnd type="triangle" w="med" len="med"/>
            </a:ln>
          </p:spPr>
          <p:txBody>
            <a:bodyPr/>
            <a:lstStyle/>
            <a:p>
              <a:endParaRPr lang="zh-CN" altLang="en-US"/>
            </a:p>
          </p:txBody>
        </p:sp>
        <p:sp>
          <p:nvSpPr>
            <p:cNvPr id="47137" name="AutoShape 19"/>
            <p:cNvSpPr>
              <a:spLocks noChangeArrowheads="1"/>
            </p:cNvSpPr>
            <p:nvPr/>
          </p:nvSpPr>
          <p:spPr bwMode="auto">
            <a:xfrm>
              <a:off x="1848" y="1200"/>
              <a:ext cx="1728" cy="576"/>
            </a:xfrm>
            <a:prstGeom prst="flowChartDecision">
              <a:avLst/>
            </a:prstGeom>
            <a:noFill/>
            <a:ln w="28575">
              <a:solidFill>
                <a:srgbClr val="003366"/>
              </a:solidFill>
              <a:miter lim="800000"/>
            </a:ln>
          </p:spPr>
          <p:txBody>
            <a:bodyPr wrap="none" anchor="ctr"/>
            <a:lstStyle/>
            <a:p>
              <a:pPr algn="ctr"/>
              <a:r>
                <a:rPr kumimoji="1" lang="en-US" altLang="zh-CN" b="1">
                  <a:solidFill>
                    <a:srgbClr val="003366"/>
                  </a:solidFill>
                  <a:latin typeface="Times New Roman" panose="02020603050405020304" pitchFamily="18" charset="0"/>
                </a:rPr>
                <a:t>A&gt;1AND</a:t>
              </a:r>
              <a:endParaRPr kumimoji="1" lang="en-US" altLang="zh-CN" b="1">
                <a:solidFill>
                  <a:srgbClr val="003366"/>
                </a:solidFill>
                <a:latin typeface="Times New Roman" panose="02020603050405020304" pitchFamily="18" charset="0"/>
              </a:endParaRPr>
            </a:p>
            <a:p>
              <a:pPr algn="ctr"/>
              <a:r>
                <a:rPr kumimoji="1" lang="en-US" altLang="zh-CN" b="1">
                  <a:solidFill>
                    <a:srgbClr val="003366"/>
                  </a:solidFill>
                  <a:latin typeface="Times New Roman" panose="02020603050405020304" pitchFamily="18" charset="0"/>
                </a:rPr>
                <a:t>B=0</a:t>
              </a:r>
              <a:endParaRPr kumimoji="1" lang="en-US" altLang="zh-CN" b="1">
                <a:solidFill>
                  <a:srgbClr val="003366"/>
                </a:solidFill>
                <a:latin typeface="Times New Roman" panose="02020603050405020304" pitchFamily="18" charset="0"/>
              </a:endParaRPr>
            </a:p>
          </p:txBody>
        </p:sp>
        <p:sp>
          <p:nvSpPr>
            <p:cNvPr id="47138" name="Line 20"/>
            <p:cNvSpPr>
              <a:spLocks noChangeShapeType="1"/>
            </p:cNvSpPr>
            <p:nvPr/>
          </p:nvSpPr>
          <p:spPr bwMode="auto">
            <a:xfrm>
              <a:off x="3576" y="1488"/>
              <a:ext cx="240" cy="0"/>
            </a:xfrm>
            <a:prstGeom prst="line">
              <a:avLst/>
            </a:prstGeom>
            <a:noFill/>
            <a:ln w="28575">
              <a:solidFill>
                <a:srgbClr val="003366"/>
              </a:solidFill>
              <a:round/>
            </a:ln>
          </p:spPr>
          <p:txBody>
            <a:bodyPr/>
            <a:lstStyle/>
            <a:p>
              <a:endParaRPr lang="zh-CN" altLang="en-US"/>
            </a:p>
          </p:txBody>
        </p:sp>
        <p:sp>
          <p:nvSpPr>
            <p:cNvPr id="47139" name="Line 21"/>
            <p:cNvSpPr>
              <a:spLocks noChangeShapeType="1"/>
            </p:cNvSpPr>
            <p:nvPr/>
          </p:nvSpPr>
          <p:spPr bwMode="auto">
            <a:xfrm>
              <a:off x="3816" y="1488"/>
              <a:ext cx="0" cy="336"/>
            </a:xfrm>
            <a:prstGeom prst="line">
              <a:avLst/>
            </a:prstGeom>
            <a:noFill/>
            <a:ln w="28575">
              <a:solidFill>
                <a:srgbClr val="003366"/>
              </a:solidFill>
              <a:round/>
              <a:tailEnd type="triangle" w="med" len="med"/>
            </a:ln>
          </p:spPr>
          <p:txBody>
            <a:bodyPr/>
            <a:lstStyle/>
            <a:p>
              <a:endParaRPr lang="zh-CN" altLang="en-US"/>
            </a:p>
          </p:txBody>
        </p:sp>
        <p:sp>
          <p:nvSpPr>
            <p:cNvPr id="47140" name="Rectangle 22"/>
            <p:cNvSpPr>
              <a:spLocks noChangeArrowheads="1"/>
            </p:cNvSpPr>
            <p:nvPr/>
          </p:nvSpPr>
          <p:spPr bwMode="auto">
            <a:xfrm>
              <a:off x="3336" y="1824"/>
              <a:ext cx="1008" cy="288"/>
            </a:xfrm>
            <a:prstGeom prst="rect">
              <a:avLst/>
            </a:prstGeom>
            <a:noFill/>
            <a:ln w="28575">
              <a:solidFill>
                <a:srgbClr val="003366"/>
              </a:solidFill>
              <a:miter lim="800000"/>
            </a:ln>
          </p:spPr>
          <p:txBody>
            <a:bodyPr wrap="none" anchor="ctr"/>
            <a:lstStyle/>
            <a:p>
              <a:pPr algn="ctr"/>
              <a:r>
                <a:rPr kumimoji="1" lang="en-US" altLang="zh-CN" sz="2800" b="1">
                  <a:solidFill>
                    <a:srgbClr val="003366"/>
                  </a:solidFill>
                  <a:latin typeface="Times New Roman" panose="02020603050405020304" pitchFamily="18" charset="0"/>
                </a:rPr>
                <a:t>X=X/A</a:t>
              </a:r>
              <a:endParaRPr kumimoji="1" lang="en-US" altLang="zh-CN" sz="2800" b="1">
                <a:solidFill>
                  <a:srgbClr val="003366"/>
                </a:solidFill>
                <a:latin typeface="Times New Roman" panose="02020603050405020304" pitchFamily="18" charset="0"/>
              </a:endParaRPr>
            </a:p>
          </p:txBody>
        </p:sp>
        <p:sp>
          <p:nvSpPr>
            <p:cNvPr id="47141" name="Line 23"/>
            <p:cNvSpPr>
              <a:spLocks noChangeShapeType="1"/>
            </p:cNvSpPr>
            <p:nvPr/>
          </p:nvSpPr>
          <p:spPr bwMode="auto">
            <a:xfrm>
              <a:off x="1608" y="1488"/>
              <a:ext cx="0" cy="816"/>
            </a:xfrm>
            <a:prstGeom prst="line">
              <a:avLst/>
            </a:prstGeom>
            <a:noFill/>
            <a:ln w="28575">
              <a:solidFill>
                <a:srgbClr val="003366"/>
              </a:solidFill>
              <a:round/>
            </a:ln>
          </p:spPr>
          <p:txBody>
            <a:bodyPr/>
            <a:lstStyle/>
            <a:p>
              <a:endParaRPr lang="zh-CN" altLang="en-US"/>
            </a:p>
          </p:txBody>
        </p:sp>
        <p:sp>
          <p:nvSpPr>
            <p:cNvPr id="47142" name="Line 24"/>
            <p:cNvSpPr>
              <a:spLocks noChangeShapeType="1"/>
            </p:cNvSpPr>
            <p:nvPr/>
          </p:nvSpPr>
          <p:spPr bwMode="auto">
            <a:xfrm>
              <a:off x="1608" y="1488"/>
              <a:ext cx="240" cy="0"/>
            </a:xfrm>
            <a:prstGeom prst="line">
              <a:avLst/>
            </a:prstGeom>
            <a:noFill/>
            <a:ln w="28575">
              <a:solidFill>
                <a:srgbClr val="003366"/>
              </a:solidFill>
              <a:round/>
            </a:ln>
          </p:spPr>
          <p:txBody>
            <a:bodyPr/>
            <a:lstStyle/>
            <a:p>
              <a:endParaRPr lang="zh-CN" altLang="en-US"/>
            </a:p>
          </p:txBody>
        </p:sp>
        <p:sp>
          <p:nvSpPr>
            <p:cNvPr id="47143" name="Line 25"/>
            <p:cNvSpPr>
              <a:spLocks noChangeShapeType="1"/>
            </p:cNvSpPr>
            <p:nvPr/>
          </p:nvSpPr>
          <p:spPr bwMode="auto">
            <a:xfrm>
              <a:off x="3816" y="2112"/>
              <a:ext cx="0" cy="192"/>
            </a:xfrm>
            <a:prstGeom prst="line">
              <a:avLst/>
            </a:prstGeom>
            <a:noFill/>
            <a:ln w="28575">
              <a:solidFill>
                <a:srgbClr val="003366"/>
              </a:solidFill>
              <a:round/>
            </a:ln>
          </p:spPr>
          <p:txBody>
            <a:bodyPr/>
            <a:lstStyle/>
            <a:p>
              <a:endParaRPr lang="zh-CN" altLang="en-US"/>
            </a:p>
          </p:txBody>
        </p:sp>
        <p:sp>
          <p:nvSpPr>
            <p:cNvPr id="47144" name="Line 26"/>
            <p:cNvSpPr>
              <a:spLocks noChangeShapeType="1"/>
            </p:cNvSpPr>
            <p:nvPr/>
          </p:nvSpPr>
          <p:spPr bwMode="auto">
            <a:xfrm>
              <a:off x="1608" y="2304"/>
              <a:ext cx="2208" cy="0"/>
            </a:xfrm>
            <a:prstGeom prst="line">
              <a:avLst/>
            </a:prstGeom>
            <a:noFill/>
            <a:ln w="28575">
              <a:solidFill>
                <a:srgbClr val="003366"/>
              </a:solidFill>
              <a:round/>
            </a:ln>
          </p:spPr>
          <p:txBody>
            <a:bodyPr/>
            <a:lstStyle/>
            <a:p>
              <a:endParaRPr lang="zh-CN" altLang="en-US"/>
            </a:p>
          </p:txBody>
        </p:sp>
        <p:sp>
          <p:nvSpPr>
            <p:cNvPr id="47145" name="Line 27"/>
            <p:cNvSpPr>
              <a:spLocks noChangeShapeType="1"/>
            </p:cNvSpPr>
            <p:nvPr/>
          </p:nvSpPr>
          <p:spPr bwMode="auto">
            <a:xfrm>
              <a:off x="2760" y="2304"/>
              <a:ext cx="0" cy="288"/>
            </a:xfrm>
            <a:prstGeom prst="line">
              <a:avLst/>
            </a:prstGeom>
            <a:noFill/>
            <a:ln w="28575">
              <a:solidFill>
                <a:srgbClr val="003366"/>
              </a:solidFill>
              <a:round/>
              <a:tailEnd type="triangle" w="med" len="med"/>
            </a:ln>
          </p:spPr>
          <p:txBody>
            <a:bodyPr/>
            <a:lstStyle/>
            <a:p>
              <a:endParaRPr lang="zh-CN" altLang="en-US"/>
            </a:p>
          </p:txBody>
        </p:sp>
        <p:sp>
          <p:nvSpPr>
            <p:cNvPr id="47146" name="AutoShape 28"/>
            <p:cNvSpPr>
              <a:spLocks noChangeArrowheads="1"/>
            </p:cNvSpPr>
            <p:nvPr/>
          </p:nvSpPr>
          <p:spPr bwMode="auto">
            <a:xfrm>
              <a:off x="1896" y="2592"/>
              <a:ext cx="1728" cy="576"/>
            </a:xfrm>
            <a:prstGeom prst="flowChartDecision">
              <a:avLst/>
            </a:prstGeom>
            <a:noFill/>
            <a:ln w="28575">
              <a:solidFill>
                <a:srgbClr val="003366"/>
              </a:solidFill>
              <a:miter lim="800000"/>
            </a:ln>
          </p:spPr>
          <p:txBody>
            <a:bodyPr wrap="none" anchor="ctr"/>
            <a:lstStyle/>
            <a:p>
              <a:pPr algn="ctr"/>
              <a:r>
                <a:rPr kumimoji="1" lang="en-US" altLang="zh-CN" sz="2800" b="1">
                  <a:solidFill>
                    <a:srgbClr val="003366"/>
                  </a:solidFill>
                  <a:latin typeface="Times New Roman" panose="02020603050405020304" pitchFamily="18" charset="0"/>
                </a:rPr>
                <a:t>A=2OR </a:t>
              </a:r>
              <a:endParaRPr kumimoji="1" lang="en-US" altLang="zh-CN" sz="2800" b="1">
                <a:solidFill>
                  <a:srgbClr val="003366"/>
                </a:solidFill>
                <a:latin typeface="Times New Roman" panose="02020603050405020304" pitchFamily="18" charset="0"/>
              </a:endParaRPr>
            </a:p>
            <a:p>
              <a:pPr algn="ctr"/>
              <a:r>
                <a:rPr kumimoji="1" lang="en-US" altLang="zh-CN" sz="2800" b="1">
                  <a:solidFill>
                    <a:srgbClr val="003366"/>
                  </a:solidFill>
                  <a:latin typeface="Times New Roman" panose="02020603050405020304" pitchFamily="18" charset="0"/>
                </a:rPr>
                <a:t>X&gt;1</a:t>
              </a:r>
              <a:endParaRPr kumimoji="1" lang="en-US" altLang="zh-CN" sz="2800" b="1">
                <a:solidFill>
                  <a:srgbClr val="003366"/>
                </a:solidFill>
                <a:latin typeface="Times New Roman" panose="02020603050405020304" pitchFamily="18" charset="0"/>
              </a:endParaRPr>
            </a:p>
          </p:txBody>
        </p:sp>
        <p:sp>
          <p:nvSpPr>
            <p:cNvPr id="47147" name="Line 29"/>
            <p:cNvSpPr>
              <a:spLocks noChangeShapeType="1"/>
            </p:cNvSpPr>
            <p:nvPr/>
          </p:nvSpPr>
          <p:spPr bwMode="auto">
            <a:xfrm>
              <a:off x="3624" y="2880"/>
              <a:ext cx="240" cy="0"/>
            </a:xfrm>
            <a:prstGeom prst="line">
              <a:avLst/>
            </a:prstGeom>
            <a:noFill/>
            <a:ln w="28575">
              <a:solidFill>
                <a:srgbClr val="003366"/>
              </a:solidFill>
              <a:round/>
            </a:ln>
          </p:spPr>
          <p:txBody>
            <a:bodyPr/>
            <a:lstStyle/>
            <a:p>
              <a:endParaRPr lang="zh-CN" altLang="en-US"/>
            </a:p>
          </p:txBody>
        </p:sp>
        <p:sp>
          <p:nvSpPr>
            <p:cNvPr id="47148" name="Line 30"/>
            <p:cNvSpPr>
              <a:spLocks noChangeShapeType="1"/>
            </p:cNvSpPr>
            <p:nvPr/>
          </p:nvSpPr>
          <p:spPr bwMode="auto">
            <a:xfrm>
              <a:off x="3864" y="2880"/>
              <a:ext cx="0" cy="336"/>
            </a:xfrm>
            <a:prstGeom prst="line">
              <a:avLst/>
            </a:prstGeom>
            <a:noFill/>
            <a:ln w="28575">
              <a:solidFill>
                <a:srgbClr val="003366"/>
              </a:solidFill>
              <a:round/>
              <a:tailEnd type="triangle" w="med" len="med"/>
            </a:ln>
          </p:spPr>
          <p:txBody>
            <a:bodyPr/>
            <a:lstStyle/>
            <a:p>
              <a:endParaRPr lang="zh-CN" altLang="en-US"/>
            </a:p>
          </p:txBody>
        </p:sp>
        <p:sp>
          <p:nvSpPr>
            <p:cNvPr id="47149" name="Rectangle 31"/>
            <p:cNvSpPr>
              <a:spLocks noChangeArrowheads="1"/>
            </p:cNvSpPr>
            <p:nvPr/>
          </p:nvSpPr>
          <p:spPr bwMode="auto">
            <a:xfrm>
              <a:off x="3384" y="3216"/>
              <a:ext cx="1008" cy="288"/>
            </a:xfrm>
            <a:prstGeom prst="rect">
              <a:avLst/>
            </a:prstGeom>
            <a:noFill/>
            <a:ln w="28575">
              <a:solidFill>
                <a:srgbClr val="003366"/>
              </a:solidFill>
              <a:miter lim="800000"/>
            </a:ln>
          </p:spPr>
          <p:txBody>
            <a:bodyPr wrap="none" anchor="ctr"/>
            <a:lstStyle/>
            <a:p>
              <a:pPr algn="ctr"/>
              <a:r>
                <a:rPr kumimoji="1" lang="en-US" altLang="zh-CN" sz="2800" b="1">
                  <a:solidFill>
                    <a:srgbClr val="003366"/>
                  </a:solidFill>
                  <a:latin typeface="Times New Roman" panose="02020603050405020304" pitchFamily="18" charset="0"/>
                </a:rPr>
                <a:t>X=X+1</a:t>
              </a:r>
              <a:endParaRPr kumimoji="1" lang="en-US" altLang="zh-CN" sz="2800" b="1">
                <a:solidFill>
                  <a:srgbClr val="003366"/>
                </a:solidFill>
                <a:latin typeface="Times New Roman" panose="02020603050405020304" pitchFamily="18" charset="0"/>
              </a:endParaRPr>
            </a:p>
          </p:txBody>
        </p:sp>
        <p:sp>
          <p:nvSpPr>
            <p:cNvPr id="47150" name="Line 32"/>
            <p:cNvSpPr>
              <a:spLocks noChangeShapeType="1"/>
            </p:cNvSpPr>
            <p:nvPr/>
          </p:nvSpPr>
          <p:spPr bwMode="auto">
            <a:xfrm>
              <a:off x="1656" y="2880"/>
              <a:ext cx="0" cy="816"/>
            </a:xfrm>
            <a:prstGeom prst="line">
              <a:avLst/>
            </a:prstGeom>
            <a:noFill/>
            <a:ln w="28575">
              <a:solidFill>
                <a:srgbClr val="003366"/>
              </a:solidFill>
              <a:round/>
            </a:ln>
          </p:spPr>
          <p:txBody>
            <a:bodyPr/>
            <a:lstStyle/>
            <a:p>
              <a:endParaRPr lang="zh-CN" altLang="en-US"/>
            </a:p>
          </p:txBody>
        </p:sp>
        <p:sp>
          <p:nvSpPr>
            <p:cNvPr id="47151" name="Line 33"/>
            <p:cNvSpPr>
              <a:spLocks noChangeShapeType="1"/>
            </p:cNvSpPr>
            <p:nvPr/>
          </p:nvSpPr>
          <p:spPr bwMode="auto">
            <a:xfrm>
              <a:off x="1656" y="2880"/>
              <a:ext cx="240" cy="0"/>
            </a:xfrm>
            <a:prstGeom prst="line">
              <a:avLst/>
            </a:prstGeom>
            <a:noFill/>
            <a:ln w="28575">
              <a:solidFill>
                <a:srgbClr val="003366"/>
              </a:solidFill>
              <a:round/>
            </a:ln>
          </p:spPr>
          <p:txBody>
            <a:bodyPr/>
            <a:lstStyle/>
            <a:p>
              <a:endParaRPr lang="zh-CN" altLang="en-US"/>
            </a:p>
          </p:txBody>
        </p:sp>
        <p:sp>
          <p:nvSpPr>
            <p:cNvPr id="47152" name="Line 34"/>
            <p:cNvSpPr>
              <a:spLocks noChangeShapeType="1"/>
            </p:cNvSpPr>
            <p:nvPr/>
          </p:nvSpPr>
          <p:spPr bwMode="auto">
            <a:xfrm>
              <a:off x="3864" y="3504"/>
              <a:ext cx="0" cy="192"/>
            </a:xfrm>
            <a:prstGeom prst="line">
              <a:avLst/>
            </a:prstGeom>
            <a:noFill/>
            <a:ln w="28575">
              <a:solidFill>
                <a:srgbClr val="003366"/>
              </a:solidFill>
              <a:round/>
            </a:ln>
          </p:spPr>
          <p:txBody>
            <a:bodyPr/>
            <a:lstStyle/>
            <a:p>
              <a:endParaRPr lang="zh-CN" altLang="en-US"/>
            </a:p>
          </p:txBody>
        </p:sp>
        <p:sp>
          <p:nvSpPr>
            <p:cNvPr id="47153" name="Line 35"/>
            <p:cNvSpPr>
              <a:spLocks noChangeShapeType="1"/>
            </p:cNvSpPr>
            <p:nvPr/>
          </p:nvSpPr>
          <p:spPr bwMode="auto">
            <a:xfrm>
              <a:off x="1656" y="3696"/>
              <a:ext cx="2208" cy="0"/>
            </a:xfrm>
            <a:prstGeom prst="line">
              <a:avLst/>
            </a:prstGeom>
            <a:noFill/>
            <a:ln w="28575">
              <a:solidFill>
                <a:srgbClr val="003366"/>
              </a:solidFill>
              <a:round/>
            </a:ln>
          </p:spPr>
          <p:txBody>
            <a:bodyPr/>
            <a:lstStyle/>
            <a:p>
              <a:endParaRPr lang="zh-CN" altLang="en-US"/>
            </a:p>
          </p:txBody>
        </p:sp>
        <p:sp>
          <p:nvSpPr>
            <p:cNvPr id="47154" name="Line 36"/>
            <p:cNvSpPr>
              <a:spLocks noChangeShapeType="1"/>
            </p:cNvSpPr>
            <p:nvPr/>
          </p:nvSpPr>
          <p:spPr bwMode="auto">
            <a:xfrm>
              <a:off x="2808" y="3696"/>
              <a:ext cx="0" cy="288"/>
            </a:xfrm>
            <a:prstGeom prst="line">
              <a:avLst/>
            </a:prstGeom>
            <a:noFill/>
            <a:ln w="28575">
              <a:solidFill>
                <a:srgbClr val="003366"/>
              </a:solidFill>
              <a:round/>
              <a:tailEnd type="triangle" w="med" len="med"/>
            </a:ln>
          </p:spPr>
          <p:txBody>
            <a:bodyPr/>
            <a:lstStyle/>
            <a:p>
              <a:endParaRPr lang="zh-CN" altLang="en-US"/>
            </a:p>
          </p:txBody>
        </p:sp>
        <p:sp>
          <p:nvSpPr>
            <p:cNvPr id="47155" name="Text Box 37"/>
            <p:cNvSpPr txBox="1">
              <a:spLocks noChangeArrowheads="1"/>
            </p:cNvSpPr>
            <p:nvPr/>
          </p:nvSpPr>
          <p:spPr bwMode="auto">
            <a:xfrm>
              <a:off x="3528" y="1152"/>
              <a:ext cx="336" cy="411"/>
            </a:xfrm>
            <a:prstGeom prst="rect">
              <a:avLst/>
            </a:prstGeom>
            <a:noFill/>
            <a:ln w="28575">
              <a:noFill/>
              <a:miter lim="800000"/>
            </a:ln>
          </p:spPr>
          <p:txBody>
            <a:bodyPr>
              <a:spAutoFit/>
            </a:bodyPr>
            <a:lstStyle/>
            <a:p>
              <a:pPr>
                <a:spcBef>
                  <a:spcPct val="50000"/>
                </a:spcBef>
              </a:pPr>
              <a:r>
                <a:rPr kumimoji="1" lang="zh-CN" altLang="en-US" sz="3200" b="1">
                  <a:solidFill>
                    <a:srgbClr val="003366"/>
                  </a:solidFill>
                  <a:latin typeface="Times New Roman" panose="02020603050405020304" pitchFamily="18" charset="0"/>
                </a:rPr>
                <a:t>是</a:t>
              </a:r>
              <a:endParaRPr kumimoji="1" lang="zh-CN" altLang="en-US" sz="3200" b="1">
                <a:solidFill>
                  <a:srgbClr val="003366"/>
                </a:solidFill>
                <a:latin typeface="Times New Roman" panose="02020603050405020304" pitchFamily="18" charset="0"/>
              </a:endParaRPr>
            </a:p>
          </p:txBody>
        </p:sp>
        <p:sp>
          <p:nvSpPr>
            <p:cNvPr id="47156" name="Text Box 38"/>
            <p:cNvSpPr txBox="1">
              <a:spLocks noChangeArrowheads="1"/>
            </p:cNvSpPr>
            <p:nvPr/>
          </p:nvSpPr>
          <p:spPr bwMode="auto">
            <a:xfrm>
              <a:off x="2712" y="720"/>
              <a:ext cx="336" cy="411"/>
            </a:xfrm>
            <a:prstGeom prst="rect">
              <a:avLst/>
            </a:prstGeom>
            <a:noFill/>
            <a:ln w="28575">
              <a:noFill/>
              <a:miter lim="800000"/>
            </a:ln>
          </p:spPr>
          <p:txBody>
            <a:bodyPr>
              <a:spAutoFit/>
            </a:bodyPr>
            <a:lstStyle/>
            <a:p>
              <a:pPr>
                <a:spcBef>
                  <a:spcPct val="50000"/>
                </a:spcBef>
              </a:pPr>
              <a:r>
                <a:rPr kumimoji="1" lang="en-US" altLang="zh-CN" sz="3200" b="1">
                  <a:solidFill>
                    <a:srgbClr val="003366"/>
                  </a:solidFill>
                  <a:latin typeface="Times New Roman" panose="02020603050405020304" pitchFamily="18" charset="0"/>
                </a:rPr>
                <a:t>a</a:t>
              </a:r>
              <a:endParaRPr kumimoji="1" lang="en-US" altLang="zh-CN" sz="3200" b="1">
                <a:solidFill>
                  <a:srgbClr val="003366"/>
                </a:solidFill>
                <a:latin typeface="Times New Roman" panose="02020603050405020304" pitchFamily="18" charset="0"/>
              </a:endParaRPr>
            </a:p>
          </p:txBody>
        </p:sp>
        <p:sp>
          <p:nvSpPr>
            <p:cNvPr id="47157" name="Text Box 39"/>
            <p:cNvSpPr txBox="1">
              <a:spLocks noChangeArrowheads="1"/>
            </p:cNvSpPr>
            <p:nvPr/>
          </p:nvSpPr>
          <p:spPr bwMode="auto">
            <a:xfrm>
              <a:off x="3576" y="2544"/>
              <a:ext cx="336" cy="411"/>
            </a:xfrm>
            <a:prstGeom prst="rect">
              <a:avLst/>
            </a:prstGeom>
            <a:noFill/>
            <a:ln w="28575">
              <a:noFill/>
              <a:miter lim="800000"/>
            </a:ln>
          </p:spPr>
          <p:txBody>
            <a:bodyPr>
              <a:spAutoFit/>
            </a:bodyPr>
            <a:lstStyle/>
            <a:p>
              <a:pPr>
                <a:spcBef>
                  <a:spcPct val="50000"/>
                </a:spcBef>
              </a:pPr>
              <a:r>
                <a:rPr kumimoji="1" lang="zh-CN" altLang="en-US" sz="3200" b="1">
                  <a:solidFill>
                    <a:srgbClr val="003366"/>
                  </a:solidFill>
                  <a:latin typeface="Times New Roman" panose="02020603050405020304" pitchFamily="18" charset="0"/>
                </a:rPr>
                <a:t>是</a:t>
              </a:r>
              <a:endParaRPr kumimoji="1" lang="zh-CN" altLang="en-US" sz="3200" b="1">
                <a:solidFill>
                  <a:srgbClr val="003366"/>
                </a:solidFill>
                <a:latin typeface="Times New Roman" panose="02020603050405020304" pitchFamily="18" charset="0"/>
              </a:endParaRPr>
            </a:p>
          </p:txBody>
        </p:sp>
        <p:sp>
          <p:nvSpPr>
            <p:cNvPr id="47158" name="Text Box 40"/>
            <p:cNvSpPr txBox="1">
              <a:spLocks noChangeArrowheads="1"/>
            </p:cNvSpPr>
            <p:nvPr/>
          </p:nvSpPr>
          <p:spPr bwMode="auto">
            <a:xfrm>
              <a:off x="1560" y="1152"/>
              <a:ext cx="336" cy="411"/>
            </a:xfrm>
            <a:prstGeom prst="rect">
              <a:avLst/>
            </a:prstGeom>
            <a:noFill/>
            <a:ln w="28575">
              <a:noFill/>
              <a:miter lim="800000"/>
            </a:ln>
          </p:spPr>
          <p:txBody>
            <a:bodyPr>
              <a:spAutoFit/>
            </a:bodyPr>
            <a:lstStyle/>
            <a:p>
              <a:pPr>
                <a:spcBef>
                  <a:spcPct val="50000"/>
                </a:spcBef>
              </a:pPr>
              <a:r>
                <a:rPr kumimoji="1" lang="zh-CN" altLang="en-US" sz="3200" b="1">
                  <a:solidFill>
                    <a:srgbClr val="003366"/>
                  </a:solidFill>
                  <a:latin typeface="Times New Roman" panose="02020603050405020304" pitchFamily="18" charset="0"/>
                </a:rPr>
                <a:t>否</a:t>
              </a:r>
              <a:endParaRPr kumimoji="1" lang="zh-CN" altLang="en-US" sz="3200" b="1">
                <a:solidFill>
                  <a:srgbClr val="003366"/>
                </a:solidFill>
                <a:latin typeface="Times New Roman" panose="02020603050405020304" pitchFamily="18" charset="0"/>
              </a:endParaRPr>
            </a:p>
          </p:txBody>
        </p:sp>
        <p:sp>
          <p:nvSpPr>
            <p:cNvPr id="47159" name="Text Box 41"/>
            <p:cNvSpPr txBox="1">
              <a:spLocks noChangeArrowheads="1"/>
            </p:cNvSpPr>
            <p:nvPr/>
          </p:nvSpPr>
          <p:spPr bwMode="auto">
            <a:xfrm>
              <a:off x="1368" y="1632"/>
              <a:ext cx="336" cy="411"/>
            </a:xfrm>
            <a:prstGeom prst="rect">
              <a:avLst/>
            </a:prstGeom>
            <a:noFill/>
            <a:ln w="28575">
              <a:noFill/>
              <a:miter lim="800000"/>
            </a:ln>
          </p:spPr>
          <p:txBody>
            <a:bodyPr>
              <a:spAutoFit/>
            </a:bodyPr>
            <a:lstStyle/>
            <a:p>
              <a:pPr>
                <a:spcBef>
                  <a:spcPct val="50000"/>
                </a:spcBef>
              </a:pPr>
              <a:r>
                <a:rPr kumimoji="1" lang="en-US" altLang="zh-CN" sz="3200" b="1">
                  <a:solidFill>
                    <a:srgbClr val="003366"/>
                  </a:solidFill>
                  <a:latin typeface="Times New Roman" panose="02020603050405020304" pitchFamily="18" charset="0"/>
                </a:rPr>
                <a:t>b</a:t>
              </a:r>
              <a:endParaRPr kumimoji="1" lang="en-US" altLang="zh-CN" sz="3200" b="1">
                <a:solidFill>
                  <a:srgbClr val="003366"/>
                </a:solidFill>
                <a:latin typeface="Times New Roman" panose="02020603050405020304" pitchFamily="18" charset="0"/>
              </a:endParaRPr>
            </a:p>
          </p:txBody>
        </p:sp>
        <p:sp>
          <p:nvSpPr>
            <p:cNvPr id="47160" name="Text Box 42"/>
            <p:cNvSpPr txBox="1">
              <a:spLocks noChangeArrowheads="1"/>
            </p:cNvSpPr>
            <p:nvPr/>
          </p:nvSpPr>
          <p:spPr bwMode="auto">
            <a:xfrm>
              <a:off x="3816" y="1488"/>
              <a:ext cx="336" cy="411"/>
            </a:xfrm>
            <a:prstGeom prst="rect">
              <a:avLst/>
            </a:prstGeom>
            <a:noFill/>
            <a:ln w="28575">
              <a:noFill/>
              <a:miter lim="800000"/>
            </a:ln>
          </p:spPr>
          <p:txBody>
            <a:bodyPr>
              <a:spAutoFit/>
            </a:bodyPr>
            <a:lstStyle/>
            <a:p>
              <a:pPr>
                <a:spcBef>
                  <a:spcPct val="50000"/>
                </a:spcBef>
              </a:pPr>
              <a:r>
                <a:rPr kumimoji="1" lang="en-US" altLang="zh-CN" sz="3200" b="1">
                  <a:solidFill>
                    <a:srgbClr val="003366"/>
                  </a:solidFill>
                  <a:latin typeface="Times New Roman" panose="02020603050405020304" pitchFamily="18" charset="0"/>
                </a:rPr>
                <a:t>c</a:t>
              </a:r>
              <a:endParaRPr kumimoji="1" lang="en-US" altLang="zh-CN" sz="3200" b="1">
                <a:solidFill>
                  <a:srgbClr val="003366"/>
                </a:solidFill>
                <a:latin typeface="Times New Roman" panose="02020603050405020304" pitchFamily="18" charset="0"/>
              </a:endParaRPr>
            </a:p>
          </p:txBody>
        </p:sp>
        <p:sp>
          <p:nvSpPr>
            <p:cNvPr id="47161" name="Text Box 43"/>
            <p:cNvSpPr txBox="1">
              <a:spLocks noChangeArrowheads="1"/>
            </p:cNvSpPr>
            <p:nvPr/>
          </p:nvSpPr>
          <p:spPr bwMode="auto">
            <a:xfrm>
              <a:off x="1416" y="2880"/>
              <a:ext cx="336" cy="411"/>
            </a:xfrm>
            <a:prstGeom prst="rect">
              <a:avLst/>
            </a:prstGeom>
            <a:noFill/>
            <a:ln w="28575">
              <a:noFill/>
              <a:miter lim="800000"/>
            </a:ln>
          </p:spPr>
          <p:txBody>
            <a:bodyPr>
              <a:spAutoFit/>
            </a:bodyPr>
            <a:lstStyle/>
            <a:p>
              <a:pPr>
                <a:spcBef>
                  <a:spcPct val="50000"/>
                </a:spcBef>
              </a:pPr>
              <a:r>
                <a:rPr kumimoji="1" lang="en-US" altLang="zh-CN" sz="3200" b="1">
                  <a:solidFill>
                    <a:srgbClr val="003366"/>
                  </a:solidFill>
                  <a:latin typeface="Times New Roman" panose="02020603050405020304" pitchFamily="18" charset="0"/>
                </a:rPr>
                <a:t>d</a:t>
              </a:r>
              <a:endParaRPr kumimoji="1" lang="en-US" altLang="zh-CN" sz="3200" b="1">
                <a:solidFill>
                  <a:srgbClr val="003366"/>
                </a:solidFill>
                <a:latin typeface="Times New Roman" panose="02020603050405020304" pitchFamily="18" charset="0"/>
              </a:endParaRPr>
            </a:p>
          </p:txBody>
        </p:sp>
        <p:sp>
          <p:nvSpPr>
            <p:cNvPr id="47162" name="Text Box 44"/>
            <p:cNvSpPr txBox="1">
              <a:spLocks noChangeArrowheads="1"/>
            </p:cNvSpPr>
            <p:nvPr/>
          </p:nvSpPr>
          <p:spPr bwMode="auto">
            <a:xfrm>
              <a:off x="3864" y="2880"/>
              <a:ext cx="336" cy="411"/>
            </a:xfrm>
            <a:prstGeom prst="rect">
              <a:avLst/>
            </a:prstGeom>
            <a:noFill/>
            <a:ln w="28575">
              <a:noFill/>
              <a:miter lim="800000"/>
            </a:ln>
          </p:spPr>
          <p:txBody>
            <a:bodyPr>
              <a:spAutoFit/>
            </a:bodyPr>
            <a:lstStyle/>
            <a:p>
              <a:pPr>
                <a:spcBef>
                  <a:spcPct val="50000"/>
                </a:spcBef>
              </a:pPr>
              <a:r>
                <a:rPr kumimoji="1" lang="en-US" altLang="zh-CN" sz="3200" b="1">
                  <a:solidFill>
                    <a:srgbClr val="003366"/>
                  </a:solidFill>
                  <a:latin typeface="Times New Roman" panose="02020603050405020304" pitchFamily="18" charset="0"/>
                </a:rPr>
                <a:t>e</a:t>
              </a:r>
              <a:endParaRPr kumimoji="1" lang="en-US" altLang="zh-CN" sz="3200" b="1">
                <a:solidFill>
                  <a:srgbClr val="003366"/>
                </a:solidFill>
                <a:latin typeface="Times New Roman" panose="02020603050405020304" pitchFamily="18" charset="0"/>
              </a:endParaRPr>
            </a:p>
          </p:txBody>
        </p:sp>
      </p:grpSp>
      <p:sp>
        <p:nvSpPr>
          <p:cNvPr id="1794093" name="Line 45"/>
          <p:cNvSpPr>
            <a:spLocks noChangeShapeType="1"/>
          </p:cNvSpPr>
          <p:nvPr/>
        </p:nvSpPr>
        <p:spPr bwMode="auto">
          <a:xfrm>
            <a:off x="6372225" y="1628775"/>
            <a:ext cx="0" cy="538163"/>
          </a:xfrm>
          <a:prstGeom prst="line">
            <a:avLst/>
          </a:prstGeom>
          <a:noFill/>
          <a:ln w="28575">
            <a:solidFill>
              <a:srgbClr val="FF3300"/>
            </a:solidFill>
            <a:round/>
            <a:tailEnd type="triangle" w="med" len="med"/>
          </a:ln>
        </p:spPr>
        <p:txBody>
          <a:bodyPr/>
          <a:lstStyle/>
          <a:p>
            <a:endParaRPr lang="zh-CN" altLang="en-US"/>
          </a:p>
        </p:txBody>
      </p:sp>
      <p:sp>
        <p:nvSpPr>
          <p:cNvPr id="1794094" name="Line 46"/>
          <p:cNvSpPr>
            <a:spLocks noChangeShapeType="1"/>
          </p:cNvSpPr>
          <p:nvPr/>
        </p:nvSpPr>
        <p:spPr bwMode="auto">
          <a:xfrm>
            <a:off x="7740650" y="2565400"/>
            <a:ext cx="381000" cy="0"/>
          </a:xfrm>
          <a:prstGeom prst="line">
            <a:avLst/>
          </a:prstGeom>
          <a:noFill/>
          <a:ln w="28575">
            <a:solidFill>
              <a:srgbClr val="FF0000"/>
            </a:solidFill>
            <a:round/>
          </a:ln>
        </p:spPr>
        <p:txBody>
          <a:bodyPr/>
          <a:lstStyle/>
          <a:p>
            <a:endParaRPr lang="zh-CN" altLang="en-US"/>
          </a:p>
        </p:txBody>
      </p:sp>
      <p:sp>
        <p:nvSpPr>
          <p:cNvPr id="1794095" name="Line 47"/>
          <p:cNvSpPr>
            <a:spLocks noChangeShapeType="1"/>
          </p:cNvSpPr>
          <p:nvPr/>
        </p:nvSpPr>
        <p:spPr bwMode="auto">
          <a:xfrm>
            <a:off x="8172450" y="2565400"/>
            <a:ext cx="0" cy="460375"/>
          </a:xfrm>
          <a:prstGeom prst="line">
            <a:avLst/>
          </a:prstGeom>
          <a:noFill/>
          <a:ln w="28575">
            <a:solidFill>
              <a:srgbClr val="FF0000"/>
            </a:solidFill>
            <a:round/>
            <a:tailEnd type="triangle" w="med" len="med"/>
          </a:ln>
        </p:spPr>
        <p:txBody>
          <a:bodyPr/>
          <a:lstStyle/>
          <a:p>
            <a:endParaRPr lang="zh-CN" altLang="en-US"/>
          </a:p>
        </p:txBody>
      </p:sp>
      <p:sp>
        <p:nvSpPr>
          <p:cNvPr id="1794096" name="Line 48"/>
          <p:cNvSpPr>
            <a:spLocks noChangeShapeType="1"/>
          </p:cNvSpPr>
          <p:nvPr/>
        </p:nvSpPr>
        <p:spPr bwMode="auto">
          <a:xfrm>
            <a:off x="8150225" y="3429000"/>
            <a:ext cx="0" cy="304800"/>
          </a:xfrm>
          <a:prstGeom prst="line">
            <a:avLst/>
          </a:prstGeom>
          <a:noFill/>
          <a:ln w="28575">
            <a:solidFill>
              <a:srgbClr val="FF0000"/>
            </a:solidFill>
            <a:round/>
          </a:ln>
        </p:spPr>
        <p:txBody>
          <a:bodyPr/>
          <a:lstStyle/>
          <a:p>
            <a:endParaRPr lang="zh-CN" altLang="en-US"/>
          </a:p>
        </p:txBody>
      </p:sp>
      <p:sp>
        <p:nvSpPr>
          <p:cNvPr id="1794097" name="Line 49"/>
          <p:cNvSpPr>
            <a:spLocks noChangeShapeType="1"/>
          </p:cNvSpPr>
          <p:nvPr/>
        </p:nvSpPr>
        <p:spPr bwMode="auto">
          <a:xfrm flipH="1">
            <a:off x="6443663" y="3716338"/>
            <a:ext cx="1676400" cy="0"/>
          </a:xfrm>
          <a:prstGeom prst="line">
            <a:avLst/>
          </a:prstGeom>
          <a:noFill/>
          <a:ln w="28575">
            <a:solidFill>
              <a:srgbClr val="FF0000"/>
            </a:solidFill>
            <a:round/>
          </a:ln>
        </p:spPr>
        <p:txBody>
          <a:bodyPr/>
          <a:lstStyle/>
          <a:p>
            <a:endParaRPr lang="zh-CN" altLang="en-US"/>
          </a:p>
        </p:txBody>
      </p:sp>
      <p:sp>
        <p:nvSpPr>
          <p:cNvPr id="1794098" name="Line 50"/>
          <p:cNvSpPr>
            <a:spLocks noChangeShapeType="1"/>
          </p:cNvSpPr>
          <p:nvPr/>
        </p:nvSpPr>
        <p:spPr bwMode="auto">
          <a:xfrm>
            <a:off x="6443663" y="3716338"/>
            <a:ext cx="0" cy="360362"/>
          </a:xfrm>
          <a:prstGeom prst="line">
            <a:avLst/>
          </a:prstGeom>
          <a:noFill/>
          <a:ln w="28575">
            <a:solidFill>
              <a:srgbClr val="FF0000"/>
            </a:solidFill>
            <a:round/>
            <a:tailEnd type="triangle" w="med" len="med"/>
          </a:ln>
        </p:spPr>
        <p:txBody>
          <a:bodyPr/>
          <a:lstStyle/>
          <a:p>
            <a:endParaRPr lang="zh-CN" altLang="en-US"/>
          </a:p>
        </p:txBody>
      </p:sp>
      <p:sp>
        <p:nvSpPr>
          <p:cNvPr id="1794099" name="Line 51"/>
          <p:cNvSpPr>
            <a:spLocks noChangeShapeType="1"/>
          </p:cNvSpPr>
          <p:nvPr/>
        </p:nvSpPr>
        <p:spPr bwMode="auto">
          <a:xfrm>
            <a:off x="7812088" y="4508500"/>
            <a:ext cx="381000" cy="0"/>
          </a:xfrm>
          <a:prstGeom prst="line">
            <a:avLst/>
          </a:prstGeom>
          <a:noFill/>
          <a:ln w="28575">
            <a:solidFill>
              <a:srgbClr val="FF0000"/>
            </a:solidFill>
            <a:round/>
          </a:ln>
        </p:spPr>
        <p:txBody>
          <a:bodyPr/>
          <a:lstStyle/>
          <a:p>
            <a:endParaRPr lang="zh-CN" altLang="en-US"/>
          </a:p>
        </p:txBody>
      </p:sp>
      <p:sp>
        <p:nvSpPr>
          <p:cNvPr id="1794100" name="Line 52"/>
          <p:cNvSpPr>
            <a:spLocks noChangeShapeType="1"/>
          </p:cNvSpPr>
          <p:nvPr/>
        </p:nvSpPr>
        <p:spPr bwMode="auto">
          <a:xfrm>
            <a:off x="8208963" y="4508500"/>
            <a:ext cx="0" cy="533400"/>
          </a:xfrm>
          <a:prstGeom prst="line">
            <a:avLst/>
          </a:prstGeom>
          <a:noFill/>
          <a:ln w="28575">
            <a:solidFill>
              <a:srgbClr val="FF0000"/>
            </a:solidFill>
            <a:round/>
            <a:tailEnd type="triangle" w="med" len="med"/>
          </a:ln>
        </p:spPr>
        <p:txBody>
          <a:bodyPr/>
          <a:lstStyle/>
          <a:p>
            <a:endParaRPr lang="zh-CN" altLang="en-US"/>
          </a:p>
        </p:txBody>
      </p:sp>
      <p:sp>
        <p:nvSpPr>
          <p:cNvPr id="1794101" name="Line 53"/>
          <p:cNvSpPr>
            <a:spLocks noChangeShapeType="1"/>
          </p:cNvSpPr>
          <p:nvPr/>
        </p:nvSpPr>
        <p:spPr bwMode="auto">
          <a:xfrm>
            <a:off x="8208963" y="5373688"/>
            <a:ext cx="0" cy="304800"/>
          </a:xfrm>
          <a:prstGeom prst="line">
            <a:avLst/>
          </a:prstGeom>
          <a:noFill/>
          <a:ln w="28575">
            <a:solidFill>
              <a:srgbClr val="FF0000"/>
            </a:solidFill>
            <a:round/>
          </a:ln>
        </p:spPr>
        <p:txBody>
          <a:bodyPr/>
          <a:lstStyle/>
          <a:p>
            <a:endParaRPr lang="zh-CN" altLang="en-US"/>
          </a:p>
        </p:txBody>
      </p:sp>
      <p:sp>
        <p:nvSpPr>
          <p:cNvPr id="1794102" name="Line 54"/>
          <p:cNvSpPr>
            <a:spLocks noChangeShapeType="1"/>
          </p:cNvSpPr>
          <p:nvPr/>
        </p:nvSpPr>
        <p:spPr bwMode="auto">
          <a:xfrm flipH="1">
            <a:off x="6516688" y="5661025"/>
            <a:ext cx="1676400" cy="0"/>
          </a:xfrm>
          <a:prstGeom prst="line">
            <a:avLst/>
          </a:prstGeom>
          <a:noFill/>
          <a:ln w="28575">
            <a:solidFill>
              <a:srgbClr val="FF0000"/>
            </a:solidFill>
            <a:round/>
          </a:ln>
        </p:spPr>
        <p:txBody>
          <a:bodyPr/>
          <a:lstStyle/>
          <a:p>
            <a:endParaRPr lang="zh-CN" altLang="en-US"/>
          </a:p>
        </p:txBody>
      </p:sp>
      <p:sp>
        <p:nvSpPr>
          <p:cNvPr id="1794103" name="Line 55"/>
          <p:cNvSpPr>
            <a:spLocks noChangeShapeType="1"/>
          </p:cNvSpPr>
          <p:nvPr/>
        </p:nvSpPr>
        <p:spPr bwMode="auto">
          <a:xfrm>
            <a:off x="6516688" y="5635625"/>
            <a:ext cx="0" cy="457200"/>
          </a:xfrm>
          <a:prstGeom prst="line">
            <a:avLst/>
          </a:prstGeom>
          <a:noFill/>
          <a:ln w="28575">
            <a:solidFill>
              <a:srgbClr val="FF0000"/>
            </a:solidFill>
            <a:round/>
            <a:tailEnd type="triangle" w="med" len="med"/>
          </a:ln>
        </p:spPr>
        <p:txBody>
          <a:bodyPr/>
          <a:lstStyle/>
          <a:p>
            <a:endParaRPr lang="zh-CN" altLang="en-US"/>
          </a:p>
        </p:txBody>
      </p:sp>
      <p:sp>
        <p:nvSpPr>
          <p:cNvPr id="1794104" name="Text Box 56"/>
          <p:cNvSpPr txBox="1">
            <a:spLocks noChangeArrowheads="1"/>
          </p:cNvSpPr>
          <p:nvPr/>
        </p:nvSpPr>
        <p:spPr bwMode="auto">
          <a:xfrm>
            <a:off x="6391275" y="1541463"/>
            <a:ext cx="6096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FF3300"/>
                </a:solidFill>
                <a:effectLst>
                  <a:outerShdw blurRad="38100" dist="38100" dir="2700000" algn="tl">
                    <a:srgbClr val="C0C0C0"/>
                  </a:outerShdw>
                </a:effectLst>
                <a:latin typeface="Times New Roman" panose="02020603050405020304" pitchFamily="18" charset="0"/>
              </a:rPr>
              <a:t>a</a:t>
            </a:r>
            <a:endParaRPr kumimoji="1" lang="en-US" altLang="zh-CN" sz="2800" b="1">
              <a:solidFill>
                <a:srgbClr val="FF3300"/>
              </a:solidFill>
              <a:effectLst>
                <a:outerShdw blurRad="38100" dist="38100" dir="2700000" algn="tl">
                  <a:srgbClr val="C0C0C0"/>
                </a:outerShdw>
              </a:effectLst>
              <a:latin typeface="Times New Roman" panose="02020603050405020304" pitchFamily="18" charset="0"/>
            </a:endParaRPr>
          </a:p>
        </p:txBody>
      </p:sp>
      <p:sp>
        <p:nvSpPr>
          <p:cNvPr id="1794105" name="Text Box 57"/>
          <p:cNvSpPr txBox="1">
            <a:spLocks noChangeArrowheads="1"/>
          </p:cNvSpPr>
          <p:nvPr/>
        </p:nvSpPr>
        <p:spPr bwMode="auto">
          <a:xfrm>
            <a:off x="8147050" y="2622550"/>
            <a:ext cx="457200" cy="519113"/>
          </a:xfrm>
          <a:prstGeom prst="rect">
            <a:avLst/>
          </a:prstGeom>
          <a:noFill/>
          <a:ln w="9525">
            <a:noFill/>
            <a:miter lim="800000"/>
          </a:ln>
          <a:effectLst/>
        </p:spPr>
        <p:txBody>
          <a:bodyPr>
            <a:spAutoFit/>
          </a:bodyPr>
          <a:lstStyle/>
          <a:p>
            <a:pPr>
              <a:spcBef>
                <a:spcPct val="50000"/>
              </a:spcBef>
              <a:defRPr/>
            </a:pPr>
            <a:r>
              <a:rPr kumimoji="1" lang="en-US" altLang="zh-CN" sz="2800" b="1">
                <a:solidFill>
                  <a:srgbClr val="FF0000"/>
                </a:solidFill>
                <a:effectLst>
                  <a:outerShdw blurRad="38100" dist="38100" dir="2700000" algn="tl">
                    <a:srgbClr val="C0C0C0"/>
                  </a:outerShdw>
                </a:effectLst>
                <a:latin typeface="Times New Roman" panose="02020603050405020304" pitchFamily="18" charset="0"/>
              </a:rPr>
              <a:t>c</a:t>
            </a:r>
            <a:endParaRPr kumimoji="1" lang="en-US" altLang="zh-CN" sz="2800" b="1">
              <a:solidFill>
                <a:srgbClr val="FF0000"/>
              </a:solidFill>
              <a:effectLst>
                <a:outerShdw blurRad="38100" dist="38100" dir="2700000" algn="tl">
                  <a:srgbClr val="C0C0C0"/>
                </a:outerShdw>
              </a:effectLst>
              <a:latin typeface="Times New Roman" panose="02020603050405020304" pitchFamily="18" charset="0"/>
            </a:endParaRPr>
          </a:p>
        </p:txBody>
      </p:sp>
      <p:sp>
        <p:nvSpPr>
          <p:cNvPr id="1794106" name="Text Box 58"/>
          <p:cNvSpPr txBox="1">
            <a:spLocks noChangeArrowheads="1"/>
          </p:cNvSpPr>
          <p:nvPr/>
        </p:nvSpPr>
        <p:spPr bwMode="auto">
          <a:xfrm>
            <a:off x="8243888" y="4581525"/>
            <a:ext cx="533400" cy="519113"/>
          </a:xfrm>
          <a:prstGeom prst="rect">
            <a:avLst/>
          </a:prstGeom>
          <a:noFill/>
          <a:ln w="9525">
            <a:noFill/>
            <a:miter lim="800000"/>
          </a:ln>
          <a:effectLst/>
        </p:spPr>
        <p:txBody>
          <a:bodyPr>
            <a:spAutoFit/>
          </a:bodyPr>
          <a:lstStyle/>
          <a:p>
            <a:pPr>
              <a:spcBef>
                <a:spcPct val="50000"/>
              </a:spcBef>
              <a:defRPr/>
            </a:pPr>
            <a:r>
              <a:rPr kumimoji="1" lang="en-US" altLang="zh-CN" sz="2800" b="1">
                <a:solidFill>
                  <a:srgbClr val="FF0000"/>
                </a:solidFill>
                <a:effectLst>
                  <a:outerShdw blurRad="38100" dist="38100" dir="2700000" algn="tl">
                    <a:srgbClr val="C0C0C0"/>
                  </a:outerShdw>
                </a:effectLst>
                <a:latin typeface="Times New Roman" panose="02020603050405020304" pitchFamily="18" charset="0"/>
              </a:rPr>
              <a:t>e</a:t>
            </a:r>
            <a:endParaRPr kumimoji="1" lang="en-US" altLang="zh-CN" sz="2800" b="1">
              <a:solidFill>
                <a:srgbClr val="FF0000"/>
              </a:solidFill>
              <a:effectLst>
                <a:outerShdw blurRad="38100" dist="38100" dir="2700000" algn="tl">
                  <a:srgbClr val="C0C0C0"/>
                </a:outerShdw>
              </a:effectLst>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794052"/>
                                        </p:tgtEl>
                                        <p:attrNameLst>
                                          <p:attrName>style.visibility</p:attrName>
                                        </p:attrNameLst>
                                      </p:cBhvr>
                                      <p:to>
                                        <p:strVal val="visible"/>
                                      </p:to>
                                    </p:set>
                                    <p:animEffect transition="in" filter="wipe(up)">
                                      <p:cBhvr>
                                        <p:cTn id="7" dur="500"/>
                                        <p:tgtEl>
                                          <p:spTgt spid="179405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794063"/>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499"/>
                                          </p:stCondLst>
                                        </p:cTn>
                                        <p:tgtEl>
                                          <p:spTgt spid="17940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794093"/>
                                        </p:tgtEl>
                                        <p:attrNameLst>
                                          <p:attrName>style.visibility</p:attrName>
                                        </p:attrNameLst>
                                      </p:cBhvr>
                                      <p:to>
                                        <p:strVal val="visible"/>
                                      </p:to>
                                    </p:set>
                                    <p:animEffect transition="in" filter="wipe(up)">
                                      <p:cBhvr>
                                        <p:cTn id="24" dur="500"/>
                                        <p:tgtEl>
                                          <p:spTgt spid="1794093"/>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1794094"/>
                                        </p:tgtEl>
                                        <p:attrNameLst>
                                          <p:attrName>style.visibility</p:attrName>
                                        </p:attrNameLst>
                                      </p:cBhvr>
                                      <p:to>
                                        <p:strVal val="visible"/>
                                      </p:to>
                                    </p:set>
                                    <p:animEffect transition="in" filter="wipe(left)">
                                      <p:cBhvr>
                                        <p:cTn id="28" dur="500"/>
                                        <p:tgtEl>
                                          <p:spTgt spid="1794094"/>
                                        </p:tgtEl>
                                      </p:cBhvr>
                                    </p:animEffect>
                                  </p:childTnLst>
                                </p:cTn>
                              </p:par>
                            </p:childTnLst>
                          </p:cTn>
                        </p:par>
                        <p:par>
                          <p:cTn id="29" fill="hold">
                            <p:stCondLst>
                              <p:cond delay="1000"/>
                            </p:stCondLst>
                            <p:childTnLst>
                              <p:par>
                                <p:cTn id="30" presetID="22" presetClass="entr" presetSubtype="1" fill="hold" grpId="0" nodeType="afterEffect">
                                  <p:stCondLst>
                                    <p:cond delay="0"/>
                                  </p:stCondLst>
                                  <p:childTnLst>
                                    <p:set>
                                      <p:cBhvr>
                                        <p:cTn id="31" dur="1" fill="hold">
                                          <p:stCondLst>
                                            <p:cond delay="0"/>
                                          </p:stCondLst>
                                        </p:cTn>
                                        <p:tgtEl>
                                          <p:spTgt spid="1794095"/>
                                        </p:tgtEl>
                                        <p:attrNameLst>
                                          <p:attrName>style.visibility</p:attrName>
                                        </p:attrNameLst>
                                      </p:cBhvr>
                                      <p:to>
                                        <p:strVal val="visible"/>
                                      </p:to>
                                    </p:set>
                                    <p:animEffect transition="in" filter="wipe(up)">
                                      <p:cBhvr>
                                        <p:cTn id="32" dur="500"/>
                                        <p:tgtEl>
                                          <p:spTgt spid="1794095"/>
                                        </p:tgtEl>
                                      </p:cBhvr>
                                    </p:animEffect>
                                  </p:childTnLst>
                                </p:cTn>
                              </p:par>
                            </p:childTnLst>
                          </p:cTn>
                        </p:par>
                        <p:par>
                          <p:cTn id="33" fill="hold">
                            <p:stCondLst>
                              <p:cond delay="1500"/>
                            </p:stCondLst>
                            <p:childTnLst>
                              <p:par>
                                <p:cTn id="34" presetID="22" presetClass="entr" presetSubtype="1" fill="hold" grpId="0" nodeType="afterEffect">
                                  <p:stCondLst>
                                    <p:cond delay="0"/>
                                  </p:stCondLst>
                                  <p:childTnLst>
                                    <p:set>
                                      <p:cBhvr>
                                        <p:cTn id="35" dur="1" fill="hold">
                                          <p:stCondLst>
                                            <p:cond delay="0"/>
                                          </p:stCondLst>
                                        </p:cTn>
                                        <p:tgtEl>
                                          <p:spTgt spid="1794096"/>
                                        </p:tgtEl>
                                        <p:attrNameLst>
                                          <p:attrName>style.visibility</p:attrName>
                                        </p:attrNameLst>
                                      </p:cBhvr>
                                      <p:to>
                                        <p:strVal val="visible"/>
                                      </p:to>
                                    </p:set>
                                    <p:animEffect transition="in" filter="wipe(up)">
                                      <p:cBhvr>
                                        <p:cTn id="36" dur="500"/>
                                        <p:tgtEl>
                                          <p:spTgt spid="1794096"/>
                                        </p:tgtEl>
                                      </p:cBhvr>
                                    </p:animEffect>
                                  </p:childTnLst>
                                </p:cTn>
                              </p:par>
                            </p:childTnLst>
                          </p:cTn>
                        </p:par>
                        <p:par>
                          <p:cTn id="37" fill="hold">
                            <p:stCondLst>
                              <p:cond delay="2000"/>
                            </p:stCondLst>
                            <p:childTnLst>
                              <p:par>
                                <p:cTn id="38" presetID="22" presetClass="entr" presetSubtype="2" fill="hold" grpId="0" nodeType="afterEffect">
                                  <p:stCondLst>
                                    <p:cond delay="0"/>
                                  </p:stCondLst>
                                  <p:childTnLst>
                                    <p:set>
                                      <p:cBhvr>
                                        <p:cTn id="39" dur="1" fill="hold">
                                          <p:stCondLst>
                                            <p:cond delay="0"/>
                                          </p:stCondLst>
                                        </p:cTn>
                                        <p:tgtEl>
                                          <p:spTgt spid="1794097"/>
                                        </p:tgtEl>
                                        <p:attrNameLst>
                                          <p:attrName>style.visibility</p:attrName>
                                        </p:attrNameLst>
                                      </p:cBhvr>
                                      <p:to>
                                        <p:strVal val="visible"/>
                                      </p:to>
                                    </p:set>
                                    <p:animEffect transition="in" filter="wipe(right)">
                                      <p:cBhvr>
                                        <p:cTn id="40" dur="500"/>
                                        <p:tgtEl>
                                          <p:spTgt spid="1794097"/>
                                        </p:tgtEl>
                                      </p:cBhvr>
                                    </p:animEffect>
                                  </p:childTnLst>
                                </p:cTn>
                              </p:par>
                            </p:childTnLst>
                          </p:cTn>
                        </p:par>
                        <p:par>
                          <p:cTn id="41" fill="hold">
                            <p:stCondLst>
                              <p:cond delay="2500"/>
                            </p:stCondLst>
                            <p:childTnLst>
                              <p:par>
                                <p:cTn id="42" presetID="22" presetClass="entr" presetSubtype="1" fill="hold" grpId="0" nodeType="afterEffect">
                                  <p:stCondLst>
                                    <p:cond delay="0"/>
                                  </p:stCondLst>
                                  <p:childTnLst>
                                    <p:set>
                                      <p:cBhvr>
                                        <p:cTn id="43" dur="1" fill="hold">
                                          <p:stCondLst>
                                            <p:cond delay="0"/>
                                          </p:stCondLst>
                                        </p:cTn>
                                        <p:tgtEl>
                                          <p:spTgt spid="1794098"/>
                                        </p:tgtEl>
                                        <p:attrNameLst>
                                          <p:attrName>style.visibility</p:attrName>
                                        </p:attrNameLst>
                                      </p:cBhvr>
                                      <p:to>
                                        <p:strVal val="visible"/>
                                      </p:to>
                                    </p:set>
                                    <p:animEffect transition="in" filter="wipe(up)">
                                      <p:cBhvr>
                                        <p:cTn id="44" dur="500"/>
                                        <p:tgtEl>
                                          <p:spTgt spid="1794098"/>
                                        </p:tgtEl>
                                      </p:cBhvr>
                                    </p:animEffect>
                                  </p:childTnLst>
                                </p:cTn>
                              </p:par>
                            </p:childTnLst>
                          </p:cTn>
                        </p:par>
                        <p:par>
                          <p:cTn id="45" fill="hold">
                            <p:stCondLst>
                              <p:cond delay="3000"/>
                            </p:stCondLst>
                            <p:childTnLst>
                              <p:par>
                                <p:cTn id="46" presetID="22" presetClass="entr" presetSubtype="8" fill="hold" grpId="0" nodeType="afterEffect">
                                  <p:stCondLst>
                                    <p:cond delay="0"/>
                                  </p:stCondLst>
                                  <p:childTnLst>
                                    <p:set>
                                      <p:cBhvr>
                                        <p:cTn id="47" dur="1" fill="hold">
                                          <p:stCondLst>
                                            <p:cond delay="0"/>
                                          </p:stCondLst>
                                        </p:cTn>
                                        <p:tgtEl>
                                          <p:spTgt spid="1794099"/>
                                        </p:tgtEl>
                                        <p:attrNameLst>
                                          <p:attrName>style.visibility</p:attrName>
                                        </p:attrNameLst>
                                      </p:cBhvr>
                                      <p:to>
                                        <p:strVal val="visible"/>
                                      </p:to>
                                    </p:set>
                                    <p:animEffect transition="in" filter="wipe(left)">
                                      <p:cBhvr>
                                        <p:cTn id="48" dur="500"/>
                                        <p:tgtEl>
                                          <p:spTgt spid="1794099"/>
                                        </p:tgtEl>
                                      </p:cBhvr>
                                    </p:animEffect>
                                  </p:childTnLst>
                                </p:cTn>
                              </p:par>
                            </p:childTnLst>
                          </p:cTn>
                        </p:par>
                        <p:par>
                          <p:cTn id="49" fill="hold">
                            <p:stCondLst>
                              <p:cond delay="3500"/>
                            </p:stCondLst>
                            <p:childTnLst>
                              <p:par>
                                <p:cTn id="50" presetID="22" presetClass="entr" presetSubtype="1" fill="hold" grpId="0" nodeType="afterEffect">
                                  <p:stCondLst>
                                    <p:cond delay="0"/>
                                  </p:stCondLst>
                                  <p:childTnLst>
                                    <p:set>
                                      <p:cBhvr>
                                        <p:cTn id="51" dur="1" fill="hold">
                                          <p:stCondLst>
                                            <p:cond delay="0"/>
                                          </p:stCondLst>
                                        </p:cTn>
                                        <p:tgtEl>
                                          <p:spTgt spid="1794100"/>
                                        </p:tgtEl>
                                        <p:attrNameLst>
                                          <p:attrName>style.visibility</p:attrName>
                                        </p:attrNameLst>
                                      </p:cBhvr>
                                      <p:to>
                                        <p:strVal val="visible"/>
                                      </p:to>
                                    </p:set>
                                    <p:animEffect transition="in" filter="wipe(up)">
                                      <p:cBhvr>
                                        <p:cTn id="52" dur="500"/>
                                        <p:tgtEl>
                                          <p:spTgt spid="1794100"/>
                                        </p:tgtEl>
                                      </p:cBhvr>
                                    </p:animEffect>
                                  </p:childTnLst>
                                </p:cTn>
                              </p:par>
                            </p:childTnLst>
                          </p:cTn>
                        </p:par>
                        <p:par>
                          <p:cTn id="53" fill="hold">
                            <p:stCondLst>
                              <p:cond delay="4000"/>
                            </p:stCondLst>
                            <p:childTnLst>
                              <p:par>
                                <p:cTn id="54" presetID="22" presetClass="entr" presetSubtype="1" fill="hold" grpId="0" nodeType="afterEffect">
                                  <p:stCondLst>
                                    <p:cond delay="0"/>
                                  </p:stCondLst>
                                  <p:childTnLst>
                                    <p:set>
                                      <p:cBhvr>
                                        <p:cTn id="55" dur="1" fill="hold">
                                          <p:stCondLst>
                                            <p:cond delay="0"/>
                                          </p:stCondLst>
                                        </p:cTn>
                                        <p:tgtEl>
                                          <p:spTgt spid="1794101"/>
                                        </p:tgtEl>
                                        <p:attrNameLst>
                                          <p:attrName>style.visibility</p:attrName>
                                        </p:attrNameLst>
                                      </p:cBhvr>
                                      <p:to>
                                        <p:strVal val="visible"/>
                                      </p:to>
                                    </p:set>
                                    <p:animEffect transition="in" filter="wipe(up)">
                                      <p:cBhvr>
                                        <p:cTn id="56" dur="500"/>
                                        <p:tgtEl>
                                          <p:spTgt spid="1794101"/>
                                        </p:tgtEl>
                                      </p:cBhvr>
                                    </p:animEffect>
                                  </p:childTnLst>
                                </p:cTn>
                              </p:par>
                            </p:childTnLst>
                          </p:cTn>
                        </p:par>
                        <p:par>
                          <p:cTn id="57" fill="hold">
                            <p:stCondLst>
                              <p:cond delay="4500"/>
                            </p:stCondLst>
                            <p:childTnLst>
                              <p:par>
                                <p:cTn id="58" presetID="22" presetClass="entr" presetSubtype="2" fill="hold" grpId="0" nodeType="afterEffect">
                                  <p:stCondLst>
                                    <p:cond delay="0"/>
                                  </p:stCondLst>
                                  <p:childTnLst>
                                    <p:set>
                                      <p:cBhvr>
                                        <p:cTn id="59" dur="1" fill="hold">
                                          <p:stCondLst>
                                            <p:cond delay="0"/>
                                          </p:stCondLst>
                                        </p:cTn>
                                        <p:tgtEl>
                                          <p:spTgt spid="1794102"/>
                                        </p:tgtEl>
                                        <p:attrNameLst>
                                          <p:attrName>style.visibility</p:attrName>
                                        </p:attrNameLst>
                                      </p:cBhvr>
                                      <p:to>
                                        <p:strVal val="visible"/>
                                      </p:to>
                                    </p:set>
                                    <p:animEffect transition="in" filter="wipe(right)">
                                      <p:cBhvr>
                                        <p:cTn id="60" dur="500"/>
                                        <p:tgtEl>
                                          <p:spTgt spid="1794102"/>
                                        </p:tgtEl>
                                      </p:cBhvr>
                                    </p:animEffect>
                                  </p:childTnLst>
                                </p:cTn>
                              </p:par>
                            </p:childTnLst>
                          </p:cTn>
                        </p:par>
                        <p:par>
                          <p:cTn id="61" fill="hold">
                            <p:stCondLst>
                              <p:cond delay="5000"/>
                            </p:stCondLst>
                            <p:childTnLst>
                              <p:par>
                                <p:cTn id="62" presetID="22" presetClass="entr" presetSubtype="1" fill="hold" grpId="0" nodeType="afterEffect">
                                  <p:stCondLst>
                                    <p:cond delay="0"/>
                                  </p:stCondLst>
                                  <p:childTnLst>
                                    <p:set>
                                      <p:cBhvr>
                                        <p:cTn id="63" dur="1" fill="hold">
                                          <p:stCondLst>
                                            <p:cond delay="0"/>
                                          </p:stCondLst>
                                        </p:cTn>
                                        <p:tgtEl>
                                          <p:spTgt spid="1794103"/>
                                        </p:tgtEl>
                                        <p:attrNameLst>
                                          <p:attrName>style.visibility</p:attrName>
                                        </p:attrNameLst>
                                      </p:cBhvr>
                                      <p:to>
                                        <p:strVal val="visible"/>
                                      </p:to>
                                    </p:set>
                                    <p:animEffect transition="in" filter="wipe(up)">
                                      <p:cBhvr>
                                        <p:cTn id="64" dur="500"/>
                                        <p:tgtEl>
                                          <p:spTgt spid="1794103"/>
                                        </p:tgtEl>
                                      </p:cBhvr>
                                    </p:animEffect>
                                  </p:childTnLst>
                                </p:cTn>
                              </p:par>
                            </p:childTnLst>
                          </p:cTn>
                        </p:par>
                        <p:par>
                          <p:cTn id="65" fill="hold">
                            <p:stCondLst>
                              <p:cond delay="5500"/>
                            </p:stCondLst>
                            <p:childTnLst>
                              <p:par>
                                <p:cTn id="66" presetID="1" presetClass="entr" presetSubtype="0" fill="hold" grpId="0" nodeType="afterEffect">
                                  <p:stCondLst>
                                    <p:cond delay="0"/>
                                  </p:stCondLst>
                                  <p:childTnLst>
                                    <p:set>
                                      <p:cBhvr>
                                        <p:cTn id="67" dur="1" fill="hold">
                                          <p:stCondLst>
                                            <p:cond delay="499"/>
                                          </p:stCondLst>
                                        </p:cTn>
                                        <p:tgtEl>
                                          <p:spTgt spid="1794104"/>
                                        </p:tgtEl>
                                        <p:attrNameLst>
                                          <p:attrName>style.visibility</p:attrName>
                                        </p:attrNameLst>
                                      </p:cBhvr>
                                      <p:to>
                                        <p:strVal val="visible"/>
                                      </p:to>
                                    </p:set>
                                  </p:childTnLst>
                                </p:cTn>
                              </p:par>
                            </p:childTnLst>
                          </p:cTn>
                        </p:par>
                        <p:par>
                          <p:cTn id="68" fill="hold">
                            <p:stCondLst>
                              <p:cond delay="6000"/>
                            </p:stCondLst>
                            <p:childTnLst>
                              <p:par>
                                <p:cTn id="69" presetID="1" presetClass="entr" presetSubtype="0" fill="hold" grpId="0" nodeType="afterEffect">
                                  <p:stCondLst>
                                    <p:cond delay="0"/>
                                  </p:stCondLst>
                                  <p:childTnLst>
                                    <p:set>
                                      <p:cBhvr>
                                        <p:cTn id="70" dur="1" fill="hold">
                                          <p:stCondLst>
                                            <p:cond delay="499"/>
                                          </p:stCondLst>
                                        </p:cTn>
                                        <p:tgtEl>
                                          <p:spTgt spid="1794105"/>
                                        </p:tgtEl>
                                        <p:attrNameLst>
                                          <p:attrName>style.visibility</p:attrName>
                                        </p:attrNameLst>
                                      </p:cBhvr>
                                      <p:to>
                                        <p:strVal val="visible"/>
                                      </p:to>
                                    </p:set>
                                  </p:childTnLst>
                                </p:cTn>
                              </p:par>
                            </p:childTnLst>
                          </p:cTn>
                        </p:par>
                        <p:par>
                          <p:cTn id="71" fill="hold">
                            <p:stCondLst>
                              <p:cond delay="6500"/>
                            </p:stCondLst>
                            <p:childTnLst>
                              <p:par>
                                <p:cTn id="72" presetID="1" presetClass="entr" presetSubtype="0" fill="hold" grpId="0" nodeType="afterEffect">
                                  <p:stCondLst>
                                    <p:cond delay="0"/>
                                  </p:stCondLst>
                                  <p:childTnLst>
                                    <p:set>
                                      <p:cBhvr>
                                        <p:cTn id="73" dur="1" fill="hold">
                                          <p:stCondLst>
                                            <p:cond delay="499"/>
                                          </p:stCondLst>
                                        </p:cTn>
                                        <p:tgtEl>
                                          <p:spTgt spid="1794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4063" grpId="0" autoUpdateAnimBg="0"/>
      <p:bldP spid="1794064" grpId="0" autoUpdateAnimBg="0"/>
      <p:bldP spid="1794093" grpId="0" animBg="1"/>
      <p:bldP spid="1794094" grpId="0" animBg="1"/>
      <p:bldP spid="1794095" grpId="0" animBg="1"/>
      <p:bldP spid="1794096" grpId="0" animBg="1"/>
      <p:bldP spid="1794097" grpId="0" animBg="1"/>
      <p:bldP spid="1794098" grpId="0" animBg="1"/>
      <p:bldP spid="1794099" grpId="0" animBg="1"/>
      <p:bldP spid="1794100" grpId="0" animBg="1"/>
      <p:bldP spid="1794101" grpId="0" animBg="1"/>
      <p:bldP spid="1794102" grpId="0" animBg="1"/>
      <p:bldP spid="1794103" grpId="0" animBg="1"/>
      <p:bldP spid="1794104" grpId="0" autoUpdateAnimBg="0"/>
      <p:bldP spid="1794105" grpId="0" autoUpdateAnimBg="0"/>
      <p:bldP spid="1794106"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sz="4000" b="1" smtClean="0">
                <a:solidFill>
                  <a:srgbClr val="0A0A0E"/>
                </a:solidFill>
                <a:latin typeface="Times New Roman" panose="02020603050405020304" pitchFamily="18" charset="0"/>
              </a:rPr>
              <a:t>白盒测试</a:t>
            </a:r>
            <a:endParaRPr lang="zh-CN" altLang="en-US" sz="4000" b="1" smtClean="0">
              <a:solidFill>
                <a:srgbClr val="0A0A0E"/>
              </a:solidFill>
              <a:latin typeface="Times New Roman" panose="02020603050405020304" pitchFamily="18" charset="0"/>
            </a:endParaRPr>
          </a:p>
        </p:txBody>
      </p:sp>
      <p:sp>
        <p:nvSpPr>
          <p:cNvPr id="48131" name="Rectangle 3"/>
          <p:cNvSpPr>
            <a:spLocks noGrp="1" noChangeArrowheads="1"/>
          </p:cNvSpPr>
          <p:nvPr>
            <p:ph type="body" idx="1"/>
          </p:nvPr>
        </p:nvSpPr>
        <p:spPr/>
        <p:txBody>
          <a:bodyPr/>
          <a:lstStyle/>
          <a:p>
            <a:pPr eaLnBrk="1" hangingPunct="1"/>
            <a:r>
              <a:rPr kumimoji="1" lang="zh-CN" altLang="en-US" b="1" smtClean="0">
                <a:solidFill>
                  <a:schemeClr val="tx1"/>
                </a:solidFill>
              </a:rPr>
              <a:t>判断覆盖法</a:t>
            </a:r>
            <a:endParaRPr kumimoji="1" lang="zh-CN" altLang="en-US" b="1" smtClean="0">
              <a:solidFill>
                <a:schemeClr val="tx1"/>
              </a:solidFill>
            </a:endParaRPr>
          </a:p>
        </p:txBody>
      </p:sp>
      <p:graphicFrame>
        <p:nvGraphicFramePr>
          <p:cNvPr id="1795076" name="Group 4"/>
          <p:cNvGraphicFramePr>
            <a:graphicFrameLocks noGrp="1"/>
          </p:cNvGraphicFramePr>
          <p:nvPr/>
        </p:nvGraphicFramePr>
        <p:xfrm>
          <a:off x="825500" y="2693988"/>
          <a:ext cx="3025775" cy="3179763"/>
        </p:xfrm>
        <a:graphic>
          <a:graphicData uri="http://schemas.openxmlformats.org/drawingml/2006/table">
            <a:tbl>
              <a:tblPr/>
              <a:tblGrid>
                <a:gridCol w="749300"/>
                <a:gridCol w="1141413"/>
                <a:gridCol w="1135062"/>
              </a:tblGrid>
              <a:tr h="9636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序号</a:t>
                      </a:r>
                      <a:endParaRPr kumimoji="0" lang="zh-CN" altLang="en-US" sz="2000" b="0"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测试</a:t>
                      </a:r>
                      <a:endParaRPr kumimoji="0" lang="zh-CN" altLang="en-US" sz="2000" b="0"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用例</a:t>
                      </a:r>
                      <a:endParaRPr kumimoji="0" lang="zh-CN" altLang="en-US" sz="2000" b="0"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覆盖</a:t>
                      </a:r>
                      <a:endParaRPr kumimoji="0" lang="zh-CN" altLang="en-US" sz="2000" b="0"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路径</a:t>
                      </a:r>
                      <a:endParaRPr kumimoji="0" lang="zh-CN" altLang="en-US" sz="2000" b="0"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11207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000" b="1" i="0" u="none" strike="noStrike" cap="none" normalizeH="0" baseline="0" smtClean="0">
                        <a:ln>
                          <a:noFill/>
                        </a:ln>
                        <a:solidFill>
                          <a:srgbClr val="0A0A0E"/>
                        </a:solidFill>
                        <a:effectLst>
                          <a:outerShdw blurRad="38100" dist="38100" dir="2700000" algn="tl">
                            <a:srgbClr val="C0C0C0"/>
                          </a:outerShdw>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000" b="1" i="0" u="none" strike="noStrike" cap="none" normalizeH="0" baseline="0" smtClean="0">
                        <a:ln>
                          <a:noFill/>
                        </a:ln>
                        <a:solidFill>
                          <a:srgbClr val="0A0A0E"/>
                        </a:solidFill>
                        <a:effectLst>
                          <a:outerShdw blurRad="38100" dist="38100" dir="2700000" algn="tl">
                            <a:srgbClr val="C0C0C0"/>
                          </a:outerShdw>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10953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2</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000" b="1" i="0" u="none" strike="noStrike" cap="none" normalizeH="0" baseline="0" smtClean="0">
                        <a:ln>
                          <a:noFill/>
                        </a:ln>
                        <a:solidFill>
                          <a:srgbClr val="0A0A0E"/>
                        </a:solidFill>
                        <a:effectLst>
                          <a:outerShdw blurRad="38100" dist="38100" dir="2700000" algn="tl">
                            <a:srgbClr val="C0C0C0"/>
                          </a:outerShdw>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000" b="1" i="0" u="none" strike="noStrike" cap="none" normalizeH="0" baseline="0" smtClean="0">
                        <a:ln>
                          <a:noFill/>
                        </a:ln>
                        <a:solidFill>
                          <a:srgbClr val="0A0A0E"/>
                        </a:solidFill>
                        <a:effectLst>
                          <a:outerShdw blurRad="38100" dist="38100" dir="2700000" algn="tl">
                            <a:srgbClr val="C0C0C0"/>
                          </a:outerShdw>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bl>
          </a:graphicData>
        </a:graphic>
      </p:graphicFrame>
      <p:sp>
        <p:nvSpPr>
          <p:cNvPr id="1795094" name="Text Box 22"/>
          <p:cNvSpPr txBox="1">
            <a:spLocks noChangeArrowheads="1"/>
          </p:cNvSpPr>
          <p:nvPr/>
        </p:nvSpPr>
        <p:spPr bwMode="auto">
          <a:xfrm>
            <a:off x="1739900" y="3609975"/>
            <a:ext cx="838200" cy="1187450"/>
          </a:xfrm>
          <a:prstGeom prst="rect">
            <a:avLst/>
          </a:prstGeom>
          <a:noFill/>
          <a:ln w="9525">
            <a:noFill/>
            <a:miter lim="800000"/>
          </a:ln>
        </p:spPr>
        <p:txBody>
          <a:bodyPr>
            <a:spAutoFit/>
          </a:bodyPr>
          <a:lstStyle/>
          <a:p>
            <a:pPr algn="ctr"/>
            <a:r>
              <a:rPr kumimoji="1" lang="en-US" altLang="zh-CN" b="1">
                <a:solidFill>
                  <a:srgbClr val="0033CC"/>
                </a:solidFill>
                <a:latin typeface="Times New Roman" panose="02020603050405020304" pitchFamily="18" charset="0"/>
              </a:rPr>
              <a:t>A=3</a:t>
            </a:r>
            <a:endParaRPr kumimoji="1" lang="en-US" altLang="zh-CN" b="1">
              <a:solidFill>
                <a:srgbClr val="0033CC"/>
              </a:solidFill>
              <a:latin typeface="Times New Roman" panose="02020603050405020304" pitchFamily="18" charset="0"/>
            </a:endParaRPr>
          </a:p>
          <a:p>
            <a:pPr algn="ctr"/>
            <a:r>
              <a:rPr kumimoji="1" lang="en-US" altLang="zh-CN" b="1">
                <a:solidFill>
                  <a:srgbClr val="0033CC"/>
                </a:solidFill>
                <a:latin typeface="Times New Roman" panose="02020603050405020304" pitchFamily="18" charset="0"/>
              </a:rPr>
              <a:t>B=0</a:t>
            </a:r>
            <a:endParaRPr kumimoji="1" lang="en-US" altLang="zh-CN" b="1">
              <a:solidFill>
                <a:srgbClr val="0033CC"/>
              </a:solidFill>
              <a:latin typeface="Times New Roman" panose="02020603050405020304" pitchFamily="18" charset="0"/>
            </a:endParaRPr>
          </a:p>
          <a:p>
            <a:pPr algn="ctr"/>
            <a:r>
              <a:rPr kumimoji="1" lang="en-US" altLang="zh-CN" b="1">
                <a:solidFill>
                  <a:srgbClr val="0033CC"/>
                </a:solidFill>
                <a:latin typeface="Times New Roman" panose="02020603050405020304" pitchFamily="18" charset="0"/>
              </a:rPr>
              <a:t>X=1</a:t>
            </a:r>
            <a:endParaRPr kumimoji="1" lang="en-US" altLang="zh-CN" b="1">
              <a:solidFill>
                <a:srgbClr val="0033CC"/>
              </a:solidFill>
              <a:latin typeface="Times New Roman" panose="02020603050405020304" pitchFamily="18" charset="0"/>
            </a:endParaRPr>
          </a:p>
        </p:txBody>
      </p:sp>
      <p:sp>
        <p:nvSpPr>
          <p:cNvPr id="1795095" name="Text Box 23"/>
          <p:cNvSpPr txBox="1">
            <a:spLocks noChangeArrowheads="1"/>
          </p:cNvSpPr>
          <p:nvPr/>
        </p:nvSpPr>
        <p:spPr bwMode="auto">
          <a:xfrm>
            <a:off x="2882900" y="3887788"/>
            <a:ext cx="838200" cy="519112"/>
          </a:xfrm>
          <a:prstGeom prst="rect">
            <a:avLst/>
          </a:prstGeom>
          <a:noFill/>
          <a:ln w="9525">
            <a:noFill/>
            <a:miter lim="800000"/>
          </a:ln>
        </p:spPr>
        <p:txBody>
          <a:bodyPr>
            <a:spAutoFit/>
          </a:bodyPr>
          <a:lstStyle/>
          <a:p>
            <a:pPr algn="ctr"/>
            <a:r>
              <a:rPr kumimoji="1" lang="en-US" altLang="zh-CN" sz="2800" b="1">
                <a:solidFill>
                  <a:srgbClr val="0033CC"/>
                </a:solidFill>
                <a:latin typeface="Times New Roman" panose="02020603050405020304" pitchFamily="18" charset="0"/>
              </a:rPr>
              <a:t>acd</a:t>
            </a:r>
            <a:endParaRPr kumimoji="1" lang="en-US" altLang="zh-CN" sz="2800" b="1">
              <a:solidFill>
                <a:srgbClr val="0033CC"/>
              </a:solidFill>
              <a:latin typeface="Times New Roman" panose="02020603050405020304" pitchFamily="18" charset="0"/>
            </a:endParaRPr>
          </a:p>
        </p:txBody>
      </p:sp>
      <p:sp>
        <p:nvSpPr>
          <p:cNvPr id="1795096" name="Text Box 24"/>
          <p:cNvSpPr txBox="1">
            <a:spLocks noChangeArrowheads="1"/>
          </p:cNvSpPr>
          <p:nvPr/>
        </p:nvSpPr>
        <p:spPr bwMode="auto">
          <a:xfrm>
            <a:off x="1739900" y="4711700"/>
            <a:ext cx="838200" cy="1187450"/>
          </a:xfrm>
          <a:prstGeom prst="rect">
            <a:avLst/>
          </a:prstGeom>
          <a:noFill/>
          <a:ln w="9525">
            <a:noFill/>
            <a:miter lim="800000"/>
          </a:ln>
        </p:spPr>
        <p:txBody>
          <a:bodyPr>
            <a:spAutoFit/>
          </a:bodyPr>
          <a:lstStyle/>
          <a:p>
            <a:pPr algn="ctr"/>
            <a:r>
              <a:rPr kumimoji="1" lang="en-US" altLang="zh-CN" b="1">
                <a:solidFill>
                  <a:srgbClr val="FF0000"/>
                </a:solidFill>
                <a:latin typeface="Times New Roman" panose="02020603050405020304" pitchFamily="18" charset="0"/>
              </a:rPr>
              <a:t>A=2</a:t>
            </a:r>
            <a:endParaRPr kumimoji="1" lang="en-US" altLang="zh-CN" b="1">
              <a:solidFill>
                <a:srgbClr val="FF0000"/>
              </a:solidFill>
              <a:latin typeface="Times New Roman" panose="02020603050405020304" pitchFamily="18" charset="0"/>
            </a:endParaRPr>
          </a:p>
          <a:p>
            <a:pPr algn="ctr"/>
            <a:r>
              <a:rPr kumimoji="1" lang="en-US" altLang="zh-CN" b="1">
                <a:solidFill>
                  <a:srgbClr val="FF0000"/>
                </a:solidFill>
                <a:latin typeface="Times New Roman" panose="02020603050405020304" pitchFamily="18" charset="0"/>
              </a:rPr>
              <a:t>B=1</a:t>
            </a:r>
            <a:endParaRPr kumimoji="1" lang="en-US" altLang="zh-CN" b="1">
              <a:solidFill>
                <a:srgbClr val="FF0000"/>
              </a:solidFill>
              <a:latin typeface="Times New Roman" panose="02020603050405020304" pitchFamily="18" charset="0"/>
            </a:endParaRPr>
          </a:p>
          <a:p>
            <a:pPr algn="ctr"/>
            <a:r>
              <a:rPr kumimoji="1" lang="en-US" altLang="zh-CN" b="1">
                <a:solidFill>
                  <a:srgbClr val="FF0000"/>
                </a:solidFill>
                <a:latin typeface="Times New Roman" panose="02020603050405020304" pitchFamily="18" charset="0"/>
              </a:rPr>
              <a:t>X=3</a:t>
            </a:r>
            <a:endParaRPr kumimoji="1" lang="en-US" altLang="zh-CN" b="1">
              <a:solidFill>
                <a:srgbClr val="FF0000"/>
              </a:solidFill>
              <a:latin typeface="Times New Roman" panose="02020603050405020304" pitchFamily="18" charset="0"/>
            </a:endParaRPr>
          </a:p>
        </p:txBody>
      </p:sp>
      <p:sp>
        <p:nvSpPr>
          <p:cNvPr id="1795097" name="Text Box 25"/>
          <p:cNvSpPr txBox="1">
            <a:spLocks noChangeArrowheads="1"/>
          </p:cNvSpPr>
          <p:nvPr/>
        </p:nvSpPr>
        <p:spPr bwMode="auto">
          <a:xfrm>
            <a:off x="2882900" y="5084763"/>
            <a:ext cx="838200" cy="519112"/>
          </a:xfrm>
          <a:prstGeom prst="rect">
            <a:avLst/>
          </a:prstGeom>
          <a:noFill/>
          <a:ln w="9525">
            <a:noFill/>
            <a:miter lim="800000"/>
          </a:ln>
        </p:spPr>
        <p:txBody>
          <a:bodyPr>
            <a:spAutoFit/>
          </a:bodyPr>
          <a:lstStyle/>
          <a:p>
            <a:pPr algn="ctr"/>
            <a:r>
              <a:rPr kumimoji="1" lang="en-US" altLang="zh-CN" sz="2800" b="1">
                <a:solidFill>
                  <a:srgbClr val="FF0000"/>
                </a:solidFill>
                <a:latin typeface="Times New Roman" panose="02020603050405020304" pitchFamily="18" charset="0"/>
              </a:rPr>
              <a:t>abe</a:t>
            </a:r>
            <a:endParaRPr kumimoji="1" lang="en-US" altLang="zh-CN" sz="2800" b="1">
              <a:solidFill>
                <a:srgbClr val="FF0000"/>
              </a:solidFill>
              <a:latin typeface="Times New Roman" panose="02020603050405020304" pitchFamily="18" charset="0"/>
            </a:endParaRPr>
          </a:p>
        </p:txBody>
      </p:sp>
      <p:grpSp>
        <p:nvGrpSpPr>
          <p:cNvPr id="2" name="Group 26"/>
          <p:cNvGrpSpPr/>
          <p:nvPr/>
        </p:nvGrpSpPr>
        <p:grpSpPr bwMode="auto">
          <a:xfrm>
            <a:off x="4102100" y="1525588"/>
            <a:ext cx="4800600" cy="4814887"/>
            <a:chOff x="2400" y="192"/>
            <a:chExt cx="3024" cy="3264"/>
          </a:xfrm>
        </p:grpSpPr>
        <p:sp>
          <p:nvSpPr>
            <p:cNvPr id="48181" name="Line 27"/>
            <p:cNvSpPr>
              <a:spLocks noChangeShapeType="1"/>
            </p:cNvSpPr>
            <p:nvPr/>
          </p:nvSpPr>
          <p:spPr bwMode="auto">
            <a:xfrm>
              <a:off x="3744" y="288"/>
              <a:ext cx="0" cy="384"/>
            </a:xfrm>
            <a:prstGeom prst="line">
              <a:avLst/>
            </a:prstGeom>
            <a:noFill/>
            <a:ln w="28575">
              <a:solidFill>
                <a:schemeClr val="tx1"/>
              </a:solidFill>
              <a:round/>
              <a:tailEnd type="triangle" w="med" len="med"/>
            </a:ln>
          </p:spPr>
          <p:txBody>
            <a:bodyPr/>
            <a:lstStyle/>
            <a:p>
              <a:endParaRPr lang="zh-CN" altLang="en-US"/>
            </a:p>
          </p:txBody>
        </p:sp>
        <p:sp>
          <p:nvSpPr>
            <p:cNvPr id="1795100" name="AutoShape 28"/>
            <p:cNvSpPr>
              <a:spLocks noChangeArrowheads="1"/>
            </p:cNvSpPr>
            <p:nvPr/>
          </p:nvSpPr>
          <p:spPr bwMode="auto">
            <a:xfrm>
              <a:off x="2880" y="672"/>
              <a:ext cx="1728" cy="576"/>
            </a:xfrm>
            <a:prstGeom prst="flowChartDecision">
              <a:avLst/>
            </a:prstGeom>
            <a:noFill/>
            <a:ln w="28575">
              <a:solidFill>
                <a:schemeClr val="tx1"/>
              </a:solidFill>
              <a:miter lim="800000"/>
            </a:ln>
            <a:effectLst/>
          </p:spPr>
          <p:txBody>
            <a:bodyPr wrap="none" anchor="ctr"/>
            <a:lstStyle/>
            <a:p>
              <a:pPr algn="ctr">
                <a:defRPr/>
              </a:pPr>
              <a:r>
                <a:rPr kumimoji="1" lang="en-US" altLang="zh-CN" b="1">
                  <a:effectLst>
                    <a:outerShdw blurRad="38100" dist="38100" dir="2700000" algn="tl">
                      <a:srgbClr val="C0C0C0"/>
                    </a:outerShdw>
                  </a:effectLst>
                  <a:latin typeface="Times New Roman" panose="02020603050405020304" pitchFamily="18" charset="0"/>
                </a:rPr>
                <a:t>A&gt;1AND</a:t>
              </a:r>
              <a:endParaRPr kumimoji="1" lang="en-US" altLang="zh-CN" b="1">
                <a:effectLst>
                  <a:outerShdw blurRad="38100" dist="38100" dir="2700000" algn="tl">
                    <a:srgbClr val="C0C0C0"/>
                  </a:outerShdw>
                </a:effectLst>
                <a:latin typeface="Times New Roman" panose="02020603050405020304" pitchFamily="18" charset="0"/>
              </a:endParaRPr>
            </a:p>
            <a:p>
              <a:pPr algn="ctr">
                <a:defRPr/>
              </a:pPr>
              <a:r>
                <a:rPr kumimoji="1" lang="en-US" altLang="zh-CN" b="1">
                  <a:effectLst>
                    <a:outerShdw blurRad="38100" dist="38100" dir="2700000" algn="tl">
                      <a:srgbClr val="C0C0C0"/>
                    </a:outerShdw>
                  </a:effectLst>
                  <a:latin typeface="Times New Roman" panose="02020603050405020304" pitchFamily="18" charset="0"/>
                </a:rPr>
                <a:t>B=0</a:t>
              </a:r>
              <a:endParaRPr kumimoji="1" lang="en-US" altLang="zh-CN" b="1">
                <a:effectLst>
                  <a:outerShdw blurRad="38100" dist="38100" dir="2700000" algn="tl">
                    <a:srgbClr val="C0C0C0"/>
                  </a:outerShdw>
                </a:effectLst>
                <a:latin typeface="Times New Roman" panose="02020603050405020304" pitchFamily="18" charset="0"/>
              </a:endParaRPr>
            </a:p>
          </p:txBody>
        </p:sp>
        <p:sp>
          <p:nvSpPr>
            <p:cNvPr id="48183" name="Line 29"/>
            <p:cNvSpPr>
              <a:spLocks noChangeShapeType="1"/>
            </p:cNvSpPr>
            <p:nvPr/>
          </p:nvSpPr>
          <p:spPr bwMode="auto">
            <a:xfrm>
              <a:off x="4608" y="960"/>
              <a:ext cx="240" cy="0"/>
            </a:xfrm>
            <a:prstGeom prst="line">
              <a:avLst/>
            </a:prstGeom>
            <a:noFill/>
            <a:ln w="28575">
              <a:solidFill>
                <a:schemeClr val="tx1"/>
              </a:solidFill>
              <a:round/>
            </a:ln>
          </p:spPr>
          <p:txBody>
            <a:bodyPr/>
            <a:lstStyle/>
            <a:p>
              <a:endParaRPr lang="zh-CN" altLang="en-US"/>
            </a:p>
          </p:txBody>
        </p:sp>
        <p:sp>
          <p:nvSpPr>
            <p:cNvPr id="48184" name="Line 30"/>
            <p:cNvSpPr>
              <a:spLocks noChangeShapeType="1"/>
            </p:cNvSpPr>
            <p:nvPr/>
          </p:nvSpPr>
          <p:spPr bwMode="auto">
            <a:xfrm>
              <a:off x="4848" y="960"/>
              <a:ext cx="0" cy="336"/>
            </a:xfrm>
            <a:prstGeom prst="line">
              <a:avLst/>
            </a:prstGeom>
            <a:noFill/>
            <a:ln w="28575">
              <a:solidFill>
                <a:schemeClr val="tx1"/>
              </a:solidFill>
              <a:round/>
              <a:tailEnd type="triangle" w="med" len="med"/>
            </a:ln>
          </p:spPr>
          <p:txBody>
            <a:bodyPr/>
            <a:lstStyle/>
            <a:p>
              <a:endParaRPr lang="zh-CN" altLang="en-US"/>
            </a:p>
          </p:txBody>
        </p:sp>
        <p:sp>
          <p:nvSpPr>
            <p:cNvPr id="1795103" name="Rectangle 31"/>
            <p:cNvSpPr>
              <a:spLocks noChangeArrowheads="1"/>
            </p:cNvSpPr>
            <p:nvPr/>
          </p:nvSpPr>
          <p:spPr bwMode="auto">
            <a:xfrm>
              <a:off x="4368" y="1296"/>
              <a:ext cx="1008" cy="287"/>
            </a:xfrm>
            <a:prstGeom prst="rect">
              <a:avLst/>
            </a:prstGeom>
            <a:noFill/>
            <a:ln w="28575">
              <a:solidFill>
                <a:schemeClr val="tx1"/>
              </a:solidFill>
              <a:miter lim="800000"/>
            </a:ln>
            <a:effectLst/>
          </p:spPr>
          <p:txBody>
            <a:bodyPr wrap="none" anchor="ctr"/>
            <a:lstStyle/>
            <a:p>
              <a:pPr algn="ctr">
                <a:defRPr/>
              </a:pPr>
              <a:r>
                <a:rPr kumimoji="1" lang="en-US" altLang="zh-CN" b="1">
                  <a:effectLst>
                    <a:outerShdw blurRad="38100" dist="38100" dir="2700000" algn="tl">
                      <a:srgbClr val="C0C0C0"/>
                    </a:outerShdw>
                  </a:effectLst>
                  <a:latin typeface="Times New Roman" panose="02020603050405020304" pitchFamily="18" charset="0"/>
                </a:rPr>
                <a:t>X=X/A</a:t>
              </a:r>
              <a:endParaRPr kumimoji="1" lang="en-US" altLang="zh-CN" b="1">
                <a:effectLst>
                  <a:outerShdw blurRad="38100" dist="38100" dir="2700000" algn="tl">
                    <a:srgbClr val="C0C0C0"/>
                  </a:outerShdw>
                </a:effectLst>
                <a:latin typeface="Times New Roman" panose="02020603050405020304" pitchFamily="18" charset="0"/>
              </a:endParaRPr>
            </a:p>
          </p:txBody>
        </p:sp>
        <p:sp>
          <p:nvSpPr>
            <p:cNvPr id="48186" name="Line 32"/>
            <p:cNvSpPr>
              <a:spLocks noChangeShapeType="1"/>
            </p:cNvSpPr>
            <p:nvPr/>
          </p:nvSpPr>
          <p:spPr bwMode="auto">
            <a:xfrm>
              <a:off x="2640" y="960"/>
              <a:ext cx="0" cy="816"/>
            </a:xfrm>
            <a:prstGeom prst="line">
              <a:avLst/>
            </a:prstGeom>
            <a:noFill/>
            <a:ln w="28575">
              <a:solidFill>
                <a:schemeClr val="tx1"/>
              </a:solidFill>
              <a:round/>
            </a:ln>
          </p:spPr>
          <p:txBody>
            <a:bodyPr/>
            <a:lstStyle/>
            <a:p>
              <a:endParaRPr lang="zh-CN" altLang="en-US"/>
            </a:p>
          </p:txBody>
        </p:sp>
        <p:sp>
          <p:nvSpPr>
            <p:cNvPr id="48187" name="Line 33"/>
            <p:cNvSpPr>
              <a:spLocks noChangeShapeType="1"/>
            </p:cNvSpPr>
            <p:nvPr/>
          </p:nvSpPr>
          <p:spPr bwMode="auto">
            <a:xfrm>
              <a:off x="2640" y="960"/>
              <a:ext cx="240" cy="0"/>
            </a:xfrm>
            <a:prstGeom prst="line">
              <a:avLst/>
            </a:prstGeom>
            <a:noFill/>
            <a:ln w="28575">
              <a:solidFill>
                <a:schemeClr val="tx1"/>
              </a:solidFill>
              <a:round/>
            </a:ln>
          </p:spPr>
          <p:txBody>
            <a:bodyPr/>
            <a:lstStyle/>
            <a:p>
              <a:endParaRPr lang="zh-CN" altLang="en-US"/>
            </a:p>
          </p:txBody>
        </p:sp>
        <p:sp>
          <p:nvSpPr>
            <p:cNvPr id="48188" name="Line 34"/>
            <p:cNvSpPr>
              <a:spLocks noChangeShapeType="1"/>
            </p:cNvSpPr>
            <p:nvPr/>
          </p:nvSpPr>
          <p:spPr bwMode="auto">
            <a:xfrm>
              <a:off x="4848" y="1584"/>
              <a:ext cx="0" cy="192"/>
            </a:xfrm>
            <a:prstGeom prst="line">
              <a:avLst/>
            </a:prstGeom>
            <a:noFill/>
            <a:ln w="28575">
              <a:solidFill>
                <a:schemeClr val="tx1"/>
              </a:solidFill>
              <a:round/>
            </a:ln>
          </p:spPr>
          <p:txBody>
            <a:bodyPr/>
            <a:lstStyle/>
            <a:p>
              <a:endParaRPr lang="zh-CN" altLang="en-US"/>
            </a:p>
          </p:txBody>
        </p:sp>
        <p:sp>
          <p:nvSpPr>
            <p:cNvPr id="48189" name="Line 35"/>
            <p:cNvSpPr>
              <a:spLocks noChangeShapeType="1"/>
            </p:cNvSpPr>
            <p:nvPr/>
          </p:nvSpPr>
          <p:spPr bwMode="auto">
            <a:xfrm>
              <a:off x="2640" y="1776"/>
              <a:ext cx="2208" cy="0"/>
            </a:xfrm>
            <a:prstGeom prst="line">
              <a:avLst/>
            </a:prstGeom>
            <a:noFill/>
            <a:ln w="28575">
              <a:solidFill>
                <a:schemeClr val="tx1"/>
              </a:solidFill>
              <a:round/>
            </a:ln>
          </p:spPr>
          <p:txBody>
            <a:bodyPr/>
            <a:lstStyle/>
            <a:p>
              <a:endParaRPr lang="zh-CN" altLang="en-US"/>
            </a:p>
          </p:txBody>
        </p:sp>
        <p:sp>
          <p:nvSpPr>
            <p:cNvPr id="48190" name="Line 36"/>
            <p:cNvSpPr>
              <a:spLocks noChangeShapeType="1"/>
            </p:cNvSpPr>
            <p:nvPr/>
          </p:nvSpPr>
          <p:spPr bwMode="auto">
            <a:xfrm>
              <a:off x="3792" y="1776"/>
              <a:ext cx="0" cy="288"/>
            </a:xfrm>
            <a:prstGeom prst="line">
              <a:avLst/>
            </a:prstGeom>
            <a:noFill/>
            <a:ln w="28575">
              <a:solidFill>
                <a:schemeClr val="tx1"/>
              </a:solidFill>
              <a:round/>
              <a:tailEnd type="triangle" w="med" len="med"/>
            </a:ln>
          </p:spPr>
          <p:txBody>
            <a:bodyPr/>
            <a:lstStyle/>
            <a:p>
              <a:endParaRPr lang="zh-CN" altLang="en-US"/>
            </a:p>
          </p:txBody>
        </p:sp>
        <p:sp>
          <p:nvSpPr>
            <p:cNvPr id="1795109" name="AutoShape 37"/>
            <p:cNvSpPr>
              <a:spLocks noChangeArrowheads="1"/>
            </p:cNvSpPr>
            <p:nvPr/>
          </p:nvSpPr>
          <p:spPr bwMode="auto">
            <a:xfrm>
              <a:off x="2928" y="2065"/>
              <a:ext cx="1728" cy="576"/>
            </a:xfrm>
            <a:prstGeom prst="flowChartDecision">
              <a:avLst/>
            </a:prstGeom>
            <a:noFill/>
            <a:ln w="28575">
              <a:solidFill>
                <a:schemeClr val="tx1"/>
              </a:solidFill>
              <a:miter lim="800000"/>
            </a:ln>
            <a:effectLst/>
          </p:spPr>
          <p:txBody>
            <a:bodyPr wrap="none" anchor="ctr"/>
            <a:lstStyle/>
            <a:p>
              <a:pPr algn="ctr">
                <a:defRPr/>
              </a:pPr>
              <a:r>
                <a:rPr kumimoji="1" lang="en-US" altLang="zh-CN" b="1">
                  <a:effectLst>
                    <a:outerShdw blurRad="38100" dist="38100" dir="2700000" algn="tl">
                      <a:srgbClr val="C0C0C0"/>
                    </a:outerShdw>
                  </a:effectLst>
                  <a:latin typeface="Times New Roman" panose="02020603050405020304" pitchFamily="18" charset="0"/>
                </a:rPr>
                <a:t>A=2OR </a:t>
              </a:r>
              <a:endParaRPr kumimoji="1" lang="en-US" altLang="zh-CN" b="1">
                <a:effectLst>
                  <a:outerShdw blurRad="38100" dist="38100" dir="2700000" algn="tl">
                    <a:srgbClr val="C0C0C0"/>
                  </a:outerShdw>
                </a:effectLst>
                <a:latin typeface="Times New Roman" panose="02020603050405020304" pitchFamily="18" charset="0"/>
              </a:endParaRPr>
            </a:p>
            <a:p>
              <a:pPr algn="ctr">
                <a:defRPr/>
              </a:pPr>
              <a:r>
                <a:rPr kumimoji="1" lang="en-US" altLang="zh-CN" b="1">
                  <a:effectLst>
                    <a:outerShdw blurRad="38100" dist="38100" dir="2700000" algn="tl">
                      <a:srgbClr val="C0C0C0"/>
                    </a:outerShdw>
                  </a:effectLst>
                  <a:latin typeface="Times New Roman" panose="02020603050405020304" pitchFamily="18" charset="0"/>
                </a:rPr>
                <a:t>X&gt;1</a:t>
              </a:r>
              <a:endParaRPr kumimoji="1" lang="en-US" altLang="zh-CN" b="1">
                <a:effectLst>
                  <a:outerShdw blurRad="38100" dist="38100" dir="2700000" algn="tl">
                    <a:srgbClr val="C0C0C0"/>
                  </a:outerShdw>
                </a:effectLst>
                <a:latin typeface="Times New Roman" panose="02020603050405020304" pitchFamily="18" charset="0"/>
              </a:endParaRPr>
            </a:p>
          </p:txBody>
        </p:sp>
        <p:sp>
          <p:nvSpPr>
            <p:cNvPr id="48192" name="Line 38"/>
            <p:cNvSpPr>
              <a:spLocks noChangeShapeType="1"/>
            </p:cNvSpPr>
            <p:nvPr/>
          </p:nvSpPr>
          <p:spPr bwMode="auto">
            <a:xfrm>
              <a:off x="4656" y="2352"/>
              <a:ext cx="240" cy="0"/>
            </a:xfrm>
            <a:prstGeom prst="line">
              <a:avLst/>
            </a:prstGeom>
            <a:noFill/>
            <a:ln w="28575">
              <a:solidFill>
                <a:schemeClr val="tx1"/>
              </a:solidFill>
              <a:round/>
            </a:ln>
          </p:spPr>
          <p:txBody>
            <a:bodyPr/>
            <a:lstStyle/>
            <a:p>
              <a:endParaRPr lang="zh-CN" altLang="en-US"/>
            </a:p>
          </p:txBody>
        </p:sp>
        <p:sp>
          <p:nvSpPr>
            <p:cNvPr id="48193" name="Line 39"/>
            <p:cNvSpPr>
              <a:spLocks noChangeShapeType="1"/>
            </p:cNvSpPr>
            <p:nvPr/>
          </p:nvSpPr>
          <p:spPr bwMode="auto">
            <a:xfrm>
              <a:off x="4896" y="2352"/>
              <a:ext cx="0" cy="336"/>
            </a:xfrm>
            <a:prstGeom prst="line">
              <a:avLst/>
            </a:prstGeom>
            <a:noFill/>
            <a:ln w="28575">
              <a:solidFill>
                <a:schemeClr val="tx1"/>
              </a:solidFill>
              <a:round/>
              <a:tailEnd type="triangle" w="med" len="med"/>
            </a:ln>
          </p:spPr>
          <p:txBody>
            <a:bodyPr/>
            <a:lstStyle/>
            <a:p>
              <a:endParaRPr lang="zh-CN" altLang="en-US"/>
            </a:p>
          </p:txBody>
        </p:sp>
        <p:sp>
          <p:nvSpPr>
            <p:cNvPr id="1795112" name="Rectangle 40"/>
            <p:cNvSpPr>
              <a:spLocks noChangeArrowheads="1"/>
            </p:cNvSpPr>
            <p:nvPr/>
          </p:nvSpPr>
          <p:spPr bwMode="auto">
            <a:xfrm>
              <a:off x="4416" y="2688"/>
              <a:ext cx="1008" cy="288"/>
            </a:xfrm>
            <a:prstGeom prst="rect">
              <a:avLst/>
            </a:prstGeom>
            <a:noFill/>
            <a:ln w="28575">
              <a:solidFill>
                <a:schemeClr val="tx1"/>
              </a:solidFill>
              <a:miter lim="800000"/>
            </a:ln>
            <a:effectLst/>
          </p:spPr>
          <p:txBody>
            <a:bodyPr wrap="none" anchor="ctr"/>
            <a:lstStyle/>
            <a:p>
              <a:pPr algn="ctr">
                <a:defRPr/>
              </a:pPr>
              <a:r>
                <a:rPr kumimoji="1" lang="en-US" altLang="zh-CN" b="1">
                  <a:effectLst>
                    <a:outerShdw blurRad="38100" dist="38100" dir="2700000" algn="tl">
                      <a:srgbClr val="C0C0C0"/>
                    </a:outerShdw>
                  </a:effectLst>
                  <a:latin typeface="Times New Roman" panose="02020603050405020304" pitchFamily="18" charset="0"/>
                </a:rPr>
                <a:t>X=X+1</a:t>
              </a:r>
              <a:endParaRPr kumimoji="1" lang="en-US" altLang="zh-CN" b="1">
                <a:effectLst>
                  <a:outerShdw blurRad="38100" dist="38100" dir="2700000" algn="tl">
                    <a:srgbClr val="C0C0C0"/>
                  </a:outerShdw>
                </a:effectLst>
                <a:latin typeface="Times New Roman" panose="02020603050405020304" pitchFamily="18" charset="0"/>
              </a:endParaRPr>
            </a:p>
          </p:txBody>
        </p:sp>
        <p:sp>
          <p:nvSpPr>
            <p:cNvPr id="48195" name="Line 41"/>
            <p:cNvSpPr>
              <a:spLocks noChangeShapeType="1"/>
            </p:cNvSpPr>
            <p:nvPr/>
          </p:nvSpPr>
          <p:spPr bwMode="auto">
            <a:xfrm>
              <a:off x="2688" y="2352"/>
              <a:ext cx="0" cy="816"/>
            </a:xfrm>
            <a:prstGeom prst="line">
              <a:avLst/>
            </a:prstGeom>
            <a:noFill/>
            <a:ln w="28575">
              <a:solidFill>
                <a:schemeClr val="tx1"/>
              </a:solidFill>
              <a:round/>
            </a:ln>
          </p:spPr>
          <p:txBody>
            <a:bodyPr/>
            <a:lstStyle/>
            <a:p>
              <a:endParaRPr lang="zh-CN" altLang="en-US"/>
            </a:p>
          </p:txBody>
        </p:sp>
        <p:sp>
          <p:nvSpPr>
            <p:cNvPr id="48196" name="Line 42"/>
            <p:cNvSpPr>
              <a:spLocks noChangeShapeType="1"/>
            </p:cNvSpPr>
            <p:nvPr/>
          </p:nvSpPr>
          <p:spPr bwMode="auto">
            <a:xfrm>
              <a:off x="2688" y="2352"/>
              <a:ext cx="240" cy="0"/>
            </a:xfrm>
            <a:prstGeom prst="line">
              <a:avLst/>
            </a:prstGeom>
            <a:noFill/>
            <a:ln w="28575">
              <a:solidFill>
                <a:schemeClr val="tx1"/>
              </a:solidFill>
              <a:round/>
            </a:ln>
          </p:spPr>
          <p:txBody>
            <a:bodyPr/>
            <a:lstStyle/>
            <a:p>
              <a:endParaRPr lang="zh-CN" altLang="en-US"/>
            </a:p>
          </p:txBody>
        </p:sp>
        <p:sp>
          <p:nvSpPr>
            <p:cNvPr id="48197" name="Line 43"/>
            <p:cNvSpPr>
              <a:spLocks noChangeShapeType="1"/>
            </p:cNvSpPr>
            <p:nvPr/>
          </p:nvSpPr>
          <p:spPr bwMode="auto">
            <a:xfrm>
              <a:off x="4896" y="2976"/>
              <a:ext cx="0" cy="192"/>
            </a:xfrm>
            <a:prstGeom prst="line">
              <a:avLst/>
            </a:prstGeom>
            <a:noFill/>
            <a:ln w="28575">
              <a:solidFill>
                <a:schemeClr val="tx1"/>
              </a:solidFill>
              <a:round/>
            </a:ln>
          </p:spPr>
          <p:txBody>
            <a:bodyPr/>
            <a:lstStyle/>
            <a:p>
              <a:endParaRPr lang="zh-CN" altLang="en-US"/>
            </a:p>
          </p:txBody>
        </p:sp>
        <p:sp>
          <p:nvSpPr>
            <p:cNvPr id="48198" name="Line 44"/>
            <p:cNvSpPr>
              <a:spLocks noChangeShapeType="1"/>
            </p:cNvSpPr>
            <p:nvPr/>
          </p:nvSpPr>
          <p:spPr bwMode="auto">
            <a:xfrm>
              <a:off x="2688" y="3168"/>
              <a:ext cx="2208" cy="0"/>
            </a:xfrm>
            <a:prstGeom prst="line">
              <a:avLst/>
            </a:prstGeom>
            <a:noFill/>
            <a:ln w="28575">
              <a:solidFill>
                <a:schemeClr val="tx1"/>
              </a:solidFill>
              <a:round/>
            </a:ln>
          </p:spPr>
          <p:txBody>
            <a:bodyPr/>
            <a:lstStyle/>
            <a:p>
              <a:endParaRPr lang="zh-CN" altLang="en-US"/>
            </a:p>
          </p:txBody>
        </p:sp>
        <p:sp>
          <p:nvSpPr>
            <p:cNvPr id="48199" name="Line 45"/>
            <p:cNvSpPr>
              <a:spLocks noChangeShapeType="1"/>
            </p:cNvSpPr>
            <p:nvPr/>
          </p:nvSpPr>
          <p:spPr bwMode="auto">
            <a:xfrm>
              <a:off x="3840" y="3168"/>
              <a:ext cx="0" cy="288"/>
            </a:xfrm>
            <a:prstGeom prst="line">
              <a:avLst/>
            </a:prstGeom>
            <a:noFill/>
            <a:ln w="28575">
              <a:solidFill>
                <a:schemeClr val="tx1"/>
              </a:solidFill>
              <a:round/>
              <a:tailEnd type="triangle" w="med" len="med"/>
            </a:ln>
          </p:spPr>
          <p:txBody>
            <a:bodyPr/>
            <a:lstStyle/>
            <a:p>
              <a:endParaRPr lang="zh-CN" altLang="en-US"/>
            </a:p>
          </p:txBody>
        </p:sp>
        <p:sp>
          <p:nvSpPr>
            <p:cNvPr id="1795118" name="Text Box 46"/>
            <p:cNvSpPr txBox="1">
              <a:spLocks noChangeArrowheads="1"/>
            </p:cNvSpPr>
            <p:nvPr/>
          </p:nvSpPr>
          <p:spPr bwMode="auto">
            <a:xfrm>
              <a:off x="4560" y="624"/>
              <a:ext cx="336" cy="352"/>
            </a:xfrm>
            <a:prstGeom prst="rect">
              <a:avLst/>
            </a:prstGeom>
            <a:noFill/>
            <a:ln w="9525">
              <a:noFill/>
              <a:miter lim="800000"/>
            </a:ln>
            <a:effectLst/>
          </p:spPr>
          <p:txBody>
            <a:bodyPr>
              <a:spAutoFit/>
            </a:bodyPr>
            <a:lstStyle/>
            <a:p>
              <a:pPr>
                <a:spcBef>
                  <a:spcPct val="50000"/>
                </a:spcBef>
                <a:defRPr/>
              </a:pPr>
              <a:r>
                <a:rPr kumimoji="1" lang="zh-CN" altLang="en-US" sz="2800" b="1">
                  <a:effectLst>
                    <a:outerShdw blurRad="38100" dist="38100" dir="2700000" algn="tl">
                      <a:srgbClr val="C0C0C0"/>
                    </a:outerShdw>
                  </a:effectLst>
                  <a:latin typeface="Times New Roman" panose="02020603050405020304" pitchFamily="18" charset="0"/>
                </a:rPr>
                <a:t>是</a:t>
              </a:r>
              <a:endParaRPr kumimoji="1" lang="zh-CN" altLang="en-US" sz="2800" b="1">
                <a:effectLst>
                  <a:outerShdw blurRad="38100" dist="38100" dir="2700000" algn="tl">
                    <a:srgbClr val="C0C0C0"/>
                  </a:outerShdw>
                </a:effectLst>
                <a:latin typeface="Times New Roman" panose="02020603050405020304" pitchFamily="18" charset="0"/>
              </a:endParaRPr>
            </a:p>
          </p:txBody>
        </p:sp>
        <p:sp>
          <p:nvSpPr>
            <p:cNvPr id="1795119" name="Text Box 47"/>
            <p:cNvSpPr txBox="1">
              <a:spLocks noChangeArrowheads="1"/>
            </p:cNvSpPr>
            <p:nvPr/>
          </p:nvSpPr>
          <p:spPr bwMode="auto">
            <a:xfrm>
              <a:off x="3744" y="192"/>
              <a:ext cx="336" cy="352"/>
            </a:xfrm>
            <a:prstGeom prst="rect">
              <a:avLst/>
            </a:prstGeom>
            <a:noFill/>
            <a:ln w="9525">
              <a:noFill/>
              <a:miter lim="800000"/>
            </a:ln>
            <a:effectLst/>
          </p:spPr>
          <p:txBody>
            <a:bodyPr>
              <a:spAutoFit/>
            </a:bodyPr>
            <a:lstStyle/>
            <a:p>
              <a:pPr>
                <a:spcBef>
                  <a:spcPct val="50000"/>
                </a:spcBef>
                <a:defRPr/>
              </a:pPr>
              <a:r>
                <a:rPr kumimoji="1" lang="en-US" altLang="zh-CN" sz="2800" b="1">
                  <a:effectLst>
                    <a:outerShdw blurRad="38100" dist="38100" dir="2700000" algn="tl">
                      <a:srgbClr val="C0C0C0"/>
                    </a:outerShdw>
                  </a:effectLst>
                  <a:latin typeface="Times New Roman" panose="02020603050405020304" pitchFamily="18" charset="0"/>
                </a:rPr>
                <a:t>a</a:t>
              </a:r>
              <a:endParaRPr kumimoji="1" lang="en-US" altLang="zh-CN" sz="2800" b="1">
                <a:effectLst>
                  <a:outerShdw blurRad="38100" dist="38100" dir="2700000" algn="tl">
                    <a:srgbClr val="C0C0C0"/>
                  </a:outerShdw>
                </a:effectLst>
                <a:latin typeface="Times New Roman" panose="02020603050405020304" pitchFamily="18" charset="0"/>
              </a:endParaRPr>
            </a:p>
          </p:txBody>
        </p:sp>
        <p:sp>
          <p:nvSpPr>
            <p:cNvPr id="1795120" name="Text Box 48"/>
            <p:cNvSpPr txBox="1">
              <a:spLocks noChangeArrowheads="1"/>
            </p:cNvSpPr>
            <p:nvPr/>
          </p:nvSpPr>
          <p:spPr bwMode="auto">
            <a:xfrm>
              <a:off x="4608" y="2016"/>
              <a:ext cx="336" cy="352"/>
            </a:xfrm>
            <a:prstGeom prst="rect">
              <a:avLst/>
            </a:prstGeom>
            <a:noFill/>
            <a:ln w="9525">
              <a:noFill/>
              <a:miter lim="800000"/>
            </a:ln>
            <a:effectLst/>
          </p:spPr>
          <p:txBody>
            <a:bodyPr>
              <a:spAutoFit/>
            </a:bodyPr>
            <a:lstStyle/>
            <a:p>
              <a:pPr>
                <a:spcBef>
                  <a:spcPct val="50000"/>
                </a:spcBef>
                <a:defRPr/>
              </a:pPr>
              <a:r>
                <a:rPr kumimoji="1" lang="zh-CN" altLang="en-US" sz="2800" b="1">
                  <a:effectLst>
                    <a:outerShdw blurRad="38100" dist="38100" dir="2700000" algn="tl">
                      <a:srgbClr val="C0C0C0"/>
                    </a:outerShdw>
                  </a:effectLst>
                  <a:latin typeface="Times New Roman" panose="02020603050405020304" pitchFamily="18" charset="0"/>
                </a:rPr>
                <a:t>是</a:t>
              </a:r>
              <a:endParaRPr kumimoji="1" lang="zh-CN" altLang="en-US" sz="2800" b="1">
                <a:effectLst>
                  <a:outerShdw blurRad="38100" dist="38100" dir="2700000" algn="tl">
                    <a:srgbClr val="C0C0C0"/>
                  </a:outerShdw>
                </a:effectLst>
                <a:latin typeface="Times New Roman" panose="02020603050405020304" pitchFamily="18" charset="0"/>
              </a:endParaRPr>
            </a:p>
          </p:txBody>
        </p:sp>
        <p:sp>
          <p:nvSpPr>
            <p:cNvPr id="1795121" name="Text Box 49"/>
            <p:cNvSpPr txBox="1">
              <a:spLocks noChangeArrowheads="1"/>
            </p:cNvSpPr>
            <p:nvPr/>
          </p:nvSpPr>
          <p:spPr bwMode="auto">
            <a:xfrm>
              <a:off x="2592" y="624"/>
              <a:ext cx="336" cy="352"/>
            </a:xfrm>
            <a:prstGeom prst="rect">
              <a:avLst/>
            </a:prstGeom>
            <a:noFill/>
            <a:ln w="9525">
              <a:noFill/>
              <a:miter lim="800000"/>
            </a:ln>
            <a:effectLst/>
          </p:spPr>
          <p:txBody>
            <a:bodyPr>
              <a:spAutoFit/>
            </a:bodyPr>
            <a:lstStyle/>
            <a:p>
              <a:pPr>
                <a:spcBef>
                  <a:spcPct val="50000"/>
                </a:spcBef>
                <a:defRPr/>
              </a:pPr>
              <a:r>
                <a:rPr kumimoji="1" lang="zh-CN" altLang="en-US" sz="2800" b="1">
                  <a:effectLst>
                    <a:outerShdw blurRad="38100" dist="38100" dir="2700000" algn="tl">
                      <a:srgbClr val="C0C0C0"/>
                    </a:outerShdw>
                  </a:effectLst>
                  <a:latin typeface="Times New Roman" panose="02020603050405020304" pitchFamily="18" charset="0"/>
                </a:rPr>
                <a:t>否</a:t>
              </a:r>
              <a:endParaRPr kumimoji="1" lang="zh-CN" altLang="en-US" sz="2800" b="1">
                <a:effectLst>
                  <a:outerShdw blurRad="38100" dist="38100" dir="2700000" algn="tl">
                    <a:srgbClr val="C0C0C0"/>
                  </a:outerShdw>
                </a:effectLst>
                <a:latin typeface="Times New Roman" panose="02020603050405020304" pitchFamily="18" charset="0"/>
              </a:endParaRPr>
            </a:p>
          </p:txBody>
        </p:sp>
        <p:sp>
          <p:nvSpPr>
            <p:cNvPr id="1795122" name="Text Box 50"/>
            <p:cNvSpPr txBox="1">
              <a:spLocks noChangeArrowheads="1"/>
            </p:cNvSpPr>
            <p:nvPr/>
          </p:nvSpPr>
          <p:spPr bwMode="auto">
            <a:xfrm>
              <a:off x="2400" y="1104"/>
              <a:ext cx="336" cy="352"/>
            </a:xfrm>
            <a:prstGeom prst="rect">
              <a:avLst/>
            </a:prstGeom>
            <a:noFill/>
            <a:ln w="9525">
              <a:noFill/>
              <a:miter lim="800000"/>
            </a:ln>
            <a:effectLst/>
          </p:spPr>
          <p:txBody>
            <a:bodyPr>
              <a:spAutoFit/>
            </a:bodyPr>
            <a:lstStyle/>
            <a:p>
              <a:pPr>
                <a:spcBef>
                  <a:spcPct val="50000"/>
                </a:spcBef>
                <a:defRPr/>
              </a:pPr>
              <a:r>
                <a:rPr kumimoji="1" lang="en-US" altLang="zh-CN" sz="2800" b="1">
                  <a:effectLst>
                    <a:outerShdw blurRad="38100" dist="38100" dir="2700000" algn="tl">
                      <a:srgbClr val="C0C0C0"/>
                    </a:outerShdw>
                  </a:effectLst>
                  <a:latin typeface="Times New Roman" panose="02020603050405020304" pitchFamily="18" charset="0"/>
                </a:rPr>
                <a:t>b</a:t>
              </a:r>
              <a:endParaRPr kumimoji="1" lang="en-US" altLang="zh-CN" sz="2800" b="1">
                <a:effectLst>
                  <a:outerShdw blurRad="38100" dist="38100" dir="2700000" algn="tl">
                    <a:srgbClr val="C0C0C0"/>
                  </a:outerShdw>
                </a:effectLst>
                <a:latin typeface="Times New Roman" panose="02020603050405020304" pitchFamily="18" charset="0"/>
              </a:endParaRPr>
            </a:p>
          </p:txBody>
        </p:sp>
        <p:sp>
          <p:nvSpPr>
            <p:cNvPr id="1795123" name="Text Box 51"/>
            <p:cNvSpPr txBox="1">
              <a:spLocks noChangeArrowheads="1"/>
            </p:cNvSpPr>
            <p:nvPr/>
          </p:nvSpPr>
          <p:spPr bwMode="auto">
            <a:xfrm>
              <a:off x="4848" y="960"/>
              <a:ext cx="336" cy="352"/>
            </a:xfrm>
            <a:prstGeom prst="rect">
              <a:avLst/>
            </a:prstGeom>
            <a:noFill/>
            <a:ln w="9525">
              <a:noFill/>
              <a:miter lim="800000"/>
            </a:ln>
            <a:effectLst/>
          </p:spPr>
          <p:txBody>
            <a:bodyPr>
              <a:spAutoFit/>
            </a:bodyPr>
            <a:lstStyle/>
            <a:p>
              <a:pPr>
                <a:spcBef>
                  <a:spcPct val="50000"/>
                </a:spcBef>
                <a:defRPr/>
              </a:pPr>
              <a:r>
                <a:rPr kumimoji="1" lang="en-US" altLang="zh-CN" sz="2800" b="1">
                  <a:effectLst>
                    <a:outerShdw blurRad="38100" dist="38100" dir="2700000" algn="tl">
                      <a:srgbClr val="C0C0C0"/>
                    </a:outerShdw>
                  </a:effectLst>
                  <a:latin typeface="Times New Roman" panose="02020603050405020304" pitchFamily="18" charset="0"/>
                </a:rPr>
                <a:t>c</a:t>
              </a:r>
              <a:endParaRPr kumimoji="1" lang="en-US" altLang="zh-CN" sz="2800" b="1">
                <a:effectLst>
                  <a:outerShdw blurRad="38100" dist="38100" dir="2700000" algn="tl">
                    <a:srgbClr val="C0C0C0"/>
                  </a:outerShdw>
                </a:effectLst>
                <a:latin typeface="Times New Roman" panose="02020603050405020304" pitchFamily="18" charset="0"/>
              </a:endParaRPr>
            </a:p>
          </p:txBody>
        </p:sp>
        <p:sp>
          <p:nvSpPr>
            <p:cNvPr id="1795124" name="Text Box 52"/>
            <p:cNvSpPr txBox="1">
              <a:spLocks noChangeArrowheads="1"/>
            </p:cNvSpPr>
            <p:nvPr/>
          </p:nvSpPr>
          <p:spPr bwMode="auto">
            <a:xfrm>
              <a:off x="2448" y="2352"/>
              <a:ext cx="336" cy="352"/>
            </a:xfrm>
            <a:prstGeom prst="rect">
              <a:avLst/>
            </a:prstGeom>
            <a:noFill/>
            <a:ln w="9525">
              <a:noFill/>
              <a:miter lim="800000"/>
            </a:ln>
            <a:effectLst/>
          </p:spPr>
          <p:txBody>
            <a:bodyPr>
              <a:spAutoFit/>
            </a:bodyPr>
            <a:lstStyle/>
            <a:p>
              <a:pPr>
                <a:spcBef>
                  <a:spcPct val="50000"/>
                </a:spcBef>
                <a:defRPr/>
              </a:pPr>
              <a:r>
                <a:rPr kumimoji="1" lang="en-US" altLang="zh-CN" sz="2800" b="1">
                  <a:effectLst>
                    <a:outerShdw blurRad="38100" dist="38100" dir="2700000" algn="tl">
                      <a:srgbClr val="C0C0C0"/>
                    </a:outerShdw>
                  </a:effectLst>
                  <a:latin typeface="Times New Roman" panose="02020603050405020304" pitchFamily="18" charset="0"/>
                </a:rPr>
                <a:t>d</a:t>
              </a:r>
              <a:endParaRPr kumimoji="1" lang="en-US" altLang="zh-CN" sz="2800" b="1">
                <a:effectLst>
                  <a:outerShdw blurRad="38100" dist="38100" dir="2700000" algn="tl">
                    <a:srgbClr val="C0C0C0"/>
                  </a:outerShdw>
                </a:effectLst>
                <a:latin typeface="Times New Roman" panose="02020603050405020304" pitchFamily="18" charset="0"/>
              </a:endParaRPr>
            </a:p>
          </p:txBody>
        </p:sp>
        <p:sp>
          <p:nvSpPr>
            <p:cNvPr id="1795125" name="Text Box 53"/>
            <p:cNvSpPr txBox="1">
              <a:spLocks noChangeArrowheads="1"/>
            </p:cNvSpPr>
            <p:nvPr/>
          </p:nvSpPr>
          <p:spPr bwMode="auto">
            <a:xfrm>
              <a:off x="4896" y="2352"/>
              <a:ext cx="336" cy="352"/>
            </a:xfrm>
            <a:prstGeom prst="rect">
              <a:avLst/>
            </a:prstGeom>
            <a:noFill/>
            <a:ln w="9525">
              <a:noFill/>
              <a:miter lim="800000"/>
            </a:ln>
            <a:effectLst/>
          </p:spPr>
          <p:txBody>
            <a:bodyPr>
              <a:spAutoFit/>
            </a:bodyPr>
            <a:lstStyle/>
            <a:p>
              <a:pPr>
                <a:spcBef>
                  <a:spcPct val="50000"/>
                </a:spcBef>
                <a:defRPr/>
              </a:pPr>
              <a:r>
                <a:rPr kumimoji="1" lang="en-US" altLang="zh-CN" sz="2800" b="1">
                  <a:effectLst>
                    <a:outerShdw blurRad="38100" dist="38100" dir="2700000" algn="tl">
                      <a:srgbClr val="C0C0C0"/>
                    </a:outerShdw>
                  </a:effectLst>
                  <a:latin typeface="Times New Roman" panose="02020603050405020304" pitchFamily="18" charset="0"/>
                </a:rPr>
                <a:t>e</a:t>
              </a:r>
              <a:endParaRPr kumimoji="1" lang="en-US" altLang="zh-CN" sz="2800" b="1">
                <a:effectLst>
                  <a:outerShdw blurRad="38100" dist="38100" dir="2700000" algn="tl">
                    <a:srgbClr val="C0C0C0"/>
                  </a:outerShdw>
                </a:effectLst>
                <a:latin typeface="Times New Roman" panose="02020603050405020304" pitchFamily="18" charset="0"/>
              </a:endParaRPr>
            </a:p>
          </p:txBody>
        </p:sp>
      </p:grpSp>
      <p:sp>
        <p:nvSpPr>
          <p:cNvPr id="1795126" name="Line 54"/>
          <p:cNvSpPr>
            <a:spLocks noChangeShapeType="1"/>
          </p:cNvSpPr>
          <p:nvPr/>
        </p:nvSpPr>
        <p:spPr bwMode="auto">
          <a:xfrm>
            <a:off x="6235700" y="1677988"/>
            <a:ext cx="0" cy="609600"/>
          </a:xfrm>
          <a:prstGeom prst="line">
            <a:avLst/>
          </a:prstGeom>
          <a:noFill/>
          <a:ln w="28575">
            <a:solidFill>
              <a:srgbClr val="0033CC"/>
            </a:solidFill>
            <a:round/>
            <a:tailEnd type="triangle" w="med" len="med"/>
          </a:ln>
        </p:spPr>
        <p:txBody>
          <a:bodyPr/>
          <a:lstStyle/>
          <a:p>
            <a:endParaRPr lang="zh-CN" altLang="en-US"/>
          </a:p>
        </p:txBody>
      </p:sp>
      <p:sp>
        <p:nvSpPr>
          <p:cNvPr id="1795127" name="Line 55"/>
          <p:cNvSpPr>
            <a:spLocks noChangeShapeType="1"/>
          </p:cNvSpPr>
          <p:nvPr/>
        </p:nvSpPr>
        <p:spPr bwMode="auto">
          <a:xfrm>
            <a:off x="7607300" y="2636838"/>
            <a:ext cx="381000" cy="0"/>
          </a:xfrm>
          <a:prstGeom prst="line">
            <a:avLst/>
          </a:prstGeom>
          <a:noFill/>
          <a:ln w="28575">
            <a:solidFill>
              <a:srgbClr val="0033CC"/>
            </a:solidFill>
            <a:round/>
          </a:ln>
        </p:spPr>
        <p:txBody>
          <a:bodyPr/>
          <a:lstStyle/>
          <a:p>
            <a:endParaRPr lang="zh-CN" altLang="en-US"/>
          </a:p>
        </p:txBody>
      </p:sp>
      <p:sp>
        <p:nvSpPr>
          <p:cNvPr id="1795128" name="Line 56"/>
          <p:cNvSpPr>
            <a:spLocks noChangeShapeType="1"/>
          </p:cNvSpPr>
          <p:nvPr/>
        </p:nvSpPr>
        <p:spPr bwMode="auto">
          <a:xfrm>
            <a:off x="7956550" y="2668588"/>
            <a:ext cx="31750" cy="460375"/>
          </a:xfrm>
          <a:prstGeom prst="line">
            <a:avLst/>
          </a:prstGeom>
          <a:noFill/>
          <a:ln w="28575">
            <a:solidFill>
              <a:srgbClr val="0033CC"/>
            </a:solidFill>
            <a:round/>
            <a:tailEnd type="triangle" w="med" len="med"/>
          </a:ln>
        </p:spPr>
        <p:txBody>
          <a:bodyPr/>
          <a:lstStyle/>
          <a:p>
            <a:endParaRPr lang="zh-CN" altLang="en-US"/>
          </a:p>
        </p:txBody>
      </p:sp>
      <p:sp>
        <p:nvSpPr>
          <p:cNvPr id="1795129" name="Line 57"/>
          <p:cNvSpPr>
            <a:spLocks noChangeShapeType="1"/>
          </p:cNvSpPr>
          <p:nvPr/>
        </p:nvSpPr>
        <p:spPr bwMode="auto">
          <a:xfrm>
            <a:off x="7988300" y="3586163"/>
            <a:ext cx="0" cy="304800"/>
          </a:xfrm>
          <a:prstGeom prst="line">
            <a:avLst/>
          </a:prstGeom>
          <a:noFill/>
          <a:ln w="28575">
            <a:solidFill>
              <a:srgbClr val="0033CC"/>
            </a:solidFill>
            <a:round/>
          </a:ln>
        </p:spPr>
        <p:txBody>
          <a:bodyPr/>
          <a:lstStyle/>
          <a:p>
            <a:endParaRPr lang="zh-CN" altLang="en-US"/>
          </a:p>
        </p:txBody>
      </p:sp>
      <p:sp>
        <p:nvSpPr>
          <p:cNvPr id="1795130" name="Line 58"/>
          <p:cNvSpPr>
            <a:spLocks noChangeShapeType="1"/>
          </p:cNvSpPr>
          <p:nvPr/>
        </p:nvSpPr>
        <p:spPr bwMode="auto">
          <a:xfrm flipH="1">
            <a:off x="6311900" y="3890963"/>
            <a:ext cx="1676400" cy="0"/>
          </a:xfrm>
          <a:prstGeom prst="line">
            <a:avLst/>
          </a:prstGeom>
          <a:noFill/>
          <a:ln w="28575">
            <a:solidFill>
              <a:srgbClr val="0033CC"/>
            </a:solidFill>
            <a:round/>
          </a:ln>
        </p:spPr>
        <p:txBody>
          <a:bodyPr/>
          <a:lstStyle/>
          <a:p>
            <a:endParaRPr lang="zh-CN" altLang="en-US"/>
          </a:p>
        </p:txBody>
      </p:sp>
      <p:sp>
        <p:nvSpPr>
          <p:cNvPr id="1795131" name="Line 59"/>
          <p:cNvSpPr>
            <a:spLocks noChangeShapeType="1"/>
          </p:cNvSpPr>
          <p:nvPr/>
        </p:nvSpPr>
        <p:spPr bwMode="auto">
          <a:xfrm>
            <a:off x="6311900" y="3890963"/>
            <a:ext cx="0" cy="457200"/>
          </a:xfrm>
          <a:prstGeom prst="line">
            <a:avLst/>
          </a:prstGeom>
          <a:noFill/>
          <a:ln w="28575">
            <a:solidFill>
              <a:srgbClr val="0033CC"/>
            </a:solidFill>
            <a:round/>
            <a:tailEnd type="triangle" w="med" len="med"/>
          </a:ln>
        </p:spPr>
        <p:txBody>
          <a:bodyPr/>
          <a:lstStyle/>
          <a:p>
            <a:endParaRPr lang="zh-CN" altLang="en-US"/>
          </a:p>
        </p:txBody>
      </p:sp>
      <p:sp>
        <p:nvSpPr>
          <p:cNvPr id="1795132" name="Line 60"/>
          <p:cNvSpPr>
            <a:spLocks noChangeShapeType="1"/>
          </p:cNvSpPr>
          <p:nvPr/>
        </p:nvSpPr>
        <p:spPr bwMode="auto">
          <a:xfrm>
            <a:off x="4559300" y="4684713"/>
            <a:ext cx="381000" cy="0"/>
          </a:xfrm>
          <a:prstGeom prst="line">
            <a:avLst/>
          </a:prstGeom>
          <a:noFill/>
          <a:ln w="28575">
            <a:solidFill>
              <a:srgbClr val="0033CC"/>
            </a:solidFill>
            <a:round/>
          </a:ln>
        </p:spPr>
        <p:txBody>
          <a:bodyPr/>
          <a:lstStyle/>
          <a:p>
            <a:endParaRPr lang="zh-CN" altLang="en-US"/>
          </a:p>
        </p:txBody>
      </p:sp>
      <p:sp>
        <p:nvSpPr>
          <p:cNvPr id="1795133" name="Line 61"/>
          <p:cNvSpPr>
            <a:spLocks noChangeShapeType="1"/>
          </p:cNvSpPr>
          <p:nvPr/>
        </p:nvSpPr>
        <p:spPr bwMode="auto">
          <a:xfrm>
            <a:off x="4559300" y="4684713"/>
            <a:ext cx="12700" cy="1223962"/>
          </a:xfrm>
          <a:prstGeom prst="line">
            <a:avLst/>
          </a:prstGeom>
          <a:noFill/>
          <a:ln w="28575">
            <a:solidFill>
              <a:srgbClr val="0033CC"/>
            </a:solidFill>
            <a:round/>
          </a:ln>
        </p:spPr>
        <p:txBody>
          <a:bodyPr/>
          <a:lstStyle/>
          <a:p>
            <a:endParaRPr lang="zh-CN" altLang="en-US"/>
          </a:p>
        </p:txBody>
      </p:sp>
      <p:sp>
        <p:nvSpPr>
          <p:cNvPr id="1795134" name="Line 62"/>
          <p:cNvSpPr>
            <a:spLocks noChangeShapeType="1"/>
          </p:cNvSpPr>
          <p:nvPr/>
        </p:nvSpPr>
        <p:spPr bwMode="auto">
          <a:xfrm flipH="1">
            <a:off x="4559300" y="5908675"/>
            <a:ext cx="1828800" cy="0"/>
          </a:xfrm>
          <a:prstGeom prst="line">
            <a:avLst/>
          </a:prstGeom>
          <a:noFill/>
          <a:ln w="28575">
            <a:solidFill>
              <a:srgbClr val="0033CC"/>
            </a:solidFill>
            <a:round/>
          </a:ln>
        </p:spPr>
        <p:txBody>
          <a:bodyPr/>
          <a:lstStyle/>
          <a:p>
            <a:endParaRPr lang="zh-CN" altLang="en-US"/>
          </a:p>
        </p:txBody>
      </p:sp>
      <p:sp>
        <p:nvSpPr>
          <p:cNvPr id="1795135" name="Line 63"/>
          <p:cNvSpPr>
            <a:spLocks noChangeShapeType="1"/>
          </p:cNvSpPr>
          <p:nvPr/>
        </p:nvSpPr>
        <p:spPr bwMode="auto">
          <a:xfrm>
            <a:off x="6388100" y="5908675"/>
            <a:ext cx="0" cy="457200"/>
          </a:xfrm>
          <a:prstGeom prst="line">
            <a:avLst/>
          </a:prstGeom>
          <a:noFill/>
          <a:ln w="28575">
            <a:solidFill>
              <a:srgbClr val="0033CC"/>
            </a:solidFill>
            <a:round/>
            <a:tailEnd type="triangle" w="med" len="med"/>
          </a:ln>
        </p:spPr>
        <p:txBody>
          <a:bodyPr/>
          <a:lstStyle/>
          <a:p>
            <a:endParaRPr lang="zh-CN" altLang="en-US"/>
          </a:p>
        </p:txBody>
      </p:sp>
      <p:sp>
        <p:nvSpPr>
          <p:cNvPr id="1795136" name="Text Box 64"/>
          <p:cNvSpPr txBox="1">
            <a:spLocks noChangeArrowheads="1"/>
          </p:cNvSpPr>
          <p:nvPr/>
        </p:nvSpPr>
        <p:spPr bwMode="auto">
          <a:xfrm>
            <a:off x="6235700" y="1525588"/>
            <a:ext cx="6096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0033CC"/>
                </a:solidFill>
                <a:effectLst>
                  <a:outerShdw blurRad="38100" dist="38100" dir="2700000" algn="tl">
                    <a:srgbClr val="C0C0C0"/>
                  </a:outerShdw>
                </a:effectLst>
                <a:latin typeface="Times New Roman" panose="02020603050405020304" pitchFamily="18" charset="0"/>
              </a:rPr>
              <a:t>a</a:t>
            </a:r>
            <a:endParaRPr kumimoji="1" lang="en-US" altLang="zh-CN" sz="2800" b="1">
              <a:solidFill>
                <a:srgbClr val="0033CC"/>
              </a:solidFill>
              <a:effectLst>
                <a:outerShdw blurRad="38100" dist="38100" dir="2700000" algn="tl">
                  <a:srgbClr val="C0C0C0"/>
                </a:outerShdw>
              </a:effectLst>
              <a:latin typeface="Times New Roman" panose="02020603050405020304" pitchFamily="18" charset="0"/>
            </a:endParaRPr>
          </a:p>
        </p:txBody>
      </p:sp>
      <p:sp>
        <p:nvSpPr>
          <p:cNvPr id="1795137" name="Text Box 65"/>
          <p:cNvSpPr txBox="1">
            <a:spLocks noChangeArrowheads="1"/>
          </p:cNvSpPr>
          <p:nvPr/>
        </p:nvSpPr>
        <p:spPr bwMode="auto">
          <a:xfrm>
            <a:off x="7956550" y="2652713"/>
            <a:ext cx="4572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0033CC"/>
                </a:solidFill>
                <a:effectLst>
                  <a:outerShdw blurRad="38100" dist="38100" dir="2700000" algn="tl">
                    <a:srgbClr val="C0C0C0"/>
                  </a:outerShdw>
                </a:effectLst>
                <a:latin typeface="Times New Roman" panose="02020603050405020304" pitchFamily="18" charset="0"/>
              </a:rPr>
              <a:t>c</a:t>
            </a:r>
            <a:endParaRPr kumimoji="1" lang="en-US" altLang="zh-CN" sz="2800" b="1">
              <a:solidFill>
                <a:srgbClr val="0033CC"/>
              </a:solidFill>
              <a:effectLst>
                <a:outerShdw blurRad="38100" dist="38100" dir="2700000" algn="tl">
                  <a:srgbClr val="C0C0C0"/>
                </a:outerShdw>
              </a:effectLst>
              <a:latin typeface="Times New Roman" panose="02020603050405020304" pitchFamily="18" charset="0"/>
            </a:endParaRPr>
          </a:p>
        </p:txBody>
      </p:sp>
      <p:sp>
        <p:nvSpPr>
          <p:cNvPr id="1795138" name="Text Box 66"/>
          <p:cNvSpPr txBox="1">
            <a:spLocks noChangeArrowheads="1"/>
          </p:cNvSpPr>
          <p:nvPr/>
        </p:nvSpPr>
        <p:spPr bwMode="auto">
          <a:xfrm>
            <a:off x="4178300" y="4724400"/>
            <a:ext cx="533400" cy="519113"/>
          </a:xfrm>
          <a:prstGeom prst="rect">
            <a:avLst/>
          </a:prstGeom>
          <a:noFill/>
          <a:ln w="9525">
            <a:noFill/>
            <a:miter lim="800000"/>
          </a:ln>
          <a:effectLst/>
        </p:spPr>
        <p:txBody>
          <a:bodyPr>
            <a:spAutoFit/>
          </a:bodyPr>
          <a:lstStyle/>
          <a:p>
            <a:pPr>
              <a:spcBef>
                <a:spcPct val="50000"/>
              </a:spcBef>
              <a:defRPr/>
            </a:pPr>
            <a:r>
              <a:rPr kumimoji="1" lang="en-US" altLang="zh-CN" sz="2800" b="1">
                <a:solidFill>
                  <a:srgbClr val="0033CC"/>
                </a:solidFill>
                <a:effectLst>
                  <a:outerShdw blurRad="38100" dist="38100" dir="2700000" algn="tl">
                    <a:srgbClr val="C0C0C0"/>
                  </a:outerShdw>
                </a:effectLst>
                <a:latin typeface="Times New Roman" panose="02020603050405020304" pitchFamily="18" charset="0"/>
              </a:rPr>
              <a:t>d</a:t>
            </a:r>
            <a:endParaRPr kumimoji="1" lang="en-US" altLang="zh-CN" sz="2800" b="1">
              <a:solidFill>
                <a:srgbClr val="0033CC"/>
              </a:solidFill>
              <a:effectLst>
                <a:outerShdw blurRad="38100" dist="38100" dir="2700000" algn="tl">
                  <a:srgbClr val="C0C0C0"/>
                </a:outerShdw>
              </a:effectLst>
              <a:latin typeface="Times New Roman" panose="02020603050405020304" pitchFamily="18" charset="0"/>
            </a:endParaRPr>
          </a:p>
        </p:txBody>
      </p:sp>
      <p:sp>
        <p:nvSpPr>
          <p:cNvPr id="1795139" name="Line 67"/>
          <p:cNvSpPr>
            <a:spLocks noChangeShapeType="1"/>
          </p:cNvSpPr>
          <p:nvPr/>
        </p:nvSpPr>
        <p:spPr bwMode="auto">
          <a:xfrm>
            <a:off x="4483100" y="2668588"/>
            <a:ext cx="381000" cy="0"/>
          </a:xfrm>
          <a:prstGeom prst="line">
            <a:avLst/>
          </a:prstGeom>
          <a:noFill/>
          <a:ln w="28575">
            <a:solidFill>
              <a:srgbClr val="FF0000"/>
            </a:solidFill>
            <a:round/>
          </a:ln>
        </p:spPr>
        <p:txBody>
          <a:bodyPr/>
          <a:lstStyle/>
          <a:p>
            <a:endParaRPr lang="zh-CN" altLang="en-US"/>
          </a:p>
        </p:txBody>
      </p:sp>
      <p:sp>
        <p:nvSpPr>
          <p:cNvPr id="1795140" name="Line 68"/>
          <p:cNvSpPr>
            <a:spLocks noChangeShapeType="1"/>
          </p:cNvSpPr>
          <p:nvPr/>
        </p:nvSpPr>
        <p:spPr bwMode="auto">
          <a:xfrm flipH="1">
            <a:off x="4483100" y="2668588"/>
            <a:ext cx="17463" cy="1222375"/>
          </a:xfrm>
          <a:prstGeom prst="line">
            <a:avLst/>
          </a:prstGeom>
          <a:noFill/>
          <a:ln w="28575">
            <a:solidFill>
              <a:srgbClr val="FF0000"/>
            </a:solidFill>
            <a:round/>
          </a:ln>
        </p:spPr>
        <p:txBody>
          <a:bodyPr/>
          <a:lstStyle/>
          <a:p>
            <a:endParaRPr lang="zh-CN" altLang="en-US"/>
          </a:p>
        </p:txBody>
      </p:sp>
      <p:sp>
        <p:nvSpPr>
          <p:cNvPr id="1795141" name="Line 69"/>
          <p:cNvSpPr>
            <a:spLocks noChangeShapeType="1"/>
          </p:cNvSpPr>
          <p:nvPr/>
        </p:nvSpPr>
        <p:spPr bwMode="auto">
          <a:xfrm>
            <a:off x="4483100" y="3890963"/>
            <a:ext cx="1828800" cy="0"/>
          </a:xfrm>
          <a:prstGeom prst="line">
            <a:avLst/>
          </a:prstGeom>
          <a:noFill/>
          <a:ln w="28575">
            <a:solidFill>
              <a:srgbClr val="FF0000"/>
            </a:solidFill>
            <a:round/>
          </a:ln>
        </p:spPr>
        <p:txBody>
          <a:bodyPr/>
          <a:lstStyle/>
          <a:p>
            <a:endParaRPr lang="zh-CN" altLang="en-US"/>
          </a:p>
        </p:txBody>
      </p:sp>
      <p:sp>
        <p:nvSpPr>
          <p:cNvPr id="1795142" name="Line 70"/>
          <p:cNvSpPr>
            <a:spLocks noChangeShapeType="1"/>
          </p:cNvSpPr>
          <p:nvPr/>
        </p:nvSpPr>
        <p:spPr bwMode="auto">
          <a:xfrm>
            <a:off x="6300788" y="3860800"/>
            <a:ext cx="0" cy="457200"/>
          </a:xfrm>
          <a:prstGeom prst="line">
            <a:avLst/>
          </a:prstGeom>
          <a:noFill/>
          <a:ln w="28575">
            <a:solidFill>
              <a:srgbClr val="FF0000"/>
            </a:solidFill>
            <a:round/>
            <a:tailEnd type="triangle" w="med" len="med"/>
          </a:ln>
        </p:spPr>
        <p:txBody>
          <a:bodyPr/>
          <a:lstStyle/>
          <a:p>
            <a:endParaRPr lang="zh-CN" altLang="en-US"/>
          </a:p>
        </p:txBody>
      </p:sp>
      <p:sp>
        <p:nvSpPr>
          <p:cNvPr id="1795143" name="Line 71"/>
          <p:cNvSpPr>
            <a:spLocks noChangeShapeType="1"/>
          </p:cNvSpPr>
          <p:nvPr/>
        </p:nvSpPr>
        <p:spPr bwMode="auto">
          <a:xfrm>
            <a:off x="7683500" y="4684713"/>
            <a:ext cx="381000" cy="0"/>
          </a:xfrm>
          <a:prstGeom prst="line">
            <a:avLst/>
          </a:prstGeom>
          <a:noFill/>
          <a:ln w="28575">
            <a:solidFill>
              <a:srgbClr val="FF0000"/>
            </a:solidFill>
            <a:round/>
          </a:ln>
        </p:spPr>
        <p:txBody>
          <a:bodyPr/>
          <a:lstStyle/>
          <a:p>
            <a:endParaRPr lang="zh-CN" altLang="en-US"/>
          </a:p>
        </p:txBody>
      </p:sp>
      <p:sp>
        <p:nvSpPr>
          <p:cNvPr id="1795144" name="Line 72"/>
          <p:cNvSpPr>
            <a:spLocks noChangeShapeType="1"/>
          </p:cNvSpPr>
          <p:nvPr/>
        </p:nvSpPr>
        <p:spPr bwMode="auto">
          <a:xfrm>
            <a:off x="8064500" y="4654550"/>
            <a:ext cx="0" cy="533400"/>
          </a:xfrm>
          <a:prstGeom prst="line">
            <a:avLst/>
          </a:prstGeom>
          <a:noFill/>
          <a:ln w="28575">
            <a:solidFill>
              <a:srgbClr val="FF0000"/>
            </a:solidFill>
            <a:round/>
            <a:tailEnd type="triangle" w="med" len="med"/>
          </a:ln>
        </p:spPr>
        <p:txBody>
          <a:bodyPr/>
          <a:lstStyle/>
          <a:p>
            <a:endParaRPr lang="zh-CN" altLang="en-US"/>
          </a:p>
        </p:txBody>
      </p:sp>
      <p:sp>
        <p:nvSpPr>
          <p:cNvPr id="1795145" name="Line 73"/>
          <p:cNvSpPr>
            <a:spLocks noChangeShapeType="1"/>
          </p:cNvSpPr>
          <p:nvPr/>
        </p:nvSpPr>
        <p:spPr bwMode="auto">
          <a:xfrm>
            <a:off x="8064500" y="5619750"/>
            <a:ext cx="0" cy="304800"/>
          </a:xfrm>
          <a:prstGeom prst="line">
            <a:avLst/>
          </a:prstGeom>
          <a:noFill/>
          <a:ln w="28575">
            <a:solidFill>
              <a:srgbClr val="FF0000"/>
            </a:solidFill>
            <a:round/>
          </a:ln>
        </p:spPr>
        <p:txBody>
          <a:bodyPr/>
          <a:lstStyle/>
          <a:p>
            <a:endParaRPr lang="zh-CN" altLang="en-US"/>
          </a:p>
        </p:txBody>
      </p:sp>
      <p:sp>
        <p:nvSpPr>
          <p:cNvPr id="1795146" name="Line 74"/>
          <p:cNvSpPr>
            <a:spLocks noChangeShapeType="1"/>
          </p:cNvSpPr>
          <p:nvPr/>
        </p:nvSpPr>
        <p:spPr bwMode="auto">
          <a:xfrm flipH="1">
            <a:off x="6388100" y="5924550"/>
            <a:ext cx="1676400" cy="0"/>
          </a:xfrm>
          <a:prstGeom prst="line">
            <a:avLst/>
          </a:prstGeom>
          <a:noFill/>
          <a:ln w="28575">
            <a:solidFill>
              <a:srgbClr val="FF0000"/>
            </a:solidFill>
            <a:round/>
          </a:ln>
        </p:spPr>
        <p:txBody>
          <a:bodyPr/>
          <a:lstStyle/>
          <a:p>
            <a:endParaRPr lang="zh-CN" altLang="en-US"/>
          </a:p>
        </p:txBody>
      </p:sp>
      <p:sp>
        <p:nvSpPr>
          <p:cNvPr id="1795147" name="Line 75"/>
          <p:cNvSpPr>
            <a:spLocks noChangeShapeType="1"/>
          </p:cNvSpPr>
          <p:nvPr/>
        </p:nvSpPr>
        <p:spPr bwMode="auto">
          <a:xfrm>
            <a:off x="6372225" y="5924550"/>
            <a:ext cx="0" cy="457200"/>
          </a:xfrm>
          <a:prstGeom prst="line">
            <a:avLst/>
          </a:prstGeom>
          <a:noFill/>
          <a:ln w="28575">
            <a:solidFill>
              <a:srgbClr val="FF0000"/>
            </a:solidFill>
            <a:round/>
            <a:tailEnd type="triangle" w="med" len="med"/>
          </a:ln>
        </p:spPr>
        <p:txBody>
          <a:bodyPr/>
          <a:lstStyle/>
          <a:p>
            <a:endParaRPr lang="zh-CN" altLang="en-US"/>
          </a:p>
        </p:txBody>
      </p:sp>
      <p:sp>
        <p:nvSpPr>
          <p:cNvPr id="1795148" name="Line 76"/>
          <p:cNvSpPr>
            <a:spLocks noChangeShapeType="1"/>
          </p:cNvSpPr>
          <p:nvPr/>
        </p:nvSpPr>
        <p:spPr bwMode="auto">
          <a:xfrm>
            <a:off x="6227763" y="1677988"/>
            <a:ext cx="0" cy="609600"/>
          </a:xfrm>
          <a:prstGeom prst="line">
            <a:avLst/>
          </a:prstGeom>
          <a:noFill/>
          <a:ln w="28575">
            <a:solidFill>
              <a:srgbClr val="FF0000"/>
            </a:solidFill>
            <a:round/>
            <a:tailEnd type="triangle" w="med" len="med"/>
          </a:ln>
        </p:spPr>
        <p:txBody>
          <a:bodyPr/>
          <a:lstStyle/>
          <a:p>
            <a:endParaRPr lang="zh-CN" altLang="en-US"/>
          </a:p>
        </p:txBody>
      </p:sp>
      <p:sp>
        <p:nvSpPr>
          <p:cNvPr id="1795149" name="Text Box 77"/>
          <p:cNvSpPr txBox="1">
            <a:spLocks noChangeArrowheads="1"/>
          </p:cNvSpPr>
          <p:nvPr/>
        </p:nvSpPr>
        <p:spPr bwMode="auto">
          <a:xfrm>
            <a:off x="5626100" y="1525588"/>
            <a:ext cx="6096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FF0000"/>
                </a:solidFill>
                <a:effectLst>
                  <a:outerShdw blurRad="38100" dist="38100" dir="2700000" algn="tl">
                    <a:srgbClr val="C0C0C0"/>
                  </a:outerShdw>
                </a:effectLst>
                <a:latin typeface="Times New Roman" panose="02020603050405020304" pitchFamily="18" charset="0"/>
              </a:rPr>
              <a:t>a</a:t>
            </a:r>
            <a:endParaRPr kumimoji="1" lang="en-US" altLang="zh-CN" sz="2800" b="1">
              <a:solidFill>
                <a:srgbClr val="FF0000"/>
              </a:solidFill>
              <a:effectLst>
                <a:outerShdw blurRad="38100" dist="38100" dir="2700000" algn="tl">
                  <a:srgbClr val="C0C0C0"/>
                </a:outerShdw>
              </a:effectLst>
              <a:latin typeface="Times New Roman" panose="02020603050405020304" pitchFamily="18" charset="0"/>
            </a:endParaRPr>
          </a:p>
        </p:txBody>
      </p:sp>
      <p:sp>
        <p:nvSpPr>
          <p:cNvPr id="1795150" name="Text Box 78"/>
          <p:cNvSpPr txBox="1">
            <a:spLocks noChangeArrowheads="1"/>
          </p:cNvSpPr>
          <p:nvPr/>
        </p:nvSpPr>
        <p:spPr bwMode="auto">
          <a:xfrm>
            <a:off x="4102100" y="2824163"/>
            <a:ext cx="6096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FF0000"/>
                </a:solidFill>
                <a:effectLst>
                  <a:outerShdw blurRad="38100" dist="38100" dir="2700000" algn="tl">
                    <a:srgbClr val="C0C0C0"/>
                  </a:outerShdw>
                </a:effectLst>
                <a:latin typeface="Times New Roman" panose="02020603050405020304" pitchFamily="18" charset="0"/>
              </a:rPr>
              <a:t>b</a:t>
            </a:r>
            <a:endParaRPr kumimoji="1" lang="en-US" altLang="zh-CN" sz="2800" b="1">
              <a:solidFill>
                <a:srgbClr val="FF0000"/>
              </a:solidFill>
              <a:effectLst>
                <a:outerShdw blurRad="38100" dist="38100" dir="2700000" algn="tl">
                  <a:srgbClr val="C0C0C0"/>
                </a:outerShdw>
              </a:effectLst>
              <a:latin typeface="Times New Roman" panose="02020603050405020304" pitchFamily="18" charset="0"/>
            </a:endParaRPr>
          </a:p>
        </p:txBody>
      </p:sp>
      <p:sp>
        <p:nvSpPr>
          <p:cNvPr id="1795151" name="Text Box 79"/>
          <p:cNvSpPr txBox="1">
            <a:spLocks noChangeArrowheads="1"/>
          </p:cNvSpPr>
          <p:nvPr/>
        </p:nvSpPr>
        <p:spPr bwMode="auto">
          <a:xfrm>
            <a:off x="8064500" y="4684713"/>
            <a:ext cx="6096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FF0000"/>
                </a:solidFill>
                <a:effectLst>
                  <a:outerShdw blurRad="38100" dist="38100" dir="2700000" algn="tl">
                    <a:srgbClr val="C0C0C0"/>
                  </a:outerShdw>
                </a:effectLst>
                <a:latin typeface="Times New Roman" panose="02020603050405020304" pitchFamily="18" charset="0"/>
              </a:rPr>
              <a:t>e</a:t>
            </a:r>
            <a:endParaRPr kumimoji="1" lang="en-US" altLang="zh-CN" sz="2800" b="1">
              <a:solidFill>
                <a:srgbClr val="FF0000"/>
              </a:solidFill>
              <a:effectLst>
                <a:outerShdw blurRad="38100" dist="38100" dir="2700000" algn="tl">
                  <a:srgbClr val="C0C0C0"/>
                </a:outerShdw>
              </a:effectLst>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95076"/>
                                        </p:tgtEl>
                                        <p:attrNameLst>
                                          <p:attrName>style.visibility</p:attrName>
                                        </p:attrNameLst>
                                      </p:cBhvr>
                                      <p:to>
                                        <p:strVal val="visible"/>
                                      </p:to>
                                    </p:set>
                                    <p:animEffect transition="in" filter="wipe(up)">
                                      <p:cBhvr>
                                        <p:cTn id="12" dur="500"/>
                                        <p:tgtEl>
                                          <p:spTgt spid="179507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79509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795095"/>
                                        </p:tgtEl>
                                        <p:attrNameLst>
                                          <p:attrName>style.visibility</p:attrName>
                                        </p:attrNameLst>
                                      </p:cBhvr>
                                      <p:to>
                                        <p:strVal val="visible"/>
                                      </p:to>
                                    </p:se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1795126"/>
                                        </p:tgtEl>
                                        <p:attrNameLst>
                                          <p:attrName>style.visibility</p:attrName>
                                        </p:attrNameLst>
                                      </p:cBhvr>
                                      <p:to>
                                        <p:strVal val="visible"/>
                                      </p:to>
                                    </p:set>
                                    <p:animEffect transition="in" filter="wipe(up)">
                                      <p:cBhvr>
                                        <p:cTn id="24" dur="500"/>
                                        <p:tgtEl>
                                          <p:spTgt spid="1795126"/>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795127"/>
                                        </p:tgtEl>
                                        <p:attrNameLst>
                                          <p:attrName>style.visibility</p:attrName>
                                        </p:attrNameLst>
                                      </p:cBhvr>
                                      <p:to>
                                        <p:strVal val="visible"/>
                                      </p:to>
                                    </p:set>
                                    <p:animEffect transition="in" filter="wipe(left)">
                                      <p:cBhvr>
                                        <p:cTn id="28" dur="500"/>
                                        <p:tgtEl>
                                          <p:spTgt spid="1795127"/>
                                        </p:tgtEl>
                                      </p:cBhvr>
                                    </p:animEffect>
                                  </p:childTnLst>
                                </p:cTn>
                              </p:par>
                            </p:childTnLst>
                          </p:cTn>
                        </p:par>
                        <p:par>
                          <p:cTn id="29" fill="hold">
                            <p:stCondLst>
                              <p:cond delay="1500"/>
                            </p:stCondLst>
                            <p:childTnLst>
                              <p:par>
                                <p:cTn id="30" presetID="22" presetClass="entr" presetSubtype="1" fill="hold" grpId="0" nodeType="afterEffect">
                                  <p:stCondLst>
                                    <p:cond delay="0"/>
                                  </p:stCondLst>
                                  <p:childTnLst>
                                    <p:set>
                                      <p:cBhvr>
                                        <p:cTn id="31" dur="1" fill="hold">
                                          <p:stCondLst>
                                            <p:cond delay="0"/>
                                          </p:stCondLst>
                                        </p:cTn>
                                        <p:tgtEl>
                                          <p:spTgt spid="1795128"/>
                                        </p:tgtEl>
                                        <p:attrNameLst>
                                          <p:attrName>style.visibility</p:attrName>
                                        </p:attrNameLst>
                                      </p:cBhvr>
                                      <p:to>
                                        <p:strVal val="visible"/>
                                      </p:to>
                                    </p:set>
                                    <p:animEffect transition="in" filter="wipe(up)">
                                      <p:cBhvr>
                                        <p:cTn id="32" dur="500"/>
                                        <p:tgtEl>
                                          <p:spTgt spid="1795128"/>
                                        </p:tgtEl>
                                      </p:cBhvr>
                                    </p:animEffect>
                                  </p:childTnLst>
                                </p:cTn>
                              </p:par>
                            </p:childTnLst>
                          </p:cTn>
                        </p:par>
                        <p:par>
                          <p:cTn id="33" fill="hold">
                            <p:stCondLst>
                              <p:cond delay="2000"/>
                            </p:stCondLst>
                            <p:childTnLst>
                              <p:par>
                                <p:cTn id="34" presetID="22" presetClass="entr" presetSubtype="1" fill="hold" grpId="0" nodeType="afterEffect">
                                  <p:stCondLst>
                                    <p:cond delay="0"/>
                                  </p:stCondLst>
                                  <p:childTnLst>
                                    <p:set>
                                      <p:cBhvr>
                                        <p:cTn id="35" dur="1" fill="hold">
                                          <p:stCondLst>
                                            <p:cond delay="0"/>
                                          </p:stCondLst>
                                        </p:cTn>
                                        <p:tgtEl>
                                          <p:spTgt spid="1795129"/>
                                        </p:tgtEl>
                                        <p:attrNameLst>
                                          <p:attrName>style.visibility</p:attrName>
                                        </p:attrNameLst>
                                      </p:cBhvr>
                                      <p:to>
                                        <p:strVal val="visible"/>
                                      </p:to>
                                    </p:set>
                                    <p:animEffect transition="in" filter="wipe(up)">
                                      <p:cBhvr>
                                        <p:cTn id="36" dur="500"/>
                                        <p:tgtEl>
                                          <p:spTgt spid="1795129"/>
                                        </p:tgtEl>
                                      </p:cBhvr>
                                    </p:animEffect>
                                  </p:childTnLst>
                                </p:cTn>
                              </p:par>
                            </p:childTnLst>
                          </p:cTn>
                        </p:par>
                        <p:par>
                          <p:cTn id="37" fill="hold">
                            <p:stCondLst>
                              <p:cond delay="2500"/>
                            </p:stCondLst>
                            <p:childTnLst>
                              <p:par>
                                <p:cTn id="38" presetID="22" presetClass="entr" presetSubtype="2" fill="hold" grpId="0" nodeType="afterEffect">
                                  <p:stCondLst>
                                    <p:cond delay="0"/>
                                  </p:stCondLst>
                                  <p:childTnLst>
                                    <p:set>
                                      <p:cBhvr>
                                        <p:cTn id="39" dur="1" fill="hold">
                                          <p:stCondLst>
                                            <p:cond delay="0"/>
                                          </p:stCondLst>
                                        </p:cTn>
                                        <p:tgtEl>
                                          <p:spTgt spid="1795130"/>
                                        </p:tgtEl>
                                        <p:attrNameLst>
                                          <p:attrName>style.visibility</p:attrName>
                                        </p:attrNameLst>
                                      </p:cBhvr>
                                      <p:to>
                                        <p:strVal val="visible"/>
                                      </p:to>
                                    </p:set>
                                    <p:animEffect transition="in" filter="wipe(right)">
                                      <p:cBhvr>
                                        <p:cTn id="40" dur="500"/>
                                        <p:tgtEl>
                                          <p:spTgt spid="1795130"/>
                                        </p:tgtEl>
                                      </p:cBhvr>
                                    </p:animEffect>
                                  </p:childTnLst>
                                </p:cTn>
                              </p:par>
                            </p:childTnLst>
                          </p:cTn>
                        </p:par>
                        <p:par>
                          <p:cTn id="41" fill="hold">
                            <p:stCondLst>
                              <p:cond delay="3000"/>
                            </p:stCondLst>
                            <p:childTnLst>
                              <p:par>
                                <p:cTn id="42" presetID="22" presetClass="entr" presetSubtype="1" fill="hold" grpId="0" nodeType="afterEffect">
                                  <p:stCondLst>
                                    <p:cond delay="0"/>
                                  </p:stCondLst>
                                  <p:childTnLst>
                                    <p:set>
                                      <p:cBhvr>
                                        <p:cTn id="43" dur="1" fill="hold">
                                          <p:stCondLst>
                                            <p:cond delay="0"/>
                                          </p:stCondLst>
                                        </p:cTn>
                                        <p:tgtEl>
                                          <p:spTgt spid="1795131"/>
                                        </p:tgtEl>
                                        <p:attrNameLst>
                                          <p:attrName>style.visibility</p:attrName>
                                        </p:attrNameLst>
                                      </p:cBhvr>
                                      <p:to>
                                        <p:strVal val="visible"/>
                                      </p:to>
                                    </p:set>
                                    <p:animEffect transition="in" filter="wipe(up)">
                                      <p:cBhvr>
                                        <p:cTn id="44" dur="500"/>
                                        <p:tgtEl>
                                          <p:spTgt spid="1795131"/>
                                        </p:tgtEl>
                                      </p:cBhvr>
                                    </p:animEffect>
                                  </p:childTnLst>
                                </p:cTn>
                              </p:par>
                            </p:childTnLst>
                          </p:cTn>
                        </p:par>
                        <p:par>
                          <p:cTn id="45" fill="hold">
                            <p:stCondLst>
                              <p:cond delay="3500"/>
                            </p:stCondLst>
                            <p:childTnLst>
                              <p:par>
                                <p:cTn id="46" presetID="22" presetClass="entr" presetSubtype="2" fill="hold" grpId="0" nodeType="afterEffect">
                                  <p:stCondLst>
                                    <p:cond delay="0"/>
                                  </p:stCondLst>
                                  <p:childTnLst>
                                    <p:set>
                                      <p:cBhvr>
                                        <p:cTn id="47" dur="1" fill="hold">
                                          <p:stCondLst>
                                            <p:cond delay="0"/>
                                          </p:stCondLst>
                                        </p:cTn>
                                        <p:tgtEl>
                                          <p:spTgt spid="1795132"/>
                                        </p:tgtEl>
                                        <p:attrNameLst>
                                          <p:attrName>style.visibility</p:attrName>
                                        </p:attrNameLst>
                                      </p:cBhvr>
                                      <p:to>
                                        <p:strVal val="visible"/>
                                      </p:to>
                                    </p:set>
                                    <p:animEffect transition="in" filter="wipe(right)">
                                      <p:cBhvr>
                                        <p:cTn id="48" dur="500"/>
                                        <p:tgtEl>
                                          <p:spTgt spid="1795132"/>
                                        </p:tgtEl>
                                      </p:cBhvr>
                                    </p:animEffect>
                                  </p:childTnLst>
                                </p:cTn>
                              </p:par>
                            </p:childTnLst>
                          </p:cTn>
                        </p:par>
                        <p:par>
                          <p:cTn id="49" fill="hold">
                            <p:stCondLst>
                              <p:cond delay="4000"/>
                            </p:stCondLst>
                            <p:childTnLst>
                              <p:par>
                                <p:cTn id="50" presetID="22" presetClass="entr" presetSubtype="1" fill="hold" grpId="0" nodeType="afterEffect">
                                  <p:stCondLst>
                                    <p:cond delay="0"/>
                                  </p:stCondLst>
                                  <p:childTnLst>
                                    <p:set>
                                      <p:cBhvr>
                                        <p:cTn id="51" dur="1" fill="hold">
                                          <p:stCondLst>
                                            <p:cond delay="0"/>
                                          </p:stCondLst>
                                        </p:cTn>
                                        <p:tgtEl>
                                          <p:spTgt spid="1795133"/>
                                        </p:tgtEl>
                                        <p:attrNameLst>
                                          <p:attrName>style.visibility</p:attrName>
                                        </p:attrNameLst>
                                      </p:cBhvr>
                                      <p:to>
                                        <p:strVal val="visible"/>
                                      </p:to>
                                    </p:set>
                                    <p:animEffect transition="in" filter="wipe(up)">
                                      <p:cBhvr>
                                        <p:cTn id="52" dur="500"/>
                                        <p:tgtEl>
                                          <p:spTgt spid="1795133"/>
                                        </p:tgtEl>
                                      </p:cBhvr>
                                    </p:animEffect>
                                  </p:childTnLst>
                                </p:cTn>
                              </p:par>
                            </p:childTnLst>
                          </p:cTn>
                        </p:par>
                        <p:par>
                          <p:cTn id="53" fill="hold">
                            <p:stCondLst>
                              <p:cond delay="4500"/>
                            </p:stCondLst>
                            <p:childTnLst>
                              <p:par>
                                <p:cTn id="54" presetID="22" presetClass="entr" presetSubtype="8" fill="hold" grpId="0" nodeType="afterEffect">
                                  <p:stCondLst>
                                    <p:cond delay="0"/>
                                  </p:stCondLst>
                                  <p:childTnLst>
                                    <p:set>
                                      <p:cBhvr>
                                        <p:cTn id="55" dur="1" fill="hold">
                                          <p:stCondLst>
                                            <p:cond delay="0"/>
                                          </p:stCondLst>
                                        </p:cTn>
                                        <p:tgtEl>
                                          <p:spTgt spid="1795134"/>
                                        </p:tgtEl>
                                        <p:attrNameLst>
                                          <p:attrName>style.visibility</p:attrName>
                                        </p:attrNameLst>
                                      </p:cBhvr>
                                      <p:to>
                                        <p:strVal val="visible"/>
                                      </p:to>
                                    </p:set>
                                    <p:animEffect transition="in" filter="wipe(left)">
                                      <p:cBhvr>
                                        <p:cTn id="56" dur="500"/>
                                        <p:tgtEl>
                                          <p:spTgt spid="1795134"/>
                                        </p:tgtEl>
                                      </p:cBhvr>
                                    </p:animEffect>
                                  </p:childTnLst>
                                </p:cTn>
                              </p:par>
                            </p:childTnLst>
                          </p:cTn>
                        </p:par>
                        <p:par>
                          <p:cTn id="57" fill="hold">
                            <p:stCondLst>
                              <p:cond delay="5000"/>
                            </p:stCondLst>
                            <p:childTnLst>
                              <p:par>
                                <p:cTn id="58" presetID="22" presetClass="entr" presetSubtype="1" fill="hold" grpId="0" nodeType="afterEffect">
                                  <p:stCondLst>
                                    <p:cond delay="0"/>
                                  </p:stCondLst>
                                  <p:childTnLst>
                                    <p:set>
                                      <p:cBhvr>
                                        <p:cTn id="59" dur="1" fill="hold">
                                          <p:stCondLst>
                                            <p:cond delay="0"/>
                                          </p:stCondLst>
                                        </p:cTn>
                                        <p:tgtEl>
                                          <p:spTgt spid="1795135"/>
                                        </p:tgtEl>
                                        <p:attrNameLst>
                                          <p:attrName>style.visibility</p:attrName>
                                        </p:attrNameLst>
                                      </p:cBhvr>
                                      <p:to>
                                        <p:strVal val="visible"/>
                                      </p:to>
                                    </p:set>
                                    <p:animEffect transition="in" filter="wipe(up)">
                                      <p:cBhvr>
                                        <p:cTn id="60" dur="500"/>
                                        <p:tgtEl>
                                          <p:spTgt spid="1795135"/>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179509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1795097"/>
                                        </p:tgtEl>
                                        <p:attrNameLst>
                                          <p:attrName>style.visibility</p:attrName>
                                        </p:attrNameLst>
                                      </p:cBhvr>
                                      <p:to>
                                        <p:strVal val="visible"/>
                                      </p:to>
                                    </p:set>
                                  </p:childTnLst>
                                </p:cTn>
                              </p:par>
                            </p:childTnLst>
                          </p:cTn>
                        </p:par>
                        <p:par>
                          <p:cTn id="69" fill="hold">
                            <p:stCondLst>
                              <p:cond delay="500"/>
                            </p:stCondLst>
                            <p:childTnLst>
                              <p:par>
                                <p:cTn id="70" presetID="1" presetClass="entr" presetSubtype="0" fill="hold" grpId="0" nodeType="afterEffect">
                                  <p:stCondLst>
                                    <p:cond delay="0"/>
                                  </p:stCondLst>
                                  <p:childTnLst>
                                    <p:set>
                                      <p:cBhvr>
                                        <p:cTn id="71" dur="1" fill="hold">
                                          <p:stCondLst>
                                            <p:cond delay="499"/>
                                          </p:stCondLst>
                                        </p:cTn>
                                        <p:tgtEl>
                                          <p:spTgt spid="1795136"/>
                                        </p:tgtEl>
                                        <p:attrNameLst>
                                          <p:attrName>style.visibility</p:attrName>
                                        </p:attrNameLst>
                                      </p:cBhvr>
                                      <p:to>
                                        <p:strVal val="visible"/>
                                      </p:to>
                                    </p:set>
                                  </p:childTnLst>
                                </p:cTn>
                              </p:par>
                            </p:childTnLst>
                          </p:cTn>
                        </p:par>
                        <p:par>
                          <p:cTn id="72" fill="hold">
                            <p:stCondLst>
                              <p:cond delay="1000"/>
                            </p:stCondLst>
                            <p:childTnLst>
                              <p:par>
                                <p:cTn id="73" presetID="1" presetClass="entr" presetSubtype="0" fill="hold" grpId="0" nodeType="afterEffect">
                                  <p:stCondLst>
                                    <p:cond delay="0"/>
                                  </p:stCondLst>
                                  <p:childTnLst>
                                    <p:set>
                                      <p:cBhvr>
                                        <p:cTn id="74" dur="1" fill="hold">
                                          <p:stCondLst>
                                            <p:cond delay="499"/>
                                          </p:stCondLst>
                                        </p:cTn>
                                        <p:tgtEl>
                                          <p:spTgt spid="1795137"/>
                                        </p:tgtEl>
                                        <p:attrNameLst>
                                          <p:attrName>style.visibility</p:attrName>
                                        </p:attrNameLst>
                                      </p:cBhvr>
                                      <p:to>
                                        <p:strVal val="visible"/>
                                      </p:to>
                                    </p:set>
                                  </p:childTnLst>
                                </p:cTn>
                              </p:par>
                            </p:childTnLst>
                          </p:cTn>
                        </p:par>
                        <p:par>
                          <p:cTn id="75" fill="hold">
                            <p:stCondLst>
                              <p:cond delay="1500"/>
                            </p:stCondLst>
                            <p:childTnLst>
                              <p:par>
                                <p:cTn id="76" presetID="1" presetClass="entr" presetSubtype="0" fill="hold" grpId="0" nodeType="afterEffect">
                                  <p:stCondLst>
                                    <p:cond delay="0"/>
                                  </p:stCondLst>
                                  <p:childTnLst>
                                    <p:set>
                                      <p:cBhvr>
                                        <p:cTn id="77" dur="1" fill="hold">
                                          <p:stCondLst>
                                            <p:cond delay="499"/>
                                          </p:stCondLst>
                                        </p:cTn>
                                        <p:tgtEl>
                                          <p:spTgt spid="1795138"/>
                                        </p:tgtEl>
                                        <p:attrNameLst>
                                          <p:attrName>style.visibility</p:attrName>
                                        </p:attrNameLst>
                                      </p:cBhvr>
                                      <p:to>
                                        <p:strVal val="visible"/>
                                      </p:to>
                                    </p:set>
                                  </p:childTnLst>
                                </p:cTn>
                              </p:par>
                            </p:childTnLst>
                          </p:cTn>
                        </p:par>
                        <p:par>
                          <p:cTn id="78" fill="hold">
                            <p:stCondLst>
                              <p:cond delay="2000"/>
                            </p:stCondLst>
                            <p:childTnLst>
                              <p:par>
                                <p:cTn id="79" presetID="22" presetClass="entr" presetSubtype="1" fill="hold" grpId="0" nodeType="afterEffect">
                                  <p:stCondLst>
                                    <p:cond delay="0"/>
                                  </p:stCondLst>
                                  <p:childTnLst>
                                    <p:set>
                                      <p:cBhvr>
                                        <p:cTn id="80" dur="1" fill="hold">
                                          <p:stCondLst>
                                            <p:cond delay="0"/>
                                          </p:stCondLst>
                                        </p:cTn>
                                        <p:tgtEl>
                                          <p:spTgt spid="1795148"/>
                                        </p:tgtEl>
                                        <p:attrNameLst>
                                          <p:attrName>style.visibility</p:attrName>
                                        </p:attrNameLst>
                                      </p:cBhvr>
                                      <p:to>
                                        <p:strVal val="visible"/>
                                      </p:to>
                                    </p:set>
                                    <p:animEffect transition="in" filter="wipe(up)">
                                      <p:cBhvr>
                                        <p:cTn id="81" dur="500"/>
                                        <p:tgtEl>
                                          <p:spTgt spid="1795148"/>
                                        </p:tgtEl>
                                      </p:cBhvr>
                                    </p:animEffect>
                                  </p:childTnLst>
                                </p:cTn>
                              </p:par>
                            </p:childTnLst>
                          </p:cTn>
                        </p:par>
                        <p:par>
                          <p:cTn id="82" fill="hold">
                            <p:stCondLst>
                              <p:cond delay="2500"/>
                            </p:stCondLst>
                            <p:childTnLst>
                              <p:par>
                                <p:cTn id="83" presetID="22" presetClass="entr" presetSubtype="2" fill="hold" grpId="0" nodeType="afterEffect">
                                  <p:stCondLst>
                                    <p:cond delay="0"/>
                                  </p:stCondLst>
                                  <p:childTnLst>
                                    <p:set>
                                      <p:cBhvr>
                                        <p:cTn id="84" dur="1" fill="hold">
                                          <p:stCondLst>
                                            <p:cond delay="0"/>
                                          </p:stCondLst>
                                        </p:cTn>
                                        <p:tgtEl>
                                          <p:spTgt spid="1795139"/>
                                        </p:tgtEl>
                                        <p:attrNameLst>
                                          <p:attrName>style.visibility</p:attrName>
                                        </p:attrNameLst>
                                      </p:cBhvr>
                                      <p:to>
                                        <p:strVal val="visible"/>
                                      </p:to>
                                    </p:set>
                                    <p:animEffect transition="in" filter="wipe(right)">
                                      <p:cBhvr>
                                        <p:cTn id="85" dur="500"/>
                                        <p:tgtEl>
                                          <p:spTgt spid="1795139"/>
                                        </p:tgtEl>
                                      </p:cBhvr>
                                    </p:animEffect>
                                  </p:childTnLst>
                                </p:cTn>
                              </p:par>
                            </p:childTnLst>
                          </p:cTn>
                        </p:par>
                        <p:par>
                          <p:cTn id="86" fill="hold">
                            <p:stCondLst>
                              <p:cond delay="3000"/>
                            </p:stCondLst>
                            <p:childTnLst>
                              <p:par>
                                <p:cTn id="87" presetID="22" presetClass="entr" presetSubtype="1" fill="hold" grpId="0" nodeType="afterEffect">
                                  <p:stCondLst>
                                    <p:cond delay="0"/>
                                  </p:stCondLst>
                                  <p:childTnLst>
                                    <p:set>
                                      <p:cBhvr>
                                        <p:cTn id="88" dur="1" fill="hold">
                                          <p:stCondLst>
                                            <p:cond delay="0"/>
                                          </p:stCondLst>
                                        </p:cTn>
                                        <p:tgtEl>
                                          <p:spTgt spid="1795140"/>
                                        </p:tgtEl>
                                        <p:attrNameLst>
                                          <p:attrName>style.visibility</p:attrName>
                                        </p:attrNameLst>
                                      </p:cBhvr>
                                      <p:to>
                                        <p:strVal val="visible"/>
                                      </p:to>
                                    </p:set>
                                    <p:animEffect transition="in" filter="wipe(up)">
                                      <p:cBhvr>
                                        <p:cTn id="89" dur="500"/>
                                        <p:tgtEl>
                                          <p:spTgt spid="1795140"/>
                                        </p:tgtEl>
                                      </p:cBhvr>
                                    </p:animEffect>
                                  </p:childTnLst>
                                </p:cTn>
                              </p:par>
                            </p:childTnLst>
                          </p:cTn>
                        </p:par>
                        <p:par>
                          <p:cTn id="90" fill="hold">
                            <p:stCondLst>
                              <p:cond delay="3500"/>
                            </p:stCondLst>
                            <p:childTnLst>
                              <p:par>
                                <p:cTn id="91" presetID="22" presetClass="entr" presetSubtype="8" fill="hold" grpId="0" nodeType="afterEffect">
                                  <p:stCondLst>
                                    <p:cond delay="0"/>
                                  </p:stCondLst>
                                  <p:childTnLst>
                                    <p:set>
                                      <p:cBhvr>
                                        <p:cTn id="92" dur="1" fill="hold">
                                          <p:stCondLst>
                                            <p:cond delay="0"/>
                                          </p:stCondLst>
                                        </p:cTn>
                                        <p:tgtEl>
                                          <p:spTgt spid="1795141"/>
                                        </p:tgtEl>
                                        <p:attrNameLst>
                                          <p:attrName>style.visibility</p:attrName>
                                        </p:attrNameLst>
                                      </p:cBhvr>
                                      <p:to>
                                        <p:strVal val="visible"/>
                                      </p:to>
                                    </p:set>
                                    <p:animEffect transition="in" filter="wipe(left)">
                                      <p:cBhvr>
                                        <p:cTn id="93" dur="500"/>
                                        <p:tgtEl>
                                          <p:spTgt spid="1795141"/>
                                        </p:tgtEl>
                                      </p:cBhvr>
                                    </p:animEffect>
                                  </p:childTnLst>
                                </p:cTn>
                              </p:par>
                            </p:childTnLst>
                          </p:cTn>
                        </p:par>
                        <p:par>
                          <p:cTn id="94" fill="hold">
                            <p:stCondLst>
                              <p:cond delay="4000"/>
                            </p:stCondLst>
                            <p:childTnLst>
                              <p:par>
                                <p:cTn id="95" presetID="22" presetClass="entr" presetSubtype="1" fill="hold" grpId="0" nodeType="afterEffect">
                                  <p:stCondLst>
                                    <p:cond delay="0"/>
                                  </p:stCondLst>
                                  <p:childTnLst>
                                    <p:set>
                                      <p:cBhvr>
                                        <p:cTn id="96" dur="1" fill="hold">
                                          <p:stCondLst>
                                            <p:cond delay="0"/>
                                          </p:stCondLst>
                                        </p:cTn>
                                        <p:tgtEl>
                                          <p:spTgt spid="1795142"/>
                                        </p:tgtEl>
                                        <p:attrNameLst>
                                          <p:attrName>style.visibility</p:attrName>
                                        </p:attrNameLst>
                                      </p:cBhvr>
                                      <p:to>
                                        <p:strVal val="visible"/>
                                      </p:to>
                                    </p:set>
                                    <p:animEffect transition="in" filter="wipe(up)">
                                      <p:cBhvr>
                                        <p:cTn id="97" dur="500"/>
                                        <p:tgtEl>
                                          <p:spTgt spid="1795142"/>
                                        </p:tgtEl>
                                      </p:cBhvr>
                                    </p:animEffect>
                                  </p:childTnLst>
                                </p:cTn>
                              </p:par>
                            </p:childTnLst>
                          </p:cTn>
                        </p:par>
                        <p:par>
                          <p:cTn id="98" fill="hold">
                            <p:stCondLst>
                              <p:cond delay="4500"/>
                            </p:stCondLst>
                            <p:childTnLst>
                              <p:par>
                                <p:cTn id="99" presetID="22" presetClass="entr" presetSubtype="8" fill="hold" grpId="0" nodeType="afterEffect">
                                  <p:stCondLst>
                                    <p:cond delay="0"/>
                                  </p:stCondLst>
                                  <p:childTnLst>
                                    <p:set>
                                      <p:cBhvr>
                                        <p:cTn id="100" dur="1" fill="hold">
                                          <p:stCondLst>
                                            <p:cond delay="0"/>
                                          </p:stCondLst>
                                        </p:cTn>
                                        <p:tgtEl>
                                          <p:spTgt spid="1795143"/>
                                        </p:tgtEl>
                                        <p:attrNameLst>
                                          <p:attrName>style.visibility</p:attrName>
                                        </p:attrNameLst>
                                      </p:cBhvr>
                                      <p:to>
                                        <p:strVal val="visible"/>
                                      </p:to>
                                    </p:set>
                                    <p:animEffect transition="in" filter="wipe(left)">
                                      <p:cBhvr>
                                        <p:cTn id="101" dur="500"/>
                                        <p:tgtEl>
                                          <p:spTgt spid="1795143"/>
                                        </p:tgtEl>
                                      </p:cBhvr>
                                    </p:animEffect>
                                  </p:childTnLst>
                                </p:cTn>
                              </p:par>
                            </p:childTnLst>
                          </p:cTn>
                        </p:par>
                        <p:par>
                          <p:cTn id="102" fill="hold">
                            <p:stCondLst>
                              <p:cond delay="5000"/>
                            </p:stCondLst>
                            <p:childTnLst>
                              <p:par>
                                <p:cTn id="103" presetID="22" presetClass="entr" presetSubtype="1" fill="hold" grpId="0" nodeType="afterEffect">
                                  <p:stCondLst>
                                    <p:cond delay="0"/>
                                  </p:stCondLst>
                                  <p:childTnLst>
                                    <p:set>
                                      <p:cBhvr>
                                        <p:cTn id="104" dur="1" fill="hold">
                                          <p:stCondLst>
                                            <p:cond delay="0"/>
                                          </p:stCondLst>
                                        </p:cTn>
                                        <p:tgtEl>
                                          <p:spTgt spid="1795144"/>
                                        </p:tgtEl>
                                        <p:attrNameLst>
                                          <p:attrName>style.visibility</p:attrName>
                                        </p:attrNameLst>
                                      </p:cBhvr>
                                      <p:to>
                                        <p:strVal val="visible"/>
                                      </p:to>
                                    </p:set>
                                    <p:animEffect transition="in" filter="wipe(up)">
                                      <p:cBhvr>
                                        <p:cTn id="105" dur="500"/>
                                        <p:tgtEl>
                                          <p:spTgt spid="1795144"/>
                                        </p:tgtEl>
                                      </p:cBhvr>
                                    </p:animEffect>
                                  </p:childTnLst>
                                </p:cTn>
                              </p:par>
                            </p:childTnLst>
                          </p:cTn>
                        </p:par>
                        <p:par>
                          <p:cTn id="106" fill="hold">
                            <p:stCondLst>
                              <p:cond delay="5500"/>
                            </p:stCondLst>
                            <p:childTnLst>
                              <p:par>
                                <p:cTn id="107" presetID="22" presetClass="entr" presetSubtype="1" fill="hold" grpId="0" nodeType="afterEffect">
                                  <p:stCondLst>
                                    <p:cond delay="0"/>
                                  </p:stCondLst>
                                  <p:childTnLst>
                                    <p:set>
                                      <p:cBhvr>
                                        <p:cTn id="108" dur="1" fill="hold">
                                          <p:stCondLst>
                                            <p:cond delay="0"/>
                                          </p:stCondLst>
                                        </p:cTn>
                                        <p:tgtEl>
                                          <p:spTgt spid="1795145"/>
                                        </p:tgtEl>
                                        <p:attrNameLst>
                                          <p:attrName>style.visibility</p:attrName>
                                        </p:attrNameLst>
                                      </p:cBhvr>
                                      <p:to>
                                        <p:strVal val="visible"/>
                                      </p:to>
                                    </p:set>
                                    <p:animEffect transition="in" filter="wipe(up)">
                                      <p:cBhvr>
                                        <p:cTn id="109" dur="500"/>
                                        <p:tgtEl>
                                          <p:spTgt spid="1795145"/>
                                        </p:tgtEl>
                                      </p:cBhvr>
                                    </p:animEffect>
                                  </p:childTnLst>
                                </p:cTn>
                              </p:par>
                            </p:childTnLst>
                          </p:cTn>
                        </p:par>
                        <p:par>
                          <p:cTn id="110" fill="hold">
                            <p:stCondLst>
                              <p:cond delay="6000"/>
                            </p:stCondLst>
                            <p:childTnLst>
                              <p:par>
                                <p:cTn id="111" presetID="22" presetClass="entr" presetSubtype="2" fill="hold" grpId="0" nodeType="afterEffect">
                                  <p:stCondLst>
                                    <p:cond delay="0"/>
                                  </p:stCondLst>
                                  <p:childTnLst>
                                    <p:set>
                                      <p:cBhvr>
                                        <p:cTn id="112" dur="1" fill="hold">
                                          <p:stCondLst>
                                            <p:cond delay="0"/>
                                          </p:stCondLst>
                                        </p:cTn>
                                        <p:tgtEl>
                                          <p:spTgt spid="1795146"/>
                                        </p:tgtEl>
                                        <p:attrNameLst>
                                          <p:attrName>style.visibility</p:attrName>
                                        </p:attrNameLst>
                                      </p:cBhvr>
                                      <p:to>
                                        <p:strVal val="visible"/>
                                      </p:to>
                                    </p:set>
                                    <p:animEffect transition="in" filter="wipe(right)">
                                      <p:cBhvr>
                                        <p:cTn id="113" dur="500"/>
                                        <p:tgtEl>
                                          <p:spTgt spid="1795146"/>
                                        </p:tgtEl>
                                      </p:cBhvr>
                                    </p:animEffect>
                                  </p:childTnLst>
                                </p:cTn>
                              </p:par>
                            </p:childTnLst>
                          </p:cTn>
                        </p:par>
                        <p:par>
                          <p:cTn id="114" fill="hold">
                            <p:stCondLst>
                              <p:cond delay="6500"/>
                            </p:stCondLst>
                            <p:childTnLst>
                              <p:par>
                                <p:cTn id="115" presetID="22" presetClass="entr" presetSubtype="1" fill="hold" grpId="0" nodeType="afterEffect">
                                  <p:stCondLst>
                                    <p:cond delay="0"/>
                                  </p:stCondLst>
                                  <p:childTnLst>
                                    <p:set>
                                      <p:cBhvr>
                                        <p:cTn id="116" dur="1" fill="hold">
                                          <p:stCondLst>
                                            <p:cond delay="0"/>
                                          </p:stCondLst>
                                        </p:cTn>
                                        <p:tgtEl>
                                          <p:spTgt spid="1795147"/>
                                        </p:tgtEl>
                                        <p:attrNameLst>
                                          <p:attrName>style.visibility</p:attrName>
                                        </p:attrNameLst>
                                      </p:cBhvr>
                                      <p:to>
                                        <p:strVal val="visible"/>
                                      </p:to>
                                    </p:set>
                                    <p:animEffect transition="in" filter="wipe(up)">
                                      <p:cBhvr>
                                        <p:cTn id="117" dur="500"/>
                                        <p:tgtEl>
                                          <p:spTgt spid="1795147"/>
                                        </p:tgtEl>
                                      </p:cBhvr>
                                    </p:animEffect>
                                  </p:childTnLst>
                                </p:cTn>
                              </p:par>
                            </p:childTnLst>
                          </p:cTn>
                        </p:par>
                        <p:par>
                          <p:cTn id="118" fill="hold">
                            <p:stCondLst>
                              <p:cond delay="7000"/>
                            </p:stCondLst>
                            <p:childTnLst>
                              <p:par>
                                <p:cTn id="119" presetID="1" presetClass="entr" presetSubtype="0" fill="hold" grpId="0" nodeType="afterEffect">
                                  <p:stCondLst>
                                    <p:cond delay="0"/>
                                  </p:stCondLst>
                                  <p:childTnLst>
                                    <p:set>
                                      <p:cBhvr>
                                        <p:cTn id="120" dur="1" fill="hold">
                                          <p:stCondLst>
                                            <p:cond delay="499"/>
                                          </p:stCondLst>
                                        </p:cTn>
                                        <p:tgtEl>
                                          <p:spTgt spid="1795149"/>
                                        </p:tgtEl>
                                        <p:attrNameLst>
                                          <p:attrName>style.visibility</p:attrName>
                                        </p:attrNameLst>
                                      </p:cBhvr>
                                      <p:to>
                                        <p:strVal val="visible"/>
                                      </p:to>
                                    </p:set>
                                  </p:childTnLst>
                                </p:cTn>
                              </p:par>
                            </p:childTnLst>
                          </p:cTn>
                        </p:par>
                        <p:par>
                          <p:cTn id="121" fill="hold">
                            <p:stCondLst>
                              <p:cond delay="7500"/>
                            </p:stCondLst>
                            <p:childTnLst>
                              <p:par>
                                <p:cTn id="122" presetID="1" presetClass="entr" presetSubtype="0" fill="hold" grpId="0" nodeType="afterEffect">
                                  <p:stCondLst>
                                    <p:cond delay="0"/>
                                  </p:stCondLst>
                                  <p:childTnLst>
                                    <p:set>
                                      <p:cBhvr>
                                        <p:cTn id="123" dur="1" fill="hold">
                                          <p:stCondLst>
                                            <p:cond delay="499"/>
                                          </p:stCondLst>
                                        </p:cTn>
                                        <p:tgtEl>
                                          <p:spTgt spid="1795150"/>
                                        </p:tgtEl>
                                        <p:attrNameLst>
                                          <p:attrName>style.visibility</p:attrName>
                                        </p:attrNameLst>
                                      </p:cBhvr>
                                      <p:to>
                                        <p:strVal val="visible"/>
                                      </p:to>
                                    </p:set>
                                  </p:childTnLst>
                                </p:cTn>
                              </p:par>
                            </p:childTnLst>
                          </p:cTn>
                        </p:par>
                        <p:par>
                          <p:cTn id="124" fill="hold">
                            <p:stCondLst>
                              <p:cond delay="8000"/>
                            </p:stCondLst>
                            <p:childTnLst>
                              <p:par>
                                <p:cTn id="125" presetID="1" presetClass="entr" presetSubtype="0" fill="hold" grpId="0" nodeType="afterEffect">
                                  <p:stCondLst>
                                    <p:cond delay="0"/>
                                  </p:stCondLst>
                                  <p:childTnLst>
                                    <p:set>
                                      <p:cBhvr>
                                        <p:cTn id="126" dur="1" fill="hold">
                                          <p:stCondLst>
                                            <p:cond delay="499"/>
                                          </p:stCondLst>
                                        </p:cTn>
                                        <p:tgtEl>
                                          <p:spTgt spid="1795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5094" grpId="0" autoUpdateAnimBg="0"/>
      <p:bldP spid="1795095" grpId="0" autoUpdateAnimBg="0"/>
      <p:bldP spid="1795096" grpId="0" autoUpdateAnimBg="0"/>
      <p:bldP spid="1795097" grpId="0" autoUpdateAnimBg="0"/>
      <p:bldP spid="1795126" grpId="0" animBg="1"/>
      <p:bldP spid="1795127" grpId="0" animBg="1"/>
      <p:bldP spid="1795128" grpId="0" animBg="1"/>
      <p:bldP spid="1795129" grpId="0" animBg="1"/>
      <p:bldP spid="1795130" grpId="0" animBg="1"/>
      <p:bldP spid="1795131" grpId="0" animBg="1"/>
      <p:bldP spid="1795132" grpId="0" animBg="1"/>
      <p:bldP spid="1795133" grpId="0" animBg="1"/>
      <p:bldP spid="1795134" grpId="0" animBg="1"/>
      <p:bldP spid="1795135" grpId="0" animBg="1"/>
      <p:bldP spid="1795136" grpId="0" autoUpdateAnimBg="0"/>
      <p:bldP spid="1795137" grpId="0" autoUpdateAnimBg="0"/>
      <p:bldP spid="1795138" grpId="0" autoUpdateAnimBg="0"/>
      <p:bldP spid="1795139" grpId="0" animBg="1"/>
      <p:bldP spid="1795140" grpId="0" animBg="1"/>
      <p:bldP spid="1795141" grpId="0" animBg="1"/>
      <p:bldP spid="1795142" grpId="0" animBg="1"/>
      <p:bldP spid="1795143" grpId="0" animBg="1"/>
      <p:bldP spid="1795144" grpId="0" animBg="1"/>
      <p:bldP spid="1795145" grpId="0" animBg="1"/>
      <p:bldP spid="1795146" grpId="0" animBg="1"/>
      <p:bldP spid="1795147" grpId="0" animBg="1"/>
      <p:bldP spid="1795148" grpId="0" animBg="1"/>
      <p:bldP spid="1795149" grpId="0" autoUpdateAnimBg="0"/>
      <p:bldP spid="1795150" grpId="0" autoUpdateAnimBg="0"/>
      <p:bldP spid="1795151"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sz="3600" b="1" smtClean="0">
                <a:solidFill>
                  <a:srgbClr val="0A0A0E"/>
                </a:solidFill>
                <a:latin typeface="Times New Roman" panose="02020603050405020304" pitchFamily="18" charset="0"/>
              </a:rPr>
              <a:t>白盒测试</a:t>
            </a:r>
            <a:endParaRPr lang="zh-CN" altLang="en-US" sz="3600" b="1" smtClean="0">
              <a:solidFill>
                <a:srgbClr val="0A0A0E"/>
              </a:solidFill>
              <a:latin typeface="Times New Roman" panose="02020603050405020304" pitchFamily="18" charset="0"/>
            </a:endParaRPr>
          </a:p>
        </p:txBody>
      </p:sp>
      <p:sp>
        <p:nvSpPr>
          <p:cNvPr id="49155" name="Rectangle 3"/>
          <p:cNvSpPr>
            <a:spLocks noGrp="1" noChangeArrowheads="1"/>
          </p:cNvSpPr>
          <p:nvPr>
            <p:ph type="body" sz="half" idx="1"/>
          </p:nvPr>
        </p:nvSpPr>
        <p:spPr>
          <a:xfrm>
            <a:off x="1182688" y="2017713"/>
            <a:ext cx="3811587" cy="4114800"/>
          </a:xfrm>
        </p:spPr>
        <p:txBody>
          <a:bodyPr/>
          <a:lstStyle/>
          <a:p>
            <a:pPr eaLnBrk="1" hangingPunct="1"/>
            <a:r>
              <a:rPr kumimoji="1" lang="zh-CN" altLang="en-US" sz="2800" b="1" smtClean="0">
                <a:solidFill>
                  <a:schemeClr val="tx1"/>
                </a:solidFill>
              </a:rPr>
              <a:t>条件覆盖法</a:t>
            </a:r>
            <a:endParaRPr kumimoji="1" lang="zh-CN" altLang="en-US" sz="2800" b="1" smtClean="0">
              <a:solidFill>
                <a:schemeClr val="tx1"/>
              </a:solidFill>
            </a:endParaRPr>
          </a:p>
        </p:txBody>
      </p:sp>
      <p:grpSp>
        <p:nvGrpSpPr>
          <p:cNvPr id="49156" name="Group 4"/>
          <p:cNvGrpSpPr/>
          <p:nvPr/>
        </p:nvGrpSpPr>
        <p:grpSpPr bwMode="auto">
          <a:xfrm>
            <a:off x="4038600" y="1628775"/>
            <a:ext cx="4800600" cy="4467225"/>
            <a:chOff x="2400" y="192"/>
            <a:chExt cx="3024" cy="3264"/>
          </a:xfrm>
        </p:grpSpPr>
        <p:sp>
          <p:nvSpPr>
            <p:cNvPr id="49177" name="Line 5"/>
            <p:cNvSpPr>
              <a:spLocks noChangeShapeType="1"/>
            </p:cNvSpPr>
            <p:nvPr/>
          </p:nvSpPr>
          <p:spPr bwMode="auto">
            <a:xfrm>
              <a:off x="3744" y="288"/>
              <a:ext cx="0" cy="384"/>
            </a:xfrm>
            <a:prstGeom prst="line">
              <a:avLst/>
            </a:prstGeom>
            <a:noFill/>
            <a:ln w="28575">
              <a:solidFill>
                <a:schemeClr val="tx1"/>
              </a:solidFill>
              <a:round/>
              <a:tailEnd type="triangle" w="med" len="med"/>
            </a:ln>
          </p:spPr>
          <p:txBody>
            <a:bodyPr/>
            <a:lstStyle/>
            <a:p>
              <a:endParaRPr lang="zh-CN" altLang="en-US"/>
            </a:p>
          </p:txBody>
        </p:sp>
        <p:sp>
          <p:nvSpPr>
            <p:cNvPr id="49178" name="AutoShape 6"/>
            <p:cNvSpPr>
              <a:spLocks noChangeArrowheads="1"/>
            </p:cNvSpPr>
            <p:nvPr/>
          </p:nvSpPr>
          <p:spPr bwMode="auto">
            <a:xfrm>
              <a:off x="2880" y="672"/>
              <a:ext cx="1728" cy="576"/>
            </a:xfrm>
            <a:prstGeom prst="flowChartDecision">
              <a:avLst/>
            </a:prstGeom>
            <a:noFill/>
            <a:ln w="28575">
              <a:solidFill>
                <a:schemeClr val="tx1"/>
              </a:solidFill>
              <a:miter lim="800000"/>
            </a:ln>
          </p:spPr>
          <p:txBody>
            <a:bodyPr wrap="none" anchor="ctr"/>
            <a:lstStyle/>
            <a:p>
              <a:pPr algn="ctr"/>
              <a:r>
                <a:rPr kumimoji="1" lang="en-US" altLang="zh-CN" b="1">
                  <a:latin typeface="Times New Roman" panose="02020603050405020304" pitchFamily="18" charset="0"/>
                </a:rPr>
                <a:t>A&gt;1AND</a:t>
              </a:r>
              <a:endParaRPr kumimoji="1" lang="en-US" altLang="zh-CN" b="1">
                <a:latin typeface="Times New Roman" panose="02020603050405020304" pitchFamily="18" charset="0"/>
              </a:endParaRPr>
            </a:p>
            <a:p>
              <a:pPr algn="ctr"/>
              <a:r>
                <a:rPr kumimoji="1" lang="en-US" altLang="zh-CN" b="1">
                  <a:latin typeface="Times New Roman" panose="02020603050405020304" pitchFamily="18" charset="0"/>
                </a:rPr>
                <a:t>B=0</a:t>
              </a:r>
              <a:endParaRPr kumimoji="1" lang="en-US" altLang="zh-CN" b="1">
                <a:latin typeface="Times New Roman" panose="02020603050405020304" pitchFamily="18" charset="0"/>
              </a:endParaRPr>
            </a:p>
          </p:txBody>
        </p:sp>
        <p:sp>
          <p:nvSpPr>
            <p:cNvPr id="49179" name="Line 7"/>
            <p:cNvSpPr>
              <a:spLocks noChangeShapeType="1"/>
            </p:cNvSpPr>
            <p:nvPr/>
          </p:nvSpPr>
          <p:spPr bwMode="auto">
            <a:xfrm>
              <a:off x="4608" y="960"/>
              <a:ext cx="240" cy="0"/>
            </a:xfrm>
            <a:prstGeom prst="line">
              <a:avLst/>
            </a:prstGeom>
            <a:noFill/>
            <a:ln w="28575">
              <a:solidFill>
                <a:schemeClr val="tx1"/>
              </a:solidFill>
              <a:round/>
            </a:ln>
          </p:spPr>
          <p:txBody>
            <a:bodyPr/>
            <a:lstStyle/>
            <a:p>
              <a:endParaRPr lang="zh-CN" altLang="en-US"/>
            </a:p>
          </p:txBody>
        </p:sp>
        <p:sp>
          <p:nvSpPr>
            <p:cNvPr id="49180" name="Line 8"/>
            <p:cNvSpPr>
              <a:spLocks noChangeShapeType="1"/>
            </p:cNvSpPr>
            <p:nvPr/>
          </p:nvSpPr>
          <p:spPr bwMode="auto">
            <a:xfrm>
              <a:off x="4848" y="960"/>
              <a:ext cx="0" cy="336"/>
            </a:xfrm>
            <a:prstGeom prst="line">
              <a:avLst/>
            </a:prstGeom>
            <a:noFill/>
            <a:ln w="28575">
              <a:solidFill>
                <a:schemeClr val="tx1"/>
              </a:solidFill>
              <a:round/>
              <a:tailEnd type="triangle" w="med" len="med"/>
            </a:ln>
          </p:spPr>
          <p:txBody>
            <a:bodyPr/>
            <a:lstStyle/>
            <a:p>
              <a:endParaRPr lang="zh-CN" altLang="en-US"/>
            </a:p>
          </p:txBody>
        </p:sp>
        <p:sp>
          <p:nvSpPr>
            <p:cNvPr id="49181" name="Rectangle 9"/>
            <p:cNvSpPr>
              <a:spLocks noChangeArrowheads="1"/>
            </p:cNvSpPr>
            <p:nvPr/>
          </p:nvSpPr>
          <p:spPr bwMode="auto">
            <a:xfrm>
              <a:off x="4368" y="1296"/>
              <a:ext cx="1008" cy="288"/>
            </a:xfrm>
            <a:prstGeom prst="rect">
              <a:avLst/>
            </a:prstGeom>
            <a:noFill/>
            <a:ln w="28575">
              <a:solidFill>
                <a:schemeClr val="tx1"/>
              </a:solidFill>
              <a:miter lim="800000"/>
            </a:ln>
          </p:spPr>
          <p:txBody>
            <a:bodyPr wrap="none" anchor="ctr"/>
            <a:lstStyle/>
            <a:p>
              <a:pPr algn="ctr"/>
              <a:r>
                <a:rPr kumimoji="1" lang="en-US" altLang="zh-CN" b="1">
                  <a:latin typeface="Times New Roman" panose="02020603050405020304" pitchFamily="18" charset="0"/>
                </a:rPr>
                <a:t>X=X/A</a:t>
              </a:r>
              <a:endParaRPr kumimoji="1" lang="en-US" altLang="zh-CN" b="1">
                <a:latin typeface="Times New Roman" panose="02020603050405020304" pitchFamily="18" charset="0"/>
              </a:endParaRPr>
            </a:p>
          </p:txBody>
        </p:sp>
        <p:sp>
          <p:nvSpPr>
            <p:cNvPr id="49182" name="Line 10"/>
            <p:cNvSpPr>
              <a:spLocks noChangeShapeType="1"/>
            </p:cNvSpPr>
            <p:nvPr/>
          </p:nvSpPr>
          <p:spPr bwMode="auto">
            <a:xfrm>
              <a:off x="2640" y="960"/>
              <a:ext cx="0" cy="816"/>
            </a:xfrm>
            <a:prstGeom prst="line">
              <a:avLst/>
            </a:prstGeom>
            <a:noFill/>
            <a:ln w="28575">
              <a:solidFill>
                <a:schemeClr val="tx1"/>
              </a:solidFill>
              <a:round/>
            </a:ln>
          </p:spPr>
          <p:txBody>
            <a:bodyPr/>
            <a:lstStyle/>
            <a:p>
              <a:endParaRPr lang="zh-CN" altLang="en-US"/>
            </a:p>
          </p:txBody>
        </p:sp>
        <p:sp>
          <p:nvSpPr>
            <p:cNvPr id="49183" name="Line 11"/>
            <p:cNvSpPr>
              <a:spLocks noChangeShapeType="1"/>
            </p:cNvSpPr>
            <p:nvPr/>
          </p:nvSpPr>
          <p:spPr bwMode="auto">
            <a:xfrm>
              <a:off x="2640" y="960"/>
              <a:ext cx="240" cy="0"/>
            </a:xfrm>
            <a:prstGeom prst="line">
              <a:avLst/>
            </a:prstGeom>
            <a:noFill/>
            <a:ln w="28575">
              <a:solidFill>
                <a:schemeClr val="tx1"/>
              </a:solidFill>
              <a:round/>
            </a:ln>
          </p:spPr>
          <p:txBody>
            <a:bodyPr/>
            <a:lstStyle/>
            <a:p>
              <a:endParaRPr lang="zh-CN" altLang="en-US"/>
            </a:p>
          </p:txBody>
        </p:sp>
        <p:sp>
          <p:nvSpPr>
            <p:cNvPr id="49184" name="Line 12"/>
            <p:cNvSpPr>
              <a:spLocks noChangeShapeType="1"/>
            </p:cNvSpPr>
            <p:nvPr/>
          </p:nvSpPr>
          <p:spPr bwMode="auto">
            <a:xfrm>
              <a:off x="4848" y="1584"/>
              <a:ext cx="0" cy="192"/>
            </a:xfrm>
            <a:prstGeom prst="line">
              <a:avLst/>
            </a:prstGeom>
            <a:noFill/>
            <a:ln w="28575">
              <a:solidFill>
                <a:schemeClr val="tx1"/>
              </a:solidFill>
              <a:round/>
            </a:ln>
          </p:spPr>
          <p:txBody>
            <a:bodyPr/>
            <a:lstStyle/>
            <a:p>
              <a:endParaRPr lang="zh-CN" altLang="en-US"/>
            </a:p>
          </p:txBody>
        </p:sp>
        <p:sp>
          <p:nvSpPr>
            <p:cNvPr id="49185" name="Line 13"/>
            <p:cNvSpPr>
              <a:spLocks noChangeShapeType="1"/>
            </p:cNvSpPr>
            <p:nvPr/>
          </p:nvSpPr>
          <p:spPr bwMode="auto">
            <a:xfrm>
              <a:off x="2640" y="1776"/>
              <a:ext cx="2208" cy="0"/>
            </a:xfrm>
            <a:prstGeom prst="line">
              <a:avLst/>
            </a:prstGeom>
            <a:noFill/>
            <a:ln w="28575">
              <a:solidFill>
                <a:schemeClr val="tx1"/>
              </a:solidFill>
              <a:round/>
            </a:ln>
          </p:spPr>
          <p:txBody>
            <a:bodyPr/>
            <a:lstStyle/>
            <a:p>
              <a:endParaRPr lang="zh-CN" altLang="en-US"/>
            </a:p>
          </p:txBody>
        </p:sp>
        <p:sp>
          <p:nvSpPr>
            <p:cNvPr id="49186" name="Line 14"/>
            <p:cNvSpPr>
              <a:spLocks noChangeShapeType="1"/>
            </p:cNvSpPr>
            <p:nvPr/>
          </p:nvSpPr>
          <p:spPr bwMode="auto">
            <a:xfrm>
              <a:off x="3792" y="1776"/>
              <a:ext cx="0" cy="288"/>
            </a:xfrm>
            <a:prstGeom prst="line">
              <a:avLst/>
            </a:prstGeom>
            <a:noFill/>
            <a:ln w="28575">
              <a:solidFill>
                <a:schemeClr val="tx1"/>
              </a:solidFill>
              <a:round/>
              <a:tailEnd type="triangle" w="med" len="med"/>
            </a:ln>
          </p:spPr>
          <p:txBody>
            <a:bodyPr/>
            <a:lstStyle/>
            <a:p>
              <a:endParaRPr lang="zh-CN" altLang="en-US"/>
            </a:p>
          </p:txBody>
        </p:sp>
        <p:sp>
          <p:nvSpPr>
            <p:cNvPr id="49187" name="AutoShape 15"/>
            <p:cNvSpPr>
              <a:spLocks noChangeArrowheads="1"/>
            </p:cNvSpPr>
            <p:nvPr/>
          </p:nvSpPr>
          <p:spPr bwMode="auto">
            <a:xfrm>
              <a:off x="2928" y="2064"/>
              <a:ext cx="1728" cy="576"/>
            </a:xfrm>
            <a:prstGeom prst="flowChartDecision">
              <a:avLst/>
            </a:prstGeom>
            <a:noFill/>
            <a:ln w="28575">
              <a:solidFill>
                <a:schemeClr val="tx1"/>
              </a:solidFill>
              <a:miter lim="800000"/>
            </a:ln>
          </p:spPr>
          <p:txBody>
            <a:bodyPr wrap="none" anchor="ctr"/>
            <a:lstStyle/>
            <a:p>
              <a:pPr algn="ctr"/>
              <a:r>
                <a:rPr kumimoji="1" lang="en-US" altLang="zh-CN" b="1">
                  <a:latin typeface="Times New Roman" panose="02020603050405020304" pitchFamily="18" charset="0"/>
                </a:rPr>
                <a:t>A=2OR </a:t>
              </a:r>
              <a:endParaRPr kumimoji="1" lang="en-US" altLang="zh-CN" b="1">
                <a:latin typeface="Times New Roman" panose="02020603050405020304" pitchFamily="18" charset="0"/>
              </a:endParaRPr>
            </a:p>
            <a:p>
              <a:pPr algn="ctr"/>
              <a:r>
                <a:rPr kumimoji="1" lang="en-US" altLang="zh-CN" b="1">
                  <a:latin typeface="Times New Roman" panose="02020603050405020304" pitchFamily="18" charset="0"/>
                </a:rPr>
                <a:t>X&gt;1</a:t>
              </a:r>
              <a:endParaRPr kumimoji="1" lang="en-US" altLang="zh-CN" b="1">
                <a:latin typeface="Times New Roman" panose="02020603050405020304" pitchFamily="18" charset="0"/>
              </a:endParaRPr>
            </a:p>
          </p:txBody>
        </p:sp>
        <p:sp>
          <p:nvSpPr>
            <p:cNvPr id="49188" name="Line 16"/>
            <p:cNvSpPr>
              <a:spLocks noChangeShapeType="1"/>
            </p:cNvSpPr>
            <p:nvPr/>
          </p:nvSpPr>
          <p:spPr bwMode="auto">
            <a:xfrm>
              <a:off x="4656" y="2352"/>
              <a:ext cx="240" cy="0"/>
            </a:xfrm>
            <a:prstGeom prst="line">
              <a:avLst/>
            </a:prstGeom>
            <a:noFill/>
            <a:ln w="28575">
              <a:solidFill>
                <a:schemeClr val="tx1"/>
              </a:solidFill>
              <a:round/>
            </a:ln>
          </p:spPr>
          <p:txBody>
            <a:bodyPr/>
            <a:lstStyle/>
            <a:p>
              <a:endParaRPr lang="zh-CN" altLang="en-US"/>
            </a:p>
          </p:txBody>
        </p:sp>
        <p:sp>
          <p:nvSpPr>
            <p:cNvPr id="49189" name="Line 17"/>
            <p:cNvSpPr>
              <a:spLocks noChangeShapeType="1"/>
            </p:cNvSpPr>
            <p:nvPr/>
          </p:nvSpPr>
          <p:spPr bwMode="auto">
            <a:xfrm>
              <a:off x="4896" y="2352"/>
              <a:ext cx="0" cy="336"/>
            </a:xfrm>
            <a:prstGeom prst="line">
              <a:avLst/>
            </a:prstGeom>
            <a:noFill/>
            <a:ln w="28575">
              <a:solidFill>
                <a:schemeClr val="tx1"/>
              </a:solidFill>
              <a:round/>
              <a:tailEnd type="triangle" w="med" len="med"/>
            </a:ln>
          </p:spPr>
          <p:txBody>
            <a:bodyPr/>
            <a:lstStyle/>
            <a:p>
              <a:endParaRPr lang="zh-CN" altLang="en-US"/>
            </a:p>
          </p:txBody>
        </p:sp>
        <p:sp>
          <p:nvSpPr>
            <p:cNvPr id="49190" name="Rectangle 18"/>
            <p:cNvSpPr>
              <a:spLocks noChangeArrowheads="1"/>
            </p:cNvSpPr>
            <p:nvPr/>
          </p:nvSpPr>
          <p:spPr bwMode="auto">
            <a:xfrm>
              <a:off x="4416" y="2688"/>
              <a:ext cx="1008" cy="288"/>
            </a:xfrm>
            <a:prstGeom prst="rect">
              <a:avLst/>
            </a:prstGeom>
            <a:noFill/>
            <a:ln w="28575">
              <a:solidFill>
                <a:schemeClr val="tx1"/>
              </a:solidFill>
              <a:miter lim="800000"/>
            </a:ln>
          </p:spPr>
          <p:txBody>
            <a:bodyPr wrap="none" anchor="ctr"/>
            <a:lstStyle/>
            <a:p>
              <a:pPr algn="ctr"/>
              <a:r>
                <a:rPr kumimoji="1" lang="en-US" altLang="zh-CN" b="1">
                  <a:latin typeface="Times New Roman" panose="02020603050405020304" pitchFamily="18" charset="0"/>
                </a:rPr>
                <a:t>X=X+1</a:t>
              </a:r>
              <a:endParaRPr kumimoji="1" lang="en-US" altLang="zh-CN" b="1">
                <a:latin typeface="Times New Roman" panose="02020603050405020304" pitchFamily="18" charset="0"/>
              </a:endParaRPr>
            </a:p>
          </p:txBody>
        </p:sp>
        <p:sp>
          <p:nvSpPr>
            <p:cNvPr id="49191" name="Line 19"/>
            <p:cNvSpPr>
              <a:spLocks noChangeShapeType="1"/>
            </p:cNvSpPr>
            <p:nvPr/>
          </p:nvSpPr>
          <p:spPr bwMode="auto">
            <a:xfrm>
              <a:off x="2688" y="2352"/>
              <a:ext cx="0" cy="816"/>
            </a:xfrm>
            <a:prstGeom prst="line">
              <a:avLst/>
            </a:prstGeom>
            <a:noFill/>
            <a:ln w="28575">
              <a:solidFill>
                <a:schemeClr val="tx1"/>
              </a:solidFill>
              <a:round/>
            </a:ln>
          </p:spPr>
          <p:txBody>
            <a:bodyPr/>
            <a:lstStyle/>
            <a:p>
              <a:endParaRPr lang="zh-CN" altLang="en-US"/>
            </a:p>
          </p:txBody>
        </p:sp>
        <p:sp>
          <p:nvSpPr>
            <p:cNvPr id="49192" name="Line 20"/>
            <p:cNvSpPr>
              <a:spLocks noChangeShapeType="1"/>
            </p:cNvSpPr>
            <p:nvPr/>
          </p:nvSpPr>
          <p:spPr bwMode="auto">
            <a:xfrm>
              <a:off x="2688" y="2352"/>
              <a:ext cx="240" cy="0"/>
            </a:xfrm>
            <a:prstGeom prst="line">
              <a:avLst/>
            </a:prstGeom>
            <a:noFill/>
            <a:ln w="28575">
              <a:solidFill>
                <a:schemeClr val="tx1"/>
              </a:solidFill>
              <a:round/>
            </a:ln>
          </p:spPr>
          <p:txBody>
            <a:bodyPr/>
            <a:lstStyle/>
            <a:p>
              <a:endParaRPr lang="zh-CN" altLang="en-US"/>
            </a:p>
          </p:txBody>
        </p:sp>
        <p:sp>
          <p:nvSpPr>
            <p:cNvPr id="49193" name="Line 21"/>
            <p:cNvSpPr>
              <a:spLocks noChangeShapeType="1"/>
            </p:cNvSpPr>
            <p:nvPr/>
          </p:nvSpPr>
          <p:spPr bwMode="auto">
            <a:xfrm>
              <a:off x="4896" y="2976"/>
              <a:ext cx="0" cy="192"/>
            </a:xfrm>
            <a:prstGeom prst="line">
              <a:avLst/>
            </a:prstGeom>
            <a:noFill/>
            <a:ln w="28575">
              <a:solidFill>
                <a:schemeClr val="tx1"/>
              </a:solidFill>
              <a:round/>
            </a:ln>
          </p:spPr>
          <p:txBody>
            <a:bodyPr/>
            <a:lstStyle/>
            <a:p>
              <a:endParaRPr lang="zh-CN" altLang="en-US"/>
            </a:p>
          </p:txBody>
        </p:sp>
        <p:sp>
          <p:nvSpPr>
            <p:cNvPr id="49194" name="Line 22"/>
            <p:cNvSpPr>
              <a:spLocks noChangeShapeType="1"/>
            </p:cNvSpPr>
            <p:nvPr/>
          </p:nvSpPr>
          <p:spPr bwMode="auto">
            <a:xfrm>
              <a:off x="2688" y="3168"/>
              <a:ext cx="2208" cy="0"/>
            </a:xfrm>
            <a:prstGeom prst="line">
              <a:avLst/>
            </a:prstGeom>
            <a:noFill/>
            <a:ln w="28575">
              <a:solidFill>
                <a:schemeClr val="tx1"/>
              </a:solidFill>
              <a:round/>
            </a:ln>
          </p:spPr>
          <p:txBody>
            <a:bodyPr/>
            <a:lstStyle/>
            <a:p>
              <a:endParaRPr lang="zh-CN" altLang="en-US"/>
            </a:p>
          </p:txBody>
        </p:sp>
        <p:sp>
          <p:nvSpPr>
            <p:cNvPr id="49195" name="Line 23"/>
            <p:cNvSpPr>
              <a:spLocks noChangeShapeType="1"/>
            </p:cNvSpPr>
            <p:nvPr/>
          </p:nvSpPr>
          <p:spPr bwMode="auto">
            <a:xfrm>
              <a:off x="3840" y="3168"/>
              <a:ext cx="0" cy="288"/>
            </a:xfrm>
            <a:prstGeom prst="line">
              <a:avLst/>
            </a:prstGeom>
            <a:noFill/>
            <a:ln w="28575">
              <a:solidFill>
                <a:schemeClr val="tx1"/>
              </a:solidFill>
              <a:round/>
              <a:tailEnd type="triangle" w="med" len="med"/>
            </a:ln>
          </p:spPr>
          <p:txBody>
            <a:bodyPr/>
            <a:lstStyle/>
            <a:p>
              <a:endParaRPr lang="zh-CN" altLang="en-US"/>
            </a:p>
          </p:txBody>
        </p:sp>
        <p:sp>
          <p:nvSpPr>
            <p:cNvPr id="49196" name="Text Box 24"/>
            <p:cNvSpPr txBox="1">
              <a:spLocks noChangeArrowheads="1"/>
            </p:cNvSpPr>
            <p:nvPr/>
          </p:nvSpPr>
          <p:spPr bwMode="auto">
            <a:xfrm>
              <a:off x="4560" y="623"/>
              <a:ext cx="336" cy="380"/>
            </a:xfrm>
            <a:prstGeom prst="rect">
              <a:avLst/>
            </a:prstGeom>
            <a:noFill/>
            <a:ln w="9525">
              <a:noFill/>
              <a:miter lim="800000"/>
            </a:ln>
          </p:spPr>
          <p:txBody>
            <a:bodyPr>
              <a:spAutoFit/>
            </a:bodyPr>
            <a:lstStyle/>
            <a:p>
              <a:pPr>
                <a:spcBef>
                  <a:spcPct val="50000"/>
                </a:spcBef>
              </a:pPr>
              <a:r>
                <a:rPr kumimoji="1" lang="zh-CN" altLang="en-US" sz="2800" b="1">
                  <a:latin typeface="Times New Roman" panose="02020603050405020304" pitchFamily="18" charset="0"/>
                </a:rPr>
                <a:t>是</a:t>
              </a:r>
              <a:endParaRPr kumimoji="1" lang="zh-CN" altLang="en-US" sz="2800" b="1">
                <a:latin typeface="Times New Roman" panose="02020603050405020304" pitchFamily="18" charset="0"/>
              </a:endParaRPr>
            </a:p>
          </p:txBody>
        </p:sp>
        <p:sp>
          <p:nvSpPr>
            <p:cNvPr id="49197" name="Text Box 25"/>
            <p:cNvSpPr txBox="1">
              <a:spLocks noChangeArrowheads="1"/>
            </p:cNvSpPr>
            <p:nvPr/>
          </p:nvSpPr>
          <p:spPr bwMode="auto">
            <a:xfrm>
              <a:off x="3744" y="192"/>
              <a:ext cx="336" cy="379"/>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a</a:t>
              </a:r>
              <a:endParaRPr kumimoji="1" lang="en-US" altLang="zh-CN" sz="2800" b="1">
                <a:latin typeface="Times New Roman" panose="02020603050405020304" pitchFamily="18" charset="0"/>
              </a:endParaRPr>
            </a:p>
          </p:txBody>
        </p:sp>
        <p:sp>
          <p:nvSpPr>
            <p:cNvPr id="49198" name="Text Box 26"/>
            <p:cNvSpPr txBox="1">
              <a:spLocks noChangeArrowheads="1"/>
            </p:cNvSpPr>
            <p:nvPr/>
          </p:nvSpPr>
          <p:spPr bwMode="auto">
            <a:xfrm>
              <a:off x="4608" y="2017"/>
              <a:ext cx="336" cy="379"/>
            </a:xfrm>
            <a:prstGeom prst="rect">
              <a:avLst/>
            </a:prstGeom>
            <a:noFill/>
            <a:ln w="9525">
              <a:noFill/>
              <a:miter lim="800000"/>
            </a:ln>
          </p:spPr>
          <p:txBody>
            <a:bodyPr>
              <a:spAutoFit/>
            </a:bodyPr>
            <a:lstStyle/>
            <a:p>
              <a:pPr>
                <a:spcBef>
                  <a:spcPct val="50000"/>
                </a:spcBef>
              </a:pPr>
              <a:r>
                <a:rPr kumimoji="1" lang="zh-CN" altLang="en-US" sz="2800" b="1">
                  <a:latin typeface="Times New Roman" panose="02020603050405020304" pitchFamily="18" charset="0"/>
                </a:rPr>
                <a:t>是</a:t>
              </a:r>
              <a:endParaRPr kumimoji="1" lang="zh-CN" altLang="en-US" sz="2800" b="1">
                <a:latin typeface="Times New Roman" panose="02020603050405020304" pitchFamily="18" charset="0"/>
              </a:endParaRPr>
            </a:p>
          </p:txBody>
        </p:sp>
        <p:sp>
          <p:nvSpPr>
            <p:cNvPr id="49199" name="Text Box 27"/>
            <p:cNvSpPr txBox="1">
              <a:spLocks noChangeArrowheads="1"/>
            </p:cNvSpPr>
            <p:nvPr/>
          </p:nvSpPr>
          <p:spPr bwMode="auto">
            <a:xfrm>
              <a:off x="2592" y="623"/>
              <a:ext cx="336" cy="380"/>
            </a:xfrm>
            <a:prstGeom prst="rect">
              <a:avLst/>
            </a:prstGeom>
            <a:noFill/>
            <a:ln w="9525">
              <a:noFill/>
              <a:miter lim="800000"/>
            </a:ln>
          </p:spPr>
          <p:txBody>
            <a:bodyPr>
              <a:spAutoFit/>
            </a:bodyPr>
            <a:lstStyle/>
            <a:p>
              <a:pPr>
                <a:spcBef>
                  <a:spcPct val="50000"/>
                </a:spcBef>
              </a:pPr>
              <a:r>
                <a:rPr kumimoji="1" lang="zh-CN" altLang="en-US" sz="2800" b="1">
                  <a:latin typeface="Times New Roman" panose="02020603050405020304" pitchFamily="18" charset="0"/>
                </a:rPr>
                <a:t>否</a:t>
              </a:r>
              <a:endParaRPr kumimoji="1" lang="zh-CN" altLang="en-US" sz="2800" b="1">
                <a:latin typeface="Times New Roman" panose="02020603050405020304" pitchFamily="18" charset="0"/>
              </a:endParaRPr>
            </a:p>
          </p:txBody>
        </p:sp>
        <p:sp>
          <p:nvSpPr>
            <p:cNvPr id="49200" name="Text Box 28"/>
            <p:cNvSpPr txBox="1">
              <a:spLocks noChangeArrowheads="1"/>
            </p:cNvSpPr>
            <p:nvPr/>
          </p:nvSpPr>
          <p:spPr bwMode="auto">
            <a:xfrm>
              <a:off x="2400" y="1104"/>
              <a:ext cx="336" cy="379"/>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b</a:t>
              </a:r>
              <a:endParaRPr kumimoji="1" lang="en-US" altLang="zh-CN" sz="2800" b="1">
                <a:latin typeface="Times New Roman" panose="02020603050405020304" pitchFamily="18" charset="0"/>
              </a:endParaRPr>
            </a:p>
          </p:txBody>
        </p:sp>
        <p:sp>
          <p:nvSpPr>
            <p:cNvPr id="49201" name="Text Box 29"/>
            <p:cNvSpPr txBox="1">
              <a:spLocks noChangeArrowheads="1"/>
            </p:cNvSpPr>
            <p:nvPr/>
          </p:nvSpPr>
          <p:spPr bwMode="auto">
            <a:xfrm>
              <a:off x="4848" y="960"/>
              <a:ext cx="336" cy="379"/>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c</a:t>
              </a:r>
              <a:endParaRPr kumimoji="1" lang="en-US" altLang="zh-CN" sz="2800" b="1">
                <a:latin typeface="Times New Roman" panose="02020603050405020304" pitchFamily="18" charset="0"/>
              </a:endParaRPr>
            </a:p>
          </p:txBody>
        </p:sp>
        <p:sp>
          <p:nvSpPr>
            <p:cNvPr id="49202" name="Text Box 30"/>
            <p:cNvSpPr txBox="1">
              <a:spLocks noChangeArrowheads="1"/>
            </p:cNvSpPr>
            <p:nvPr/>
          </p:nvSpPr>
          <p:spPr bwMode="auto">
            <a:xfrm>
              <a:off x="2448" y="2352"/>
              <a:ext cx="336" cy="379"/>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d</a:t>
              </a:r>
              <a:endParaRPr kumimoji="1" lang="en-US" altLang="zh-CN" sz="2800" b="1">
                <a:latin typeface="Times New Roman" panose="02020603050405020304" pitchFamily="18" charset="0"/>
              </a:endParaRPr>
            </a:p>
          </p:txBody>
        </p:sp>
        <p:sp>
          <p:nvSpPr>
            <p:cNvPr id="49203" name="Text Box 31"/>
            <p:cNvSpPr txBox="1">
              <a:spLocks noChangeArrowheads="1"/>
            </p:cNvSpPr>
            <p:nvPr/>
          </p:nvSpPr>
          <p:spPr bwMode="auto">
            <a:xfrm>
              <a:off x="4896" y="2352"/>
              <a:ext cx="336" cy="379"/>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e</a:t>
              </a:r>
              <a:endParaRPr kumimoji="1" lang="en-US" altLang="zh-CN" sz="2800" b="1">
                <a:latin typeface="Times New Roman" panose="02020603050405020304" pitchFamily="18" charset="0"/>
              </a:endParaRPr>
            </a:p>
          </p:txBody>
        </p:sp>
      </p:grpSp>
      <p:graphicFrame>
        <p:nvGraphicFramePr>
          <p:cNvPr id="1796128" name="Group 32"/>
          <p:cNvGraphicFramePr>
            <a:graphicFrameLocks noGrp="1"/>
          </p:cNvGraphicFramePr>
          <p:nvPr>
            <p:ph sz="half" idx="2"/>
          </p:nvPr>
        </p:nvGraphicFramePr>
        <p:xfrm>
          <a:off x="684213" y="2852738"/>
          <a:ext cx="2868612" cy="3114677"/>
        </p:xfrm>
        <a:graphic>
          <a:graphicData uri="http://schemas.openxmlformats.org/drawingml/2006/table">
            <a:tbl>
              <a:tblPr/>
              <a:tblGrid>
                <a:gridCol w="1438275"/>
                <a:gridCol w="1430337"/>
              </a:tblGrid>
              <a:tr h="415925">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判断条件</a:t>
                      </a:r>
                      <a:endPar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取值</a:t>
                      </a:r>
                      <a:endPar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1038">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A&gt;1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3738">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B=0</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B≠0</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1988">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1988">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X&gt;1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796128"/>
                                        </p:tgtEl>
                                        <p:attrNameLst>
                                          <p:attrName>style.visibility</p:attrName>
                                        </p:attrNameLst>
                                      </p:cBhvr>
                                      <p:to>
                                        <p:strVal val="visible"/>
                                      </p:to>
                                    </p:set>
                                    <p:animEffect transition="in" filter="box(in)">
                                      <p:cBhvr>
                                        <p:cTn id="7" dur="500"/>
                                        <p:tgtEl>
                                          <p:spTgt spid="1796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sz="3600" b="1" smtClean="0">
                <a:solidFill>
                  <a:srgbClr val="0A0A0E"/>
                </a:solidFill>
                <a:latin typeface="Times New Roman" panose="02020603050405020304" pitchFamily="18" charset="0"/>
              </a:rPr>
              <a:t>白盒测试</a:t>
            </a:r>
            <a:endParaRPr lang="zh-CN" altLang="en-US" sz="3600" b="1" smtClean="0">
              <a:solidFill>
                <a:srgbClr val="0A0A0E"/>
              </a:solidFill>
              <a:latin typeface="Times New Roman" panose="02020603050405020304" pitchFamily="18" charset="0"/>
            </a:endParaRPr>
          </a:p>
        </p:txBody>
      </p:sp>
      <p:graphicFrame>
        <p:nvGraphicFramePr>
          <p:cNvPr id="1797123" name="Group 3"/>
          <p:cNvGraphicFramePr>
            <a:graphicFrameLocks noGrp="1"/>
          </p:cNvGraphicFramePr>
          <p:nvPr>
            <p:ph sz="half" idx="1"/>
          </p:nvPr>
        </p:nvGraphicFramePr>
        <p:xfrm>
          <a:off x="1403350" y="2060575"/>
          <a:ext cx="6924675" cy="2092326"/>
        </p:xfrm>
        <a:graphic>
          <a:graphicData uri="http://schemas.openxmlformats.org/drawingml/2006/table">
            <a:tbl>
              <a:tblPr/>
              <a:tblGrid>
                <a:gridCol w="1630363"/>
                <a:gridCol w="1773237"/>
                <a:gridCol w="1762125"/>
                <a:gridCol w="1758950"/>
              </a:tblGrid>
              <a:tr h="439738">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条件</a:t>
                      </a:r>
                      <a:endPar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判断条件</a:t>
                      </a:r>
                      <a:endPar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取值</a:t>
                      </a:r>
                      <a:endPar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条件记为</a:t>
                      </a:r>
                      <a:endPar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25500">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条件</a:t>
                      </a: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A&gt;1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27088">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条件</a:t>
                      </a: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2</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B=0</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B≠0</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T2</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F2</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0221" name="Group 45"/>
          <p:cNvGraphicFramePr>
            <a:graphicFrameLocks noGrp="1"/>
          </p:cNvGraphicFramePr>
          <p:nvPr>
            <p:ph sz="half" idx="2"/>
          </p:nvPr>
        </p:nvGraphicFramePr>
        <p:xfrm>
          <a:off x="1403350" y="4365625"/>
          <a:ext cx="6913563" cy="1463040"/>
        </p:xfrm>
        <a:graphic>
          <a:graphicData uri="http://schemas.openxmlformats.org/drawingml/2006/table">
            <a:tbl>
              <a:tblPr/>
              <a:tblGrid>
                <a:gridCol w="1627188"/>
                <a:gridCol w="1770062"/>
                <a:gridCol w="1757363"/>
                <a:gridCol w="1758950"/>
              </a:tblGrid>
              <a:tr h="323850">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条件</a:t>
                      </a: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3</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T3</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F3</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22263">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条件</a:t>
                      </a: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X&gt;1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97162" name="Rectangle 42"/>
          <p:cNvSpPr>
            <a:spLocks noChangeArrowheads="1"/>
          </p:cNvSpPr>
          <p:nvPr/>
        </p:nvSpPr>
        <p:spPr bwMode="auto">
          <a:xfrm>
            <a:off x="611188" y="1989138"/>
            <a:ext cx="647700" cy="2087562"/>
          </a:xfrm>
          <a:prstGeom prst="rect">
            <a:avLst/>
          </a:prstGeom>
          <a:solidFill>
            <a:schemeClr val="accent1"/>
          </a:solidFill>
          <a:ln w="9525">
            <a:noFill/>
            <a:miter lim="800000"/>
          </a:ln>
          <a:effectLst>
            <a:prstShdw prst="shdw18" dist="17961" dir="13500000">
              <a:schemeClr val="accent1">
                <a:gamma/>
                <a:shade val="60000"/>
                <a:invGamma/>
              </a:schemeClr>
            </a:prstShdw>
          </a:effectLst>
        </p:spPr>
        <p:txBody>
          <a:bodyPr anchor="ctr"/>
          <a:lstStyle/>
          <a:p>
            <a:pPr algn="ctr">
              <a:lnSpc>
                <a:spcPct val="80000"/>
              </a:lnSpc>
              <a:defRPr/>
            </a:pPr>
            <a:r>
              <a:rPr kumimoji="1" lang="zh-CN" altLang="en-US" sz="2800" b="1">
                <a:solidFill>
                  <a:schemeClr val="bg1"/>
                </a:solidFill>
                <a:effectLst>
                  <a:outerShdw blurRad="38100" dist="38100" dir="2700000" algn="tl">
                    <a:srgbClr val="000000"/>
                  </a:outerShdw>
                </a:effectLst>
                <a:latin typeface="Times New Roman" panose="02020603050405020304" pitchFamily="18" charset="0"/>
              </a:rPr>
              <a:t>条件</a:t>
            </a:r>
            <a:endParaRPr kumimoji="1" lang="zh-CN" altLang="en-US" sz="2800" b="1">
              <a:solidFill>
                <a:schemeClr val="bg1"/>
              </a:solidFill>
              <a:effectLst>
                <a:outerShdw blurRad="38100" dist="38100" dir="2700000" algn="tl">
                  <a:srgbClr val="000000"/>
                </a:outerShdw>
              </a:effectLst>
              <a:latin typeface="Times New Roman" panose="02020603050405020304" pitchFamily="18" charset="0"/>
            </a:endParaRPr>
          </a:p>
          <a:p>
            <a:pPr algn="ctr">
              <a:lnSpc>
                <a:spcPct val="80000"/>
              </a:lnSpc>
              <a:defRPr/>
            </a:pPr>
            <a:r>
              <a:rPr kumimoji="1" lang="zh-CN" altLang="en-US" sz="2800" b="1">
                <a:solidFill>
                  <a:schemeClr val="bg1"/>
                </a:solidFill>
                <a:effectLst>
                  <a:outerShdw blurRad="38100" dist="38100" dir="2700000" algn="tl">
                    <a:srgbClr val="000000"/>
                  </a:outerShdw>
                </a:effectLst>
                <a:latin typeface="Times New Roman" panose="02020603050405020304" pitchFamily="18" charset="0"/>
              </a:rPr>
              <a:t>一</a:t>
            </a:r>
            <a:endParaRPr kumimoji="1" lang="zh-CN" altLang="en-US" sz="2800" b="1">
              <a:solidFill>
                <a:schemeClr val="bg1"/>
              </a:solidFill>
              <a:effectLst>
                <a:outerShdw blurRad="38100" dist="38100" dir="2700000" algn="tl">
                  <a:srgbClr val="000000"/>
                </a:outerShdw>
              </a:effectLst>
              <a:latin typeface="Times New Roman" panose="02020603050405020304" pitchFamily="18" charset="0"/>
            </a:endParaRPr>
          </a:p>
        </p:txBody>
      </p:sp>
      <p:sp>
        <p:nvSpPr>
          <p:cNvPr id="1797163" name="Rectangle 43"/>
          <p:cNvSpPr>
            <a:spLocks noChangeArrowheads="1"/>
          </p:cNvSpPr>
          <p:nvPr/>
        </p:nvSpPr>
        <p:spPr bwMode="auto">
          <a:xfrm>
            <a:off x="611188" y="4329113"/>
            <a:ext cx="647700" cy="1727200"/>
          </a:xfrm>
          <a:prstGeom prst="rect">
            <a:avLst/>
          </a:prstGeom>
          <a:solidFill>
            <a:schemeClr val="accent1"/>
          </a:solidFill>
          <a:ln w="9525">
            <a:noFill/>
            <a:miter lim="800000"/>
          </a:ln>
          <a:effectLst>
            <a:prstShdw prst="shdw18" dist="17961" dir="13500000">
              <a:schemeClr val="accent1">
                <a:gamma/>
                <a:shade val="60000"/>
                <a:invGamma/>
              </a:schemeClr>
            </a:prstShdw>
          </a:effectLst>
        </p:spPr>
        <p:txBody>
          <a:bodyPr anchor="ctr"/>
          <a:lstStyle/>
          <a:p>
            <a:pPr algn="ctr">
              <a:lnSpc>
                <a:spcPct val="80000"/>
              </a:lnSpc>
              <a:defRPr/>
            </a:pPr>
            <a:r>
              <a:rPr kumimoji="1" lang="zh-CN" altLang="en-US" sz="2800" b="1">
                <a:solidFill>
                  <a:schemeClr val="bg1"/>
                </a:solidFill>
                <a:effectLst>
                  <a:outerShdw blurRad="38100" dist="38100" dir="2700000" algn="tl">
                    <a:srgbClr val="000000"/>
                  </a:outerShdw>
                </a:effectLst>
                <a:latin typeface="Times New Roman" panose="02020603050405020304" pitchFamily="18" charset="0"/>
              </a:rPr>
              <a:t>条件</a:t>
            </a:r>
            <a:endParaRPr kumimoji="1" lang="zh-CN" altLang="en-US" sz="2800" b="1">
              <a:solidFill>
                <a:schemeClr val="bg1"/>
              </a:solidFill>
              <a:effectLst>
                <a:outerShdw blurRad="38100" dist="38100" dir="2700000" algn="tl">
                  <a:srgbClr val="000000"/>
                </a:outerShdw>
              </a:effectLst>
              <a:latin typeface="Times New Roman" panose="02020603050405020304" pitchFamily="18" charset="0"/>
            </a:endParaRPr>
          </a:p>
          <a:p>
            <a:pPr algn="ctr">
              <a:lnSpc>
                <a:spcPct val="80000"/>
              </a:lnSpc>
              <a:defRPr/>
            </a:pPr>
            <a:r>
              <a:rPr kumimoji="1" lang="zh-CN" altLang="en-US" sz="2800" b="1">
                <a:solidFill>
                  <a:schemeClr val="bg1"/>
                </a:solidFill>
                <a:effectLst>
                  <a:outerShdw blurRad="38100" dist="38100" dir="2700000" algn="tl">
                    <a:srgbClr val="000000"/>
                  </a:outerShdw>
                </a:effectLst>
                <a:latin typeface="Times New Roman" panose="02020603050405020304" pitchFamily="18" charset="0"/>
              </a:rPr>
              <a:t>二</a:t>
            </a:r>
            <a:endParaRPr kumimoji="1" lang="zh-CN" altLang="en-US" sz="2800" b="1">
              <a:solidFill>
                <a:schemeClr val="bg1"/>
              </a:solidFill>
              <a:effectLst>
                <a:outerShdw blurRad="38100" dist="38100" dir="2700000" algn="tl">
                  <a:srgbClr val="000000"/>
                </a:outerShdw>
              </a:effectLst>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797123"/>
                                        </p:tgtEl>
                                        <p:attrNameLst>
                                          <p:attrName>style.visibility</p:attrName>
                                        </p:attrNameLst>
                                      </p:cBhvr>
                                      <p:to>
                                        <p:strVal val="visible"/>
                                      </p:to>
                                    </p:set>
                                    <p:animEffect transition="in" filter="barn(outVertical)">
                                      <p:cBhvr>
                                        <p:cTn id="7" dur="500"/>
                                        <p:tgtEl>
                                          <p:spTgt spid="179712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50221"/>
                                        </p:tgtEl>
                                        <p:attrNameLst>
                                          <p:attrName>style.visibility</p:attrName>
                                        </p:attrNameLst>
                                      </p:cBhvr>
                                      <p:to>
                                        <p:strVal val="visible"/>
                                      </p:to>
                                    </p:set>
                                    <p:animEffect transition="in" filter="barn(outVertical)">
                                      <p:cBhvr>
                                        <p:cTn id="12" dur="500"/>
                                        <p:tgtEl>
                                          <p:spTgt spid="5022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797163"/>
                                        </p:tgtEl>
                                        <p:attrNameLst>
                                          <p:attrName>style.visibility</p:attrName>
                                        </p:attrNameLst>
                                      </p:cBhvr>
                                      <p:to>
                                        <p:strVal val="visible"/>
                                      </p:to>
                                    </p:set>
                                    <p:animEffect transition="in" filter="box(out)">
                                      <p:cBhvr>
                                        <p:cTn id="17" dur="500"/>
                                        <p:tgtEl>
                                          <p:spTgt spid="1797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7163"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p:spPr>
        <p:txBody>
          <a:bodyPr/>
          <a:lstStyle/>
          <a:p>
            <a:pPr eaLnBrk="1" hangingPunct="1"/>
            <a:r>
              <a:rPr lang="zh-CN" altLang="en-US" sz="100" b="1" smtClean="0">
                <a:solidFill>
                  <a:schemeClr val="bg1"/>
                </a:solidFill>
              </a:rPr>
              <a:t>设计的测试用例子</a:t>
            </a:r>
            <a:endParaRPr lang="zh-CN" altLang="en-US" sz="100" b="1" smtClean="0">
              <a:solidFill>
                <a:schemeClr val="bg1"/>
              </a:solidFill>
            </a:endParaRPr>
          </a:p>
        </p:txBody>
      </p:sp>
      <p:graphicFrame>
        <p:nvGraphicFramePr>
          <p:cNvPr id="1798147" name="Group 3"/>
          <p:cNvGraphicFramePr>
            <a:graphicFrameLocks noGrp="1"/>
          </p:cNvGraphicFramePr>
          <p:nvPr/>
        </p:nvGraphicFramePr>
        <p:xfrm>
          <a:off x="684213" y="1989138"/>
          <a:ext cx="7010400" cy="3708401"/>
        </p:xfrm>
        <a:graphic>
          <a:graphicData uri="http://schemas.openxmlformats.org/drawingml/2006/table">
            <a:tbl>
              <a:tblPr/>
              <a:tblGrid>
                <a:gridCol w="1152525"/>
                <a:gridCol w="2111375"/>
                <a:gridCol w="1689100"/>
                <a:gridCol w="2057400"/>
              </a:tblGrid>
              <a:tr h="4460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imes New Roman" panose="02020603050405020304" pitchFamily="18" charset="0"/>
                          <a:ea typeface="宋体" panose="02010600030101010101" pitchFamily="2" charset="-122"/>
                        </a:rPr>
                        <a:t>序号</a:t>
                      </a:r>
                      <a:endParaRPr kumimoji="0" lang="zh-CN" altLang="en-US" sz="2000" b="1" i="0" u="none" strike="noStrike" cap="none" normalizeH="0" baseline="0" smtClean="0">
                        <a:ln>
                          <a:noFill/>
                        </a:ln>
                        <a:solidFill>
                          <a:srgbClr val="0A0A0E"/>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imes New Roman" panose="02020603050405020304" pitchFamily="18" charset="0"/>
                          <a:ea typeface="宋体" panose="02010600030101010101" pitchFamily="2" charset="-122"/>
                        </a:rPr>
                        <a:t>测试用例</a:t>
                      </a:r>
                      <a:endParaRPr kumimoji="0" lang="zh-CN" altLang="en-US" sz="2000" b="1" i="0" u="none" strike="noStrike" cap="none" normalizeH="0" baseline="0" smtClean="0">
                        <a:ln>
                          <a:noFill/>
                        </a:ln>
                        <a:solidFill>
                          <a:srgbClr val="0A0A0E"/>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imes New Roman" panose="02020603050405020304" pitchFamily="18" charset="0"/>
                          <a:ea typeface="宋体" panose="02010600030101010101" pitchFamily="2" charset="-122"/>
                        </a:rPr>
                        <a:t>覆盖路径</a:t>
                      </a:r>
                      <a:endParaRPr kumimoji="0" lang="zh-CN" altLang="en-US" sz="2000" b="1" i="0" u="none" strike="noStrike" cap="none" normalizeH="0" baseline="0" smtClean="0">
                        <a:ln>
                          <a:noFill/>
                        </a:ln>
                        <a:solidFill>
                          <a:srgbClr val="0A0A0E"/>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imes New Roman" panose="02020603050405020304" pitchFamily="18" charset="0"/>
                          <a:ea typeface="宋体" panose="02010600030101010101" pitchFamily="2" charset="-122"/>
                        </a:rPr>
                        <a:t>条件记为</a:t>
                      </a:r>
                      <a:endParaRPr kumimoji="0" lang="zh-CN" altLang="en-US" sz="2000" b="1" i="0" u="none" strike="noStrike" cap="none" normalizeH="0" baseline="0" smtClean="0">
                        <a:ln>
                          <a:noFill/>
                        </a:ln>
                        <a:solidFill>
                          <a:srgbClr val="0A0A0E"/>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8159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 B=0</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ace</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T1 T2 T3 T4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8159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2</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A=1 B=1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abd</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F1 F2 F3 F4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8143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3</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 B=0</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acd</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T1 T2 T3 F4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8159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A=1 B=1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X=2</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abe</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F1 F2 F3 T4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90000" marR="90000" marT="46800" marB="46800"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bl>
          </a:graphicData>
        </a:graphic>
      </p:graphicFrame>
      <p:sp>
        <p:nvSpPr>
          <p:cNvPr id="51235" name="Rectangle 35"/>
          <p:cNvSpPr>
            <a:spLocks noChangeArrowheads="1"/>
          </p:cNvSpPr>
          <p:nvPr/>
        </p:nvSpPr>
        <p:spPr bwMode="auto">
          <a:xfrm>
            <a:off x="1331913" y="836613"/>
            <a:ext cx="6480175" cy="1036637"/>
          </a:xfrm>
          <a:prstGeom prst="rect">
            <a:avLst/>
          </a:prstGeom>
          <a:noFill/>
          <a:ln w="9525">
            <a:noFill/>
            <a:miter lim="800000"/>
          </a:ln>
        </p:spPr>
        <p:txBody>
          <a:bodyPr anchor="b"/>
          <a:lstStyle/>
          <a:p>
            <a:r>
              <a:rPr lang="zh-CN" altLang="en-US" sz="3600" b="1">
                <a:solidFill>
                  <a:srgbClr val="0A0A0E"/>
                </a:solidFill>
                <a:latin typeface="Times New Roman" panose="02020603050405020304" pitchFamily="18" charset="0"/>
              </a:rPr>
              <a:t>白盒测试</a:t>
            </a:r>
            <a:endParaRPr lang="zh-CN" altLang="en-US" sz="3600" b="1">
              <a:solidFill>
                <a:srgbClr val="0A0A0E"/>
              </a:solidFill>
              <a:latin typeface="Times New Roman" panose="02020603050405020304" pitchFamily="18" charset="0"/>
            </a:endParaRPr>
          </a:p>
        </p:txBody>
      </p:sp>
      <p:sp>
        <p:nvSpPr>
          <p:cNvPr id="1798180" name="Rectangle 36"/>
          <p:cNvSpPr>
            <a:spLocks noChangeArrowheads="1"/>
          </p:cNvSpPr>
          <p:nvPr/>
        </p:nvSpPr>
        <p:spPr bwMode="auto">
          <a:xfrm>
            <a:off x="7885113" y="2133600"/>
            <a:ext cx="609600" cy="3429000"/>
          </a:xfrm>
          <a:prstGeom prst="rect">
            <a:avLst/>
          </a:prstGeom>
          <a:solidFill>
            <a:schemeClr val="accent1"/>
          </a:solidFill>
          <a:ln w="9525">
            <a:noFill/>
            <a:miter lim="800000"/>
          </a:ln>
          <a:effectLst>
            <a:prstShdw prst="shdw18" dist="17961" dir="13500000">
              <a:schemeClr val="accent1">
                <a:gamma/>
                <a:shade val="60000"/>
                <a:invGamma/>
              </a:schemeClr>
            </a:prstShdw>
          </a:effectLst>
        </p:spPr>
        <p:txBody>
          <a:bodyPr anchor="ctr"/>
          <a:lstStyle/>
          <a:p>
            <a:pPr algn="ctr"/>
            <a:r>
              <a:rPr kumimoji="1" lang="zh-CN" altLang="en-US" sz="2800" b="1">
                <a:solidFill>
                  <a:schemeClr val="bg1"/>
                </a:solidFill>
                <a:effectLst>
                  <a:outerShdw blurRad="38100" dist="38100" dir="2700000" algn="tl">
                    <a:srgbClr val="000000"/>
                  </a:outerShdw>
                </a:effectLst>
                <a:latin typeface="Times New Roman" panose="02020603050405020304" pitchFamily="18" charset="0"/>
              </a:rPr>
              <a:t>设计测试用例</a:t>
            </a:r>
            <a:endParaRPr kumimoji="1" lang="zh-CN" altLang="en-US" sz="2800" b="1">
              <a:solidFill>
                <a:schemeClr val="bg1"/>
              </a:solidFill>
              <a:effectLst>
                <a:outerShdw blurRad="38100" dist="38100" dir="2700000" algn="tl">
                  <a:srgbClr val="000000"/>
                </a:outerShdw>
              </a:effectLst>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sz="3600" b="1" smtClean="0">
                <a:solidFill>
                  <a:srgbClr val="0A0A0E"/>
                </a:solidFill>
                <a:latin typeface="Times New Roman" panose="02020603050405020304" pitchFamily="18" charset="0"/>
              </a:rPr>
              <a:t>白盒测试</a:t>
            </a:r>
            <a:endParaRPr lang="zh-CN" altLang="en-US" sz="3600" b="1" smtClean="0">
              <a:solidFill>
                <a:srgbClr val="0A0A0E"/>
              </a:solidFill>
              <a:latin typeface="Times New Roman" panose="02020603050405020304" pitchFamily="18" charset="0"/>
            </a:endParaRPr>
          </a:p>
        </p:txBody>
      </p:sp>
      <p:sp>
        <p:nvSpPr>
          <p:cNvPr id="52227" name="Rectangle 3"/>
          <p:cNvSpPr>
            <a:spLocks noGrp="1" noChangeArrowheads="1"/>
          </p:cNvSpPr>
          <p:nvPr>
            <p:ph type="body" sz="half" idx="1"/>
          </p:nvPr>
        </p:nvSpPr>
        <p:spPr>
          <a:xfrm>
            <a:off x="1182688" y="2017713"/>
            <a:ext cx="3811587" cy="4114800"/>
          </a:xfrm>
        </p:spPr>
        <p:txBody>
          <a:bodyPr/>
          <a:lstStyle/>
          <a:p>
            <a:pPr eaLnBrk="1" hangingPunct="1"/>
            <a:r>
              <a:rPr kumimoji="1" lang="zh-CN" altLang="en-US" sz="2800" b="1" smtClean="0">
                <a:solidFill>
                  <a:srgbClr val="003366"/>
                </a:solidFill>
              </a:rPr>
              <a:t>条件组合覆盖法</a:t>
            </a:r>
            <a:endParaRPr kumimoji="1" lang="zh-CN" altLang="en-US" sz="2800" b="1" smtClean="0">
              <a:solidFill>
                <a:srgbClr val="003366"/>
              </a:solidFill>
            </a:endParaRPr>
          </a:p>
        </p:txBody>
      </p:sp>
      <p:grpSp>
        <p:nvGrpSpPr>
          <p:cNvPr id="52228" name="Group 4"/>
          <p:cNvGrpSpPr/>
          <p:nvPr/>
        </p:nvGrpSpPr>
        <p:grpSpPr bwMode="auto">
          <a:xfrm>
            <a:off x="4038600" y="1844675"/>
            <a:ext cx="4800600" cy="4175125"/>
            <a:chOff x="2544" y="528"/>
            <a:chExt cx="3024" cy="3264"/>
          </a:xfrm>
        </p:grpSpPr>
        <p:sp>
          <p:nvSpPr>
            <p:cNvPr id="52263" name="Line 5"/>
            <p:cNvSpPr>
              <a:spLocks noChangeShapeType="1"/>
            </p:cNvSpPr>
            <p:nvPr/>
          </p:nvSpPr>
          <p:spPr bwMode="auto">
            <a:xfrm>
              <a:off x="3888" y="624"/>
              <a:ext cx="0" cy="384"/>
            </a:xfrm>
            <a:prstGeom prst="line">
              <a:avLst/>
            </a:prstGeom>
            <a:noFill/>
            <a:ln w="28575">
              <a:solidFill>
                <a:srgbClr val="003366"/>
              </a:solidFill>
              <a:round/>
              <a:tailEnd type="triangle" w="med" len="med"/>
            </a:ln>
          </p:spPr>
          <p:txBody>
            <a:bodyPr/>
            <a:lstStyle/>
            <a:p>
              <a:endParaRPr lang="zh-CN" altLang="en-US"/>
            </a:p>
          </p:txBody>
        </p:sp>
        <p:sp>
          <p:nvSpPr>
            <p:cNvPr id="52264" name="AutoShape 6"/>
            <p:cNvSpPr>
              <a:spLocks noChangeArrowheads="1"/>
            </p:cNvSpPr>
            <p:nvPr/>
          </p:nvSpPr>
          <p:spPr bwMode="auto">
            <a:xfrm>
              <a:off x="3024" y="1008"/>
              <a:ext cx="1728" cy="576"/>
            </a:xfrm>
            <a:prstGeom prst="flowChartDecision">
              <a:avLst/>
            </a:prstGeom>
            <a:noFill/>
            <a:ln w="28575">
              <a:solidFill>
                <a:srgbClr val="003366"/>
              </a:solidFill>
              <a:miter lim="800000"/>
            </a:ln>
          </p:spPr>
          <p:txBody>
            <a:bodyPr wrap="none" anchor="ctr"/>
            <a:lstStyle/>
            <a:p>
              <a:pPr algn="ctr"/>
              <a:r>
                <a:rPr kumimoji="1" lang="en-US" altLang="zh-CN" b="1">
                  <a:solidFill>
                    <a:srgbClr val="003366"/>
                  </a:solidFill>
                  <a:latin typeface="Times New Roman" panose="02020603050405020304" pitchFamily="18" charset="0"/>
                </a:rPr>
                <a:t>A&gt;1AND</a:t>
              </a:r>
              <a:endParaRPr kumimoji="1" lang="en-US" altLang="zh-CN" b="1">
                <a:solidFill>
                  <a:srgbClr val="003366"/>
                </a:solidFill>
                <a:latin typeface="Times New Roman" panose="02020603050405020304" pitchFamily="18" charset="0"/>
              </a:endParaRPr>
            </a:p>
            <a:p>
              <a:pPr algn="ctr"/>
              <a:r>
                <a:rPr kumimoji="1" lang="en-US" altLang="zh-CN" b="1">
                  <a:solidFill>
                    <a:srgbClr val="003366"/>
                  </a:solidFill>
                  <a:latin typeface="Times New Roman" panose="02020603050405020304" pitchFamily="18" charset="0"/>
                </a:rPr>
                <a:t>B=0</a:t>
              </a:r>
              <a:endParaRPr kumimoji="1" lang="en-US" altLang="zh-CN" b="1">
                <a:solidFill>
                  <a:srgbClr val="003366"/>
                </a:solidFill>
                <a:latin typeface="Times New Roman" panose="02020603050405020304" pitchFamily="18" charset="0"/>
              </a:endParaRPr>
            </a:p>
          </p:txBody>
        </p:sp>
        <p:sp>
          <p:nvSpPr>
            <p:cNvPr id="52265" name="Line 7"/>
            <p:cNvSpPr>
              <a:spLocks noChangeShapeType="1"/>
            </p:cNvSpPr>
            <p:nvPr/>
          </p:nvSpPr>
          <p:spPr bwMode="auto">
            <a:xfrm>
              <a:off x="4752" y="1296"/>
              <a:ext cx="240" cy="0"/>
            </a:xfrm>
            <a:prstGeom prst="line">
              <a:avLst/>
            </a:prstGeom>
            <a:noFill/>
            <a:ln w="28575">
              <a:solidFill>
                <a:srgbClr val="003366"/>
              </a:solidFill>
              <a:round/>
            </a:ln>
          </p:spPr>
          <p:txBody>
            <a:bodyPr/>
            <a:lstStyle/>
            <a:p>
              <a:endParaRPr lang="zh-CN" altLang="en-US"/>
            </a:p>
          </p:txBody>
        </p:sp>
        <p:sp>
          <p:nvSpPr>
            <p:cNvPr id="52266" name="Line 8"/>
            <p:cNvSpPr>
              <a:spLocks noChangeShapeType="1"/>
            </p:cNvSpPr>
            <p:nvPr/>
          </p:nvSpPr>
          <p:spPr bwMode="auto">
            <a:xfrm>
              <a:off x="4992" y="1296"/>
              <a:ext cx="0" cy="336"/>
            </a:xfrm>
            <a:prstGeom prst="line">
              <a:avLst/>
            </a:prstGeom>
            <a:noFill/>
            <a:ln w="28575">
              <a:solidFill>
                <a:srgbClr val="003366"/>
              </a:solidFill>
              <a:round/>
              <a:tailEnd type="triangle" w="med" len="med"/>
            </a:ln>
          </p:spPr>
          <p:txBody>
            <a:bodyPr/>
            <a:lstStyle/>
            <a:p>
              <a:endParaRPr lang="zh-CN" altLang="en-US"/>
            </a:p>
          </p:txBody>
        </p:sp>
        <p:sp>
          <p:nvSpPr>
            <p:cNvPr id="52267" name="Rectangle 9"/>
            <p:cNvSpPr>
              <a:spLocks noChangeArrowheads="1"/>
            </p:cNvSpPr>
            <p:nvPr/>
          </p:nvSpPr>
          <p:spPr bwMode="auto">
            <a:xfrm>
              <a:off x="4512" y="1632"/>
              <a:ext cx="1008" cy="288"/>
            </a:xfrm>
            <a:prstGeom prst="rect">
              <a:avLst/>
            </a:prstGeom>
            <a:noFill/>
            <a:ln w="28575">
              <a:solidFill>
                <a:srgbClr val="003366"/>
              </a:solidFill>
              <a:miter lim="800000"/>
            </a:ln>
          </p:spPr>
          <p:txBody>
            <a:bodyPr wrap="none" anchor="ctr"/>
            <a:lstStyle/>
            <a:p>
              <a:pPr algn="ctr"/>
              <a:r>
                <a:rPr kumimoji="1" lang="en-US" altLang="zh-CN" b="1">
                  <a:solidFill>
                    <a:srgbClr val="003366"/>
                  </a:solidFill>
                  <a:latin typeface="Times New Roman" panose="02020603050405020304" pitchFamily="18" charset="0"/>
                </a:rPr>
                <a:t>X=X/A</a:t>
              </a:r>
              <a:endParaRPr kumimoji="1" lang="en-US" altLang="zh-CN" b="1">
                <a:solidFill>
                  <a:srgbClr val="003366"/>
                </a:solidFill>
                <a:latin typeface="Times New Roman" panose="02020603050405020304" pitchFamily="18" charset="0"/>
              </a:endParaRPr>
            </a:p>
          </p:txBody>
        </p:sp>
        <p:sp>
          <p:nvSpPr>
            <p:cNvPr id="52268" name="Line 10"/>
            <p:cNvSpPr>
              <a:spLocks noChangeShapeType="1"/>
            </p:cNvSpPr>
            <p:nvPr/>
          </p:nvSpPr>
          <p:spPr bwMode="auto">
            <a:xfrm>
              <a:off x="2784" y="1296"/>
              <a:ext cx="0" cy="816"/>
            </a:xfrm>
            <a:prstGeom prst="line">
              <a:avLst/>
            </a:prstGeom>
            <a:noFill/>
            <a:ln w="28575">
              <a:solidFill>
                <a:srgbClr val="003366"/>
              </a:solidFill>
              <a:round/>
            </a:ln>
          </p:spPr>
          <p:txBody>
            <a:bodyPr/>
            <a:lstStyle/>
            <a:p>
              <a:endParaRPr lang="zh-CN" altLang="en-US"/>
            </a:p>
          </p:txBody>
        </p:sp>
        <p:sp>
          <p:nvSpPr>
            <p:cNvPr id="52269" name="Line 11"/>
            <p:cNvSpPr>
              <a:spLocks noChangeShapeType="1"/>
            </p:cNvSpPr>
            <p:nvPr/>
          </p:nvSpPr>
          <p:spPr bwMode="auto">
            <a:xfrm>
              <a:off x="2784" y="1296"/>
              <a:ext cx="240" cy="0"/>
            </a:xfrm>
            <a:prstGeom prst="line">
              <a:avLst/>
            </a:prstGeom>
            <a:noFill/>
            <a:ln w="28575">
              <a:solidFill>
                <a:srgbClr val="003366"/>
              </a:solidFill>
              <a:round/>
            </a:ln>
          </p:spPr>
          <p:txBody>
            <a:bodyPr/>
            <a:lstStyle/>
            <a:p>
              <a:endParaRPr lang="zh-CN" altLang="en-US"/>
            </a:p>
          </p:txBody>
        </p:sp>
        <p:sp>
          <p:nvSpPr>
            <p:cNvPr id="52270" name="Line 12"/>
            <p:cNvSpPr>
              <a:spLocks noChangeShapeType="1"/>
            </p:cNvSpPr>
            <p:nvPr/>
          </p:nvSpPr>
          <p:spPr bwMode="auto">
            <a:xfrm>
              <a:off x="4992" y="1920"/>
              <a:ext cx="0" cy="192"/>
            </a:xfrm>
            <a:prstGeom prst="line">
              <a:avLst/>
            </a:prstGeom>
            <a:noFill/>
            <a:ln w="28575">
              <a:solidFill>
                <a:srgbClr val="003366"/>
              </a:solidFill>
              <a:round/>
            </a:ln>
          </p:spPr>
          <p:txBody>
            <a:bodyPr/>
            <a:lstStyle/>
            <a:p>
              <a:endParaRPr lang="zh-CN" altLang="en-US"/>
            </a:p>
          </p:txBody>
        </p:sp>
        <p:sp>
          <p:nvSpPr>
            <p:cNvPr id="52271" name="Line 13"/>
            <p:cNvSpPr>
              <a:spLocks noChangeShapeType="1"/>
            </p:cNvSpPr>
            <p:nvPr/>
          </p:nvSpPr>
          <p:spPr bwMode="auto">
            <a:xfrm>
              <a:off x="2784" y="2112"/>
              <a:ext cx="2208" cy="0"/>
            </a:xfrm>
            <a:prstGeom prst="line">
              <a:avLst/>
            </a:prstGeom>
            <a:noFill/>
            <a:ln w="28575">
              <a:solidFill>
                <a:srgbClr val="003366"/>
              </a:solidFill>
              <a:round/>
            </a:ln>
          </p:spPr>
          <p:txBody>
            <a:bodyPr/>
            <a:lstStyle/>
            <a:p>
              <a:endParaRPr lang="zh-CN" altLang="en-US"/>
            </a:p>
          </p:txBody>
        </p:sp>
        <p:sp>
          <p:nvSpPr>
            <p:cNvPr id="52272" name="Line 14"/>
            <p:cNvSpPr>
              <a:spLocks noChangeShapeType="1"/>
            </p:cNvSpPr>
            <p:nvPr/>
          </p:nvSpPr>
          <p:spPr bwMode="auto">
            <a:xfrm>
              <a:off x="3936" y="2112"/>
              <a:ext cx="0" cy="288"/>
            </a:xfrm>
            <a:prstGeom prst="line">
              <a:avLst/>
            </a:prstGeom>
            <a:noFill/>
            <a:ln w="28575">
              <a:solidFill>
                <a:srgbClr val="003366"/>
              </a:solidFill>
              <a:round/>
              <a:tailEnd type="triangle" w="med" len="med"/>
            </a:ln>
          </p:spPr>
          <p:txBody>
            <a:bodyPr/>
            <a:lstStyle/>
            <a:p>
              <a:endParaRPr lang="zh-CN" altLang="en-US"/>
            </a:p>
          </p:txBody>
        </p:sp>
        <p:sp>
          <p:nvSpPr>
            <p:cNvPr id="52273" name="AutoShape 15"/>
            <p:cNvSpPr>
              <a:spLocks noChangeArrowheads="1"/>
            </p:cNvSpPr>
            <p:nvPr/>
          </p:nvSpPr>
          <p:spPr bwMode="auto">
            <a:xfrm>
              <a:off x="3072" y="2400"/>
              <a:ext cx="1728" cy="576"/>
            </a:xfrm>
            <a:prstGeom prst="flowChartDecision">
              <a:avLst/>
            </a:prstGeom>
            <a:noFill/>
            <a:ln w="28575">
              <a:solidFill>
                <a:srgbClr val="003366"/>
              </a:solidFill>
              <a:miter lim="800000"/>
            </a:ln>
          </p:spPr>
          <p:txBody>
            <a:bodyPr wrap="none" anchor="ctr"/>
            <a:lstStyle/>
            <a:p>
              <a:pPr algn="ctr"/>
              <a:r>
                <a:rPr kumimoji="1" lang="en-US" altLang="zh-CN" b="1">
                  <a:solidFill>
                    <a:srgbClr val="003366"/>
                  </a:solidFill>
                  <a:latin typeface="Times New Roman" panose="02020603050405020304" pitchFamily="18" charset="0"/>
                </a:rPr>
                <a:t>A=2OR </a:t>
              </a:r>
              <a:endParaRPr kumimoji="1" lang="en-US" altLang="zh-CN" b="1">
                <a:solidFill>
                  <a:srgbClr val="003366"/>
                </a:solidFill>
                <a:latin typeface="Times New Roman" panose="02020603050405020304" pitchFamily="18" charset="0"/>
              </a:endParaRPr>
            </a:p>
            <a:p>
              <a:pPr algn="ctr"/>
              <a:r>
                <a:rPr kumimoji="1" lang="en-US" altLang="zh-CN" b="1">
                  <a:solidFill>
                    <a:srgbClr val="003366"/>
                  </a:solidFill>
                  <a:latin typeface="Times New Roman" panose="02020603050405020304" pitchFamily="18" charset="0"/>
                </a:rPr>
                <a:t>X&gt;1</a:t>
              </a:r>
              <a:endParaRPr kumimoji="1" lang="en-US" altLang="zh-CN" b="1">
                <a:solidFill>
                  <a:srgbClr val="003366"/>
                </a:solidFill>
                <a:latin typeface="Times New Roman" panose="02020603050405020304" pitchFamily="18" charset="0"/>
              </a:endParaRPr>
            </a:p>
          </p:txBody>
        </p:sp>
        <p:sp>
          <p:nvSpPr>
            <p:cNvPr id="52274" name="Line 16"/>
            <p:cNvSpPr>
              <a:spLocks noChangeShapeType="1"/>
            </p:cNvSpPr>
            <p:nvPr/>
          </p:nvSpPr>
          <p:spPr bwMode="auto">
            <a:xfrm>
              <a:off x="4800" y="2688"/>
              <a:ext cx="240" cy="0"/>
            </a:xfrm>
            <a:prstGeom prst="line">
              <a:avLst/>
            </a:prstGeom>
            <a:noFill/>
            <a:ln w="28575">
              <a:solidFill>
                <a:srgbClr val="003366"/>
              </a:solidFill>
              <a:round/>
            </a:ln>
          </p:spPr>
          <p:txBody>
            <a:bodyPr/>
            <a:lstStyle/>
            <a:p>
              <a:endParaRPr lang="zh-CN" altLang="en-US"/>
            </a:p>
          </p:txBody>
        </p:sp>
        <p:sp>
          <p:nvSpPr>
            <p:cNvPr id="52275" name="Line 17"/>
            <p:cNvSpPr>
              <a:spLocks noChangeShapeType="1"/>
            </p:cNvSpPr>
            <p:nvPr/>
          </p:nvSpPr>
          <p:spPr bwMode="auto">
            <a:xfrm>
              <a:off x="5040" y="2688"/>
              <a:ext cx="0" cy="336"/>
            </a:xfrm>
            <a:prstGeom prst="line">
              <a:avLst/>
            </a:prstGeom>
            <a:noFill/>
            <a:ln w="28575">
              <a:solidFill>
                <a:srgbClr val="003366"/>
              </a:solidFill>
              <a:round/>
              <a:tailEnd type="triangle" w="med" len="med"/>
            </a:ln>
          </p:spPr>
          <p:txBody>
            <a:bodyPr/>
            <a:lstStyle/>
            <a:p>
              <a:endParaRPr lang="zh-CN" altLang="en-US"/>
            </a:p>
          </p:txBody>
        </p:sp>
        <p:sp>
          <p:nvSpPr>
            <p:cNvPr id="52276" name="Rectangle 18"/>
            <p:cNvSpPr>
              <a:spLocks noChangeArrowheads="1"/>
            </p:cNvSpPr>
            <p:nvPr/>
          </p:nvSpPr>
          <p:spPr bwMode="auto">
            <a:xfrm>
              <a:off x="4560" y="3024"/>
              <a:ext cx="1008" cy="288"/>
            </a:xfrm>
            <a:prstGeom prst="rect">
              <a:avLst/>
            </a:prstGeom>
            <a:noFill/>
            <a:ln w="28575">
              <a:solidFill>
                <a:srgbClr val="003366"/>
              </a:solidFill>
              <a:miter lim="800000"/>
            </a:ln>
          </p:spPr>
          <p:txBody>
            <a:bodyPr wrap="none" anchor="ctr"/>
            <a:lstStyle/>
            <a:p>
              <a:pPr algn="ctr"/>
              <a:r>
                <a:rPr kumimoji="1" lang="en-US" altLang="zh-CN" b="1">
                  <a:solidFill>
                    <a:srgbClr val="003366"/>
                  </a:solidFill>
                  <a:latin typeface="Times New Roman" panose="02020603050405020304" pitchFamily="18" charset="0"/>
                </a:rPr>
                <a:t>X=X+1</a:t>
              </a:r>
              <a:endParaRPr kumimoji="1" lang="en-US" altLang="zh-CN" b="1">
                <a:solidFill>
                  <a:srgbClr val="003366"/>
                </a:solidFill>
                <a:latin typeface="Times New Roman" panose="02020603050405020304" pitchFamily="18" charset="0"/>
              </a:endParaRPr>
            </a:p>
          </p:txBody>
        </p:sp>
        <p:sp>
          <p:nvSpPr>
            <p:cNvPr id="52277" name="Line 19"/>
            <p:cNvSpPr>
              <a:spLocks noChangeShapeType="1"/>
            </p:cNvSpPr>
            <p:nvPr/>
          </p:nvSpPr>
          <p:spPr bwMode="auto">
            <a:xfrm>
              <a:off x="2832" y="2688"/>
              <a:ext cx="0" cy="816"/>
            </a:xfrm>
            <a:prstGeom prst="line">
              <a:avLst/>
            </a:prstGeom>
            <a:noFill/>
            <a:ln w="28575">
              <a:solidFill>
                <a:srgbClr val="003366"/>
              </a:solidFill>
              <a:round/>
            </a:ln>
          </p:spPr>
          <p:txBody>
            <a:bodyPr/>
            <a:lstStyle/>
            <a:p>
              <a:endParaRPr lang="zh-CN" altLang="en-US"/>
            </a:p>
          </p:txBody>
        </p:sp>
        <p:sp>
          <p:nvSpPr>
            <p:cNvPr id="52278" name="Line 20"/>
            <p:cNvSpPr>
              <a:spLocks noChangeShapeType="1"/>
            </p:cNvSpPr>
            <p:nvPr/>
          </p:nvSpPr>
          <p:spPr bwMode="auto">
            <a:xfrm>
              <a:off x="2832" y="2688"/>
              <a:ext cx="240" cy="0"/>
            </a:xfrm>
            <a:prstGeom prst="line">
              <a:avLst/>
            </a:prstGeom>
            <a:noFill/>
            <a:ln w="28575">
              <a:solidFill>
                <a:srgbClr val="003366"/>
              </a:solidFill>
              <a:round/>
            </a:ln>
          </p:spPr>
          <p:txBody>
            <a:bodyPr/>
            <a:lstStyle/>
            <a:p>
              <a:endParaRPr lang="zh-CN" altLang="en-US"/>
            </a:p>
          </p:txBody>
        </p:sp>
        <p:sp>
          <p:nvSpPr>
            <p:cNvPr id="52279" name="Line 21"/>
            <p:cNvSpPr>
              <a:spLocks noChangeShapeType="1"/>
            </p:cNvSpPr>
            <p:nvPr/>
          </p:nvSpPr>
          <p:spPr bwMode="auto">
            <a:xfrm>
              <a:off x="5040" y="3312"/>
              <a:ext cx="0" cy="192"/>
            </a:xfrm>
            <a:prstGeom prst="line">
              <a:avLst/>
            </a:prstGeom>
            <a:noFill/>
            <a:ln w="28575">
              <a:solidFill>
                <a:srgbClr val="003366"/>
              </a:solidFill>
              <a:round/>
            </a:ln>
          </p:spPr>
          <p:txBody>
            <a:bodyPr/>
            <a:lstStyle/>
            <a:p>
              <a:endParaRPr lang="zh-CN" altLang="en-US"/>
            </a:p>
          </p:txBody>
        </p:sp>
        <p:sp>
          <p:nvSpPr>
            <p:cNvPr id="52280" name="Line 22"/>
            <p:cNvSpPr>
              <a:spLocks noChangeShapeType="1"/>
            </p:cNvSpPr>
            <p:nvPr/>
          </p:nvSpPr>
          <p:spPr bwMode="auto">
            <a:xfrm>
              <a:off x="2832" y="3504"/>
              <a:ext cx="2208" cy="0"/>
            </a:xfrm>
            <a:prstGeom prst="line">
              <a:avLst/>
            </a:prstGeom>
            <a:noFill/>
            <a:ln w="28575">
              <a:solidFill>
                <a:srgbClr val="003366"/>
              </a:solidFill>
              <a:round/>
            </a:ln>
          </p:spPr>
          <p:txBody>
            <a:bodyPr/>
            <a:lstStyle/>
            <a:p>
              <a:endParaRPr lang="zh-CN" altLang="en-US"/>
            </a:p>
          </p:txBody>
        </p:sp>
        <p:sp>
          <p:nvSpPr>
            <p:cNvPr id="52281" name="Line 23"/>
            <p:cNvSpPr>
              <a:spLocks noChangeShapeType="1"/>
            </p:cNvSpPr>
            <p:nvPr/>
          </p:nvSpPr>
          <p:spPr bwMode="auto">
            <a:xfrm>
              <a:off x="3984" y="3504"/>
              <a:ext cx="0" cy="288"/>
            </a:xfrm>
            <a:prstGeom prst="line">
              <a:avLst/>
            </a:prstGeom>
            <a:noFill/>
            <a:ln w="28575">
              <a:solidFill>
                <a:srgbClr val="003366"/>
              </a:solidFill>
              <a:round/>
              <a:tailEnd type="triangle" w="med" len="med"/>
            </a:ln>
          </p:spPr>
          <p:txBody>
            <a:bodyPr/>
            <a:lstStyle/>
            <a:p>
              <a:endParaRPr lang="zh-CN" altLang="en-US"/>
            </a:p>
          </p:txBody>
        </p:sp>
        <p:sp>
          <p:nvSpPr>
            <p:cNvPr id="52282" name="Text Box 24"/>
            <p:cNvSpPr txBox="1">
              <a:spLocks noChangeArrowheads="1"/>
            </p:cNvSpPr>
            <p:nvPr/>
          </p:nvSpPr>
          <p:spPr bwMode="auto">
            <a:xfrm>
              <a:off x="4704" y="960"/>
              <a:ext cx="336" cy="406"/>
            </a:xfrm>
            <a:prstGeom prst="rect">
              <a:avLst/>
            </a:prstGeom>
            <a:noFill/>
            <a:ln w="9525">
              <a:noFill/>
              <a:miter lim="800000"/>
            </a:ln>
          </p:spPr>
          <p:txBody>
            <a:bodyPr>
              <a:spAutoFit/>
            </a:bodyPr>
            <a:lstStyle/>
            <a:p>
              <a:pPr>
                <a:spcBef>
                  <a:spcPct val="50000"/>
                </a:spcBef>
              </a:pPr>
              <a:r>
                <a:rPr kumimoji="1" lang="zh-CN" altLang="en-US" sz="2800" b="1">
                  <a:solidFill>
                    <a:srgbClr val="003366"/>
                  </a:solidFill>
                  <a:latin typeface="Times New Roman" panose="02020603050405020304" pitchFamily="18" charset="0"/>
                </a:rPr>
                <a:t>是</a:t>
              </a:r>
              <a:endParaRPr kumimoji="1" lang="zh-CN" altLang="en-US" sz="2800" b="1">
                <a:solidFill>
                  <a:srgbClr val="003366"/>
                </a:solidFill>
                <a:latin typeface="Times New Roman" panose="02020603050405020304" pitchFamily="18" charset="0"/>
              </a:endParaRPr>
            </a:p>
          </p:txBody>
        </p:sp>
        <p:sp>
          <p:nvSpPr>
            <p:cNvPr id="52283" name="Text Box 25"/>
            <p:cNvSpPr txBox="1">
              <a:spLocks noChangeArrowheads="1"/>
            </p:cNvSpPr>
            <p:nvPr/>
          </p:nvSpPr>
          <p:spPr bwMode="auto">
            <a:xfrm>
              <a:off x="3888" y="528"/>
              <a:ext cx="336" cy="406"/>
            </a:xfrm>
            <a:prstGeom prst="rect">
              <a:avLst/>
            </a:prstGeom>
            <a:noFill/>
            <a:ln w="9525">
              <a:noFill/>
              <a:miter lim="800000"/>
            </a:ln>
          </p:spPr>
          <p:txBody>
            <a:bodyPr>
              <a:spAutoFit/>
            </a:bodyPr>
            <a:lstStyle/>
            <a:p>
              <a:pPr>
                <a:spcBef>
                  <a:spcPct val="50000"/>
                </a:spcBef>
              </a:pPr>
              <a:r>
                <a:rPr kumimoji="1" lang="en-US" altLang="zh-CN" sz="2800" b="1">
                  <a:solidFill>
                    <a:srgbClr val="003366"/>
                  </a:solidFill>
                  <a:latin typeface="Times New Roman" panose="02020603050405020304" pitchFamily="18" charset="0"/>
                </a:rPr>
                <a:t>a</a:t>
              </a:r>
              <a:endParaRPr kumimoji="1" lang="en-US" altLang="zh-CN" sz="2800" b="1">
                <a:solidFill>
                  <a:srgbClr val="003366"/>
                </a:solidFill>
                <a:latin typeface="Times New Roman" panose="02020603050405020304" pitchFamily="18" charset="0"/>
              </a:endParaRPr>
            </a:p>
          </p:txBody>
        </p:sp>
        <p:sp>
          <p:nvSpPr>
            <p:cNvPr id="52284" name="Text Box 26"/>
            <p:cNvSpPr txBox="1">
              <a:spLocks noChangeArrowheads="1"/>
            </p:cNvSpPr>
            <p:nvPr/>
          </p:nvSpPr>
          <p:spPr bwMode="auto">
            <a:xfrm>
              <a:off x="4752" y="2352"/>
              <a:ext cx="336" cy="406"/>
            </a:xfrm>
            <a:prstGeom prst="rect">
              <a:avLst/>
            </a:prstGeom>
            <a:noFill/>
            <a:ln w="9525">
              <a:noFill/>
              <a:miter lim="800000"/>
            </a:ln>
          </p:spPr>
          <p:txBody>
            <a:bodyPr>
              <a:spAutoFit/>
            </a:bodyPr>
            <a:lstStyle/>
            <a:p>
              <a:pPr>
                <a:spcBef>
                  <a:spcPct val="50000"/>
                </a:spcBef>
              </a:pPr>
              <a:r>
                <a:rPr kumimoji="1" lang="zh-CN" altLang="en-US" sz="2800" b="1">
                  <a:solidFill>
                    <a:srgbClr val="003366"/>
                  </a:solidFill>
                  <a:latin typeface="Times New Roman" panose="02020603050405020304" pitchFamily="18" charset="0"/>
                </a:rPr>
                <a:t>是</a:t>
              </a:r>
              <a:endParaRPr kumimoji="1" lang="zh-CN" altLang="en-US" sz="2800" b="1">
                <a:solidFill>
                  <a:srgbClr val="003366"/>
                </a:solidFill>
                <a:latin typeface="Times New Roman" panose="02020603050405020304" pitchFamily="18" charset="0"/>
              </a:endParaRPr>
            </a:p>
          </p:txBody>
        </p:sp>
        <p:sp>
          <p:nvSpPr>
            <p:cNvPr id="52285" name="Text Box 27"/>
            <p:cNvSpPr txBox="1">
              <a:spLocks noChangeArrowheads="1"/>
            </p:cNvSpPr>
            <p:nvPr/>
          </p:nvSpPr>
          <p:spPr bwMode="auto">
            <a:xfrm>
              <a:off x="2736" y="960"/>
              <a:ext cx="336" cy="406"/>
            </a:xfrm>
            <a:prstGeom prst="rect">
              <a:avLst/>
            </a:prstGeom>
            <a:noFill/>
            <a:ln w="9525">
              <a:noFill/>
              <a:miter lim="800000"/>
            </a:ln>
          </p:spPr>
          <p:txBody>
            <a:bodyPr>
              <a:spAutoFit/>
            </a:bodyPr>
            <a:lstStyle/>
            <a:p>
              <a:pPr>
                <a:spcBef>
                  <a:spcPct val="50000"/>
                </a:spcBef>
              </a:pPr>
              <a:r>
                <a:rPr kumimoji="1" lang="zh-CN" altLang="en-US" sz="2800" b="1">
                  <a:solidFill>
                    <a:srgbClr val="003366"/>
                  </a:solidFill>
                  <a:latin typeface="Times New Roman" panose="02020603050405020304" pitchFamily="18" charset="0"/>
                </a:rPr>
                <a:t>否</a:t>
              </a:r>
              <a:endParaRPr kumimoji="1" lang="zh-CN" altLang="en-US" sz="2800" b="1">
                <a:solidFill>
                  <a:srgbClr val="003366"/>
                </a:solidFill>
                <a:latin typeface="Times New Roman" panose="02020603050405020304" pitchFamily="18" charset="0"/>
              </a:endParaRPr>
            </a:p>
          </p:txBody>
        </p:sp>
        <p:sp>
          <p:nvSpPr>
            <p:cNvPr id="52286" name="Text Box 28"/>
            <p:cNvSpPr txBox="1">
              <a:spLocks noChangeArrowheads="1"/>
            </p:cNvSpPr>
            <p:nvPr/>
          </p:nvSpPr>
          <p:spPr bwMode="auto">
            <a:xfrm>
              <a:off x="2544" y="1440"/>
              <a:ext cx="336" cy="406"/>
            </a:xfrm>
            <a:prstGeom prst="rect">
              <a:avLst/>
            </a:prstGeom>
            <a:noFill/>
            <a:ln w="9525">
              <a:noFill/>
              <a:miter lim="800000"/>
            </a:ln>
          </p:spPr>
          <p:txBody>
            <a:bodyPr>
              <a:spAutoFit/>
            </a:bodyPr>
            <a:lstStyle/>
            <a:p>
              <a:pPr>
                <a:spcBef>
                  <a:spcPct val="50000"/>
                </a:spcBef>
              </a:pPr>
              <a:r>
                <a:rPr kumimoji="1" lang="en-US" altLang="zh-CN" sz="2800" b="1">
                  <a:solidFill>
                    <a:srgbClr val="003366"/>
                  </a:solidFill>
                  <a:latin typeface="Times New Roman" panose="02020603050405020304" pitchFamily="18" charset="0"/>
                </a:rPr>
                <a:t>b</a:t>
              </a:r>
              <a:endParaRPr kumimoji="1" lang="en-US" altLang="zh-CN" sz="2800" b="1">
                <a:solidFill>
                  <a:srgbClr val="003366"/>
                </a:solidFill>
                <a:latin typeface="Times New Roman" panose="02020603050405020304" pitchFamily="18" charset="0"/>
              </a:endParaRPr>
            </a:p>
          </p:txBody>
        </p:sp>
        <p:sp>
          <p:nvSpPr>
            <p:cNvPr id="52287" name="Text Box 29"/>
            <p:cNvSpPr txBox="1">
              <a:spLocks noChangeArrowheads="1"/>
            </p:cNvSpPr>
            <p:nvPr/>
          </p:nvSpPr>
          <p:spPr bwMode="auto">
            <a:xfrm>
              <a:off x="4992" y="1296"/>
              <a:ext cx="336" cy="406"/>
            </a:xfrm>
            <a:prstGeom prst="rect">
              <a:avLst/>
            </a:prstGeom>
            <a:noFill/>
            <a:ln w="9525">
              <a:noFill/>
              <a:miter lim="800000"/>
            </a:ln>
          </p:spPr>
          <p:txBody>
            <a:bodyPr>
              <a:spAutoFit/>
            </a:bodyPr>
            <a:lstStyle/>
            <a:p>
              <a:pPr>
                <a:spcBef>
                  <a:spcPct val="50000"/>
                </a:spcBef>
              </a:pPr>
              <a:r>
                <a:rPr kumimoji="1" lang="en-US" altLang="zh-CN" sz="2800" b="1">
                  <a:solidFill>
                    <a:srgbClr val="003366"/>
                  </a:solidFill>
                  <a:latin typeface="Times New Roman" panose="02020603050405020304" pitchFamily="18" charset="0"/>
                </a:rPr>
                <a:t>c</a:t>
              </a:r>
              <a:endParaRPr kumimoji="1" lang="en-US" altLang="zh-CN" sz="2800" b="1">
                <a:solidFill>
                  <a:srgbClr val="003366"/>
                </a:solidFill>
                <a:latin typeface="Times New Roman" panose="02020603050405020304" pitchFamily="18" charset="0"/>
              </a:endParaRPr>
            </a:p>
          </p:txBody>
        </p:sp>
        <p:sp>
          <p:nvSpPr>
            <p:cNvPr id="52288" name="Text Box 30"/>
            <p:cNvSpPr txBox="1">
              <a:spLocks noChangeArrowheads="1"/>
            </p:cNvSpPr>
            <p:nvPr/>
          </p:nvSpPr>
          <p:spPr bwMode="auto">
            <a:xfrm>
              <a:off x="2592" y="2687"/>
              <a:ext cx="336" cy="406"/>
            </a:xfrm>
            <a:prstGeom prst="rect">
              <a:avLst/>
            </a:prstGeom>
            <a:noFill/>
            <a:ln w="9525">
              <a:noFill/>
              <a:miter lim="800000"/>
            </a:ln>
          </p:spPr>
          <p:txBody>
            <a:bodyPr>
              <a:spAutoFit/>
            </a:bodyPr>
            <a:lstStyle/>
            <a:p>
              <a:pPr>
                <a:spcBef>
                  <a:spcPct val="50000"/>
                </a:spcBef>
              </a:pPr>
              <a:r>
                <a:rPr kumimoji="1" lang="en-US" altLang="zh-CN" sz="2800" b="1">
                  <a:solidFill>
                    <a:srgbClr val="003366"/>
                  </a:solidFill>
                  <a:latin typeface="Times New Roman" panose="02020603050405020304" pitchFamily="18" charset="0"/>
                </a:rPr>
                <a:t>d</a:t>
              </a:r>
              <a:endParaRPr kumimoji="1" lang="en-US" altLang="zh-CN" sz="2800" b="1">
                <a:solidFill>
                  <a:srgbClr val="003366"/>
                </a:solidFill>
                <a:latin typeface="Times New Roman" panose="02020603050405020304" pitchFamily="18" charset="0"/>
              </a:endParaRPr>
            </a:p>
          </p:txBody>
        </p:sp>
        <p:sp>
          <p:nvSpPr>
            <p:cNvPr id="52289" name="Text Box 31"/>
            <p:cNvSpPr txBox="1">
              <a:spLocks noChangeArrowheads="1"/>
            </p:cNvSpPr>
            <p:nvPr/>
          </p:nvSpPr>
          <p:spPr bwMode="auto">
            <a:xfrm>
              <a:off x="5040" y="2687"/>
              <a:ext cx="336" cy="406"/>
            </a:xfrm>
            <a:prstGeom prst="rect">
              <a:avLst/>
            </a:prstGeom>
            <a:noFill/>
            <a:ln w="9525">
              <a:noFill/>
              <a:miter lim="800000"/>
            </a:ln>
          </p:spPr>
          <p:txBody>
            <a:bodyPr>
              <a:spAutoFit/>
            </a:bodyPr>
            <a:lstStyle/>
            <a:p>
              <a:pPr>
                <a:spcBef>
                  <a:spcPct val="50000"/>
                </a:spcBef>
              </a:pPr>
              <a:r>
                <a:rPr kumimoji="1" lang="en-US" altLang="zh-CN" sz="2800" b="1">
                  <a:solidFill>
                    <a:srgbClr val="003366"/>
                  </a:solidFill>
                  <a:latin typeface="Times New Roman" panose="02020603050405020304" pitchFamily="18" charset="0"/>
                </a:rPr>
                <a:t>e</a:t>
              </a:r>
              <a:endParaRPr kumimoji="1" lang="en-US" altLang="zh-CN" sz="2800" b="1">
                <a:solidFill>
                  <a:srgbClr val="003366"/>
                </a:solidFill>
                <a:latin typeface="Times New Roman" panose="02020603050405020304" pitchFamily="18" charset="0"/>
              </a:endParaRPr>
            </a:p>
          </p:txBody>
        </p:sp>
      </p:grpSp>
      <p:graphicFrame>
        <p:nvGraphicFramePr>
          <p:cNvPr id="52291" name="Group 67"/>
          <p:cNvGraphicFramePr>
            <a:graphicFrameLocks noGrp="1"/>
          </p:cNvGraphicFramePr>
          <p:nvPr>
            <p:ph sz="half" idx="2"/>
          </p:nvPr>
        </p:nvGraphicFramePr>
        <p:xfrm>
          <a:off x="611188" y="2781300"/>
          <a:ext cx="3146425" cy="3057017"/>
        </p:xfrm>
        <a:graphic>
          <a:graphicData uri="http://schemas.openxmlformats.org/drawingml/2006/table">
            <a:tbl>
              <a:tblPr/>
              <a:tblGrid>
                <a:gridCol w="384175"/>
                <a:gridCol w="1193800"/>
                <a:gridCol w="341312"/>
                <a:gridCol w="1227138"/>
              </a:tblGrid>
              <a:tr h="377825">
                <a:tc gridSpan="4">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第一判断式</a:t>
                      </a:r>
                      <a:endParaRPr kumimoji="0" lang="zh-CN" altLang="en-US"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hMerge="1">
                  <a:tcPr/>
                </a:tc>
                <a:tc hMerge="1">
                  <a:tcPr/>
                </a:tc>
                <a:tc hMerge="1">
                  <a:tcPr/>
                </a:tc>
              </a:tr>
              <a:tr h="574675">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A&gt;1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B=0</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3</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B=0</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547688">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2</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A&gt;1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B≠0</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4</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0" fontAlgn="base" latinLnBrk="0" hangingPunct="0">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B≠0</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306388">
                <a:tc gridSpan="4">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第二判断式</a:t>
                      </a:r>
                      <a:endParaRPr kumimoji="0" lang="zh-CN" altLang="en-US"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hMerge="1">
                  <a:tcPr/>
                </a:tc>
                <a:tc hMerge="1">
                  <a:tcPr/>
                </a:tc>
                <a:tc hMerge="1">
                  <a:tcPr/>
                </a:tc>
              </a:tr>
              <a:tr h="547688">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5</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X&gt;1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7</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 X&gt;1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574675">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6</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8</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 X≤1</a:t>
                      </a:r>
                      <a:endParaRPr kumimoji="0" lang="en-US" altLang="zh-CN" sz="1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2291"/>
                                        </p:tgtEl>
                                        <p:attrNameLst>
                                          <p:attrName>style.visibility</p:attrName>
                                        </p:attrNameLst>
                                      </p:cBhvr>
                                      <p:to>
                                        <p:strVal val="visible"/>
                                      </p:to>
                                    </p:set>
                                    <p:animEffect transition="in" filter="box(out)">
                                      <p:cBhvr>
                                        <p:cTn id="7" dur="500"/>
                                        <p:tgtEl>
                                          <p:spTgt spid="5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noFill/>
        </p:spPr>
        <p:txBody>
          <a:bodyPr/>
          <a:lstStyle/>
          <a:p>
            <a:pPr eaLnBrk="1" hangingPunct="1"/>
            <a:r>
              <a:rPr lang="zh-CN" altLang="en-US" sz="100" b="1" smtClean="0">
                <a:solidFill>
                  <a:schemeClr val="bg1"/>
                </a:solidFill>
              </a:rPr>
              <a:t>设计的测试用例</a:t>
            </a:r>
            <a:endParaRPr lang="zh-CN" altLang="en-US" sz="100" b="1" smtClean="0">
              <a:solidFill>
                <a:schemeClr val="bg1"/>
              </a:solidFill>
            </a:endParaRPr>
          </a:p>
        </p:txBody>
      </p:sp>
      <p:graphicFrame>
        <p:nvGraphicFramePr>
          <p:cNvPr id="1800195" name="Group 3"/>
          <p:cNvGraphicFramePr>
            <a:graphicFrameLocks noGrp="1"/>
          </p:cNvGraphicFramePr>
          <p:nvPr/>
        </p:nvGraphicFramePr>
        <p:xfrm>
          <a:off x="1449388" y="2133600"/>
          <a:ext cx="7010400" cy="3441700"/>
        </p:xfrm>
        <a:graphic>
          <a:graphicData uri="http://schemas.openxmlformats.org/drawingml/2006/table">
            <a:tbl>
              <a:tblPr/>
              <a:tblGrid>
                <a:gridCol w="900112"/>
                <a:gridCol w="2363788"/>
                <a:gridCol w="1689100"/>
                <a:gridCol w="2057400"/>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序号</a:t>
                      </a:r>
                      <a:endPar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测试用例</a:t>
                      </a:r>
                      <a:endPar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覆盖路径</a:t>
                      </a:r>
                      <a:endPar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覆盖条件组合</a:t>
                      </a:r>
                      <a:endParaRPr kumimoji="0" lang="zh-CN" altLang="en-US"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758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  B=0</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ace</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1, 5</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758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2</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A=2  B=1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abd</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2, 6</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758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3</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A=1  B=0</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X=2</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abe</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3, 7</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r h="758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4</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A=1  B=1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p>
                      <a:pPr marL="0" marR="0" lvl="0" indent="0" algn="ctr" defTabSz="914400" rtl="0" eaLnBrk="1" fontAlgn="base" latinLnBrk="0" hangingPunct="1">
                        <a:lnSpc>
                          <a:spcPct val="85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X=1</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abd</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rPr>
                        <a:t>4, 8</a:t>
                      </a:r>
                      <a:endParaRPr kumimoji="0" lang="en-US" altLang="zh-CN" sz="20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anchor="ctr" horzOverflow="overflow">
                    <a:lnL w="28575"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bl>
          </a:graphicData>
        </a:graphic>
      </p:graphicFrame>
      <p:sp>
        <p:nvSpPr>
          <p:cNvPr id="1800227" name="Rectangle 35"/>
          <p:cNvSpPr>
            <a:spLocks noChangeArrowheads="1"/>
          </p:cNvSpPr>
          <p:nvPr/>
        </p:nvSpPr>
        <p:spPr bwMode="auto">
          <a:xfrm>
            <a:off x="649288" y="2160588"/>
            <a:ext cx="609600" cy="3429000"/>
          </a:xfrm>
          <a:prstGeom prst="rect">
            <a:avLst/>
          </a:prstGeom>
          <a:solidFill>
            <a:schemeClr val="accent1"/>
          </a:solidFill>
          <a:ln w="9525">
            <a:noFill/>
            <a:miter lim="800000"/>
          </a:ln>
          <a:effectLst>
            <a:prstShdw prst="shdw18" dist="17961" dir="13500000">
              <a:schemeClr val="accent1">
                <a:gamma/>
                <a:shade val="60000"/>
                <a:invGamma/>
              </a:schemeClr>
            </a:prstShdw>
          </a:effectLst>
        </p:spPr>
        <p:txBody>
          <a:bodyPr anchor="ctr"/>
          <a:lstStyle/>
          <a:p>
            <a:pPr algn="ctr">
              <a:defRPr/>
            </a:pPr>
            <a:r>
              <a:rPr kumimoji="1" lang="zh-CN" altLang="en-US" sz="2800" b="1">
                <a:solidFill>
                  <a:schemeClr val="bg1"/>
                </a:solidFill>
                <a:effectLst>
                  <a:outerShdw blurRad="38100" dist="38100" dir="2700000" algn="tl">
                    <a:srgbClr val="000000"/>
                  </a:outerShdw>
                </a:effectLst>
                <a:latin typeface="Times New Roman" panose="02020603050405020304" pitchFamily="18" charset="0"/>
              </a:rPr>
              <a:t>设计的测试用例</a:t>
            </a:r>
            <a:endParaRPr kumimoji="1" lang="zh-CN" altLang="en-US" sz="2800" b="1">
              <a:solidFill>
                <a:schemeClr val="bg1"/>
              </a:solidFill>
              <a:effectLst>
                <a:outerShdw blurRad="38100" dist="38100" dir="2700000" algn="tl">
                  <a:srgbClr val="000000"/>
                </a:outerShdw>
              </a:effectLst>
              <a:latin typeface="Times New Roman" panose="02020603050405020304" pitchFamily="18" charset="0"/>
            </a:endParaRPr>
          </a:p>
        </p:txBody>
      </p:sp>
      <p:sp>
        <p:nvSpPr>
          <p:cNvPr id="53284" name="Rectangle 36"/>
          <p:cNvSpPr>
            <a:spLocks noChangeArrowheads="1"/>
          </p:cNvSpPr>
          <p:nvPr/>
        </p:nvSpPr>
        <p:spPr bwMode="auto">
          <a:xfrm>
            <a:off x="1547813" y="692150"/>
            <a:ext cx="6883400" cy="1036638"/>
          </a:xfrm>
          <a:prstGeom prst="rect">
            <a:avLst/>
          </a:prstGeom>
          <a:noFill/>
          <a:ln w="9525">
            <a:noFill/>
            <a:miter lim="800000"/>
          </a:ln>
        </p:spPr>
        <p:txBody>
          <a:bodyPr anchor="b"/>
          <a:lstStyle/>
          <a:p>
            <a:r>
              <a:rPr lang="zh-CN" altLang="en-US" sz="3600" b="1">
                <a:solidFill>
                  <a:srgbClr val="0A0A0E"/>
                </a:solidFill>
                <a:latin typeface="Times New Roman" panose="02020603050405020304" pitchFamily="18" charset="0"/>
              </a:rPr>
              <a:t>白盒测试</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800195"/>
                                        </p:tgtEl>
                                        <p:attrNameLst>
                                          <p:attrName>style.visibility</p:attrName>
                                        </p:attrNameLst>
                                      </p:cBhvr>
                                      <p:to>
                                        <p:strVal val="visible"/>
                                      </p:to>
                                    </p:set>
                                    <p:animEffect transition="in" filter="wipe(up)">
                                      <p:cBhvr>
                                        <p:cTn id="7" dur="500"/>
                                        <p:tgtEl>
                                          <p:spTgt spid="1800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sz="3600" b="1" smtClean="0">
                <a:solidFill>
                  <a:srgbClr val="0A0A0E"/>
                </a:solidFill>
                <a:latin typeface="Times New Roman" panose="02020603050405020304" pitchFamily="18" charset="0"/>
              </a:rPr>
              <a:t>白盒测试</a:t>
            </a:r>
            <a:endParaRPr lang="zh-CN" altLang="en-US" sz="3600" b="1" smtClean="0">
              <a:solidFill>
                <a:srgbClr val="0A0A0E"/>
              </a:solidFill>
              <a:latin typeface="Times New Roman" panose="02020603050405020304" pitchFamily="18" charset="0"/>
            </a:endParaRPr>
          </a:p>
        </p:txBody>
      </p:sp>
      <p:sp>
        <p:nvSpPr>
          <p:cNvPr id="54275" name="Rectangle 3"/>
          <p:cNvSpPr>
            <a:spLocks noGrp="1" noChangeArrowheads="1"/>
          </p:cNvSpPr>
          <p:nvPr>
            <p:ph type="body" idx="1"/>
          </p:nvPr>
        </p:nvSpPr>
        <p:spPr/>
        <p:txBody>
          <a:bodyPr/>
          <a:lstStyle/>
          <a:p>
            <a:pPr eaLnBrk="1" hangingPunct="1"/>
            <a:r>
              <a:rPr kumimoji="1" lang="zh-CN" altLang="en-US" b="1" smtClean="0">
                <a:solidFill>
                  <a:srgbClr val="003366"/>
                </a:solidFill>
              </a:rPr>
              <a:t>路径覆盖法</a:t>
            </a:r>
            <a:endParaRPr kumimoji="1" lang="zh-CN" altLang="en-US" b="1" smtClean="0">
              <a:solidFill>
                <a:srgbClr val="003366"/>
              </a:solidFill>
            </a:endParaRPr>
          </a:p>
          <a:p>
            <a:pPr eaLnBrk="1" hangingPunct="1"/>
            <a:endParaRPr kumimoji="1" lang="en-US" altLang="zh-CN" smtClean="0">
              <a:solidFill>
                <a:srgbClr val="003366"/>
              </a:solidFill>
            </a:endParaRPr>
          </a:p>
        </p:txBody>
      </p:sp>
      <p:sp>
        <p:nvSpPr>
          <p:cNvPr id="54276" name="Text Box 4"/>
          <p:cNvSpPr txBox="1">
            <a:spLocks noChangeArrowheads="1"/>
          </p:cNvSpPr>
          <p:nvPr/>
        </p:nvSpPr>
        <p:spPr bwMode="auto">
          <a:xfrm>
            <a:off x="611188" y="2705100"/>
            <a:ext cx="1600200" cy="519113"/>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a→b→d</a:t>
            </a:r>
            <a:endParaRPr kumimoji="1" lang="en-US" altLang="zh-CN" sz="2800" b="1">
              <a:latin typeface="Times New Roman" panose="02020603050405020304" pitchFamily="18" charset="0"/>
            </a:endParaRPr>
          </a:p>
        </p:txBody>
      </p:sp>
      <p:sp>
        <p:nvSpPr>
          <p:cNvPr id="54277" name="Text Box 5"/>
          <p:cNvSpPr txBox="1">
            <a:spLocks noChangeArrowheads="1"/>
          </p:cNvSpPr>
          <p:nvPr/>
        </p:nvSpPr>
        <p:spPr bwMode="auto">
          <a:xfrm>
            <a:off x="611188" y="3405188"/>
            <a:ext cx="1524000" cy="519112"/>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a→c→e</a:t>
            </a:r>
            <a:endParaRPr kumimoji="1" lang="en-US" altLang="zh-CN" sz="2800" b="1">
              <a:latin typeface="Times New Roman" panose="02020603050405020304" pitchFamily="18" charset="0"/>
            </a:endParaRPr>
          </a:p>
        </p:txBody>
      </p:sp>
      <p:sp>
        <p:nvSpPr>
          <p:cNvPr id="54278" name="Text Box 6"/>
          <p:cNvSpPr txBox="1">
            <a:spLocks noChangeArrowheads="1"/>
          </p:cNvSpPr>
          <p:nvPr/>
        </p:nvSpPr>
        <p:spPr bwMode="auto">
          <a:xfrm>
            <a:off x="611188" y="4129088"/>
            <a:ext cx="1905000" cy="519112"/>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a→b→e</a:t>
            </a:r>
            <a:endParaRPr kumimoji="1" lang="en-US" altLang="zh-CN" sz="2800" b="1">
              <a:latin typeface="Times New Roman" panose="02020603050405020304" pitchFamily="18" charset="0"/>
            </a:endParaRPr>
          </a:p>
        </p:txBody>
      </p:sp>
      <p:sp>
        <p:nvSpPr>
          <p:cNvPr id="54279" name="Text Box 7"/>
          <p:cNvSpPr txBox="1">
            <a:spLocks noChangeArrowheads="1"/>
          </p:cNvSpPr>
          <p:nvPr/>
        </p:nvSpPr>
        <p:spPr bwMode="auto">
          <a:xfrm>
            <a:off x="611188" y="4838700"/>
            <a:ext cx="1828800" cy="476250"/>
          </a:xfrm>
          <a:prstGeom prst="rect">
            <a:avLst/>
          </a:prstGeom>
          <a:noFill/>
          <a:ln w="9525">
            <a:noFill/>
            <a:miter lim="800000"/>
          </a:ln>
        </p:spPr>
        <p:txBody>
          <a:bodyPr>
            <a:spAutoFit/>
          </a:bodyPr>
          <a:lstStyle/>
          <a:p>
            <a:pPr>
              <a:lnSpc>
                <a:spcPct val="90000"/>
              </a:lnSpc>
              <a:spcBef>
                <a:spcPct val="50000"/>
              </a:spcBef>
            </a:pPr>
            <a:r>
              <a:rPr kumimoji="1" lang="en-US" altLang="zh-CN" sz="2800" b="1">
                <a:latin typeface="Times New Roman" panose="02020603050405020304" pitchFamily="18" charset="0"/>
              </a:rPr>
              <a:t>a→c→d</a:t>
            </a:r>
            <a:endParaRPr kumimoji="1" lang="en-US" altLang="zh-CN" sz="2800" b="1">
              <a:latin typeface="Times New Roman" panose="02020603050405020304" pitchFamily="18" charset="0"/>
            </a:endParaRPr>
          </a:p>
        </p:txBody>
      </p:sp>
      <p:sp>
        <p:nvSpPr>
          <p:cNvPr id="54280" name="Rectangle 8"/>
          <p:cNvSpPr>
            <a:spLocks noChangeArrowheads="1"/>
          </p:cNvSpPr>
          <p:nvPr/>
        </p:nvSpPr>
        <p:spPr bwMode="auto">
          <a:xfrm>
            <a:off x="2225675" y="2705100"/>
            <a:ext cx="2057400" cy="457200"/>
          </a:xfrm>
          <a:prstGeom prst="rect">
            <a:avLst/>
          </a:prstGeom>
          <a:noFill/>
          <a:ln w="9525">
            <a:noFill/>
            <a:miter lim="800000"/>
          </a:ln>
        </p:spPr>
        <p:txBody>
          <a:bodyPr wrap="none" anchor="ctr"/>
          <a:lstStyle/>
          <a:p>
            <a:pPr algn="ctr"/>
            <a:r>
              <a:rPr kumimoji="1" lang="en-US" altLang="zh-CN" sz="2800" b="1">
                <a:latin typeface="Times New Roman" panose="02020603050405020304" pitchFamily="18" charset="0"/>
              </a:rPr>
              <a:t>A=1  B=1  X=1</a:t>
            </a:r>
            <a:endParaRPr kumimoji="1" lang="en-US" altLang="zh-CN" sz="2800" b="1">
              <a:latin typeface="Times New Roman" panose="02020603050405020304" pitchFamily="18" charset="0"/>
            </a:endParaRPr>
          </a:p>
        </p:txBody>
      </p:sp>
      <p:sp>
        <p:nvSpPr>
          <p:cNvPr id="54281" name="Rectangle 9"/>
          <p:cNvSpPr>
            <a:spLocks noChangeArrowheads="1"/>
          </p:cNvSpPr>
          <p:nvPr/>
        </p:nvSpPr>
        <p:spPr bwMode="auto">
          <a:xfrm>
            <a:off x="2149475" y="4076700"/>
            <a:ext cx="2209800" cy="609600"/>
          </a:xfrm>
          <a:prstGeom prst="rect">
            <a:avLst/>
          </a:prstGeom>
          <a:noFill/>
          <a:ln w="9525">
            <a:noFill/>
            <a:miter lim="800000"/>
          </a:ln>
        </p:spPr>
        <p:txBody>
          <a:bodyPr wrap="none" anchor="ctr"/>
          <a:lstStyle/>
          <a:p>
            <a:pPr algn="ctr"/>
            <a:r>
              <a:rPr kumimoji="1" lang="en-US" altLang="zh-CN" sz="2800" b="1">
                <a:latin typeface="Times New Roman" panose="02020603050405020304" pitchFamily="18" charset="0"/>
              </a:rPr>
              <a:t>A=1  B=1  X=2</a:t>
            </a:r>
            <a:endParaRPr kumimoji="1" lang="en-US" altLang="zh-CN" sz="2800" b="1">
              <a:latin typeface="Times New Roman" panose="02020603050405020304" pitchFamily="18" charset="0"/>
            </a:endParaRPr>
          </a:p>
        </p:txBody>
      </p:sp>
      <p:sp>
        <p:nvSpPr>
          <p:cNvPr id="54282" name="Rectangle 10"/>
          <p:cNvSpPr>
            <a:spLocks noChangeArrowheads="1"/>
          </p:cNvSpPr>
          <p:nvPr/>
        </p:nvSpPr>
        <p:spPr bwMode="auto">
          <a:xfrm>
            <a:off x="2225675" y="4762500"/>
            <a:ext cx="2057400" cy="609600"/>
          </a:xfrm>
          <a:prstGeom prst="rect">
            <a:avLst/>
          </a:prstGeom>
          <a:noFill/>
          <a:ln w="9525">
            <a:noFill/>
            <a:miter lim="800000"/>
          </a:ln>
        </p:spPr>
        <p:txBody>
          <a:bodyPr wrap="none" anchor="ctr"/>
          <a:lstStyle/>
          <a:p>
            <a:pPr algn="ctr"/>
            <a:r>
              <a:rPr kumimoji="1" lang="en-US" altLang="zh-CN" sz="2800" b="1">
                <a:latin typeface="Times New Roman" panose="02020603050405020304" pitchFamily="18" charset="0"/>
              </a:rPr>
              <a:t>A=3  B=0  X=1</a:t>
            </a:r>
            <a:endParaRPr kumimoji="1" lang="en-US" altLang="zh-CN" sz="2800" b="1">
              <a:latin typeface="Times New Roman" panose="02020603050405020304" pitchFamily="18" charset="0"/>
            </a:endParaRPr>
          </a:p>
        </p:txBody>
      </p:sp>
      <p:sp>
        <p:nvSpPr>
          <p:cNvPr id="54283" name="Rectangle 11"/>
          <p:cNvSpPr>
            <a:spLocks noChangeArrowheads="1"/>
          </p:cNvSpPr>
          <p:nvPr/>
        </p:nvSpPr>
        <p:spPr bwMode="auto">
          <a:xfrm>
            <a:off x="2225675" y="3467100"/>
            <a:ext cx="2057400" cy="457200"/>
          </a:xfrm>
          <a:prstGeom prst="rect">
            <a:avLst/>
          </a:prstGeom>
          <a:noFill/>
          <a:ln w="9525">
            <a:noFill/>
            <a:miter lim="800000"/>
          </a:ln>
        </p:spPr>
        <p:txBody>
          <a:bodyPr wrap="none" anchor="ctr"/>
          <a:lstStyle/>
          <a:p>
            <a:pPr algn="ctr"/>
            <a:r>
              <a:rPr kumimoji="1" lang="en-US" altLang="zh-CN" sz="2800" b="1">
                <a:latin typeface="Times New Roman" panose="02020603050405020304" pitchFamily="18" charset="0"/>
              </a:rPr>
              <a:t>A=2  B=0  X=4</a:t>
            </a:r>
            <a:endParaRPr kumimoji="1" lang="en-US" altLang="zh-CN" sz="2800" b="1">
              <a:latin typeface="Times New Roman" panose="02020603050405020304" pitchFamily="18" charset="0"/>
            </a:endParaRPr>
          </a:p>
        </p:txBody>
      </p:sp>
      <p:grpSp>
        <p:nvGrpSpPr>
          <p:cNvPr id="54284" name="Group 12"/>
          <p:cNvGrpSpPr/>
          <p:nvPr/>
        </p:nvGrpSpPr>
        <p:grpSpPr bwMode="auto">
          <a:xfrm>
            <a:off x="4643438" y="1622425"/>
            <a:ext cx="4349750" cy="4327525"/>
            <a:chOff x="2400" y="192"/>
            <a:chExt cx="3024" cy="3264"/>
          </a:xfrm>
        </p:grpSpPr>
        <p:sp>
          <p:nvSpPr>
            <p:cNvPr id="54285" name="Line 13"/>
            <p:cNvSpPr>
              <a:spLocks noChangeShapeType="1"/>
            </p:cNvSpPr>
            <p:nvPr/>
          </p:nvSpPr>
          <p:spPr bwMode="auto">
            <a:xfrm>
              <a:off x="3744" y="288"/>
              <a:ext cx="0" cy="384"/>
            </a:xfrm>
            <a:prstGeom prst="line">
              <a:avLst/>
            </a:prstGeom>
            <a:noFill/>
            <a:ln w="28575">
              <a:solidFill>
                <a:schemeClr val="tx1"/>
              </a:solidFill>
              <a:round/>
              <a:tailEnd type="triangle" w="med" len="med"/>
            </a:ln>
          </p:spPr>
          <p:txBody>
            <a:bodyPr/>
            <a:lstStyle/>
            <a:p>
              <a:endParaRPr lang="zh-CN" altLang="en-US"/>
            </a:p>
          </p:txBody>
        </p:sp>
        <p:sp>
          <p:nvSpPr>
            <p:cNvPr id="54286" name="AutoShape 14"/>
            <p:cNvSpPr>
              <a:spLocks noChangeArrowheads="1"/>
            </p:cNvSpPr>
            <p:nvPr/>
          </p:nvSpPr>
          <p:spPr bwMode="auto">
            <a:xfrm>
              <a:off x="2880" y="672"/>
              <a:ext cx="1728" cy="576"/>
            </a:xfrm>
            <a:prstGeom prst="flowChartDecision">
              <a:avLst/>
            </a:prstGeom>
            <a:noFill/>
            <a:ln w="28575">
              <a:solidFill>
                <a:schemeClr val="tx1"/>
              </a:solidFill>
              <a:miter lim="800000"/>
            </a:ln>
          </p:spPr>
          <p:txBody>
            <a:bodyPr wrap="none" anchor="ctr"/>
            <a:lstStyle/>
            <a:p>
              <a:pPr algn="ctr"/>
              <a:r>
                <a:rPr kumimoji="1" lang="en-US" altLang="zh-CN" b="1">
                  <a:latin typeface="Times New Roman" panose="02020603050405020304" pitchFamily="18" charset="0"/>
                </a:rPr>
                <a:t>A&gt;1AND</a:t>
              </a:r>
              <a:endParaRPr kumimoji="1" lang="en-US" altLang="zh-CN" b="1">
                <a:latin typeface="Times New Roman" panose="02020603050405020304" pitchFamily="18" charset="0"/>
              </a:endParaRPr>
            </a:p>
            <a:p>
              <a:pPr algn="ctr"/>
              <a:r>
                <a:rPr kumimoji="1" lang="en-US" altLang="zh-CN" b="1">
                  <a:latin typeface="Times New Roman" panose="02020603050405020304" pitchFamily="18" charset="0"/>
                </a:rPr>
                <a:t>B=0</a:t>
              </a:r>
              <a:endParaRPr kumimoji="1" lang="en-US" altLang="zh-CN" b="1">
                <a:latin typeface="Times New Roman" panose="02020603050405020304" pitchFamily="18" charset="0"/>
              </a:endParaRPr>
            </a:p>
          </p:txBody>
        </p:sp>
        <p:sp>
          <p:nvSpPr>
            <p:cNvPr id="54287" name="Line 15"/>
            <p:cNvSpPr>
              <a:spLocks noChangeShapeType="1"/>
            </p:cNvSpPr>
            <p:nvPr/>
          </p:nvSpPr>
          <p:spPr bwMode="auto">
            <a:xfrm>
              <a:off x="4608" y="960"/>
              <a:ext cx="240" cy="0"/>
            </a:xfrm>
            <a:prstGeom prst="line">
              <a:avLst/>
            </a:prstGeom>
            <a:noFill/>
            <a:ln w="28575">
              <a:solidFill>
                <a:schemeClr val="tx1"/>
              </a:solidFill>
              <a:round/>
            </a:ln>
          </p:spPr>
          <p:txBody>
            <a:bodyPr/>
            <a:lstStyle/>
            <a:p>
              <a:endParaRPr lang="zh-CN" altLang="en-US"/>
            </a:p>
          </p:txBody>
        </p:sp>
        <p:sp>
          <p:nvSpPr>
            <p:cNvPr id="54288" name="Line 16"/>
            <p:cNvSpPr>
              <a:spLocks noChangeShapeType="1"/>
            </p:cNvSpPr>
            <p:nvPr/>
          </p:nvSpPr>
          <p:spPr bwMode="auto">
            <a:xfrm>
              <a:off x="4848" y="960"/>
              <a:ext cx="0" cy="336"/>
            </a:xfrm>
            <a:prstGeom prst="line">
              <a:avLst/>
            </a:prstGeom>
            <a:noFill/>
            <a:ln w="28575">
              <a:solidFill>
                <a:schemeClr val="tx1"/>
              </a:solidFill>
              <a:round/>
              <a:tailEnd type="triangle" w="med" len="med"/>
            </a:ln>
          </p:spPr>
          <p:txBody>
            <a:bodyPr/>
            <a:lstStyle/>
            <a:p>
              <a:endParaRPr lang="zh-CN" altLang="en-US"/>
            </a:p>
          </p:txBody>
        </p:sp>
        <p:sp>
          <p:nvSpPr>
            <p:cNvPr id="54289" name="Rectangle 17"/>
            <p:cNvSpPr>
              <a:spLocks noChangeArrowheads="1"/>
            </p:cNvSpPr>
            <p:nvPr/>
          </p:nvSpPr>
          <p:spPr bwMode="auto">
            <a:xfrm>
              <a:off x="4368" y="1296"/>
              <a:ext cx="1008" cy="288"/>
            </a:xfrm>
            <a:prstGeom prst="rect">
              <a:avLst/>
            </a:prstGeom>
            <a:noFill/>
            <a:ln w="28575">
              <a:solidFill>
                <a:schemeClr val="tx1"/>
              </a:solidFill>
              <a:miter lim="800000"/>
            </a:ln>
          </p:spPr>
          <p:txBody>
            <a:bodyPr wrap="none" anchor="ctr"/>
            <a:lstStyle/>
            <a:p>
              <a:pPr algn="ctr"/>
              <a:r>
                <a:rPr kumimoji="1" lang="en-US" altLang="zh-CN" b="1">
                  <a:latin typeface="Times New Roman" panose="02020603050405020304" pitchFamily="18" charset="0"/>
                </a:rPr>
                <a:t>X=X/A</a:t>
              </a:r>
              <a:endParaRPr kumimoji="1" lang="en-US" altLang="zh-CN" b="1">
                <a:latin typeface="Times New Roman" panose="02020603050405020304" pitchFamily="18" charset="0"/>
              </a:endParaRPr>
            </a:p>
          </p:txBody>
        </p:sp>
        <p:sp>
          <p:nvSpPr>
            <p:cNvPr id="54290" name="Line 18"/>
            <p:cNvSpPr>
              <a:spLocks noChangeShapeType="1"/>
            </p:cNvSpPr>
            <p:nvPr/>
          </p:nvSpPr>
          <p:spPr bwMode="auto">
            <a:xfrm>
              <a:off x="2640" y="960"/>
              <a:ext cx="0" cy="816"/>
            </a:xfrm>
            <a:prstGeom prst="line">
              <a:avLst/>
            </a:prstGeom>
            <a:noFill/>
            <a:ln w="28575">
              <a:solidFill>
                <a:schemeClr val="tx1"/>
              </a:solidFill>
              <a:round/>
            </a:ln>
          </p:spPr>
          <p:txBody>
            <a:bodyPr/>
            <a:lstStyle/>
            <a:p>
              <a:endParaRPr lang="zh-CN" altLang="en-US"/>
            </a:p>
          </p:txBody>
        </p:sp>
        <p:sp>
          <p:nvSpPr>
            <p:cNvPr id="54291" name="Line 19"/>
            <p:cNvSpPr>
              <a:spLocks noChangeShapeType="1"/>
            </p:cNvSpPr>
            <p:nvPr/>
          </p:nvSpPr>
          <p:spPr bwMode="auto">
            <a:xfrm>
              <a:off x="2640" y="960"/>
              <a:ext cx="240" cy="0"/>
            </a:xfrm>
            <a:prstGeom prst="line">
              <a:avLst/>
            </a:prstGeom>
            <a:noFill/>
            <a:ln w="28575">
              <a:solidFill>
                <a:schemeClr val="tx1"/>
              </a:solidFill>
              <a:round/>
            </a:ln>
          </p:spPr>
          <p:txBody>
            <a:bodyPr/>
            <a:lstStyle/>
            <a:p>
              <a:endParaRPr lang="zh-CN" altLang="en-US"/>
            </a:p>
          </p:txBody>
        </p:sp>
        <p:sp>
          <p:nvSpPr>
            <p:cNvPr id="54292" name="Line 20"/>
            <p:cNvSpPr>
              <a:spLocks noChangeShapeType="1"/>
            </p:cNvSpPr>
            <p:nvPr/>
          </p:nvSpPr>
          <p:spPr bwMode="auto">
            <a:xfrm>
              <a:off x="4848" y="1584"/>
              <a:ext cx="0" cy="192"/>
            </a:xfrm>
            <a:prstGeom prst="line">
              <a:avLst/>
            </a:prstGeom>
            <a:noFill/>
            <a:ln w="28575">
              <a:solidFill>
                <a:schemeClr val="tx1"/>
              </a:solidFill>
              <a:round/>
            </a:ln>
          </p:spPr>
          <p:txBody>
            <a:bodyPr/>
            <a:lstStyle/>
            <a:p>
              <a:endParaRPr lang="zh-CN" altLang="en-US"/>
            </a:p>
          </p:txBody>
        </p:sp>
        <p:sp>
          <p:nvSpPr>
            <p:cNvPr id="54293" name="Line 21"/>
            <p:cNvSpPr>
              <a:spLocks noChangeShapeType="1"/>
            </p:cNvSpPr>
            <p:nvPr/>
          </p:nvSpPr>
          <p:spPr bwMode="auto">
            <a:xfrm>
              <a:off x="2640" y="1776"/>
              <a:ext cx="2208" cy="0"/>
            </a:xfrm>
            <a:prstGeom prst="line">
              <a:avLst/>
            </a:prstGeom>
            <a:noFill/>
            <a:ln w="28575">
              <a:solidFill>
                <a:schemeClr val="tx1"/>
              </a:solidFill>
              <a:round/>
            </a:ln>
          </p:spPr>
          <p:txBody>
            <a:bodyPr/>
            <a:lstStyle/>
            <a:p>
              <a:endParaRPr lang="zh-CN" altLang="en-US"/>
            </a:p>
          </p:txBody>
        </p:sp>
        <p:sp>
          <p:nvSpPr>
            <p:cNvPr id="54294" name="Line 22"/>
            <p:cNvSpPr>
              <a:spLocks noChangeShapeType="1"/>
            </p:cNvSpPr>
            <p:nvPr/>
          </p:nvSpPr>
          <p:spPr bwMode="auto">
            <a:xfrm>
              <a:off x="3792" y="1776"/>
              <a:ext cx="0" cy="288"/>
            </a:xfrm>
            <a:prstGeom prst="line">
              <a:avLst/>
            </a:prstGeom>
            <a:noFill/>
            <a:ln w="28575">
              <a:solidFill>
                <a:schemeClr val="tx1"/>
              </a:solidFill>
              <a:round/>
              <a:tailEnd type="triangle" w="med" len="med"/>
            </a:ln>
          </p:spPr>
          <p:txBody>
            <a:bodyPr/>
            <a:lstStyle/>
            <a:p>
              <a:endParaRPr lang="zh-CN" altLang="en-US"/>
            </a:p>
          </p:txBody>
        </p:sp>
        <p:sp>
          <p:nvSpPr>
            <p:cNvPr id="54295" name="AutoShape 23"/>
            <p:cNvSpPr>
              <a:spLocks noChangeArrowheads="1"/>
            </p:cNvSpPr>
            <p:nvPr/>
          </p:nvSpPr>
          <p:spPr bwMode="auto">
            <a:xfrm>
              <a:off x="2928" y="2064"/>
              <a:ext cx="1728" cy="576"/>
            </a:xfrm>
            <a:prstGeom prst="flowChartDecision">
              <a:avLst/>
            </a:prstGeom>
            <a:noFill/>
            <a:ln w="28575">
              <a:solidFill>
                <a:schemeClr val="tx1"/>
              </a:solidFill>
              <a:miter lim="800000"/>
            </a:ln>
          </p:spPr>
          <p:txBody>
            <a:bodyPr wrap="none" anchor="ctr"/>
            <a:lstStyle/>
            <a:p>
              <a:pPr algn="ctr"/>
              <a:r>
                <a:rPr kumimoji="1" lang="en-US" altLang="zh-CN" b="1">
                  <a:latin typeface="Times New Roman" panose="02020603050405020304" pitchFamily="18" charset="0"/>
                </a:rPr>
                <a:t>A=2OR </a:t>
              </a:r>
              <a:endParaRPr kumimoji="1" lang="en-US" altLang="zh-CN" b="1">
                <a:latin typeface="Times New Roman" panose="02020603050405020304" pitchFamily="18" charset="0"/>
              </a:endParaRPr>
            </a:p>
            <a:p>
              <a:pPr algn="ctr"/>
              <a:r>
                <a:rPr kumimoji="1" lang="en-US" altLang="zh-CN" b="1">
                  <a:latin typeface="Times New Roman" panose="02020603050405020304" pitchFamily="18" charset="0"/>
                </a:rPr>
                <a:t>X&gt;1</a:t>
              </a:r>
              <a:endParaRPr kumimoji="1" lang="en-US" altLang="zh-CN" b="1">
                <a:latin typeface="Times New Roman" panose="02020603050405020304" pitchFamily="18" charset="0"/>
              </a:endParaRPr>
            </a:p>
          </p:txBody>
        </p:sp>
        <p:sp>
          <p:nvSpPr>
            <p:cNvPr id="54296" name="Line 24"/>
            <p:cNvSpPr>
              <a:spLocks noChangeShapeType="1"/>
            </p:cNvSpPr>
            <p:nvPr/>
          </p:nvSpPr>
          <p:spPr bwMode="auto">
            <a:xfrm>
              <a:off x="4656" y="2352"/>
              <a:ext cx="240" cy="0"/>
            </a:xfrm>
            <a:prstGeom prst="line">
              <a:avLst/>
            </a:prstGeom>
            <a:noFill/>
            <a:ln w="28575">
              <a:solidFill>
                <a:schemeClr val="tx1"/>
              </a:solidFill>
              <a:round/>
            </a:ln>
          </p:spPr>
          <p:txBody>
            <a:bodyPr/>
            <a:lstStyle/>
            <a:p>
              <a:endParaRPr lang="zh-CN" altLang="en-US"/>
            </a:p>
          </p:txBody>
        </p:sp>
        <p:sp>
          <p:nvSpPr>
            <p:cNvPr id="54297" name="Line 25"/>
            <p:cNvSpPr>
              <a:spLocks noChangeShapeType="1"/>
            </p:cNvSpPr>
            <p:nvPr/>
          </p:nvSpPr>
          <p:spPr bwMode="auto">
            <a:xfrm>
              <a:off x="4896" y="2352"/>
              <a:ext cx="0" cy="336"/>
            </a:xfrm>
            <a:prstGeom prst="line">
              <a:avLst/>
            </a:prstGeom>
            <a:noFill/>
            <a:ln w="28575">
              <a:solidFill>
                <a:schemeClr val="tx1"/>
              </a:solidFill>
              <a:round/>
              <a:tailEnd type="triangle" w="med" len="med"/>
            </a:ln>
          </p:spPr>
          <p:txBody>
            <a:bodyPr/>
            <a:lstStyle/>
            <a:p>
              <a:endParaRPr lang="zh-CN" altLang="en-US"/>
            </a:p>
          </p:txBody>
        </p:sp>
        <p:sp>
          <p:nvSpPr>
            <p:cNvPr id="54298" name="Rectangle 26"/>
            <p:cNvSpPr>
              <a:spLocks noChangeArrowheads="1"/>
            </p:cNvSpPr>
            <p:nvPr/>
          </p:nvSpPr>
          <p:spPr bwMode="auto">
            <a:xfrm>
              <a:off x="4416" y="2688"/>
              <a:ext cx="1008" cy="288"/>
            </a:xfrm>
            <a:prstGeom prst="rect">
              <a:avLst/>
            </a:prstGeom>
            <a:noFill/>
            <a:ln w="28575">
              <a:solidFill>
                <a:schemeClr val="tx1"/>
              </a:solidFill>
              <a:miter lim="800000"/>
            </a:ln>
          </p:spPr>
          <p:txBody>
            <a:bodyPr wrap="none" anchor="ctr"/>
            <a:lstStyle/>
            <a:p>
              <a:pPr algn="ctr"/>
              <a:r>
                <a:rPr kumimoji="1" lang="en-US" altLang="zh-CN" b="1">
                  <a:latin typeface="Times New Roman" panose="02020603050405020304" pitchFamily="18" charset="0"/>
                </a:rPr>
                <a:t>X=X+1</a:t>
              </a:r>
              <a:endParaRPr kumimoji="1" lang="en-US" altLang="zh-CN" b="1">
                <a:latin typeface="Times New Roman" panose="02020603050405020304" pitchFamily="18" charset="0"/>
              </a:endParaRPr>
            </a:p>
          </p:txBody>
        </p:sp>
        <p:sp>
          <p:nvSpPr>
            <p:cNvPr id="54299" name="Line 27"/>
            <p:cNvSpPr>
              <a:spLocks noChangeShapeType="1"/>
            </p:cNvSpPr>
            <p:nvPr/>
          </p:nvSpPr>
          <p:spPr bwMode="auto">
            <a:xfrm>
              <a:off x="2688" y="2352"/>
              <a:ext cx="0" cy="816"/>
            </a:xfrm>
            <a:prstGeom prst="line">
              <a:avLst/>
            </a:prstGeom>
            <a:noFill/>
            <a:ln w="28575">
              <a:solidFill>
                <a:schemeClr val="tx1"/>
              </a:solidFill>
              <a:round/>
            </a:ln>
          </p:spPr>
          <p:txBody>
            <a:bodyPr/>
            <a:lstStyle/>
            <a:p>
              <a:endParaRPr lang="zh-CN" altLang="en-US"/>
            </a:p>
          </p:txBody>
        </p:sp>
        <p:sp>
          <p:nvSpPr>
            <p:cNvPr id="54300" name="Line 28"/>
            <p:cNvSpPr>
              <a:spLocks noChangeShapeType="1"/>
            </p:cNvSpPr>
            <p:nvPr/>
          </p:nvSpPr>
          <p:spPr bwMode="auto">
            <a:xfrm>
              <a:off x="2688" y="2352"/>
              <a:ext cx="240" cy="0"/>
            </a:xfrm>
            <a:prstGeom prst="line">
              <a:avLst/>
            </a:prstGeom>
            <a:noFill/>
            <a:ln w="28575">
              <a:solidFill>
                <a:schemeClr val="tx1"/>
              </a:solidFill>
              <a:round/>
            </a:ln>
          </p:spPr>
          <p:txBody>
            <a:bodyPr/>
            <a:lstStyle/>
            <a:p>
              <a:endParaRPr lang="zh-CN" altLang="en-US"/>
            </a:p>
          </p:txBody>
        </p:sp>
        <p:sp>
          <p:nvSpPr>
            <p:cNvPr id="54301" name="Line 29"/>
            <p:cNvSpPr>
              <a:spLocks noChangeShapeType="1"/>
            </p:cNvSpPr>
            <p:nvPr/>
          </p:nvSpPr>
          <p:spPr bwMode="auto">
            <a:xfrm>
              <a:off x="4896" y="2976"/>
              <a:ext cx="0" cy="192"/>
            </a:xfrm>
            <a:prstGeom prst="line">
              <a:avLst/>
            </a:prstGeom>
            <a:noFill/>
            <a:ln w="28575">
              <a:solidFill>
                <a:schemeClr val="tx1"/>
              </a:solidFill>
              <a:round/>
            </a:ln>
          </p:spPr>
          <p:txBody>
            <a:bodyPr/>
            <a:lstStyle/>
            <a:p>
              <a:endParaRPr lang="zh-CN" altLang="en-US"/>
            </a:p>
          </p:txBody>
        </p:sp>
        <p:sp>
          <p:nvSpPr>
            <p:cNvPr id="54302" name="Line 30"/>
            <p:cNvSpPr>
              <a:spLocks noChangeShapeType="1"/>
            </p:cNvSpPr>
            <p:nvPr/>
          </p:nvSpPr>
          <p:spPr bwMode="auto">
            <a:xfrm>
              <a:off x="2688" y="3168"/>
              <a:ext cx="2208" cy="0"/>
            </a:xfrm>
            <a:prstGeom prst="line">
              <a:avLst/>
            </a:prstGeom>
            <a:noFill/>
            <a:ln w="28575">
              <a:solidFill>
                <a:schemeClr val="tx1"/>
              </a:solidFill>
              <a:round/>
            </a:ln>
          </p:spPr>
          <p:txBody>
            <a:bodyPr/>
            <a:lstStyle/>
            <a:p>
              <a:endParaRPr lang="zh-CN" altLang="en-US"/>
            </a:p>
          </p:txBody>
        </p:sp>
        <p:sp>
          <p:nvSpPr>
            <p:cNvPr id="54303" name="Line 31"/>
            <p:cNvSpPr>
              <a:spLocks noChangeShapeType="1"/>
            </p:cNvSpPr>
            <p:nvPr/>
          </p:nvSpPr>
          <p:spPr bwMode="auto">
            <a:xfrm>
              <a:off x="3840" y="3168"/>
              <a:ext cx="0" cy="288"/>
            </a:xfrm>
            <a:prstGeom prst="line">
              <a:avLst/>
            </a:prstGeom>
            <a:noFill/>
            <a:ln w="28575">
              <a:solidFill>
                <a:schemeClr val="tx1"/>
              </a:solidFill>
              <a:round/>
              <a:tailEnd type="triangle" w="med" len="med"/>
            </a:ln>
          </p:spPr>
          <p:txBody>
            <a:bodyPr/>
            <a:lstStyle/>
            <a:p>
              <a:endParaRPr lang="zh-CN" altLang="en-US"/>
            </a:p>
          </p:txBody>
        </p:sp>
        <p:sp>
          <p:nvSpPr>
            <p:cNvPr id="54304" name="Text Box 32"/>
            <p:cNvSpPr txBox="1">
              <a:spLocks noChangeArrowheads="1"/>
            </p:cNvSpPr>
            <p:nvPr/>
          </p:nvSpPr>
          <p:spPr bwMode="auto">
            <a:xfrm>
              <a:off x="4560" y="624"/>
              <a:ext cx="336" cy="392"/>
            </a:xfrm>
            <a:prstGeom prst="rect">
              <a:avLst/>
            </a:prstGeom>
            <a:noFill/>
            <a:ln w="9525">
              <a:noFill/>
              <a:miter lim="800000"/>
            </a:ln>
          </p:spPr>
          <p:txBody>
            <a:bodyPr>
              <a:spAutoFit/>
            </a:bodyPr>
            <a:lstStyle/>
            <a:p>
              <a:pPr>
                <a:spcBef>
                  <a:spcPct val="50000"/>
                </a:spcBef>
              </a:pPr>
              <a:r>
                <a:rPr kumimoji="1" lang="zh-CN" altLang="en-US" sz="2800" b="1">
                  <a:latin typeface="Times New Roman" panose="02020603050405020304" pitchFamily="18" charset="0"/>
                </a:rPr>
                <a:t>是</a:t>
              </a:r>
              <a:endParaRPr kumimoji="1" lang="zh-CN" altLang="en-US" sz="2800" b="1">
                <a:latin typeface="Times New Roman" panose="02020603050405020304" pitchFamily="18" charset="0"/>
              </a:endParaRPr>
            </a:p>
          </p:txBody>
        </p:sp>
        <p:sp>
          <p:nvSpPr>
            <p:cNvPr id="1801249" name="Text Box 33"/>
            <p:cNvSpPr txBox="1">
              <a:spLocks noChangeArrowheads="1"/>
            </p:cNvSpPr>
            <p:nvPr/>
          </p:nvSpPr>
          <p:spPr bwMode="auto">
            <a:xfrm>
              <a:off x="3744" y="192"/>
              <a:ext cx="336" cy="392"/>
            </a:xfrm>
            <a:prstGeom prst="rect">
              <a:avLst/>
            </a:prstGeom>
            <a:noFill/>
            <a:ln w="9525">
              <a:noFill/>
              <a:miter lim="800000"/>
            </a:ln>
            <a:effectLst/>
          </p:spPr>
          <p:txBody>
            <a:bodyPr>
              <a:spAutoFit/>
            </a:bodyPr>
            <a:lstStyle/>
            <a:p>
              <a:pPr>
                <a:spcBef>
                  <a:spcPct val="50000"/>
                </a:spcBef>
                <a:defRPr/>
              </a:pPr>
              <a:r>
                <a:rPr kumimoji="1" lang="en-US" altLang="zh-CN" sz="2800" b="1">
                  <a:effectLst>
                    <a:outerShdw blurRad="38100" dist="38100" dir="2700000" algn="tl">
                      <a:srgbClr val="C0C0C0"/>
                    </a:outerShdw>
                  </a:effectLst>
                  <a:latin typeface="Times New Roman" panose="02020603050405020304" pitchFamily="18" charset="0"/>
                </a:rPr>
                <a:t>a</a:t>
              </a:r>
              <a:endParaRPr kumimoji="1" lang="en-US" altLang="zh-CN" sz="2800" b="1">
                <a:effectLst>
                  <a:outerShdw blurRad="38100" dist="38100" dir="2700000" algn="tl">
                    <a:srgbClr val="C0C0C0"/>
                  </a:outerShdw>
                </a:effectLst>
                <a:latin typeface="Times New Roman" panose="02020603050405020304" pitchFamily="18" charset="0"/>
              </a:endParaRPr>
            </a:p>
          </p:txBody>
        </p:sp>
        <p:sp>
          <p:nvSpPr>
            <p:cNvPr id="1801250" name="Text Box 34"/>
            <p:cNvSpPr txBox="1">
              <a:spLocks noChangeArrowheads="1"/>
            </p:cNvSpPr>
            <p:nvPr/>
          </p:nvSpPr>
          <p:spPr bwMode="auto">
            <a:xfrm>
              <a:off x="4608" y="2016"/>
              <a:ext cx="336" cy="392"/>
            </a:xfrm>
            <a:prstGeom prst="rect">
              <a:avLst/>
            </a:prstGeom>
            <a:noFill/>
            <a:ln w="9525">
              <a:noFill/>
              <a:miter lim="800000"/>
            </a:ln>
            <a:effectLst/>
          </p:spPr>
          <p:txBody>
            <a:bodyPr>
              <a:spAutoFit/>
            </a:bodyPr>
            <a:lstStyle/>
            <a:p>
              <a:pPr>
                <a:spcBef>
                  <a:spcPct val="50000"/>
                </a:spcBef>
                <a:defRPr/>
              </a:pPr>
              <a:r>
                <a:rPr kumimoji="1" lang="zh-CN" altLang="en-US" sz="2800" b="1">
                  <a:effectLst>
                    <a:outerShdw blurRad="38100" dist="38100" dir="2700000" algn="tl">
                      <a:srgbClr val="C0C0C0"/>
                    </a:outerShdw>
                  </a:effectLst>
                  <a:latin typeface="Times New Roman" panose="02020603050405020304" pitchFamily="18" charset="0"/>
                </a:rPr>
                <a:t>是</a:t>
              </a:r>
              <a:endParaRPr kumimoji="1" lang="zh-CN" altLang="en-US" sz="2800" b="1">
                <a:effectLst>
                  <a:outerShdw blurRad="38100" dist="38100" dir="2700000" algn="tl">
                    <a:srgbClr val="C0C0C0"/>
                  </a:outerShdw>
                </a:effectLst>
                <a:latin typeface="Times New Roman" panose="02020603050405020304" pitchFamily="18" charset="0"/>
              </a:endParaRPr>
            </a:p>
          </p:txBody>
        </p:sp>
        <p:sp>
          <p:nvSpPr>
            <p:cNvPr id="54307" name="Text Box 35"/>
            <p:cNvSpPr txBox="1">
              <a:spLocks noChangeArrowheads="1"/>
            </p:cNvSpPr>
            <p:nvPr/>
          </p:nvSpPr>
          <p:spPr bwMode="auto">
            <a:xfrm>
              <a:off x="2592" y="624"/>
              <a:ext cx="336" cy="392"/>
            </a:xfrm>
            <a:prstGeom prst="rect">
              <a:avLst/>
            </a:prstGeom>
            <a:noFill/>
            <a:ln w="9525">
              <a:noFill/>
              <a:miter lim="800000"/>
            </a:ln>
          </p:spPr>
          <p:txBody>
            <a:bodyPr>
              <a:spAutoFit/>
            </a:bodyPr>
            <a:lstStyle/>
            <a:p>
              <a:pPr>
                <a:spcBef>
                  <a:spcPct val="50000"/>
                </a:spcBef>
              </a:pPr>
              <a:r>
                <a:rPr kumimoji="1" lang="zh-CN" altLang="en-US" sz="2800" b="1">
                  <a:latin typeface="Times New Roman" panose="02020603050405020304" pitchFamily="18" charset="0"/>
                </a:rPr>
                <a:t>否</a:t>
              </a:r>
              <a:endParaRPr kumimoji="1" lang="zh-CN" altLang="en-US" sz="2800" b="1">
                <a:latin typeface="Times New Roman" panose="02020603050405020304" pitchFamily="18" charset="0"/>
              </a:endParaRPr>
            </a:p>
          </p:txBody>
        </p:sp>
        <p:sp>
          <p:nvSpPr>
            <p:cNvPr id="54308" name="Text Box 36"/>
            <p:cNvSpPr txBox="1">
              <a:spLocks noChangeArrowheads="1"/>
            </p:cNvSpPr>
            <p:nvPr/>
          </p:nvSpPr>
          <p:spPr bwMode="auto">
            <a:xfrm>
              <a:off x="2400" y="1104"/>
              <a:ext cx="336" cy="392"/>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b</a:t>
              </a:r>
              <a:endParaRPr kumimoji="1" lang="en-US" altLang="zh-CN" sz="2800" b="1">
                <a:latin typeface="Times New Roman" panose="02020603050405020304" pitchFamily="18" charset="0"/>
              </a:endParaRPr>
            </a:p>
          </p:txBody>
        </p:sp>
        <p:sp>
          <p:nvSpPr>
            <p:cNvPr id="54309" name="Text Box 37"/>
            <p:cNvSpPr txBox="1">
              <a:spLocks noChangeArrowheads="1"/>
            </p:cNvSpPr>
            <p:nvPr/>
          </p:nvSpPr>
          <p:spPr bwMode="auto">
            <a:xfrm>
              <a:off x="4848" y="960"/>
              <a:ext cx="336" cy="391"/>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c</a:t>
              </a:r>
              <a:endParaRPr kumimoji="1" lang="en-US" altLang="zh-CN" sz="2800" b="1">
                <a:latin typeface="Times New Roman" panose="02020603050405020304" pitchFamily="18" charset="0"/>
              </a:endParaRPr>
            </a:p>
          </p:txBody>
        </p:sp>
        <p:sp>
          <p:nvSpPr>
            <p:cNvPr id="54310" name="Text Box 38"/>
            <p:cNvSpPr txBox="1">
              <a:spLocks noChangeArrowheads="1"/>
            </p:cNvSpPr>
            <p:nvPr/>
          </p:nvSpPr>
          <p:spPr bwMode="auto">
            <a:xfrm>
              <a:off x="2448" y="2352"/>
              <a:ext cx="336" cy="392"/>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d</a:t>
              </a:r>
              <a:endParaRPr kumimoji="1" lang="en-US" altLang="zh-CN" sz="2800" b="1">
                <a:latin typeface="Times New Roman" panose="02020603050405020304" pitchFamily="18" charset="0"/>
              </a:endParaRPr>
            </a:p>
          </p:txBody>
        </p:sp>
        <p:sp>
          <p:nvSpPr>
            <p:cNvPr id="54311" name="Text Box 39"/>
            <p:cNvSpPr txBox="1">
              <a:spLocks noChangeArrowheads="1"/>
            </p:cNvSpPr>
            <p:nvPr/>
          </p:nvSpPr>
          <p:spPr bwMode="auto">
            <a:xfrm>
              <a:off x="4896" y="2352"/>
              <a:ext cx="336" cy="392"/>
            </a:xfrm>
            <a:prstGeom prst="rect">
              <a:avLst/>
            </a:prstGeom>
            <a:noFill/>
            <a:ln w="9525">
              <a:noFill/>
              <a:miter lim="800000"/>
            </a:ln>
          </p:spPr>
          <p:txBody>
            <a:bodyPr>
              <a:spAutoFit/>
            </a:bodyPr>
            <a:lstStyle/>
            <a:p>
              <a:pPr>
                <a:spcBef>
                  <a:spcPct val="50000"/>
                </a:spcBef>
              </a:pPr>
              <a:r>
                <a:rPr kumimoji="1" lang="en-US" altLang="zh-CN" sz="2800" b="1">
                  <a:latin typeface="Times New Roman" panose="02020603050405020304" pitchFamily="18" charset="0"/>
                </a:rPr>
                <a:t>e</a:t>
              </a:r>
              <a:endParaRPr kumimoji="1" lang="en-US" altLang="zh-CN" sz="2800" b="1">
                <a:latin typeface="Times New Roman" panose="02020603050405020304" pitchFamily="18" charset="0"/>
              </a:endParaRPr>
            </a:p>
          </p:txBody>
        </p:sp>
      </p:grpSp>
    </p:spTree>
  </p:cSld>
  <p:clrMapOvr>
    <a:masterClrMapping/>
  </p:clrMapOvr>
  <p:transition>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body" idx="1"/>
          </p:nvPr>
        </p:nvSpPr>
        <p:spPr>
          <a:xfrm>
            <a:off x="0" y="1773238"/>
            <a:ext cx="8893175" cy="5400675"/>
          </a:xfrm>
        </p:spPr>
        <p:txBody>
          <a:bodyPr/>
          <a:lstStyle/>
          <a:p>
            <a:pPr marL="532130" lvl="1" indent="-352425" defTabSz="284480" eaLnBrk="1" hangingPunct="1">
              <a:tabLst>
                <a:tab pos="95250" algn="l"/>
              </a:tabLst>
            </a:pPr>
            <a:r>
              <a:rPr lang="zh-CN" altLang="zh-CN" sz="2400" b="1" smtClean="0"/>
              <a:t>黑盒测试也称功能测试或数据驱动测试，它是在已知产品所应具有的功能，通过测试来检测每个功能是否都能正常使用。它只检查程序功能是否按照需求规格说明书的规定正常使用，程序是否能适当地接收输入数锯而产生正确的输出信息，并且保持外部信息（如数据库或文件）的完整性。</a:t>
            </a:r>
            <a:endParaRPr lang="zh-CN" altLang="en-US" sz="2400" b="1" smtClean="0"/>
          </a:p>
          <a:p>
            <a:pPr marL="532130" lvl="1" indent="-352425" defTabSz="284480" eaLnBrk="1" hangingPunct="1">
              <a:tabLst>
                <a:tab pos="95250" algn="l"/>
              </a:tabLst>
            </a:pPr>
            <a:r>
              <a:rPr lang="zh-CN" altLang="zh-CN" sz="2400" b="1" smtClean="0"/>
              <a:t>黑盒测试发现的错误类型有：功能不对或遗漏、界面错误、数据结构或外部数据库访问错误、性能错误、初始化和终止错误等。</a:t>
            </a:r>
            <a:endParaRPr lang="zh-CN" altLang="zh-CN" sz="2400" b="1" smtClean="0"/>
          </a:p>
          <a:p>
            <a:pPr marL="532130" lvl="1" indent="-352425" defTabSz="284480" eaLnBrk="1" hangingPunct="1">
              <a:tabLst>
                <a:tab pos="95250" algn="l"/>
              </a:tabLst>
            </a:pPr>
            <a:r>
              <a:rPr lang="zh-CN" altLang="zh-CN" sz="2400" b="1" smtClean="0"/>
              <a:t>黑盒测试方法主要有等价类划分、边界值分析、因</a:t>
            </a:r>
            <a:r>
              <a:rPr lang="zh-CN" altLang="zh-CN" sz="2400" b="1" smtClean="0">
                <a:latin typeface="Arial" panose="020B0604020202020204" pitchFamily="34" charset="0"/>
              </a:rPr>
              <a:t>—</a:t>
            </a:r>
            <a:r>
              <a:rPr lang="zh-CN" altLang="zh-CN" sz="2400" b="1" smtClean="0"/>
              <a:t>果图、错误推测等，主要用于软件确认测试。</a:t>
            </a:r>
            <a:r>
              <a:rPr lang="zh-CN" altLang="zh-CN" sz="2400" b="1" smtClean="0">
                <a:latin typeface="Arial" panose="020B0604020202020204" pitchFamily="34" charset="0"/>
              </a:rPr>
              <a:t>“</a:t>
            </a:r>
            <a:r>
              <a:rPr lang="zh-CN" altLang="zh-CN" sz="2400" b="1" smtClean="0"/>
              <a:t>黑盒</a:t>
            </a:r>
            <a:r>
              <a:rPr lang="zh-CN" altLang="zh-CN" sz="2400" b="1" smtClean="0">
                <a:latin typeface="Arial" panose="020B0604020202020204" pitchFamily="34" charset="0"/>
              </a:rPr>
              <a:t>”</a:t>
            </a:r>
            <a:r>
              <a:rPr lang="zh-CN" altLang="zh-CN" sz="2400" b="1" smtClean="0"/>
              <a:t>法是穷举输入测试，只有把所有可能的输入都作为测试情况使用，才能以这种方法查出程序中所有的错误。</a:t>
            </a:r>
            <a:endParaRPr lang="zh-CN" altLang="en-US" sz="2400" b="1" smtClean="0"/>
          </a:p>
        </p:txBody>
      </p:sp>
      <p:sp>
        <p:nvSpPr>
          <p:cNvPr id="55299" name="AutoShape 3">
            <a:hlinkClick r:id="" action="ppaction://noaction" highlightClick="1"/>
          </p:cNvPr>
          <p:cNvSpPr>
            <a:spLocks noChangeArrowheads="1"/>
          </p:cNvSpPr>
          <p:nvPr/>
        </p:nvSpPr>
        <p:spPr bwMode="auto">
          <a:xfrm>
            <a:off x="1763713" y="981075"/>
            <a:ext cx="4106862" cy="758825"/>
          </a:xfrm>
          <a:prstGeom prst="actionButtonBlank">
            <a:avLst/>
          </a:prstGeom>
          <a:noFill/>
          <a:ln w="9525">
            <a:noFill/>
            <a:miter lim="800000"/>
          </a:ln>
        </p:spPr>
        <p:txBody>
          <a:bodyPr anchor="ctr"/>
          <a:lstStyle/>
          <a:p>
            <a:r>
              <a:rPr lang="zh-CN" altLang="zh-CN" sz="3200" b="1">
                <a:solidFill>
                  <a:srgbClr val="0A0A0E"/>
                </a:solidFill>
                <a:latin typeface="Times New Roman" panose="02020603050405020304" pitchFamily="18" charset="0"/>
              </a:rPr>
              <a:t>黑</a:t>
            </a:r>
            <a:r>
              <a:rPr lang="zh-CN" altLang="en-US" sz="3200" b="1">
                <a:solidFill>
                  <a:srgbClr val="0A0A0E"/>
                </a:solidFill>
                <a:latin typeface="Times New Roman" panose="02020603050405020304" pitchFamily="18" charset="0"/>
              </a:rPr>
              <a:t>盒测试</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b="1" smtClean="0">
                <a:solidFill>
                  <a:schemeClr val="bg1"/>
                </a:solidFill>
              </a:rPr>
              <a:t>黑盒测试</a:t>
            </a:r>
            <a:endParaRPr lang="zh-CN" altLang="en-US" b="1" smtClean="0">
              <a:solidFill>
                <a:schemeClr val="bg1"/>
              </a:solidFill>
            </a:endParaRPr>
          </a:p>
        </p:txBody>
      </p:sp>
      <p:sp>
        <p:nvSpPr>
          <p:cNvPr id="56323" name="Rectangle 3"/>
          <p:cNvSpPr>
            <a:spLocks noGrp="1" noChangeArrowheads="1"/>
          </p:cNvSpPr>
          <p:nvPr>
            <p:ph type="body" idx="1"/>
          </p:nvPr>
        </p:nvSpPr>
        <p:spPr/>
        <p:txBody>
          <a:bodyPr/>
          <a:lstStyle/>
          <a:p>
            <a:pPr eaLnBrk="1" hangingPunct="1">
              <a:buClr>
                <a:schemeClr val="bg1"/>
              </a:buClr>
              <a:buFont typeface="Wingdings" panose="05000000000000000000" pitchFamily="2" charset="2"/>
              <a:buChar char="Ø"/>
            </a:pPr>
            <a:r>
              <a:rPr lang="en-US" altLang="zh-CN" b="1" smtClean="0">
                <a:solidFill>
                  <a:schemeClr val="bg1"/>
                </a:solidFill>
              </a:rPr>
              <a:t> </a:t>
            </a:r>
            <a:r>
              <a:rPr lang="zh-CN" altLang="en-US" sz="2400" b="1" smtClean="0">
                <a:solidFill>
                  <a:schemeClr val="bg1"/>
                </a:solidFill>
                <a:ea typeface="隶书" pitchFamily="49" charset="-122"/>
              </a:rPr>
              <a:t>优点</a:t>
            </a:r>
            <a:endParaRPr lang="zh-CN" altLang="en-US" sz="2400" b="1" smtClean="0">
              <a:solidFill>
                <a:schemeClr val="bg1"/>
              </a:solidFill>
              <a:ea typeface="隶书" pitchFamily="49" charset="-122"/>
            </a:endParaRPr>
          </a:p>
          <a:p>
            <a:pPr eaLnBrk="1" hangingPunct="1">
              <a:buClr>
                <a:schemeClr val="bg1"/>
              </a:buClr>
              <a:buFont typeface="Wingdings" panose="05000000000000000000" pitchFamily="2" charset="2"/>
              <a:buNone/>
            </a:pPr>
            <a:endParaRPr lang="en-US" altLang="zh-CN" b="1" smtClean="0">
              <a:solidFill>
                <a:schemeClr val="bg1"/>
              </a:solidFill>
            </a:endParaRPr>
          </a:p>
        </p:txBody>
      </p:sp>
      <p:sp>
        <p:nvSpPr>
          <p:cNvPr id="56324" name="Freeform 4"/>
          <p:cNvSpPr/>
          <p:nvPr/>
        </p:nvSpPr>
        <p:spPr bwMode="auto">
          <a:xfrm>
            <a:off x="4633913" y="4413250"/>
            <a:ext cx="4206875" cy="1912938"/>
          </a:xfrm>
          <a:custGeom>
            <a:avLst/>
            <a:gdLst>
              <a:gd name="T0" fmla="*/ 0 w 2712"/>
              <a:gd name="T1" fmla="*/ 386 h 1241"/>
              <a:gd name="T2" fmla="*/ 0 w 2712"/>
              <a:gd name="T3" fmla="*/ 1241 h 1241"/>
              <a:gd name="T4" fmla="*/ 2712 w 2712"/>
              <a:gd name="T5" fmla="*/ 1241 h 1241"/>
              <a:gd name="T6" fmla="*/ 2712 w 2712"/>
              <a:gd name="T7" fmla="*/ 0 h 1241"/>
              <a:gd name="T8" fmla="*/ 1027 w 2712"/>
              <a:gd name="T9" fmla="*/ 0 h 1241"/>
              <a:gd name="T10" fmla="*/ 1027 w 2712"/>
              <a:gd name="T11" fmla="*/ 386 h 1241"/>
              <a:gd name="T12" fmla="*/ 0 w 2712"/>
              <a:gd name="T13" fmla="*/ 386 h 1241"/>
              <a:gd name="T14" fmla="*/ 0 60000 65536"/>
              <a:gd name="T15" fmla="*/ 0 60000 65536"/>
              <a:gd name="T16" fmla="*/ 0 60000 65536"/>
              <a:gd name="T17" fmla="*/ 0 60000 65536"/>
              <a:gd name="T18" fmla="*/ 0 60000 65536"/>
              <a:gd name="T19" fmla="*/ 0 60000 65536"/>
              <a:gd name="T20" fmla="*/ 0 60000 65536"/>
              <a:gd name="T21" fmla="*/ 0 w 2712"/>
              <a:gd name="T22" fmla="*/ 0 h 1241"/>
              <a:gd name="T23" fmla="*/ 2712 w 2712"/>
              <a:gd name="T24" fmla="*/ 1241 h 1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12" h="1241">
                <a:moveTo>
                  <a:pt x="0" y="386"/>
                </a:moveTo>
                <a:lnTo>
                  <a:pt x="0" y="1241"/>
                </a:lnTo>
                <a:lnTo>
                  <a:pt x="2712" y="1241"/>
                </a:lnTo>
                <a:lnTo>
                  <a:pt x="2712" y="0"/>
                </a:lnTo>
                <a:lnTo>
                  <a:pt x="1027" y="0"/>
                </a:lnTo>
                <a:lnTo>
                  <a:pt x="1027" y="386"/>
                </a:lnTo>
                <a:lnTo>
                  <a:pt x="0" y="386"/>
                </a:lnTo>
                <a:close/>
              </a:path>
            </a:pathLst>
          </a:custGeom>
          <a:noFill/>
          <a:ln w="6350" cap="flat" cmpd="sng">
            <a:solidFill>
              <a:schemeClr val="tx1"/>
            </a:solidFill>
            <a:prstDash val="solid"/>
            <a:round/>
          </a:ln>
        </p:spPr>
        <p:txBody>
          <a:bodyPr wrap="none" lIns="72000" tIns="0" rIns="0" bIns="0" anchor="ctr"/>
          <a:lstStyle/>
          <a:p>
            <a:endParaRPr lang="zh-CN" altLang="en-US"/>
          </a:p>
        </p:txBody>
      </p:sp>
      <p:sp>
        <p:nvSpPr>
          <p:cNvPr id="56325" name="Freeform 5"/>
          <p:cNvSpPr/>
          <p:nvPr/>
        </p:nvSpPr>
        <p:spPr bwMode="auto">
          <a:xfrm flipV="1">
            <a:off x="4633913" y="2373313"/>
            <a:ext cx="4206875" cy="1912937"/>
          </a:xfrm>
          <a:custGeom>
            <a:avLst/>
            <a:gdLst>
              <a:gd name="T0" fmla="*/ 0 w 2712"/>
              <a:gd name="T1" fmla="*/ 386 h 1241"/>
              <a:gd name="T2" fmla="*/ 0 w 2712"/>
              <a:gd name="T3" fmla="*/ 1241 h 1241"/>
              <a:gd name="T4" fmla="*/ 2712 w 2712"/>
              <a:gd name="T5" fmla="*/ 1241 h 1241"/>
              <a:gd name="T6" fmla="*/ 2712 w 2712"/>
              <a:gd name="T7" fmla="*/ 0 h 1241"/>
              <a:gd name="T8" fmla="*/ 1027 w 2712"/>
              <a:gd name="T9" fmla="*/ 0 h 1241"/>
              <a:gd name="T10" fmla="*/ 1027 w 2712"/>
              <a:gd name="T11" fmla="*/ 386 h 1241"/>
              <a:gd name="T12" fmla="*/ 0 w 2712"/>
              <a:gd name="T13" fmla="*/ 386 h 1241"/>
              <a:gd name="T14" fmla="*/ 0 60000 65536"/>
              <a:gd name="T15" fmla="*/ 0 60000 65536"/>
              <a:gd name="T16" fmla="*/ 0 60000 65536"/>
              <a:gd name="T17" fmla="*/ 0 60000 65536"/>
              <a:gd name="T18" fmla="*/ 0 60000 65536"/>
              <a:gd name="T19" fmla="*/ 0 60000 65536"/>
              <a:gd name="T20" fmla="*/ 0 60000 65536"/>
              <a:gd name="T21" fmla="*/ 0 w 2712"/>
              <a:gd name="T22" fmla="*/ 0 h 1241"/>
              <a:gd name="T23" fmla="*/ 2712 w 2712"/>
              <a:gd name="T24" fmla="*/ 1241 h 1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12" h="1241">
                <a:moveTo>
                  <a:pt x="0" y="386"/>
                </a:moveTo>
                <a:lnTo>
                  <a:pt x="0" y="1241"/>
                </a:lnTo>
                <a:lnTo>
                  <a:pt x="2712" y="1241"/>
                </a:lnTo>
                <a:lnTo>
                  <a:pt x="2712" y="0"/>
                </a:lnTo>
                <a:lnTo>
                  <a:pt x="1027" y="0"/>
                </a:lnTo>
                <a:lnTo>
                  <a:pt x="1027" y="386"/>
                </a:lnTo>
                <a:lnTo>
                  <a:pt x="0" y="386"/>
                </a:lnTo>
                <a:close/>
              </a:path>
            </a:pathLst>
          </a:custGeom>
          <a:noFill/>
          <a:ln w="6350" cap="flat" cmpd="sng">
            <a:solidFill>
              <a:schemeClr val="tx1"/>
            </a:solidFill>
            <a:prstDash val="solid"/>
            <a:round/>
          </a:ln>
        </p:spPr>
        <p:txBody>
          <a:bodyPr wrap="none" lIns="72000" tIns="0" rIns="0" bIns="0" anchor="ctr"/>
          <a:lstStyle/>
          <a:p>
            <a:endParaRPr lang="zh-CN" altLang="en-US"/>
          </a:p>
        </p:txBody>
      </p:sp>
      <p:sp>
        <p:nvSpPr>
          <p:cNvPr id="56326" name="Freeform 6"/>
          <p:cNvSpPr/>
          <p:nvPr/>
        </p:nvSpPr>
        <p:spPr bwMode="auto">
          <a:xfrm flipH="1">
            <a:off x="285750" y="4413250"/>
            <a:ext cx="4208463" cy="1912938"/>
          </a:xfrm>
          <a:custGeom>
            <a:avLst/>
            <a:gdLst>
              <a:gd name="T0" fmla="*/ 0 w 2712"/>
              <a:gd name="T1" fmla="*/ 386 h 1241"/>
              <a:gd name="T2" fmla="*/ 0 w 2712"/>
              <a:gd name="T3" fmla="*/ 1241 h 1241"/>
              <a:gd name="T4" fmla="*/ 2712 w 2712"/>
              <a:gd name="T5" fmla="*/ 1241 h 1241"/>
              <a:gd name="T6" fmla="*/ 2712 w 2712"/>
              <a:gd name="T7" fmla="*/ 0 h 1241"/>
              <a:gd name="T8" fmla="*/ 1027 w 2712"/>
              <a:gd name="T9" fmla="*/ 0 h 1241"/>
              <a:gd name="T10" fmla="*/ 1027 w 2712"/>
              <a:gd name="T11" fmla="*/ 386 h 1241"/>
              <a:gd name="T12" fmla="*/ 0 w 2712"/>
              <a:gd name="T13" fmla="*/ 386 h 1241"/>
              <a:gd name="T14" fmla="*/ 0 60000 65536"/>
              <a:gd name="T15" fmla="*/ 0 60000 65536"/>
              <a:gd name="T16" fmla="*/ 0 60000 65536"/>
              <a:gd name="T17" fmla="*/ 0 60000 65536"/>
              <a:gd name="T18" fmla="*/ 0 60000 65536"/>
              <a:gd name="T19" fmla="*/ 0 60000 65536"/>
              <a:gd name="T20" fmla="*/ 0 60000 65536"/>
              <a:gd name="T21" fmla="*/ 0 w 2712"/>
              <a:gd name="T22" fmla="*/ 0 h 1241"/>
              <a:gd name="T23" fmla="*/ 2712 w 2712"/>
              <a:gd name="T24" fmla="*/ 1241 h 1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12" h="1241">
                <a:moveTo>
                  <a:pt x="0" y="386"/>
                </a:moveTo>
                <a:lnTo>
                  <a:pt x="0" y="1241"/>
                </a:lnTo>
                <a:lnTo>
                  <a:pt x="2712" y="1241"/>
                </a:lnTo>
                <a:lnTo>
                  <a:pt x="2712" y="0"/>
                </a:lnTo>
                <a:lnTo>
                  <a:pt x="1027" y="0"/>
                </a:lnTo>
                <a:lnTo>
                  <a:pt x="1027" y="386"/>
                </a:lnTo>
                <a:lnTo>
                  <a:pt x="0" y="386"/>
                </a:lnTo>
                <a:close/>
              </a:path>
            </a:pathLst>
          </a:custGeom>
          <a:noFill/>
          <a:ln w="6350" cap="flat" cmpd="sng">
            <a:solidFill>
              <a:schemeClr val="tx1"/>
            </a:solidFill>
            <a:prstDash val="solid"/>
            <a:round/>
          </a:ln>
        </p:spPr>
        <p:txBody>
          <a:bodyPr wrap="none" lIns="72000" tIns="0" rIns="0" bIns="0" anchor="ctr"/>
          <a:lstStyle/>
          <a:p>
            <a:endParaRPr lang="zh-CN" altLang="en-US"/>
          </a:p>
        </p:txBody>
      </p:sp>
      <p:sp>
        <p:nvSpPr>
          <p:cNvPr id="56327" name="Freeform 7"/>
          <p:cNvSpPr/>
          <p:nvPr/>
        </p:nvSpPr>
        <p:spPr bwMode="auto">
          <a:xfrm flipH="1" flipV="1">
            <a:off x="285750" y="2373313"/>
            <a:ext cx="4208463" cy="1912937"/>
          </a:xfrm>
          <a:custGeom>
            <a:avLst/>
            <a:gdLst>
              <a:gd name="T0" fmla="*/ 0 w 2712"/>
              <a:gd name="T1" fmla="*/ 386 h 1241"/>
              <a:gd name="T2" fmla="*/ 0 w 2712"/>
              <a:gd name="T3" fmla="*/ 1241 h 1241"/>
              <a:gd name="T4" fmla="*/ 2712 w 2712"/>
              <a:gd name="T5" fmla="*/ 1241 h 1241"/>
              <a:gd name="T6" fmla="*/ 2712 w 2712"/>
              <a:gd name="T7" fmla="*/ 0 h 1241"/>
              <a:gd name="T8" fmla="*/ 1027 w 2712"/>
              <a:gd name="T9" fmla="*/ 0 h 1241"/>
              <a:gd name="T10" fmla="*/ 1027 w 2712"/>
              <a:gd name="T11" fmla="*/ 386 h 1241"/>
              <a:gd name="T12" fmla="*/ 0 w 2712"/>
              <a:gd name="T13" fmla="*/ 386 h 1241"/>
              <a:gd name="T14" fmla="*/ 0 60000 65536"/>
              <a:gd name="T15" fmla="*/ 0 60000 65536"/>
              <a:gd name="T16" fmla="*/ 0 60000 65536"/>
              <a:gd name="T17" fmla="*/ 0 60000 65536"/>
              <a:gd name="T18" fmla="*/ 0 60000 65536"/>
              <a:gd name="T19" fmla="*/ 0 60000 65536"/>
              <a:gd name="T20" fmla="*/ 0 60000 65536"/>
              <a:gd name="T21" fmla="*/ 0 w 2712"/>
              <a:gd name="T22" fmla="*/ 0 h 1241"/>
              <a:gd name="T23" fmla="*/ 2712 w 2712"/>
              <a:gd name="T24" fmla="*/ 1241 h 1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12" h="1241">
                <a:moveTo>
                  <a:pt x="0" y="386"/>
                </a:moveTo>
                <a:lnTo>
                  <a:pt x="0" y="1241"/>
                </a:lnTo>
                <a:lnTo>
                  <a:pt x="2712" y="1241"/>
                </a:lnTo>
                <a:lnTo>
                  <a:pt x="2712" y="0"/>
                </a:lnTo>
                <a:lnTo>
                  <a:pt x="1027" y="0"/>
                </a:lnTo>
                <a:lnTo>
                  <a:pt x="1027" y="386"/>
                </a:lnTo>
                <a:lnTo>
                  <a:pt x="0" y="386"/>
                </a:lnTo>
                <a:close/>
              </a:path>
            </a:pathLst>
          </a:custGeom>
          <a:noFill/>
          <a:ln w="6350" cap="flat" cmpd="sng">
            <a:solidFill>
              <a:schemeClr val="tx1"/>
            </a:solidFill>
            <a:prstDash val="solid"/>
            <a:round/>
          </a:ln>
        </p:spPr>
        <p:txBody>
          <a:bodyPr wrap="none" lIns="72000" tIns="0" rIns="0" bIns="0" anchor="ctr"/>
          <a:lstStyle/>
          <a:p>
            <a:endParaRPr lang="zh-CN" altLang="en-US"/>
          </a:p>
        </p:txBody>
      </p:sp>
      <p:sp>
        <p:nvSpPr>
          <p:cNvPr id="1730568" name="Rectangle 8"/>
          <p:cNvSpPr>
            <a:spLocks noChangeArrowheads="1"/>
          </p:cNvSpPr>
          <p:nvPr/>
        </p:nvSpPr>
        <p:spPr bwMode="auto">
          <a:xfrm>
            <a:off x="3059113" y="3789363"/>
            <a:ext cx="3048000" cy="1079500"/>
          </a:xfrm>
          <a:prstGeom prst="rect">
            <a:avLst/>
          </a:prstGeom>
          <a:solidFill>
            <a:schemeClr val="accent2"/>
          </a:solidFill>
          <a:ln w="6350">
            <a:solidFill>
              <a:schemeClr val="accent2"/>
            </a:solidFill>
            <a:miter lim="800000"/>
          </a:ln>
          <a:effectLst>
            <a:outerShdw dist="35921" dir="2700000" algn="ctr" rotWithShape="0">
              <a:schemeClr val="hlink"/>
            </a:outerShdw>
          </a:effectLst>
        </p:spPr>
        <p:txBody>
          <a:bodyPr wrap="none" lIns="72000" tIns="0" rIns="0" bIns="0" anchor="ctr"/>
          <a:lstStyle/>
          <a:p>
            <a:pPr>
              <a:defRPr/>
            </a:pPr>
            <a:endParaRPr lang="zh-CN" altLang="en-US"/>
          </a:p>
        </p:txBody>
      </p:sp>
      <p:sp>
        <p:nvSpPr>
          <p:cNvPr id="56329" name="Text Box 9"/>
          <p:cNvSpPr txBox="1">
            <a:spLocks noChangeArrowheads="1"/>
          </p:cNvSpPr>
          <p:nvPr/>
        </p:nvSpPr>
        <p:spPr bwMode="auto">
          <a:xfrm flipH="1">
            <a:off x="3184525" y="4168775"/>
            <a:ext cx="2762250" cy="365125"/>
          </a:xfrm>
          <a:prstGeom prst="rect">
            <a:avLst/>
          </a:prstGeom>
          <a:noFill/>
          <a:ln w="6350">
            <a:noFill/>
            <a:miter lim="800000"/>
          </a:ln>
        </p:spPr>
        <p:txBody>
          <a:bodyPr lIns="0" tIns="0" rIns="0" bIns="0" anchor="ctr">
            <a:spAutoFit/>
          </a:bodyPr>
          <a:lstStyle/>
          <a:p>
            <a:pPr algn="ctr" eaLnBrk="0" hangingPunct="0"/>
            <a:r>
              <a:rPr lang="zh-CN" altLang="en-US" b="1">
                <a:latin typeface="Arial" panose="020B0604020202020204" pitchFamily="34" charset="0"/>
                <a:ea typeface="隶书" pitchFamily="49" charset="-122"/>
              </a:rPr>
              <a:t>黑盒测试的优点</a:t>
            </a:r>
            <a:endParaRPr lang="zh-CN" altLang="en-US" b="1">
              <a:latin typeface="Arial" panose="020B0604020202020204" pitchFamily="34" charset="0"/>
              <a:ea typeface="隶书" pitchFamily="49" charset="-122"/>
            </a:endParaRPr>
          </a:p>
        </p:txBody>
      </p:sp>
      <p:sp>
        <p:nvSpPr>
          <p:cNvPr id="56330" name="Rectangle 10"/>
          <p:cNvSpPr>
            <a:spLocks noChangeArrowheads="1"/>
          </p:cNvSpPr>
          <p:nvPr/>
        </p:nvSpPr>
        <p:spPr bwMode="auto">
          <a:xfrm>
            <a:off x="0" y="2492375"/>
            <a:ext cx="4305300" cy="1241425"/>
          </a:xfrm>
          <a:prstGeom prst="rect">
            <a:avLst/>
          </a:prstGeom>
          <a:noFill/>
          <a:ln w="6350">
            <a:noFill/>
            <a:miter lim="800000"/>
          </a:ln>
        </p:spPr>
        <p:txBody>
          <a:bodyPr lIns="0" tIns="0" rIns="0" bIns="0">
            <a:spAutoFit/>
          </a:bodyPr>
          <a:lstStyle/>
          <a:p>
            <a:pPr marL="190500" lvl="1" indent="266700">
              <a:spcBef>
                <a:spcPct val="20000"/>
              </a:spcBef>
              <a:buClr>
                <a:schemeClr val="hlink"/>
              </a:buClr>
              <a:buSzPct val="55000"/>
              <a:buFont typeface="Wingdings" panose="05000000000000000000" pitchFamily="2" charset="2"/>
              <a:buNone/>
              <a:tabLst>
                <a:tab pos="8521700" algn="r"/>
              </a:tabLst>
            </a:pPr>
            <a:endParaRPr lang="en-US" altLang="zh-CN" b="1">
              <a:solidFill>
                <a:schemeClr val="bg1"/>
              </a:solidFill>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比较简单，不需要了解程序</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内部的代码及实现</a:t>
            </a:r>
            <a:r>
              <a:rPr lang="zh-CN" altLang="en-US" b="1">
                <a:solidFill>
                  <a:schemeClr val="bg1"/>
                </a:solidFill>
                <a:latin typeface="隶书" pitchFamily="49" charset="-122"/>
                <a:ea typeface="隶书" pitchFamily="49" charset="-122"/>
              </a:rPr>
              <a:t> </a:t>
            </a:r>
            <a:r>
              <a:rPr lang="zh-CN" altLang="de-DE" b="1">
                <a:solidFill>
                  <a:schemeClr val="bg1"/>
                </a:solidFill>
                <a:latin typeface="隶书" pitchFamily="49" charset="-122"/>
                <a:ea typeface="隶书" pitchFamily="49" charset="-122"/>
              </a:rPr>
              <a:t> </a:t>
            </a:r>
            <a:endParaRPr lang="zh-CN" altLang="de-DE" b="1">
              <a:solidFill>
                <a:schemeClr val="bg1"/>
              </a:solidFill>
              <a:latin typeface="隶书" pitchFamily="49" charset="-122"/>
              <a:ea typeface="隶书" pitchFamily="49" charset="-122"/>
            </a:endParaRPr>
          </a:p>
        </p:txBody>
      </p:sp>
      <p:sp>
        <p:nvSpPr>
          <p:cNvPr id="56331" name="Rectangle 11"/>
          <p:cNvSpPr>
            <a:spLocks noChangeArrowheads="1"/>
          </p:cNvSpPr>
          <p:nvPr/>
        </p:nvSpPr>
        <p:spPr bwMode="auto">
          <a:xfrm>
            <a:off x="4754563" y="2492375"/>
            <a:ext cx="3910012" cy="803275"/>
          </a:xfrm>
          <a:prstGeom prst="rect">
            <a:avLst/>
          </a:prstGeom>
          <a:noFill/>
          <a:ln w="6350">
            <a:noFill/>
            <a:miter lim="800000"/>
          </a:ln>
        </p:spPr>
        <p:txBody>
          <a:bodyPr lIns="0" tIns="0" rIns="0" bIns="0">
            <a:spAutoFit/>
          </a:bodyPr>
          <a:lstStyle/>
          <a:p>
            <a:pPr marL="190500" lvl="1" indent="266700">
              <a:spcBef>
                <a:spcPct val="20000"/>
              </a:spcBef>
              <a:buClr>
                <a:schemeClr val="hlink"/>
              </a:buClr>
              <a:buSzPct val="55000"/>
              <a:buFont typeface="Wingdings" panose="05000000000000000000" pitchFamily="2" charset="2"/>
              <a:buNone/>
              <a:tabLst>
                <a:tab pos="8521700" algn="r"/>
              </a:tabLst>
            </a:pPr>
            <a:endParaRPr lang="en-US" altLang="zh-CN" b="1">
              <a:solidFill>
                <a:schemeClr val="bg1"/>
              </a:solidFill>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与软件的内部实现无关</a:t>
            </a:r>
            <a:r>
              <a:rPr lang="zh-CN" altLang="en-US" b="1">
                <a:solidFill>
                  <a:schemeClr val="bg1"/>
                </a:solidFill>
              </a:rPr>
              <a:t> </a:t>
            </a:r>
            <a:endParaRPr lang="zh-CN" altLang="de-DE" b="1">
              <a:solidFill>
                <a:schemeClr val="bg1"/>
              </a:solidFill>
            </a:endParaRPr>
          </a:p>
        </p:txBody>
      </p:sp>
      <p:sp>
        <p:nvSpPr>
          <p:cNvPr id="56332" name="Rectangle 12"/>
          <p:cNvSpPr>
            <a:spLocks noChangeArrowheads="1"/>
          </p:cNvSpPr>
          <p:nvPr/>
        </p:nvSpPr>
        <p:spPr bwMode="auto">
          <a:xfrm>
            <a:off x="0" y="4533900"/>
            <a:ext cx="4305300" cy="1241425"/>
          </a:xfrm>
          <a:prstGeom prst="rect">
            <a:avLst/>
          </a:prstGeom>
          <a:noFill/>
          <a:ln w="6350">
            <a:noFill/>
            <a:miter lim="800000"/>
          </a:ln>
        </p:spPr>
        <p:txBody>
          <a:bodyPr lIns="0" tIns="0" rIns="0" bIns="0">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从用户角度出发，</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能很容易的知道用户会用到</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哪些功能，会遇到哪些问题</a:t>
            </a:r>
            <a:r>
              <a:rPr lang="zh-CN" altLang="en-US" b="1">
                <a:solidFill>
                  <a:schemeClr val="bg1"/>
                </a:solidFill>
                <a:latin typeface="隶书" pitchFamily="49" charset="-122"/>
                <a:ea typeface="隶书" pitchFamily="49" charset="-122"/>
              </a:rPr>
              <a:t> </a:t>
            </a:r>
            <a:endParaRPr lang="zh-CN" altLang="de-DE" b="1">
              <a:solidFill>
                <a:schemeClr val="bg1"/>
              </a:solidFill>
              <a:latin typeface="隶书" pitchFamily="49" charset="-122"/>
              <a:ea typeface="隶书" pitchFamily="49" charset="-122"/>
            </a:endParaRPr>
          </a:p>
        </p:txBody>
      </p:sp>
      <p:sp>
        <p:nvSpPr>
          <p:cNvPr id="56333" name="Rectangle 13"/>
          <p:cNvSpPr>
            <a:spLocks noChangeArrowheads="1"/>
          </p:cNvSpPr>
          <p:nvPr/>
        </p:nvSpPr>
        <p:spPr bwMode="auto">
          <a:xfrm>
            <a:off x="4356100" y="4533900"/>
            <a:ext cx="4308475" cy="1241425"/>
          </a:xfrm>
          <a:prstGeom prst="rect">
            <a:avLst/>
          </a:prstGeom>
          <a:noFill/>
          <a:ln w="6350">
            <a:noFill/>
            <a:miter lim="800000"/>
          </a:ln>
        </p:spPr>
        <p:txBody>
          <a:bodyPr lIns="0" tIns="0" rIns="0" bIns="0">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en-US" altLang="zh-CN" b="1">
                <a:solidFill>
                  <a:schemeClr val="bg1"/>
                </a:solidFill>
              </a:rPr>
              <a:t>                   </a:t>
            </a:r>
            <a:r>
              <a:rPr lang="zh-CN" altLang="en-US" b="1">
                <a:latin typeface="隶书" pitchFamily="49" charset="-122"/>
                <a:ea typeface="隶书" pitchFamily="49" charset="-122"/>
              </a:rPr>
              <a:t>基于软件开发文</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档，所以也能知道软件实现</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了文档中的哪些功能 </a:t>
            </a:r>
            <a:endParaRPr lang="zh-CN" altLang="de-DE" b="1">
              <a:latin typeface="隶书" pitchFamily="49" charset="-122"/>
              <a:ea typeface="隶书" pitchFamily="49" charset="-122"/>
            </a:endParaRPr>
          </a:p>
        </p:txBody>
      </p:sp>
      <p:sp>
        <p:nvSpPr>
          <p:cNvPr id="56334" name="AutoShape 14">
            <a:hlinkClick r:id="" action="ppaction://noaction" highlightClick="1"/>
          </p:cNvPr>
          <p:cNvSpPr>
            <a:spLocks noChangeArrowheads="1"/>
          </p:cNvSpPr>
          <p:nvPr/>
        </p:nvSpPr>
        <p:spPr bwMode="auto">
          <a:xfrm>
            <a:off x="1763713" y="981075"/>
            <a:ext cx="4106862" cy="758825"/>
          </a:xfrm>
          <a:prstGeom prst="actionButtonBlank">
            <a:avLst/>
          </a:prstGeom>
          <a:noFill/>
          <a:ln w="9525">
            <a:noFill/>
            <a:miter lim="800000"/>
          </a:ln>
        </p:spPr>
        <p:txBody>
          <a:bodyPr anchor="ctr"/>
          <a:lstStyle/>
          <a:p>
            <a:r>
              <a:rPr lang="zh-CN" altLang="zh-CN" sz="3600" b="1">
                <a:solidFill>
                  <a:srgbClr val="0A0A0E"/>
                </a:solidFill>
                <a:latin typeface="Times New Roman" panose="02020603050405020304" pitchFamily="18" charset="0"/>
              </a:rPr>
              <a:t>黑</a:t>
            </a:r>
            <a:r>
              <a:rPr lang="zh-CN" altLang="en-US" sz="3600" b="1">
                <a:solidFill>
                  <a:srgbClr val="0A0A0E"/>
                </a:solidFill>
                <a:latin typeface="Times New Roman" panose="02020603050405020304" pitchFamily="18" charset="0"/>
              </a:rPr>
              <a:t>盒测试</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zh-CN" altLang="en-US" smtClean="0">
                <a:solidFill>
                  <a:schemeClr val="bg1"/>
                </a:solidFill>
              </a:rPr>
              <a:t>黑盒测试</a:t>
            </a:r>
            <a:endParaRPr lang="zh-CN" altLang="en-US" smtClean="0">
              <a:solidFill>
                <a:schemeClr val="bg1"/>
              </a:solidFill>
            </a:endParaRPr>
          </a:p>
        </p:txBody>
      </p:sp>
      <p:sp>
        <p:nvSpPr>
          <p:cNvPr id="57347" name="Rectangle 3"/>
          <p:cNvSpPr>
            <a:spLocks noGrp="1" noChangeArrowheads="1"/>
          </p:cNvSpPr>
          <p:nvPr>
            <p:ph type="body" idx="1"/>
          </p:nvPr>
        </p:nvSpPr>
        <p:spPr/>
        <p:txBody>
          <a:bodyPr/>
          <a:lstStyle/>
          <a:p>
            <a:pPr eaLnBrk="1" hangingPunct="1">
              <a:buClr>
                <a:schemeClr val="bg1"/>
              </a:buClr>
              <a:buFont typeface="Wingdings" panose="05000000000000000000" pitchFamily="2" charset="2"/>
              <a:buChar char="Ø"/>
            </a:pPr>
            <a:r>
              <a:rPr lang="en-US" altLang="zh-CN" b="1" smtClean="0">
                <a:solidFill>
                  <a:schemeClr val="tx1"/>
                </a:solidFill>
              </a:rPr>
              <a:t> </a:t>
            </a:r>
            <a:r>
              <a:rPr lang="zh-CN" altLang="en-US" sz="2400" b="1" smtClean="0">
                <a:solidFill>
                  <a:schemeClr val="tx1"/>
                </a:solidFill>
                <a:ea typeface="隶书" pitchFamily="49" charset="-122"/>
              </a:rPr>
              <a:t>缺点</a:t>
            </a:r>
            <a:endParaRPr lang="zh-CN" altLang="en-US" sz="2400" b="1" smtClean="0">
              <a:solidFill>
                <a:schemeClr val="tx1"/>
              </a:solidFill>
              <a:ea typeface="隶书" pitchFamily="49" charset="-122"/>
            </a:endParaRPr>
          </a:p>
          <a:p>
            <a:pPr eaLnBrk="1" hangingPunct="1">
              <a:buClr>
                <a:schemeClr val="bg1"/>
              </a:buClr>
              <a:buFont typeface="Wingdings" panose="05000000000000000000" pitchFamily="2" charset="2"/>
              <a:buNone/>
            </a:pPr>
            <a:endParaRPr lang="zh-CN" altLang="en-US" b="1" smtClean="0">
              <a:solidFill>
                <a:schemeClr val="bg1"/>
              </a:solidFill>
            </a:endParaRPr>
          </a:p>
          <a:p>
            <a:pPr eaLnBrk="1" hangingPunct="1">
              <a:buClr>
                <a:schemeClr val="bg1"/>
              </a:buClr>
              <a:buFont typeface="Wingdings" panose="05000000000000000000" pitchFamily="2" charset="2"/>
              <a:buNone/>
            </a:pPr>
            <a:endParaRPr lang="en-US" altLang="zh-CN" b="1" smtClean="0">
              <a:solidFill>
                <a:schemeClr val="bg1"/>
              </a:solidFill>
            </a:endParaRPr>
          </a:p>
        </p:txBody>
      </p:sp>
      <p:sp>
        <p:nvSpPr>
          <p:cNvPr id="1731588" name="Rectangle 4"/>
          <p:cNvSpPr>
            <a:spLocks noChangeArrowheads="1"/>
          </p:cNvSpPr>
          <p:nvPr/>
        </p:nvSpPr>
        <p:spPr bwMode="auto">
          <a:xfrm>
            <a:off x="857250" y="4267200"/>
            <a:ext cx="7346950" cy="1431925"/>
          </a:xfrm>
          <a:prstGeom prst="rect">
            <a:avLst/>
          </a:prstGeom>
          <a:solidFill>
            <a:schemeClr val="accent2"/>
          </a:solidFill>
          <a:ln w="6350">
            <a:noFill/>
            <a:miter lim="800000"/>
          </a:ln>
          <a:effectLst>
            <a:outerShdw dist="35921" dir="2700000" algn="ctr" rotWithShape="0">
              <a:schemeClr val="hlink"/>
            </a:outerShdw>
          </a:effectLst>
        </p:spPr>
        <p:txBody>
          <a:bodyPr lIns="0" tIns="0" rIns="0" bIns="0" anchor="ctr">
            <a:spAutoFit/>
          </a:bodyPr>
          <a:lstStyle/>
          <a:p>
            <a:pPr>
              <a:defRPr/>
            </a:pPr>
            <a:endParaRPr lang="zh-CN" altLang="en-US"/>
          </a:p>
        </p:txBody>
      </p:sp>
      <p:sp>
        <p:nvSpPr>
          <p:cNvPr id="57349" name="AutoShape 5"/>
          <p:cNvSpPr>
            <a:spLocks noChangeArrowheads="1"/>
          </p:cNvSpPr>
          <p:nvPr/>
        </p:nvSpPr>
        <p:spPr bwMode="auto">
          <a:xfrm rot="5400000">
            <a:off x="1665288" y="1935163"/>
            <a:ext cx="2205037" cy="3233737"/>
          </a:xfrm>
          <a:prstGeom prst="homePlate">
            <a:avLst>
              <a:gd name="adj" fmla="val 12574"/>
            </a:avLst>
          </a:prstGeom>
          <a:solidFill>
            <a:schemeClr val="bg1"/>
          </a:solidFill>
          <a:ln w="6350">
            <a:solidFill>
              <a:schemeClr val="tx1"/>
            </a:solidFill>
            <a:miter lim="800000"/>
          </a:ln>
        </p:spPr>
        <p:txBody>
          <a:bodyPr wrap="none" lIns="0" tIns="0" rIns="0" bIns="0" anchor="ctr"/>
          <a:lstStyle/>
          <a:p>
            <a:endParaRPr lang="zh-CN" altLang="en-US"/>
          </a:p>
        </p:txBody>
      </p:sp>
      <p:sp>
        <p:nvSpPr>
          <p:cNvPr id="1731590" name="Rectangle 6"/>
          <p:cNvSpPr>
            <a:spLocks noChangeArrowheads="1"/>
          </p:cNvSpPr>
          <p:nvPr/>
        </p:nvSpPr>
        <p:spPr bwMode="auto">
          <a:xfrm>
            <a:off x="900113" y="2565400"/>
            <a:ext cx="3317875" cy="1241425"/>
          </a:xfrm>
          <a:prstGeom prst="rect">
            <a:avLst/>
          </a:prstGeom>
          <a:noFill/>
          <a:ln w="6350">
            <a:noFill/>
            <a:miter lim="800000"/>
          </a:ln>
        </p:spPr>
        <p:txBody>
          <a:bodyPr lIns="0" tIns="0" rIns="0" bIns="0">
            <a:spAutoFit/>
          </a:bodyPr>
          <a:lstStyle/>
          <a:p>
            <a:pPr marL="190500" lvl="1" indent="266700">
              <a:spcBef>
                <a:spcPct val="20000"/>
              </a:spcBef>
              <a:buClr>
                <a:schemeClr val="hlink"/>
              </a:buClr>
              <a:buSzPct val="55000"/>
              <a:buFont typeface="Wingdings" panose="05000000000000000000" pitchFamily="2" charset="2"/>
              <a:buNone/>
              <a:tabLst>
                <a:tab pos="8521700" algn="r"/>
              </a:tabLst>
            </a:pPr>
            <a:endParaRPr lang="en-US" altLang="zh-CN" b="1">
              <a:solidFill>
                <a:srgbClr val="0A0A0E"/>
              </a:solidFill>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solidFill>
                  <a:srgbClr val="0A0A0E"/>
                </a:solidFill>
                <a:ea typeface="隶书" pitchFamily="49" charset="-122"/>
              </a:rPr>
              <a:t>不可能覆盖所有的代</a:t>
            </a:r>
            <a:endParaRPr lang="zh-CN" altLang="en-US" b="1">
              <a:solidFill>
                <a:srgbClr val="0A0A0E"/>
              </a:solidFill>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solidFill>
                  <a:srgbClr val="0A0A0E"/>
                </a:solidFill>
                <a:ea typeface="隶书" pitchFamily="49" charset="-122"/>
              </a:rPr>
              <a:t>码，覆盖率较低。</a:t>
            </a:r>
            <a:r>
              <a:rPr lang="zh-CN" altLang="en-US" b="1">
                <a:solidFill>
                  <a:srgbClr val="0A0A0E"/>
                </a:solidFill>
              </a:rPr>
              <a:t> </a:t>
            </a:r>
            <a:endParaRPr lang="de-DE" altLang="zh-CN" b="1">
              <a:solidFill>
                <a:srgbClr val="0A0A0E"/>
              </a:solidFill>
            </a:endParaRPr>
          </a:p>
        </p:txBody>
      </p:sp>
      <p:sp>
        <p:nvSpPr>
          <p:cNvPr id="57351" name="AutoShape 7"/>
          <p:cNvSpPr>
            <a:spLocks noChangeArrowheads="1"/>
          </p:cNvSpPr>
          <p:nvPr/>
        </p:nvSpPr>
        <p:spPr bwMode="auto">
          <a:xfrm rot="5400000">
            <a:off x="5191125" y="1935163"/>
            <a:ext cx="2205037" cy="3233738"/>
          </a:xfrm>
          <a:prstGeom prst="homePlate">
            <a:avLst>
              <a:gd name="adj" fmla="val 12574"/>
            </a:avLst>
          </a:prstGeom>
          <a:solidFill>
            <a:schemeClr val="bg1"/>
          </a:solidFill>
          <a:ln w="6350">
            <a:solidFill>
              <a:schemeClr val="tx1"/>
            </a:solidFill>
            <a:miter lim="800000"/>
          </a:ln>
        </p:spPr>
        <p:txBody>
          <a:bodyPr wrap="none" lIns="0" tIns="0" rIns="0" bIns="0" anchor="ctr"/>
          <a:lstStyle/>
          <a:p>
            <a:endParaRPr lang="zh-CN" altLang="en-US"/>
          </a:p>
        </p:txBody>
      </p:sp>
      <p:sp>
        <p:nvSpPr>
          <p:cNvPr id="1731592" name="Rectangle 8"/>
          <p:cNvSpPr>
            <a:spLocks noChangeArrowheads="1"/>
          </p:cNvSpPr>
          <p:nvPr/>
        </p:nvSpPr>
        <p:spPr bwMode="auto">
          <a:xfrm>
            <a:off x="4356100" y="2565400"/>
            <a:ext cx="3389313" cy="1241425"/>
          </a:xfrm>
          <a:prstGeom prst="rect">
            <a:avLst/>
          </a:prstGeom>
          <a:noFill/>
          <a:ln w="6350">
            <a:noFill/>
            <a:miter lim="800000"/>
          </a:ln>
        </p:spPr>
        <p:txBody>
          <a:bodyPr lIns="0" tIns="0" rIns="0" bIns="0">
            <a:spAutoFit/>
          </a:bodyPr>
          <a:lstStyle/>
          <a:p>
            <a:pPr marL="190500" lvl="1" indent="266700">
              <a:spcBef>
                <a:spcPct val="20000"/>
              </a:spcBef>
              <a:buClr>
                <a:schemeClr val="hlink"/>
              </a:buClr>
              <a:buSzPct val="55000"/>
              <a:buFont typeface="Wingdings" panose="05000000000000000000" pitchFamily="2" charset="2"/>
              <a:buNone/>
              <a:tabLst>
                <a:tab pos="8521700" algn="r"/>
              </a:tabLst>
            </a:pPr>
            <a:endParaRPr lang="en-US" altLang="zh-CN" b="1">
              <a:solidFill>
                <a:srgbClr val="0A0A0E"/>
              </a:solidFill>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solidFill>
                  <a:srgbClr val="0A0A0E"/>
                </a:solidFill>
                <a:latin typeface="隶书" pitchFamily="49" charset="-122"/>
                <a:ea typeface="隶书" pitchFamily="49" charset="-122"/>
              </a:rPr>
              <a:t>自动化测试的复用性</a:t>
            </a:r>
            <a:endParaRPr lang="zh-CN" altLang="en-US" b="1">
              <a:solidFill>
                <a:srgbClr val="0A0A0E"/>
              </a:solidFill>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solidFill>
                  <a:srgbClr val="0A0A0E"/>
                </a:solidFill>
                <a:latin typeface="隶书" pitchFamily="49" charset="-122"/>
                <a:ea typeface="隶书" pitchFamily="49" charset="-122"/>
              </a:rPr>
              <a:t>较低。 </a:t>
            </a:r>
            <a:endParaRPr lang="zh-CN" altLang="de-DE" b="1">
              <a:solidFill>
                <a:srgbClr val="0A0A0E"/>
              </a:solidFill>
              <a:latin typeface="隶书" pitchFamily="49" charset="-122"/>
              <a:ea typeface="隶书" pitchFamily="49" charset="-122"/>
            </a:endParaRPr>
          </a:p>
        </p:txBody>
      </p:sp>
      <p:sp>
        <p:nvSpPr>
          <p:cNvPr id="57353" name="AutoShape 9">
            <a:hlinkClick r:id="" action="ppaction://noaction" highlightClick="1"/>
          </p:cNvPr>
          <p:cNvSpPr>
            <a:spLocks noChangeArrowheads="1"/>
          </p:cNvSpPr>
          <p:nvPr/>
        </p:nvSpPr>
        <p:spPr bwMode="auto">
          <a:xfrm>
            <a:off x="1763713" y="981075"/>
            <a:ext cx="4106862" cy="758825"/>
          </a:xfrm>
          <a:prstGeom prst="actionButtonBlank">
            <a:avLst/>
          </a:prstGeom>
          <a:noFill/>
          <a:ln w="9525">
            <a:noFill/>
            <a:miter lim="800000"/>
          </a:ln>
        </p:spPr>
        <p:txBody>
          <a:bodyPr anchor="ctr"/>
          <a:lstStyle/>
          <a:p>
            <a:r>
              <a:rPr lang="zh-CN" altLang="zh-CN" sz="3200" b="1">
                <a:solidFill>
                  <a:srgbClr val="0A0A0E"/>
                </a:solidFill>
                <a:latin typeface="Times New Roman" panose="02020603050405020304" pitchFamily="18" charset="0"/>
              </a:rPr>
              <a:t>黑</a:t>
            </a:r>
            <a:r>
              <a:rPr lang="zh-CN" altLang="en-US" sz="3200" b="1">
                <a:solidFill>
                  <a:srgbClr val="0A0A0E"/>
                </a:solidFill>
                <a:latin typeface="Times New Roman" panose="02020603050405020304" pitchFamily="18" charset="0"/>
              </a:rPr>
              <a:t>盒测试</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31590">
                                            <p:txEl>
                                              <p:pRg st="1" end="1"/>
                                            </p:txEl>
                                          </p:spTgt>
                                        </p:tgtEl>
                                        <p:attrNameLst>
                                          <p:attrName>style.visibility</p:attrName>
                                        </p:attrNameLst>
                                      </p:cBhvr>
                                      <p:to>
                                        <p:strVal val="visible"/>
                                      </p:to>
                                    </p:set>
                                    <p:animEffect transition="in" filter="blinds(horizontal)">
                                      <p:cBhvr>
                                        <p:cTn id="7" dur="500"/>
                                        <p:tgtEl>
                                          <p:spTgt spid="1731590">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31590">
                                            <p:txEl>
                                              <p:pRg st="2" end="2"/>
                                            </p:txEl>
                                          </p:spTgt>
                                        </p:tgtEl>
                                        <p:attrNameLst>
                                          <p:attrName>style.visibility</p:attrName>
                                        </p:attrNameLst>
                                      </p:cBhvr>
                                      <p:to>
                                        <p:strVal val="visible"/>
                                      </p:to>
                                    </p:set>
                                    <p:animEffect transition="in" filter="blinds(horizontal)">
                                      <p:cBhvr>
                                        <p:cTn id="11" dur="500"/>
                                        <p:tgtEl>
                                          <p:spTgt spid="1731590">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31592">
                                            <p:txEl>
                                              <p:pRg st="1" end="1"/>
                                            </p:txEl>
                                          </p:spTgt>
                                        </p:tgtEl>
                                        <p:attrNameLst>
                                          <p:attrName>style.visibility</p:attrName>
                                        </p:attrNameLst>
                                      </p:cBhvr>
                                      <p:to>
                                        <p:strVal val="visible"/>
                                      </p:to>
                                    </p:set>
                                    <p:animEffect transition="in" filter="blinds(horizontal)">
                                      <p:cBhvr>
                                        <p:cTn id="15" dur="500"/>
                                        <p:tgtEl>
                                          <p:spTgt spid="1731592">
                                            <p:txEl>
                                              <p:pRg st="1" end="1"/>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31592">
                                            <p:txEl>
                                              <p:pRg st="2" end="2"/>
                                            </p:txEl>
                                          </p:spTgt>
                                        </p:tgtEl>
                                        <p:attrNameLst>
                                          <p:attrName>style.visibility</p:attrName>
                                        </p:attrNameLst>
                                      </p:cBhvr>
                                      <p:to>
                                        <p:strVal val="visible"/>
                                      </p:to>
                                    </p:set>
                                    <p:animEffect transition="in" filter="blinds(horizontal)">
                                      <p:cBhvr>
                                        <p:cTn id="19" dur="500"/>
                                        <p:tgtEl>
                                          <p:spTgt spid="173159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zh-CN" altLang="zh-CN" sz="4000" b="1" smtClean="0">
                <a:solidFill>
                  <a:srgbClr val="0A0A0E"/>
                </a:solidFill>
                <a:latin typeface="Times New Roman" panose="02020603050405020304" pitchFamily="18" charset="0"/>
              </a:rPr>
              <a:t>黑</a:t>
            </a:r>
            <a:r>
              <a:rPr lang="zh-CN" altLang="en-US" sz="4000" b="1" smtClean="0">
                <a:solidFill>
                  <a:srgbClr val="0A0A0E"/>
                </a:solidFill>
                <a:latin typeface="Times New Roman" panose="02020603050405020304" pitchFamily="18" charset="0"/>
              </a:rPr>
              <a:t>盒测试</a:t>
            </a:r>
            <a:endParaRPr lang="zh-CN" altLang="en-US" sz="4000" b="1" smtClean="0">
              <a:solidFill>
                <a:srgbClr val="0A0A0E"/>
              </a:solidFill>
              <a:latin typeface="Times New Roman" panose="02020603050405020304" pitchFamily="18" charset="0"/>
            </a:endParaRPr>
          </a:p>
        </p:txBody>
      </p:sp>
      <p:sp>
        <p:nvSpPr>
          <p:cNvPr id="160771" name="Rectangle 3"/>
          <p:cNvSpPr>
            <a:spLocks noGrp="1" noChangeArrowheads="1"/>
          </p:cNvSpPr>
          <p:nvPr>
            <p:ph type="body" idx="1"/>
          </p:nvPr>
        </p:nvSpPr>
        <p:spPr>
          <a:xfrm>
            <a:off x="755650" y="2017713"/>
            <a:ext cx="8199438" cy="4114800"/>
          </a:xfrm>
        </p:spPr>
        <p:txBody>
          <a:bodyPr/>
          <a:lstStyle/>
          <a:p>
            <a:r>
              <a:rPr kumimoji="1" lang="zh-CN" altLang="en-US" b="1" smtClean="0">
                <a:solidFill>
                  <a:schemeClr val="hlink"/>
                </a:solidFill>
              </a:rPr>
              <a:t>等价类划分</a:t>
            </a:r>
            <a:endParaRPr kumimoji="1" lang="zh-CN" altLang="en-US" b="1" smtClean="0">
              <a:solidFill>
                <a:schemeClr val="hlink"/>
              </a:solidFill>
            </a:endParaRPr>
          </a:p>
          <a:p>
            <a:pPr lvl="1"/>
            <a:r>
              <a:rPr lang="zh-CN" altLang="en-US" b="1" smtClean="0"/>
              <a:t>等价类划分法的基本思想：是将所有可能的输入数据</a:t>
            </a:r>
            <a:r>
              <a:rPr lang="en-US" altLang="zh-CN" b="1" smtClean="0"/>
              <a:t>(</a:t>
            </a:r>
            <a:r>
              <a:rPr lang="zh-CN" altLang="en-US" b="1" smtClean="0"/>
              <a:t>有效的和无效的</a:t>
            </a:r>
            <a:r>
              <a:rPr lang="en-US" altLang="zh-CN" b="1" smtClean="0"/>
              <a:t>)</a:t>
            </a:r>
            <a:r>
              <a:rPr lang="zh-CN" altLang="en-US" b="1" smtClean="0"/>
              <a:t>划分成若干个等价的子集 </a:t>
            </a:r>
            <a:r>
              <a:rPr lang="en-US" altLang="zh-CN" b="1" smtClean="0"/>
              <a:t>(</a:t>
            </a:r>
            <a:r>
              <a:rPr lang="zh-CN" altLang="en-US" b="1" smtClean="0"/>
              <a:t>称为等价类</a:t>
            </a:r>
            <a:r>
              <a:rPr lang="en-US" altLang="zh-CN" b="1" smtClean="0"/>
              <a:t>)</a:t>
            </a:r>
            <a:r>
              <a:rPr lang="zh-CN" altLang="en-US" b="1" smtClean="0"/>
              <a:t>， 使得每个子集中的一个典型值在测试中的作用与这一子集中所有其它值的作用相同</a:t>
            </a:r>
            <a:r>
              <a:rPr lang="en-US" altLang="zh-CN" b="1" smtClean="0"/>
              <a:t>. </a:t>
            </a:r>
            <a:r>
              <a:rPr lang="zh-CN" altLang="en-US" b="1" smtClean="0"/>
              <a:t>可从每个子集中选取一组数据来测试程序</a:t>
            </a:r>
            <a:endParaRPr lang="zh-CN" altLang="en-US" b="1" smtClean="0"/>
          </a:p>
        </p:txBody>
      </p:sp>
    </p:spTree>
  </p:cSld>
  <p:clrMapOvr>
    <a:masterClrMapping/>
  </p:clrMapOvr>
  <p:transition>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r>
              <a:rPr kumimoji="1" lang="zh-CN" altLang="en-US" sz="3600" b="1" smtClean="0">
                <a:solidFill>
                  <a:schemeClr val="tx1"/>
                </a:solidFill>
              </a:rPr>
              <a:t>等价类划分</a:t>
            </a:r>
            <a:endParaRPr kumimoji="1" lang="zh-CN" altLang="en-US" sz="3600" b="1" smtClean="0">
              <a:solidFill>
                <a:schemeClr val="tx1"/>
              </a:solidFill>
            </a:endParaRPr>
          </a:p>
        </p:txBody>
      </p:sp>
      <p:sp>
        <p:nvSpPr>
          <p:cNvPr id="161795" name="Rectangle 3"/>
          <p:cNvSpPr>
            <a:spLocks noGrp="1" noChangeArrowheads="1"/>
          </p:cNvSpPr>
          <p:nvPr>
            <p:ph type="body" idx="1"/>
          </p:nvPr>
        </p:nvSpPr>
        <p:spPr>
          <a:xfrm>
            <a:off x="250825" y="2017713"/>
            <a:ext cx="8704263" cy="4114800"/>
          </a:xfrm>
        </p:spPr>
        <p:txBody>
          <a:bodyPr/>
          <a:lstStyle/>
          <a:p>
            <a:r>
              <a:rPr lang="zh-CN" altLang="en-US" b="1" smtClean="0"/>
              <a:t>等价类划分有两种情况</a:t>
            </a:r>
            <a:endParaRPr lang="zh-CN" altLang="en-US" b="1" smtClean="0"/>
          </a:p>
          <a:p>
            <a:pPr lvl="1"/>
            <a:r>
              <a:rPr lang="zh-CN" altLang="en-US" sz="3200" b="1" smtClean="0"/>
              <a:t>合理等价类：测试模块是否实现了规定的功能和性能</a:t>
            </a:r>
            <a:endParaRPr lang="zh-CN" altLang="en-US" sz="3200" b="1" smtClean="0"/>
          </a:p>
          <a:p>
            <a:pPr lvl="1"/>
            <a:r>
              <a:rPr lang="zh-CN" altLang="en-US" sz="3200" b="1" smtClean="0"/>
              <a:t>不合理等价类：测试模块是否能够拒绝无效输入，被测试对象在运行条件错误时的可靠性如何</a:t>
            </a:r>
            <a:endParaRPr lang="zh-CN" altLang="en-US" sz="3200" b="1" smtClean="0"/>
          </a:p>
        </p:txBody>
      </p:sp>
    </p:spTree>
  </p:cSld>
  <p:clrMapOvr>
    <a:masterClrMapping/>
  </p:clrMapOvr>
  <p:transition>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kumimoji="1" lang="zh-CN" altLang="en-US" sz="3600" b="1" smtClean="0">
                <a:solidFill>
                  <a:schemeClr val="tx1"/>
                </a:solidFill>
              </a:rPr>
              <a:t>等价类划分</a:t>
            </a:r>
            <a:endParaRPr kumimoji="1" lang="zh-CN" altLang="en-US" sz="3600" b="1" smtClean="0">
              <a:solidFill>
                <a:schemeClr val="tx1"/>
              </a:solidFill>
            </a:endParaRPr>
          </a:p>
        </p:txBody>
      </p:sp>
      <p:sp>
        <p:nvSpPr>
          <p:cNvPr id="162819" name="Rectangle 3"/>
          <p:cNvSpPr>
            <a:spLocks noGrp="1" noChangeArrowheads="1"/>
          </p:cNvSpPr>
          <p:nvPr>
            <p:ph type="body" idx="1"/>
          </p:nvPr>
        </p:nvSpPr>
        <p:spPr>
          <a:xfrm>
            <a:off x="684213" y="2017713"/>
            <a:ext cx="8270875" cy="4114800"/>
          </a:xfrm>
        </p:spPr>
        <p:txBody>
          <a:bodyPr/>
          <a:lstStyle/>
          <a:p>
            <a:r>
              <a:rPr lang="zh-CN" altLang="en-US" b="1" smtClean="0"/>
              <a:t>划分等价类规则</a:t>
            </a:r>
            <a:endParaRPr lang="zh-CN" altLang="en-US" b="1" smtClean="0"/>
          </a:p>
          <a:p>
            <a:pPr lvl="1"/>
            <a:r>
              <a:rPr lang="zh-CN" altLang="en-US" b="1" smtClean="0">
                <a:latin typeface="宋体" panose="02010600030101010101" pitchFamily="2" charset="-122"/>
              </a:rPr>
              <a:t>如果输入条件代表一个范围，可定义一个有效等价类和两个无效等价类</a:t>
            </a:r>
            <a:endParaRPr lang="zh-CN" altLang="en-US" sz="3200" b="1" smtClean="0"/>
          </a:p>
          <a:p>
            <a:pPr lvl="1">
              <a:lnSpc>
                <a:spcPct val="80000"/>
              </a:lnSpc>
              <a:spcBef>
                <a:spcPct val="0"/>
              </a:spcBef>
              <a:buFont typeface="Wingdings" panose="05000000000000000000" pitchFamily="2" charset="2"/>
              <a:buNone/>
            </a:pPr>
            <a:r>
              <a:rPr lang="zh-CN" altLang="en-US" sz="4000" b="1" smtClean="0">
                <a:solidFill>
                  <a:schemeClr val="tx2"/>
                </a:solidFill>
                <a:latin typeface="宋体" panose="02010600030101010101" pitchFamily="2" charset="-122"/>
              </a:rPr>
              <a:t> </a:t>
            </a:r>
            <a:r>
              <a:rPr lang="zh-CN" altLang="en-US" b="1" smtClean="0">
                <a:solidFill>
                  <a:schemeClr val="tx1"/>
                </a:solidFill>
                <a:latin typeface="宋体" panose="02010600030101010101" pitchFamily="2" charset="-122"/>
              </a:rPr>
              <a:t>例如</a:t>
            </a:r>
            <a:r>
              <a:rPr lang="zh-CN" altLang="en-US" b="1" smtClean="0">
                <a:latin typeface="宋体" panose="02010600030101010101" pitchFamily="2" charset="-122"/>
              </a:rPr>
              <a:t>，输入条件规定：</a:t>
            </a:r>
            <a:r>
              <a:rPr lang="zh-CN" altLang="en-US" b="1" smtClean="0">
                <a:solidFill>
                  <a:schemeClr val="folHlink"/>
                </a:solidFill>
                <a:latin typeface="宋体" panose="02010600030101010101" pitchFamily="2" charset="-122"/>
              </a:rPr>
              <a:t>项数可从</a:t>
            </a:r>
            <a:r>
              <a:rPr lang="en-US" altLang="zh-CN" b="1" smtClean="0">
                <a:solidFill>
                  <a:schemeClr val="folHlink"/>
                </a:solidFill>
                <a:latin typeface="宋体" panose="02010600030101010101" pitchFamily="2" charset="-122"/>
              </a:rPr>
              <a:t>1</a:t>
            </a:r>
            <a:r>
              <a:rPr lang="zh-CN" altLang="en-US" b="1" smtClean="0">
                <a:solidFill>
                  <a:schemeClr val="folHlink"/>
                </a:solidFill>
                <a:latin typeface="宋体" panose="02010600030101010101" pitchFamily="2" charset="-122"/>
              </a:rPr>
              <a:t>到</a:t>
            </a:r>
            <a:r>
              <a:rPr lang="en-US" altLang="zh-CN" b="1" smtClean="0">
                <a:solidFill>
                  <a:schemeClr val="folHlink"/>
                </a:solidFill>
                <a:latin typeface="宋体" panose="02010600030101010101" pitchFamily="2" charset="-122"/>
              </a:rPr>
              <a:t>999</a:t>
            </a:r>
            <a:endParaRPr lang="en-US" altLang="zh-CN" b="1" smtClean="0">
              <a:solidFill>
                <a:schemeClr val="folHlink"/>
              </a:solidFill>
              <a:latin typeface="宋体" panose="02010600030101010101" pitchFamily="2" charset="-122"/>
            </a:endParaRPr>
          </a:p>
          <a:p>
            <a:pPr lvl="1"/>
            <a:endParaRPr lang="zh-CN" altLang="en-US" sz="3200" b="1" smtClean="0">
              <a:solidFill>
                <a:schemeClr val="folHlink"/>
              </a:solidFill>
            </a:endParaRPr>
          </a:p>
        </p:txBody>
      </p:sp>
      <p:grpSp>
        <p:nvGrpSpPr>
          <p:cNvPr id="162820" name="Group 4"/>
          <p:cNvGrpSpPr/>
          <p:nvPr/>
        </p:nvGrpSpPr>
        <p:grpSpPr bwMode="auto">
          <a:xfrm>
            <a:off x="827088" y="3933825"/>
            <a:ext cx="7874000" cy="2089150"/>
            <a:chOff x="521" y="2478"/>
            <a:chExt cx="4960" cy="1316"/>
          </a:xfrm>
        </p:grpSpPr>
        <p:sp>
          <p:nvSpPr>
            <p:cNvPr id="162821" name="Line 5"/>
            <p:cNvSpPr>
              <a:spLocks noChangeShapeType="1"/>
            </p:cNvSpPr>
            <p:nvPr/>
          </p:nvSpPr>
          <p:spPr bwMode="auto">
            <a:xfrm>
              <a:off x="521" y="2906"/>
              <a:ext cx="4960" cy="0"/>
            </a:xfrm>
            <a:prstGeom prst="line">
              <a:avLst/>
            </a:prstGeom>
            <a:noFill/>
            <a:ln w="50800">
              <a:solidFill>
                <a:schemeClr val="tx1"/>
              </a:solidFill>
              <a:round/>
            </a:ln>
            <a:effectLst/>
          </p:spPr>
          <p:txBody>
            <a:bodyPr wrap="none" anchor="ctr"/>
            <a:lstStyle/>
            <a:p>
              <a:endParaRPr lang="zh-CN" altLang="en-US"/>
            </a:p>
          </p:txBody>
        </p:sp>
        <p:sp>
          <p:nvSpPr>
            <p:cNvPr id="162822" name="Line 6"/>
            <p:cNvSpPr>
              <a:spLocks noChangeShapeType="1"/>
            </p:cNvSpPr>
            <p:nvPr/>
          </p:nvSpPr>
          <p:spPr bwMode="auto">
            <a:xfrm>
              <a:off x="1863" y="2804"/>
              <a:ext cx="0" cy="952"/>
            </a:xfrm>
            <a:prstGeom prst="line">
              <a:avLst/>
            </a:prstGeom>
            <a:noFill/>
            <a:ln w="38100">
              <a:solidFill>
                <a:schemeClr val="tx1"/>
              </a:solidFill>
              <a:round/>
            </a:ln>
            <a:effectLst/>
          </p:spPr>
          <p:txBody>
            <a:bodyPr wrap="none" anchor="ctr"/>
            <a:lstStyle/>
            <a:p>
              <a:endParaRPr lang="zh-CN" altLang="en-US"/>
            </a:p>
          </p:txBody>
        </p:sp>
        <p:sp>
          <p:nvSpPr>
            <p:cNvPr id="162823" name="Line 7"/>
            <p:cNvSpPr>
              <a:spLocks noChangeShapeType="1"/>
            </p:cNvSpPr>
            <p:nvPr/>
          </p:nvSpPr>
          <p:spPr bwMode="auto">
            <a:xfrm>
              <a:off x="3687" y="2796"/>
              <a:ext cx="0" cy="952"/>
            </a:xfrm>
            <a:prstGeom prst="line">
              <a:avLst/>
            </a:prstGeom>
            <a:noFill/>
            <a:ln w="38100">
              <a:solidFill>
                <a:schemeClr val="tx1"/>
              </a:solidFill>
              <a:round/>
            </a:ln>
            <a:effectLst/>
          </p:spPr>
          <p:txBody>
            <a:bodyPr wrap="none" anchor="ctr"/>
            <a:lstStyle/>
            <a:p>
              <a:endParaRPr lang="zh-CN" altLang="en-US"/>
            </a:p>
          </p:txBody>
        </p:sp>
        <p:sp>
          <p:nvSpPr>
            <p:cNvPr id="162824" name="Rectangle 8"/>
            <p:cNvSpPr>
              <a:spLocks noChangeArrowheads="1"/>
            </p:cNvSpPr>
            <p:nvPr/>
          </p:nvSpPr>
          <p:spPr bwMode="auto">
            <a:xfrm>
              <a:off x="1610" y="2478"/>
              <a:ext cx="3071" cy="325"/>
            </a:xfrm>
            <a:prstGeom prst="rect">
              <a:avLst/>
            </a:prstGeom>
            <a:noFill/>
            <a:ln w="12700">
              <a:noFill/>
              <a:miter lim="800000"/>
            </a:ln>
            <a:effectLst/>
          </p:spPr>
          <p:txBody>
            <a:bodyPr lIns="90488" tIns="44450" rIns="90488" bIns="44450">
              <a:spAutoFit/>
            </a:bodyPr>
            <a:lstStyle/>
            <a:p>
              <a:pPr eaLnBrk="0" hangingPunct="0"/>
              <a:r>
                <a:rPr kumimoji="1" lang="zh-CN" altLang="en-US" sz="2800" b="1">
                  <a:latin typeface="黑体" panose="02010609060101010101" pitchFamily="2" charset="-122"/>
                  <a:ea typeface="黑体" panose="02010609060101010101" pitchFamily="2" charset="-122"/>
                </a:rPr>
                <a:t> </a:t>
              </a:r>
              <a:r>
                <a:rPr kumimoji="1" lang="en-US" altLang="zh-CN" sz="2800" b="1">
                  <a:latin typeface="黑体" panose="02010609060101010101" pitchFamily="2" charset="-122"/>
                  <a:ea typeface="黑体" panose="02010609060101010101" pitchFamily="2" charset="-122"/>
                </a:rPr>
                <a:t>1               999</a:t>
              </a:r>
              <a:endParaRPr kumimoji="1" lang="en-US" altLang="zh-CN" sz="2800" b="1">
                <a:latin typeface="黑体" panose="02010609060101010101" pitchFamily="2" charset="-122"/>
                <a:ea typeface="黑体" panose="02010609060101010101" pitchFamily="2" charset="-122"/>
              </a:endParaRPr>
            </a:p>
          </p:txBody>
        </p:sp>
        <p:sp>
          <p:nvSpPr>
            <p:cNvPr id="162825" name="Rectangle 9"/>
            <p:cNvSpPr>
              <a:spLocks noChangeArrowheads="1"/>
            </p:cNvSpPr>
            <p:nvPr/>
          </p:nvSpPr>
          <p:spPr bwMode="auto">
            <a:xfrm>
              <a:off x="2359" y="3020"/>
              <a:ext cx="789" cy="594"/>
            </a:xfrm>
            <a:prstGeom prst="rect">
              <a:avLst/>
            </a:prstGeom>
            <a:noFill/>
            <a:ln w="12700">
              <a:noFill/>
              <a:miter lim="800000"/>
            </a:ln>
            <a:effectLst/>
          </p:spPr>
          <p:txBody>
            <a:bodyPr wrap="none" lIns="90488" tIns="44450" rIns="90488" bIns="44450">
              <a:spAutoFit/>
            </a:bodyPr>
            <a:lstStyle/>
            <a:p>
              <a:pPr eaLnBrk="0" hangingPunct="0"/>
              <a:r>
                <a:rPr kumimoji="1" lang="zh-CN" altLang="en-US" sz="2800" b="1">
                  <a:latin typeface="宋体" panose="02010600030101010101" pitchFamily="2" charset="-122"/>
                </a:rPr>
                <a:t> </a:t>
              </a:r>
              <a:r>
                <a:rPr kumimoji="1" lang="zh-CN" altLang="en-US" sz="2800" b="1">
                  <a:solidFill>
                    <a:srgbClr val="037C03"/>
                  </a:solidFill>
                  <a:latin typeface="宋体" panose="02010600030101010101" pitchFamily="2" charset="-122"/>
                </a:rPr>
                <a:t>有效</a:t>
              </a:r>
              <a:endParaRPr kumimoji="1" lang="zh-CN" altLang="en-US" sz="2800" b="1">
                <a:solidFill>
                  <a:srgbClr val="037C03"/>
                </a:solidFill>
                <a:latin typeface="宋体" panose="02010600030101010101" pitchFamily="2" charset="-122"/>
              </a:endParaRPr>
            </a:p>
            <a:p>
              <a:pPr eaLnBrk="0" hangingPunct="0"/>
              <a:r>
                <a:rPr kumimoji="1" lang="zh-CN" altLang="en-US" sz="2800" b="1">
                  <a:solidFill>
                    <a:srgbClr val="037C03"/>
                  </a:solidFill>
                  <a:latin typeface="宋体" panose="02010600030101010101" pitchFamily="2" charset="-122"/>
                </a:rPr>
                <a:t>等价类</a:t>
              </a:r>
              <a:endParaRPr kumimoji="1" lang="zh-CN" altLang="en-US" sz="2800" b="1">
                <a:latin typeface="宋体" panose="02010600030101010101" pitchFamily="2" charset="-122"/>
              </a:endParaRPr>
            </a:p>
          </p:txBody>
        </p:sp>
        <p:sp>
          <p:nvSpPr>
            <p:cNvPr id="162826" name="Rectangle 10"/>
            <p:cNvSpPr>
              <a:spLocks noChangeArrowheads="1"/>
            </p:cNvSpPr>
            <p:nvPr/>
          </p:nvSpPr>
          <p:spPr bwMode="auto">
            <a:xfrm>
              <a:off x="4195" y="2930"/>
              <a:ext cx="792" cy="863"/>
            </a:xfrm>
            <a:prstGeom prst="rect">
              <a:avLst/>
            </a:prstGeom>
            <a:noFill/>
            <a:ln w="12700">
              <a:noFill/>
              <a:miter lim="800000"/>
            </a:ln>
            <a:effectLst/>
          </p:spPr>
          <p:txBody>
            <a:bodyPr wrap="none" lIns="90488" tIns="44450" rIns="90488" bIns="44450">
              <a:spAutoFit/>
            </a:bodyPr>
            <a:lstStyle/>
            <a:p>
              <a:pPr eaLnBrk="0" hangingPunct="0"/>
              <a:r>
                <a:rPr kumimoji="1" lang="zh-CN" altLang="en-US" sz="2800" b="1">
                  <a:solidFill>
                    <a:schemeClr val="hlink"/>
                  </a:solidFill>
                  <a:latin typeface="宋体" panose="02010600030101010101" pitchFamily="2" charset="-122"/>
                </a:rPr>
                <a:t> 无效</a:t>
              </a:r>
              <a:endParaRPr kumimoji="1" lang="zh-CN" altLang="en-US" sz="2800" b="1">
                <a:solidFill>
                  <a:schemeClr val="hlink"/>
                </a:solidFill>
                <a:latin typeface="宋体" panose="02010600030101010101" pitchFamily="2" charset="-122"/>
              </a:endParaRPr>
            </a:p>
            <a:p>
              <a:pPr eaLnBrk="0" hangingPunct="0"/>
              <a:r>
                <a:rPr kumimoji="1" lang="zh-CN" altLang="en-US" sz="2800" b="1">
                  <a:solidFill>
                    <a:schemeClr val="hlink"/>
                  </a:solidFill>
                  <a:latin typeface="宋体" panose="02010600030101010101" pitchFamily="2" charset="-122"/>
                </a:rPr>
                <a:t>等价类</a:t>
              </a:r>
              <a:endParaRPr kumimoji="1" lang="zh-CN" altLang="en-US" sz="2800" b="1">
                <a:solidFill>
                  <a:schemeClr val="hlink"/>
                </a:solidFill>
                <a:latin typeface="宋体" panose="02010600030101010101" pitchFamily="2" charset="-122"/>
              </a:endParaRPr>
            </a:p>
            <a:p>
              <a:pPr eaLnBrk="0" hangingPunct="0"/>
              <a:r>
                <a:rPr kumimoji="1" lang="zh-CN" altLang="en-US" sz="2800" b="1">
                  <a:solidFill>
                    <a:schemeClr val="hlink"/>
                  </a:solidFill>
                  <a:latin typeface="宋体" panose="02010600030101010101" pitchFamily="2" charset="-122"/>
                </a:rPr>
                <a:t> </a:t>
              </a:r>
              <a:r>
                <a:rPr kumimoji="1" lang="en-US" altLang="zh-CN" sz="2800" b="1">
                  <a:solidFill>
                    <a:schemeClr val="hlink"/>
                  </a:solidFill>
                  <a:latin typeface="宋体" panose="02010600030101010101" pitchFamily="2" charset="-122"/>
                </a:rPr>
                <a:t>&gt; 999</a:t>
              </a:r>
              <a:endParaRPr kumimoji="1" lang="en-US" altLang="zh-CN" sz="2800" b="1">
                <a:solidFill>
                  <a:schemeClr val="hlink"/>
                </a:solidFill>
                <a:latin typeface="宋体" panose="02010600030101010101" pitchFamily="2" charset="-122"/>
              </a:endParaRPr>
            </a:p>
          </p:txBody>
        </p:sp>
        <p:sp>
          <p:nvSpPr>
            <p:cNvPr id="162827" name="Rectangle 11"/>
            <p:cNvSpPr>
              <a:spLocks noChangeArrowheads="1"/>
            </p:cNvSpPr>
            <p:nvPr/>
          </p:nvSpPr>
          <p:spPr bwMode="auto">
            <a:xfrm>
              <a:off x="679" y="2931"/>
              <a:ext cx="789" cy="863"/>
            </a:xfrm>
            <a:prstGeom prst="rect">
              <a:avLst/>
            </a:prstGeom>
            <a:noFill/>
            <a:ln w="12700">
              <a:noFill/>
              <a:miter lim="800000"/>
            </a:ln>
            <a:effectLst/>
          </p:spPr>
          <p:txBody>
            <a:bodyPr wrap="none" lIns="90488" tIns="44450" rIns="90488" bIns="44450">
              <a:spAutoFit/>
            </a:bodyPr>
            <a:lstStyle/>
            <a:p>
              <a:pPr eaLnBrk="0" hangingPunct="0"/>
              <a:r>
                <a:rPr kumimoji="1" lang="zh-CN" altLang="en-US" sz="2800" b="1">
                  <a:solidFill>
                    <a:schemeClr val="hlink"/>
                  </a:solidFill>
                  <a:latin typeface="宋体" panose="02010600030101010101" pitchFamily="2" charset="-122"/>
                </a:rPr>
                <a:t> 无效</a:t>
              </a:r>
              <a:endParaRPr kumimoji="1" lang="zh-CN" altLang="en-US" sz="2800" b="1">
                <a:solidFill>
                  <a:schemeClr val="hlink"/>
                </a:solidFill>
                <a:latin typeface="宋体" panose="02010600030101010101" pitchFamily="2" charset="-122"/>
              </a:endParaRPr>
            </a:p>
            <a:p>
              <a:pPr eaLnBrk="0" hangingPunct="0"/>
              <a:r>
                <a:rPr kumimoji="1" lang="zh-CN" altLang="en-US" sz="2800" b="1">
                  <a:solidFill>
                    <a:schemeClr val="hlink"/>
                  </a:solidFill>
                  <a:latin typeface="宋体" panose="02010600030101010101" pitchFamily="2" charset="-122"/>
                </a:rPr>
                <a:t>等价类</a:t>
              </a:r>
              <a:endParaRPr kumimoji="1" lang="zh-CN" altLang="en-US" sz="2800" b="1">
                <a:solidFill>
                  <a:schemeClr val="hlink"/>
                </a:solidFill>
                <a:latin typeface="宋体" panose="02010600030101010101" pitchFamily="2" charset="-122"/>
              </a:endParaRPr>
            </a:p>
            <a:p>
              <a:pPr eaLnBrk="0" hangingPunct="0"/>
              <a:r>
                <a:rPr kumimoji="1" lang="zh-CN" altLang="en-US" sz="2800" b="1">
                  <a:solidFill>
                    <a:schemeClr val="hlink"/>
                  </a:solidFill>
                  <a:latin typeface="宋体" panose="02010600030101010101" pitchFamily="2" charset="-122"/>
                </a:rPr>
                <a:t> </a:t>
              </a:r>
              <a:r>
                <a:rPr kumimoji="1" lang="en-US" altLang="zh-CN" sz="2800" b="1">
                  <a:solidFill>
                    <a:schemeClr val="hlink"/>
                  </a:solidFill>
                  <a:latin typeface="宋体" panose="02010600030101010101" pitchFamily="2" charset="-122"/>
                </a:rPr>
                <a:t>&lt; 1</a:t>
              </a:r>
              <a:endParaRPr kumimoji="1" lang="en-US" altLang="zh-CN" sz="2800" b="1">
                <a:solidFill>
                  <a:schemeClr val="hlink"/>
                </a:solidFill>
                <a:latin typeface="宋体" panose="02010600030101010101" pitchFamily="2" charset="-122"/>
              </a:endParaRPr>
            </a:p>
          </p:txBody>
        </p:sp>
        <p:sp>
          <p:nvSpPr>
            <p:cNvPr id="162828" name="Line 12"/>
            <p:cNvSpPr>
              <a:spLocks noChangeShapeType="1"/>
            </p:cNvSpPr>
            <p:nvPr/>
          </p:nvSpPr>
          <p:spPr bwMode="auto">
            <a:xfrm>
              <a:off x="1495" y="3356"/>
              <a:ext cx="368" cy="0"/>
            </a:xfrm>
            <a:prstGeom prst="line">
              <a:avLst/>
            </a:prstGeom>
            <a:noFill/>
            <a:ln w="25400">
              <a:solidFill>
                <a:schemeClr val="hlink"/>
              </a:solidFill>
              <a:round/>
              <a:tailEnd type="triangle" w="med" len="med"/>
            </a:ln>
            <a:effectLst/>
          </p:spPr>
          <p:txBody>
            <a:bodyPr wrap="none" anchor="ctr"/>
            <a:lstStyle/>
            <a:p>
              <a:endParaRPr lang="zh-CN" altLang="en-US"/>
            </a:p>
          </p:txBody>
        </p:sp>
        <p:sp>
          <p:nvSpPr>
            <p:cNvPr id="162829" name="Line 13"/>
            <p:cNvSpPr>
              <a:spLocks noChangeShapeType="1"/>
            </p:cNvSpPr>
            <p:nvPr/>
          </p:nvSpPr>
          <p:spPr bwMode="auto">
            <a:xfrm>
              <a:off x="3367" y="3356"/>
              <a:ext cx="320" cy="0"/>
            </a:xfrm>
            <a:prstGeom prst="line">
              <a:avLst/>
            </a:prstGeom>
            <a:noFill/>
            <a:ln w="25400">
              <a:solidFill>
                <a:srgbClr val="037C03"/>
              </a:solidFill>
              <a:round/>
              <a:tailEnd type="triangle" w="med" len="med"/>
            </a:ln>
            <a:effectLst/>
          </p:spPr>
          <p:txBody>
            <a:bodyPr wrap="none" anchor="ctr"/>
            <a:lstStyle/>
            <a:p>
              <a:endParaRPr lang="zh-CN" altLang="en-US"/>
            </a:p>
          </p:txBody>
        </p:sp>
        <p:sp>
          <p:nvSpPr>
            <p:cNvPr id="162830" name="Line 14"/>
            <p:cNvSpPr>
              <a:spLocks noChangeShapeType="1"/>
            </p:cNvSpPr>
            <p:nvPr/>
          </p:nvSpPr>
          <p:spPr bwMode="auto">
            <a:xfrm flipH="1">
              <a:off x="1831" y="3356"/>
              <a:ext cx="400" cy="0"/>
            </a:xfrm>
            <a:prstGeom prst="line">
              <a:avLst/>
            </a:prstGeom>
            <a:noFill/>
            <a:ln w="25400">
              <a:solidFill>
                <a:schemeClr val="folHlink"/>
              </a:solidFill>
              <a:round/>
              <a:tailEnd type="triangle" w="med" len="med"/>
            </a:ln>
            <a:effectLst/>
          </p:spPr>
          <p:txBody>
            <a:bodyPr wrap="none" anchor="ctr"/>
            <a:lstStyle/>
            <a:p>
              <a:endParaRPr lang="zh-CN" altLang="en-US"/>
            </a:p>
          </p:txBody>
        </p:sp>
        <p:sp>
          <p:nvSpPr>
            <p:cNvPr id="162831" name="Line 15"/>
            <p:cNvSpPr>
              <a:spLocks noChangeShapeType="1"/>
            </p:cNvSpPr>
            <p:nvPr/>
          </p:nvSpPr>
          <p:spPr bwMode="auto">
            <a:xfrm flipH="1">
              <a:off x="3655" y="3346"/>
              <a:ext cx="400" cy="0"/>
            </a:xfrm>
            <a:prstGeom prst="line">
              <a:avLst/>
            </a:prstGeom>
            <a:noFill/>
            <a:ln w="25400">
              <a:solidFill>
                <a:schemeClr val="hlink"/>
              </a:solidFill>
              <a:round/>
              <a:tailEnd type="triangle" w="med" len="med"/>
            </a:ln>
            <a:effectLst/>
          </p:spPr>
          <p:txBody>
            <a:bodyPr wrap="none" anchor="ctr"/>
            <a:lstStyle/>
            <a:p>
              <a:endParaRPr lang="zh-CN" altLang="en-US"/>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62820"/>
                                        </p:tgtEl>
                                        <p:attrNameLst>
                                          <p:attrName>style.visibility</p:attrName>
                                        </p:attrNameLst>
                                      </p:cBhvr>
                                      <p:to>
                                        <p:strVal val="visible"/>
                                      </p:to>
                                    </p:set>
                                    <p:anim calcmode="lin" valueType="num">
                                      <p:cBhvr>
                                        <p:cTn id="7" dur="1000" fill="hold"/>
                                        <p:tgtEl>
                                          <p:spTgt spid="162820"/>
                                        </p:tgtEl>
                                        <p:attrNameLst>
                                          <p:attrName>ppt_w</p:attrName>
                                        </p:attrNameLst>
                                      </p:cBhvr>
                                      <p:tavLst>
                                        <p:tav tm="0">
                                          <p:val>
                                            <p:strVal val="#ppt_w*0.70"/>
                                          </p:val>
                                        </p:tav>
                                        <p:tav tm="100000">
                                          <p:val>
                                            <p:strVal val="#ppt_w"/>
                                          </p:val>
                                        </p:tav>
                                      </p:tavLst>
                                    </p:anim>
                                    <p:anim calcmode="lin" valueType="num">
                                      <p:cBhvr>
                                        <p:cTn id="8" dur="1000" fill="hold"/>
                                        <p:tgtEl>
                                          <p:spTgt spid="162820"/>
                                        </p:tgtEl>
                                        <p:attrNameLst>
                                          <p:attrName>ppt_h</p:attrName>
                                        </p:attrNameLst>
                                      </p:cBhvr>
                                      <p:tavLst>
                                        <p:tav tm="0">
                                          <p:val>
                                            <p:strVal val="#ppt_h"/>
                                          </p:val>
                                        </p:tav>
                                        <p:tav tm="100000">
                                          <p:val>
                                            <p:strVal val="#ppt_h"/>
                                          </p:val>
                                        </p:tav>
                                      </p:tavLst>
                                    </p:anim>
                                    <p:animEffect transition="in" filter="fade">
                                      <p:cBhvr>
                                        <p:cTn id="9" dur="1000"/>
                                        <p:tgtEl>
                                          <p:spTgt spid="162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r>
              <a:rPr kumimoji="1" lang="zh-CN" altLang="en-US" sz="3600" b="1" smtClean="0">
                <a:solidFill>
                  <a:schemeClr val="tx1"/>
                </a:solidFill>
              </a:rPr>
              <a:t>等价类划分</a:t>
            </a:r>
            <a:endParaRPr kumimoji="1" lang="zh-CN" altLang="en-US" sz="3600" b="1" smtClean="0">
              <a:solidFill>
                <a:schemeClr val="tx1"/>
              </a:solidFill>
            </a:endParaRPr>
          </a:p>
        </p:txBody>
      </p:sp>
      <p:sp>
        <p:nvSpPr>
          <p:cNvPr id="163843" name="Rectangle 3"/>
          <p:cNvSpPr>
            <a:spLocks noGrp="1" noChangeArrowheads="1"/>
          </p:cNvSpPr>
          <p:nvPr>
            <p:ph type="body" idx="1"/>
          </p:nvPr>
        </p:nvSpPr>
        <p:spPr>
          <a:xfrm>
            <a:off x="684213" y="2017713"/>
            <a:ext cx="8270875" cy="1993900"/>
          </a:xfrm>
        </p:spPr>
        <p:txBody>
          <a:bodyPr/>
          <a:lstStyle/>
          <a:p>
            <a:r>
              <a:rPr lang="zh-CN" altLang="en-US" b="1" smtClean="0"/>
              <a:t>划分等价类规则</a:t>
            </a:r>
            <a:endParaRPr lang="zh-CN" altLang="en-US" b="1" smtClean="0"/>
          </a:p>
          <a:p>
            <a:pPr lvl="1"/>
            <a:r>
              <a:rPr lang="zh-CN" altLang="en-US" b="1" smtClean="0">
                <a:latin typeface="宋体" panose="02010600030101010101" pitchFamily="2" charset="-122"/>
              </a:rPr>
              <a:t>如果输入条件代表一个范围，可定义一个有效等价类和两个无效等价类</a:t>
            </a:r>
            <a:endParaRPr lang="zh-CN" altLang="en-US" sz="3200" b="1" smtClean="0"/>
          </a:p>
          <a:p>
            <a:pPr lvl="1"/>
            <a:endParaRPr lang="zh-CN" altLang="en-US" b="1" smtClean="0">
              <a:solidFill>
                <a:schemeClr val="folHlink"/>
              </a:solidFill>
              <a:latin typeface="宋体" panose="02010600030101010101" pitchFamily="2" charset="-122"/>
            </a:endParaRPr>
          </a:p>
          <a:p>
            <a:pPr lvl="1"/>
            <a:endParaRPr lang="zh-CN" altLang="en-US" sz="3200" b="1" smtClean="0">
              <a:solidFill>
                <a:schemeClr val="folHlink"/>
              </a:solidFill>
            </a:endParaRPr>
          </a:p>
        </p:txBody>
      </p:sp>
      <p:sp>
        <p:nvSpPr>
          <p:cNvPr id="163844" name="Rectangle 4"/>
          <p:cNvSpPr>
            <a:spLocks noChangeArrowheads="1"/>
          </p:cNvSpPr>
          <p:nvPr/>
        </p:nvSpPr>
        <p:spPr bwMode="auto">
          <a:xfrm>
            <a:off x="673100" y="3573463"/>
            <a:ext cx="7859713" cy="2303462"/>
          </a:xfrm>
          <a:prstGeom prst="rect">
            <a:avLst/>
          </a:prstGeom>
          <a:noFill/>
          <a:ln w="9525">
            <a:noFill/>
            <a:miter lim="800000"/>
          </a:ln>
          <a:effectLst/>
        </p:spPr>
        <p:txBody>
          <a:bodyPr/>
          <a:lstStyle/>
          <a:p>
            <a:pPr marL="742950" lvl="1" indent="-285750" eaLnBrk="0" hangingPunct="0">
              <a:spcBef>
                <a:spcPct val="20000"/>
              </a:spcBef>
              <a:buClr>
                <a:schemeClr val="hlink"/>
              </a:buClr>
              <a:buSzPct val="55000"/>
              <a:buFont typeface="Wingdings" panose="05000000000000000000" pitchFamily="2" charset="2"/>
              <a:buChar char="n"/>
            </a:pPr>
            <a:r>
              <a:rPr lang="zh-CN" altLang="en-US" sz="2800" b="1">
                <a:solidFill>
                  <a:srgbClr val="0A0A0E"/>
                </a:solidFill>
                <a:latin typeface="宋体" panose="02010600030101010101" pitchFamily="2" charset="-122"/>
              </a:rPr>
              <a:t>如果输入条件代表集合的某个元素，则可定义一个有效等价类和一个无效等价类</a:t>
            </a:r>
            <a:endParaRPr lang="zh-CN" altLang="en-US" sz="2800" b="1">
              <a:solidFill>
                <a:srgbClr val="0A0A0E"/>
              </a:solidFill>
              <a:latin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3844"/>
                                        </p:tgtEl>
                                        <p:attrNameLst>
                                          <p:attrName>style.visibility</p:attrName>
                                        </p:attrNameLst>
                                      </p:cBhvr>
                                      <p:to>
                                        <p:strVal val="visible"/>
                                      </p:to>
                                    </p:set>
                                    <p:animEffect transition="in" filter="wipe(left)">
                                      <p:cBhvr>
                                        <p:cTn id="7" dur="500"/>
                                        <p:tgtEl>
                                          <p:spTgt spid="163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r>
              <a:rPr kumimoji="1" lang="zh-CN" altLang="en-US" sz="3600" b="1" smtClean="0">
                <a:solidFill>
                  <a:schemeClr val="tx1"/>
                </a:solidFill>
              </a:rPr>
              <a:t>等价类划分</a:t>
            </a:r>
            <a:endParaRPr kumimoji="1" lang="zh-CN" altLang="en-US" sz="3600" b="1" smtClean="0">
              <a:solidFill>
                <a:schemeClr val="tx1"/>
              </a:solidFill>
            </a:endParaRPr>
          </a:p>
        </p:txBody>
      </p:sp>
      <p:sp>
        <p:nvSpPr>
          <p:cNvPr id="164867" name="Rectangle 3"/>
          <p:cNvSpPr>
            <a:spLocks noGrp="1" noChangeArrowheads="1"/>
          </p:cNvSpPr>
          <p:nvPr>
            <p:ph type="body" idx="1"/>
          </p:nvPr>
        </p:nvSpPr>
        <p:spPr>
          <a:xfrm>
            <a:off x="611188" y="1989138"/>
            <a:ext cx="8128000" cy="1993900"/>
          </a:xfrm>
        </p:spPr>
        <p:txBody>
          <a:bodyPr/>
          <a:lstStyle/>
          <a:p>
            <a:r>
              <a:rPr lang="zh-CN" altLang="en-US" b="1" smtClean="0"/>
              <a:t>划分等价类规则</a:t>
            </a:r>
            <a:endParaRPr lang="zh-CN" altLang="en-US" b="1" smtClean="0"/>
          </a:p>
          <a:p>
            <a:pPr lvl="1"/>
            <a:r>
              <a:rPr lang="zh-CN" altLang="en-US" b="1" smtClean="0">
                <a:latin typeface="宋体" panose="02010600030101010101" pitchFamily="2" charset="-122"/>
              </a:rPr>
              <a:t>如果输入条件代表一个范围，可定义一个有效等价类和两个无效等价类</a:t>
            </a:r>
            <a:endParaRPr lang="zh-CN" altLang="en-US" sz="3200" b="1" smtClean="0"/>
          </a:p>
          <a:p>
            <a:pPr lvl="1"/>
            <a:endParaRPr lang="zh-CN" altLang="en-US" b="1" smtClean="0">
              <a:solidFill>
                <a:schemeClr val="folHlink"/>
              </a:solidFill>
              <a:latin typeface="宋体" panose="02010600030101010101" pitchFamily="2" charset="-122"/>
            </a:endParaRPr>
          </a:p>
          <a:p>
            <a:pPr lvl="1"/>
            <a:endParaRPr lang="zh-CN" altLang="en-US" sz="3200" b="1" smtClean="0">
              <a:solidFill>
                <a:schemeClr val="folHlink"/>
              </a:solidFill>
            </a:endParaRPr>
          </a:p>
        </p:txBody>
      </p:sp>
      <p:sp>
        <p:nvSpPr>
          <p:cNvPr id="164868" name="Rectangle 4"/>
          <p:cNvSpPr>
            <a:spLocks noChangeArrowheads="1"/>
          </p:cNvSpPr>
          <p:nvPr/>
        </p:nvSpPr>
        <p:spPr bwMode="auto">
          <a:xfrm>
            <a:off x="673100" y="3573463"/>
            <a:ext cx="7859713" cy="1150937"/>
          </a:xfrm>
          <a:prstGeom prst="rect">
            <a:avLst/>
          </a:prstGeom>
          <a:noFill/>
          <a:ln w="9525">
            <a:noFill/>
            <a:miter lim="800000"/>
          </a:ln>
          <a:effectLst/>
        </p:spPr>
        <p:txBody>
          <a:bodyPr/>
          <a:lstStyle/>
          <a:p>
            <a:pPr marL="742950" lvl="1" indent="-285750" eaLnBrk="0" hangingPunct="0">
              <a:spcBef>
                <a:spcPct val="20000"/>
              </a:spcBef>
              <a:buClr>
                <a:schemeClr val="hlink"/>
              </a:buClr>
              <a:buSzPct val="55000"/>
              <a:buFont typeface="Wingdings" panose="05000000000000000000" pitchFamily="2" charset="2"/>
              <a:buChar char="n"/>
            </a:pPr>
            <a:r>
              <a:rPr lang="zh-CN" altLang="en-US" sz="2800" b="1">
                <a:solidFill>
                  <a:srgbClr val="0A0A0E"/>
                </a:solidFill>
                <a:latin typeface="宋体" panose="02010600030101010101" pitchFamily="2" charset="-122"/>
              </a:rPr>
              <a:t>如果输入条件代表集合的某个元素，则可定义一个有效等价类和一个无效等价类</a:t>
            </a:r>
            <a:endParaRPr lang="zh-CN" altLang="en-US" sz="2800" b="1">
              <a:solidFill>
                <a:srgbClr val="0A0A0E"/>
              </a:solidFill>
              <a:latin typeface="宋体" panose="02010600030101010101" pitchFamily="2" charset="-122"/>
            </a:endParaRPr>
          </a:p>
        </p:txBody>
      </p:sp>
      <p:sp>
        <p:nvSpPr>
          <p:cNvPr id="164869" name="Rectangle 5"/>
          <p:cNvSpPr>
            <a:spLocks noChangeArrowheads="1"/>
          </p:cNvSpPr>
          <p:nvPr/>
        </p:nvSpPr>
        <p:spPr bwMode="auto">
          <a:xfrm>
            <a:off x="838200" y="4572000"/>
            <a:ext cx="7543800" cy="1371600"/>
          </a:xfrm>
          <a:prstGeom prst="rect">
            <a:avLst/>
          </a:prstGeom>
          <a:solidFill>
            <a:schemeClr val="accent1"/>
          </a:solidFill>
          <a:ln w="9525">
            <a:noFill/>
            <a:miter lim="800000"/>
          </a:ln>
          <a:effectLst>
            <a:prstShdw prst="shdw17" dist="17961" dir="2700000">
              <a:schemeClr val="accent1">
                <a:gamma/>
                <a:shade val="60000"/>
                <a:invGamma/>
              </a:schemeClr>
            </a:prstShdw>
          </a:effectLst>
        </p:spPr>
        <p:txBody>
          <a:bodyPr anchor="ctr"/>
          <a:lstStyle/>
          <a:p>
            <a:pPr>
              <a:spcBef>
                <a:spcPct val="20000"/>
              </a:spcBef>
            </a:pPr>
            <a:r>
              <a:rPr lang="zh-CN" altLang="en-US" b="1">
                <a:solidFill>
                  <a:srgbClr val="FFFF00"/>
                </a:solidFill>
                <a:latin typeface="Arial" panose="020B0604020202020204" pitchFamily="34" charset="0"/>
              </a:rPr>
              <a:t>例：</a:t>
            </a:r>
            <a:r>
              <a:rPr lang="zh-CN" altLang="en-US" b="1">
                <a:solidFill>
                  <a:schemeClr val="bg1"/>
                </a:solidFill>
                <a:latin typeface="Arial" panose="020B0604020202020204" pitchFamily="34" charset="0"/>
              </a:rPr>
              <a:t>北京地区的电话号码前为“</a:t>
            </a:r>
            <a:r>
              <a:rPr lang="en-US" altLang="zh-CN" b="1">
                <a:solidFill>
                  <a:schemeClr val="bg1"/>
                </a:solidFill>
                <a:latin typeface="Arial" panose="020B0604020202020204" pitchFamily="34" charset="0"/>
              </a:rPr>
              <a:t>010”</a:t>
            </a:r>
            <a:r>
              <a:rPr lang="zh-CN" altLang="en-US" b="1">
                <a:solidFill>
                  <a:schemeClr val="bg1"/>
                </a:solidFill>
                <a:latin typeface="Arial" panose="020B0604020202020204" pitchFamily="34" charset="0"/>
              </a:rPr>
              <a:t>。</a:t>
            </a:r>
            <a:endParaRPr lang="zh-CN" altLang="en-US" b="1">
              <a:solidFill>
                <a:schemeClr val="bg1"/>
              </a:solidFill>
              <a:latin typeface="Arial" panose="020B0604020202020204" pitchFamily="34" charset="0"/>
            </a:endParaRPr>
          </a:p>
          <a:p>
            <a:pPr>
              <a:spcBef>
                <a:spcPct val="20000"/>
              </a:spcBef>
            </a:pPr>
            <a:r>
              <a:rPr kumimoji="1" lang="zh-CN" altLang="en-US" b="1">
                <a:solidFill>
                  <a:srgbClr val="FFFF00"/>
                </a:solidFill>
                <a:latin typeface="Arial" panose="020B0604020202020204" pitchFamily="34" charset="0"/>
              </a:rPr>
              <a:t>则，</a:t>
            </a:r>
            <a:r>
              <a:rPr kumimoji="1" lang="zh-CN" altLang="en-US" b="1">
                <a:solidFill>
                  <a:schemeClr val="bg1"/>
                </a:solidFill>
                <a:latin typeface="Arial" panose="020B0604020202020204" pitchFamily="34" charset="0"/>
              </a:rPr>
              <a:t>有效等价类（以“</a:t>
            </a:r>
            <a:r>
              <a:rPr kumimoji="1" lang="en-US" altLang="zh-CN" b="1">
                <a:solidFill>
                  <a:schemeClr val="bg1"/>
                </a:solidFill>
                <a:latin typeface="Arial" panose="020B0604020202020204" pitchFamily="34" charset="0"/>
              </a:rPr>
              <a:t>010”</a:t>
            </a:r>
            <a:r>
              <a:rPr kumimoji="1" lang="zh-CN" altLang="en-US" b="1">
                <a:solidFill>
                  <a:schemeClr val="bg1"/>
                </a:solidFill>
                <a:latin typeface="Arial" panose="020B0604020202020204" pitchFamily="34" charset="0"/>
              </a:rPr>
              <a:t>开头的电话号码）；无效等价类（不以“</a:t>
            </a:r>
            <a:r>
              <a:rPr kumimoji="1" lang="en-US" altLang="zh-CN" b="1">
                <a:solidFill>
                  <a:schemeClr val="bg1"/>
                </a:solidFill>
                <a:latin typeface="Arial" panose="020B0604020202020204" pitchFamily="34" charset="0"/>
              </a:rPr>
              <a:t>010”</a:t>
            </a:r>
            <a:r>
              <a:rPr kumimoji="1" lang="zh-CN" altLang="en-US" b="1">
                <a:solidFill>
                  <a:schemeClr val="bg1"/>
                </a:solidFill>
                <a:latin typeface="Arial" panose="020B0604020202020204" pitchFamily="34" charset="0"/>
              </a:rPr>
              <a:t>开头的电话号码）</a:t>
            </a:r>
            <a:endParaRPr kumimoji="1" lang="zh-CN" altLang="en-US" b="1">
              <a:solidFill>
                <a:schemeClr val="bg1"/>
              </a:solidFill>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64869"/>
                                        </p:tgtEl>
                                        <p:attrNameLst>
                                          <p:attrName>style.visibility</p:attrName>
                                        </p:attrNameLst>
                                      </p:cBhvr>
                                      <p:to>
                                        <p:strVal val="visible"/>
                                      </p:to>
                                    </p:set>
                                    <p:animEffect transition="in" filter="barn(outVertical)">
                                      <p:cBhvr>
                                        <p:cTn id="7" dur="500"/>
                                        <p:tgtEl>
                                          <p:spTgt spid="164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9"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r>
              <a:rPr kumimoji="1" lang="zh-CN" altLang="en-US" sz="3600" b="1" smtClean="0">
                <a:solidFill>
                  <a:schemeClr val="tx1"/>
                </a:solidFill>
              </a:rPr>
              <a:t>等价类划分</a:t>
            </a:r>
            <a:endParaRPr kumimoji="1" lang="zh-CN" altLang="en-US" sz="3600" b="1" smtClean="0">
              <a:solidFill>
                <a:schemeClr val="tx1"/>
              </a:solidFill>
            </a:endParaRPr>
          </a:p>
        </p:txBody>
      </p:sp>
      <p:sp>
        <p:nvSpPr>
          <p:cNvPr id="165891" name="Rectangle 3"/>
          <p:cNvSpPr>
            <a:spLocks noGrp="1" noChangeArrowheads="1"/>
          </p:cNvSpPr>
          <p:nvPr>
            <p:ph type="body" idx="1"/>
          </p:nvPr>
        </p:nvSpPr>
        <p:spPr>
          <a:xfrm>
            <a:off x="673100" y="2032000"/>
            <a:ext cx="7931150" cy="3917950"/>
          </a:xfrm>
        </p:spPr>
        <p:txBody>
          <a:bodyPr/>
          <a:lstStyle/>
          <a:p>
            <a:r>
              <a:rPr lang="zh-CN" altLang="en-US" b="1" smtClean="0"/>
              <a:t>划分等价类规则</a:t>
            </a:r>
            <a:endParaRPr lang="zh-CN" altLang="en-US" b="1" smtClean="0"/>
          </a:p>
          <a:p>
            <a:pPr lvl="1">
              <a:buClr>
                <a:srgbClr val="003366"/>
              </a:buClr>
              <a:buFont typeface="Verdana" panose="020B0604030504040204" pitchFamily="34" charset="0"/>
              <a:buChar char="−"/>
            </a:pPr>
            <a:r>
              <a:rPr lang="zh-CN" altLang="en-US" b="1" smtClean="0">
                <a:latin typeface="宋体" panose="02010600030101010101" pitchFamily="2" charset="-122"/>
              </a:rPr>
              <a:t>如规定了输入数据的一组值，则每个允许的输入值是一个有效等价类，并有一个无效等价类</a:t>
            </a:r>
            <a:r>
              <a:rPr lang="en-US" altLang="zh-CN" b="1" smtClean="0">
                <a:latin typeface="宋体" panose="02010600030101010101" pitchFamily="2" charset="-122"/>
              </a:rPr>
              <a:t>(</a:t>
            </a:r>
            <a:r>
              <a:rPr lang="zh-CN" altLang="en-US" b="1" smtClean="0">
                <a:latin typeface="宋体" panose="02010600030101010101" pitchFamily="2" charset="-122"/>
              </a:rPr>
              <a:t>所有不允许的输入值的集合</a:t>
            </a:r>
            <a:r>
              <a:rPr lang="en-US" altLang="zh-CN" b="1" smtClean="0">
                <a:latin typeface="宋体" panose="02010600030101010101" pitchFamily="2" charset="-122"/>
              </a:rPr>
              <a:t>)</a:t>
            </a:r>
            <a:endParaRPr lang="en-US" altLang="zh-CN" b="1" smtClean="0">
              <a:latin typeface="宋体" panose="02010600030101010101" pitchFamily="2" charset="-122"/>
            </a:endParaRPr>
          </a:p>
        </p:txBody>
      </p:sp>
      <p:sp>
        <p:nvSpPr>
          <p:cNvPr id="165892" name="Rectangle 4"/>
          <p:cNvSpPr>
            <a:spLocks noChangeArrowheads="1"/>
          </p:cNvSpPr>
          <p:nvPr/>
        </p:nvSpPr>
        <p:spPr bwMode="auto">
          <a:xfrm>
            <a:off x="762000" y="3962400"/>
            <a:ext cx="7543800" cy="1752600"/>
          </a:xfrm>
          <a:prstGeom prst="rect">
            <a:avLst/>
          </a:prstGeom>
          <a:solidFill>
            <a:schemeClr val="accent1"/>
          </a:solidFill>
          <a:ln w="9525">
            <a:noFill/>
            <a:miter lim="800000"/>
          </a:ln>
          <a:effectLst>
            <a:prstShdw prst="shdw17" dist="17961" dir="2700000">
              <a:schemeClr val="accent1">
                <a:gamma/>
                <a:shade val="60000"/>
                <a:invGamma/>
              </a:schemeClr>
            </a:prstShdw>
          </a:effectLst>
        </p:spPr>
        <p:txBody>
          <a:bodyPr anchor="ctr"/>
          <a:lstStyle/>
          <a:p>
            <a:pPr marL="630555" indent="-630555">
              <a:spcBef>
                <a:spcPct val="20000"/>
              </a:spcBef>
            </a:pPr>
            <a:r>
              <a:rPr lang="zh-CN" altLang="en-US" b="1">
                <a:solidFill>
                  <a:srgbClr val="FFFF00"/>
                </a:solidFill>
                <a:latin typeface="Arial" panose="020B0604020202020204" pitchFamily="34" charset="0"/>
              </a:rPr>
              <a:t>例：</a:t>
            </a:r>
            <a:r>
              <a:rPr lang="zh-CN" altLang="en-US" b="1">
                <a:solidFill>
                  <a:schemeClr val="bg1"/>
                </a:solidFill>
                <a:latin typeface="Arial" panose="020B0604020202020204" pitchFamily="34" charset="0"/>
              </a:rPr>
              <a:t>某个待测程序的输入参数“职称”的输入值可以是助教、讲师、副教授、教授四种。</a:t>
            </a:r>
            <a:endParaRPr lang="zh-CN" altLang="en-US" b="1">
              <a:solidFill>
                <a:schemeClr val="bg1"/>
              </a:solidFill>
              <a:latin typeface="Arial" panose="020B0604020202020204" pitchFamily="34" charset="0"/>
            </a:endParaRPr>
          </a:p>
          <a:p>
            <a:pPr marL="630555" indent="-630555">
              <a:spcBef>
                <a:spcPct val="20000"/>
              </a:spcBef>
            </a:pPr>
            <a:r>
              <a:rPr kumimoji="1" lang="zh-CN" altLang="en-US" b="1">
                <a:solidFill>
                  <a:srgbClr val="FFFF00"/>
                </a:solidFill>
                <a:latin typeface="Arial" panose="020B0604020202020204" pitchFamily="34" charset="0"/>
              </a:rPr>
              <a:t>则，</a:t>
            </a:r>
            <a:r>
              <a:rPr kumimoji="1" lang="zh-CN" altLang="en-US" b="1">
                <a:solidFill>
                  <a:schemeClr val="bg1"/>
                </a:solidFill>
                <a:latin typeface="Arial" panose="020B0604020202020204" pitchFamily="34" charset="0"/>
              </a:rPr>
              <a:t>有效等价类（取四个职称中的一个值）；无效等价类（四个职称之外的任意值）</a:t>
            </a:r>
            <a:endParaRPr kumimoji="1" lang="zh-CN" altLang="en-US" b="1">
              <a:solidFill>
                <a:schemeClr val="bg1"/>
              </a:solidFill>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65892"/>
                                        </p:tgtEl>
                                        <p:attrNameLst>
                                          <p:attrName>style.visibility</p:attrName>
                                        </p:attrNameLst>
                                      </p:cBhvr>
                                      <p:to>
                                        <p:strVal val="visible"/>
                                      </p:to>
                                    </p:set>
                                    <p:animEffect transition="in" filter="barn(outVertical)">
                                      <p:cBhvr>
                                        <p:cTn id="7" dur="500"/>
                                        <p:tgtEl>
                                          <p:spTgt spid="165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r>
              <a:rPr kumimoji="1" lang="zh-CN" altLang="en-US" sz="3600" smtClean="0">
                <a:solidFill>
                  <a:schemeClr val="tx1"/>
                </a:solidFill>
              </a:rPr>
              <a:t>等价类划分</a:t>
            </a:r>
            <a:endParaRPr kumimoji="1" lang="zh-CN" altLang="en-US" sz="3600" smtClean="0">
              <a:solidFill>
                <a:schemeClr val="tx1"/>
              </a:solidFill>
            </a:endParaRPr>
          </a:p>
        </p:txBody>
      </p:sp>
      <p:sp>
        <p:nvSpPr>
          <p:cNvPr id="166915" name="Rectangle 3"/>
          <p:cNvSpPr>
            <a:spLocks noGrp="1" noChangeArrowheads="1"/>
          </p:cNvSpPr>
          <p:nvPr>
            <p:ph type="body" idx="1"/>
          </p:nvPr>
        </p:nvSpPr>
        <p:spPr>
          <a:xfrm>
            <a:off x="673100" y="2032000"/>
            <a:ext cx="7931150" cy="2082800"/>
          </a:xfrm>
        </p:spPr>
        <p:txBody>
          <a:bodyPr/>
          <a:lstStyle/>
          <a:p>
            <a:r>
              <a:rPr lang="zh-CN" altLang="en-US" b="1" smtClean="0"/>
              <a:t>划分等价类规则</a:t>
            </a:r>
            <a:endParaRPr lang="zh-CN" altLang="en-US" b="1" smtClean="0"/>
          </a:p>
          <a:p>
            <a:pPr lvl="1">
              <a:buClr>
                <a:srgbClr val="003366"/>
              </a:buClr>
              <a:buFont typeface="Verdana" panose="020B0604030504040204" pitchFamily="34" charset="0"/>
              <a:buChar char="−"/>
            </a:pPr>
            <a:r>
              <a:rPr lang="zh-CN" altLang="en-US" b="1" smtClean="0"/>
              <a:t>如果规定了输入数据必须遵守的规则，则可划分符合规则等价类和一个违反规则的等价类。</a:t>
            </a:r>
            <a:endParaRPr lang="zh-CN" altLang="en-US" b="1" smtClean="0"/>
          </a:p>
        </p:txBody>
      </p:sp>
      <p:sp>
        <p:nvSpPr>
          <p:cNvPr id="166916" name="Rectangle 4"/>
          <p:cNvSpPr>
            <a:spLocks noChangeArrowheads="1"/>
          </p:cNvSpPr>
          <p:nvPr/>
        </p:nvSpPr>
        <p:spPr bwMode="auto">
          <a:xfrm>
            <a:off x="762000" y="3962400"/>
            <a:ext cx="7543800" cy="1752600"/>
          </a:xfrm>
          <a:prstGeom prst="rect">
            <a:avLst/>
          </a:prstGeom>
          <a:solidFill>
            <a:schemeClr val="accent1"/>
          </a:solidFill>
          <a:ln w="9525">
            <a:noFill/>
            <a:miter lim="800000"/>
          </a:ln>
          <a:effectLst>
            <a:prstShdw prst="shdw17" dist="17961" dir="2700000">
              <a:schemeClr val="accent1">
                <a:gamma/>
                <a:shade val="60000"/>
                <a:invGamma/>
              </a:schemeClr>
            </a:prstShdw>
          </a:effectLst>
        </p:spPr>
        <p:txBody>
          <a:bodyPr anchor="ctr"/>
          <a:lstStyle/>
          <a:p>
            <a:pPr marL="630555" indent="-630555">
              <a:spcBef>
                <a:spcPct val="20000"/>
              </a:spcBef>
            </a:pPr>
            <a:r>
              <a:rPr lang="zh-CN" altLang="en-US" b="1">
                <a:solidFill>
                  <a:srgbClr val="FFFF00"/>
                </a:solidFill>
                <a:latin typeface="Arial" panose="020B0604020202020204" pitchFamily="34" charset="0"/>
              </a:rPr>
              <a:t>例：</a:t>
            </a:r>
            <a:r>
              <a:rPr kumimoji="1" lang="zh-CN" altLang="en-US" b="1">
                <a:solidFill>
                  <a:schemeClr val="bg1"/>
                </a:solidFill>
                <a:latin typeface="Arial" panose="020B0604020202020204" pitchFamily="34" charset="0"/>
              </a:rPr>
              <a:t>如果程序对不同职称有不同的处理方案，如“住房分配”程序。</a:t>
            </a:r>
            <a:endParaRPr kumimoji="1" lang="zh-CN" altLang="en-US" b="1">
              <a:solidFill>
                <a:schemeClr val="bg1"/>
              </a:solidFill>
              <a:latin typeface="Arial" panose="020B0604020202020204" pitchFamily="34" charset="0"/>
            </a:endParaRPr>
          </a:p>
          <a:p>
            <a:pPr marL="630555" indent="-630555">
              <a:spcBef>
                <a:spcPct val="20000"/>
              </a:spcBef>
            </a:pPr>
            <a:r>
              <a:rPr kumimoji="1" lang="zh-CN" altLang="en-US" b="1">
                <a:solidFill>
                  <a:srgbClr val="FFFF00"/>
                </a:solidFill>
                <a:latin typeface="Arial" panose="020B0604020202020204" pitchFamily="34" charset="0"/>
              </a:rPr>
              <a:t>则，</a:t>
            </a:r>
            <a:r>
              <a:rPr kumimoji="1" lang="zh-CN" altLang="en-US" b="1">
                <a:solidFill>
                  <a:schemeClr val="bg1"/>
                </a:solidFill>
                <a:latin typeface="Arial" panose="020B0604020202020204" pitchFamily="34" charset="0"/>
              </a:rPr>
              <a:t>有效等价类（四个职称每个值为一类）；一个无效等价类（四个职称之外的任意值）。</a:t>
            </a:r>
            <a:endParaRPr kumimoji="1" lang="zh-CN" altLang="en-US" b="1">
              <a:solidFill>
                <a:schemeClr val="bg1"/>
              </a:solidFill>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66916"/>
                                        </p:tgtEl>
                                        <p:attrNameLst>
                                          <p:attrName>style.visibility</p:attrName>
                                        </p:attrNameLst>
                                      </p:cBhvr>
                                      <p:to>
                                        <p:strVal val="visible"/>
                                      </p:to>
                                    </p:set>
                                    <p:animEffect transition="in" filter="barn(outVertical)">
                                      <p:cBhvr>
                                        <p:cTn id="7" dur="500"/>
                                        <p:tgtEl>
                                          <p:spTgt spid="166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6"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r>
              <a:rPr kumimoji="1" lang="zh-CN" altLang="en-US" b="1" smtClean="0">
                <a:solidFill>
                  <a:schemeClr val="tx1"/>
                </a:solidFill>
              </a:rPr>
              <a:t>等价类划分</a:t>
            </a:r>
            <a:endParaRPr kumimoji="1" lang="zh-CN" altLang="en-US" b="1" smtClean="0">
              <a:solidFill>
                <a:schemeClr val="tx1"/>
              </a:solidFill>
            </a:endParaRPr>
          </a:p>
        </p:txBody>
      </p:sp>
      <p:sp>
        <p:nvSpPr>
          <p:cNvPr id="167939" name="Rectangle 3"/>
          <p:cNvSpPr>
            <a:spLocks noGrp="1" noChangeArrowheads="1"/>
          </p:cNvSpPr>
          <p:nvPr>
            <p:ph type="body" idx="1"/>
          </p:nvPr>
        </p:nvSpPr>
        <p:spPr>
          <a:xfrm>
            <a:off x="673100" y="2032000"/>
            <a:ext cx="7931150" cy="3917950"/>
          </a:xfrm>
        </p:spPr>
        <p:txBody>
          <a:bodyPr/>
          <a:lstStyle/>
          <a:p>
            <a:r>
              <a:rPr lang="zh-CN" altLang="en-US" b="1" smtClean="0"/>
              <a:t>划分等价类规则</a:t>
            </a:r>
            <a:endParaRPr lang="zh-CN" altLang="en-US" b="1" smtClean="0"/>
          </a:p>
          <a:p>
            <a:pPr lvl="1">
              <a:buClr>
                <a:srgbClr val="003366"/>
              </a:buClr>
              <a:buFont typeface="Verdana" panose="020B0604030504040204" pitchFamily="34" charset="0"/>
              <a:buChar char="−"/>
            </a:pPr>
            <a:r>
              <a:rPr lang="zh-CN" altLang="en-US" b="1" smtClean="0">
                <a:latin typeface="宋体" panose="02010600030101010101" pitchFamily="2" charset="-122"/>
              </a:rPr>
              <a:t>如果规定了输入数据是整型，则可划分出正整数、零、负整数三个等价类</a:t>
            </a:r>
            <a:endParaRPr lang="zh-CN" altLang="en-US" b="1" smtClean="0">
              <a:latin typeface="宋体" panose="02010600030101010101" pitchFamily="2" charset="-122"/>
            </a:endParaRPr>
          </a:p>
          <a:p>
            <a:pPr lvl="1" algn="just">
              <a:buClr>
                <a:schemeClr val="tx1"/>
              </a:buClr>
              <a:buFont typeface="Verdana" panose="020B0604030504040204" pitchFamily="34" charset="0"/>
              <a:buChar char="−"/>
            </a:pPr>
            <a:r>
              <a:rPr lang="zh-CN" altLang="en-US" b="1" smtClean="0">
                <a:latin typeface="宋体" panose="02010600030101010101" pitchFamily="2" charset="-122"/>
              </a:rPr>
              <a:t>如已划分的等价类各元素在程序中的处理方式不同，则应将此等价类进一步划分成更小的等价类</a:t>
            </a:r>
            <a:endParaRPr lang="zh-CN" altLang="en-US" b="1" smtClean="0">
              <a:latin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Effect transition="in" filter="wipe(left)">
                                      <p:cBhvr>
                                        <p:cTn id="7" dur="500"/>
                                        <p:tgtEl>
                                          <p:spTgt spid="167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39">
                                            <p:txEl>
                                              <p:pRg st="1" end="1"/>
                                            </p:txEl>
                                          </p:spTgt>
                                        </p:tgtEl>
                                        <p:attrNameLst>
                                          <p:attrName>style.visibility</p:attrName>
                                        </p:attrNameLst>
                                      </p:cBhvr>
                                      <p:to>
                                        <p:strVal val="visible"/>
                                      </p:to>
                                    </p:set>
                                    <p:animEffect transition="in" filter="wipe(left)">
                                      <p:cBhvr>
                                        <p:cTn id="12" dur="500"/>
                                        <p:tgtEl>
                                          <p:spTgt spid="1679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7939">
                                            <p:txEl>
                                              <p:pRg st="2" end="2"/>
                                            </p:txEl>
                                          </p:spTgt>
                                        </p:tgtEl>
                                        <p:attrNameLst>
                                          <p:attrName>style.visibility</p:attrName>
                                        </p:attrNameLst>
                                      </p:cBhvr>
                                      <p:to>
                                        <p:strVal val="visible"/>
                                      </p:to>
                                    </p:set>
                                    <p:animEffect transition="in" filter="wipe(left)">
                                      <p:cBhvr>
                                        <p:cTn id="17" dur="500"/>
                                        <p:tgtEl>
                                          <p:spTgt spid="1679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ldLvl="2"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r>
              <a:rPr kumimoji="1" lang="zh-CN" altLang="en-US" sz="3600" b="1" smtClean="0">
                <a:solidFill>
                  <a:schemeClr val="tx1"/>
                </a:solidFill>
              </a:rPr>
              <a:t>等价类划分</a:t>
            </a:r>
            <a:endParaRPr kumimoji="1" lang="zh-CN" altLang="en-US" sz="3600" b="1" smtClean="0">
              <a:solidFill>
                <a:schemeClr val="tx1"/>
              </a:solidFill>
            </a:endParaRPr>
          </a:p>
        </p:txBody>
      </p:sp>
      <p:sp>
        <p:nvSpPr>
          <p:cNvPr id="168963" name="Rectangle 3"/>
          <p:cNvSpPr>
            <a:spLocks noGrp="1" noChangeArrowheads="1"/>
          </p:cNvSpPr>
          <p:nvPr>
            <p:ph type="body" idx="1"/>
          </p:nvPr>
        </p:nvSpPr>
        <p:spPr>
          <a:xfrm>
            <a:off x="673100" y="2032000"/>
            <a:ext cx="7931150" cy="3917950"/>
          </a:xfrm>
        </p:spPr>
        <p:txBody>
          <a:bodyPr/>
          <a:lstStyle/>
          <a:p>
            <a:pPr marL="95250" indent="-95250"/>
            <a:r>
              <a:rPr lang="zh-CN" altLang="en-US" sz="2800" b="1" smtClean="0">
                <a:latin typeface="宋体" panose="02010600030101010101" pitchFamily="2" charset="-122"/>
              </a:rPr>
              <a:t>用等价类划分法设计测试用例步骤</a:t>
            </a:r>
            <a:endParaRPr lang="zh-CN" altLang="en-US" b="1" smtClean="0">
              <a:latin typeface="宋体" panose="02010600030101010101" pitchFamily="2" charset="-122"/>
            </a:endParaRPr>
          </a:p>
          <a:p>
            <a:pPr marL="630555" lvl="1" indent="-355600"/>
            <a:r>
              <a:rPr lang="zh-CN" altLang="en-US" sz="2400" b="1" smtClean="0">
                <a:latin typeface="宋体" panose="02010600030101010101" pitchFamily="2" charset="-122"/>
              </a:rPr>
              <a:t>划分等价类</a:t>
            </a:r>
            <a:endParaRPr lang="zh-CN" altLang="en-US" sz="2400" b="1" smtClean="0">
              <a:latin typeface="宋体" panose="02010600030101010101" pitchFamily="2" charset="-122"/>
            </a:endParaRPr>
          </a:p>
          <a:p>
            <a:pPr marL="630555" lvl="1" indent="-355600"/>
            <a:r>
              <a:rPr lang="zh-CN" altLang="en-US" sz="2400" b="1" smtClean="0">
                <a:latin typeface="宋体" panose="02010600030101010101" pitchFamily="2" charset="-122"/>
              </a:rPr>
              <a:t>形成等价类表，每一等价类规定一个唯一的编号</a:t>
            </a:r>
            <a:endParaRPr lang="zh-CN" altLang="en-US" sz="2400" b="1" smtClean="0">
              <a:latin typeface="宋体" panose="02010600030101010101" pitchFamily="2" charset="-122"/>
            </a:endParaRPr>
          </a:p>
          <a:p>
            <a:pPr marL="630555" lvl="1" indent="-355600"/>
            <a:r>
              <a:rPr lang="zh-CN" altLang="en-US" sz="2400" b="1" smtClean="0">
                <a:latin typeface="宋体" panose="02010600030101010101" pitchFamily="2" charset="-122"/>
              </a:rPr>
              <a:t>设计一测试用例，使其</a:t>
            </a:r>
            <a:r>
              <a:rPr lang="zh-CN" altLang="en-US" sz="2400" b="1" smtClean="0">
                <a:solidFill>
                  <a:srgbClr val="FF0000"/>
                </a:solidFill>
                <a:latin typeface="宋体" panose="02010600030101010101" pitchFamily="2" charset="-122"/>
              </a:rPr>
              <a:t>尽可能多地覆盖</a:t>
            </a:r>
            <a:r>
              <a:rPr lang="zh-CN" altLang="en-US" sz="2400" b="1" smtClean="0">
                <a:latin typeface="宋体" panose="02010600030101010101" pitchFamily="2" charset="-122"/>
              </a:rPr>
              <a:t>尚未覆盖的有效等价类，重复这一步骤，直到所有有效等价类均被测试用例所覆盖</a:t>
            </a:r>
            <a:endParaRPr lang="zh-CN" altLang="en-US" sz="2400" b="1" smtClean="0">
              <a:latin typeface="宋体" panose="02010600030101010101" pitchFamily="2" charset="-122"/>
            </a:endParaRPr>
          </a:p>
          <a:p>
            <a:pPr marL="630555" lvl="1" indent="-355600"/>
            <a:r>
              <a:rPr lang="zh-CN" altLang="en-US" sz="2400" b="1" smtClean="0">
                <a:latin typeface="宋体" panose="02010600030101010101" pitchFamily="2" charset="-122"/>
              </a:rPr>
              <a:t>设计一新测试用例，使其</a:t>
            </a:r>
            <a:r>
              <a:rPr lang="zh-CN" altLang="en-US" sz="2400" b="1" smtClean="0">
                <a:solidFill>
                  <a:srgbClr val="FF0000"/>
                </a:solidFill>
                <a:latin typeface="宋体" panose="02010600030101010101" pitchFamily="2" charset="-122"/>
              </a:rPr>
              <a:t>只覆盖一个</a:t>
            </a:r>
            <a:r>
              <a:rPr lang="zh-CN" altLang="en-US" sz="2400" b="1" smtClean="0">
                <a:latin typeface="宋体" panose="02010600030101010101" pitchFamily="2" charset="-122"/>
              </a:rPr>
              <a:t>无效等价类，重复此步骤直到所有无效等价类均被覆盖</a:t>
            </a:r>
            <a:endParaRPr lang="zh-CN" altLang="en-US" sz="2400" b="1" smtClean="0">
              <a:latin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63">
                                            <p:txEl>
                                              <p:pRg st="0" end="0"/>
                                            </p:txEl>
                                          </p:spTgt>
                                        </p:tgtEl>
                                        <p:attrNameLst>
                                          <p:attrName>style.visibility</p:attrName>
                                        </p:attrNameLst>
                                      </p:cBhvr>
                                      <p:to>
                                        <p:strVal val="visible"/>
                                      </p:to>
                                    </p:set>
                                    <p:animEffect transition="in" filter="wipe(left)">
                                      <p:cBhvr>
                                        <p:cTn id="7" dur="500"/>
                                        <p:tgtEl>
                                          <p:spTgt spid="168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8963">
                                            <p:txEl>
                                              <p:pRg st="1" end="1"/>
                                            </p:txEl>
                                          </p:spTgt>
                                        </p:tgtEl>
                                        <p:attrNameLst>
                                          <p:attrName>style.visibility</p:attrName>
                                        </p:attrNameLst>
                                      </p:cBhvr>
                                      <p:to>
                                        <p:strVal val="visible"/>
                                      </p:to>
                                    </p:set>
                                    <p:animEffect transition="in" filter="wipe(left)">
                                      <p:cBhvr>
                                        <p:cTn id="12" dur="500"/>
                                        <p:tgtEl>
                                          <p:spTgt spid="1689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8963">
                                            <p:txEl>
                                              <p:pRg st="2" end="2"/>
                                            </p:txEl>
                                          </p:spTgt>
                                        </p:tgtEl>
                                        <p:attrNameLst>
                                          <p:attrName>style.visibility</p:attrName>
                                        </p:attrNameLst>
                                      </p:cBhvr>
                                      <p:to>
                                        <p:strVal val="visible"/>
                                      </p:to>
                                    </p:set>
                                    <p:animEffect transition="in" filter="wipe(left)">
                                      <p:cBhvr>
                                        <p:cTn id="17" dur="500"/>
                                        <p:tgtEl>
                                          <p:spTgt spid="1689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8963">
                                            <p:txEl>
                                              <p:pRg st="3" end="3"/>
                                            </p:txEl>
                                          </p:spTgt>
                                        </p:tgtEl>
                                        <p:attrNameLst>
                                          <p:attrName>style.visibility</p:attrName>
                                        </p:attrNameLst>
                                      </p:cBhvr>
                                      <p:to>
                                        <p:strVal val="visible"/>
                                      </p:to>
                                    </p:set>
                                    <p:animEffect transition="in" filter="wipe(left)">
                                      <p:cBhvr>
                                        <p:cTn id="22" dur="500"/>
                                        <p:tgtEl>
                                          <p:spTgt spid="1689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8963">
                                            <p:txEl>
                                              <p:pRg st="4" end="4"/>
                                            </p:txEl>
                                          </p:spTgt>
                                        </p:tgtEl>
                                        <p:attrNameLst>
                                          <p:attrName>style.visibility</p:attrName>
                                        </p:attrNameLst>
                                      </p:cBhvr>
                                      <p:to>
                                        <p:strVal val="visible"/>
                                      </p:to>
                                    </p:set>
                                    <p:animEffect transition="in" filter="wipe(left)">
                                      <p:cBhvr>
                                        <p:cTn id="27" dur="500"/>
                                        <p:tgtEl>
                                          <p:spTgt spid="1689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bldLvl="2"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r>
              <a:rPr kumimoji="1" lang="zh-CN" altLang="en-US" sz="3600" b="1" smtClean="0">
                <a:solidFill>
                  <a:schemeClr val="tx1"/>
                </a:solidFill>
              </a:rPr>
              <a:t>等价类划分</a:t>
            </a:r>
            <a:endParaRPr kumimoji="1" lang="zh-CN" altLang="en-US" sz="3600" b="1" smtClean="0">
              <a:solidFill>
                <a:schemeClr val="tx1"/>
              </a:solidFill>
            </a:endParaRPr>
          </a:p>
        </p:txBody>
      </p:sp>
      <p:sp>
        <p:nvSpPr>
          <p:cNvPr id="169987" name="Rectangle 3"/>
          <p:cNvSpPr>
            <a:spLocks noGrp="1" noChangeArrowheads="1"/>
          </p:cNvSpPr>
          <p:nvPr>
            <p:ph type="body" idx="1"/>
          </p:nvPr>
        </p:nvSpPr>
        <p:spPr>
          <a:xfrm>
            <a:off x="673100" y="2032000"/>
            <a:ext cx="8147050" cy="3917950"/>
          </a:xfrm>
        </p:spPr>
        <p:txBody>
          <a:bodyPr/>
          <a:lstStyle/>
          <a:p>
            <a:pPr marL="171450" indent="-171450"/>
            <a:r>
              <a:rPr lang="zh-CN" altLang="en-US" b="1" smtClean="0">
                <a:latin typeface="宋体" panose="02010600030101010101" pitchFamily="2" charset="-122"/>
              </a:rPr>
              <a:t>用等价类划分法设计测试用例步骤</a:t>
            </a:r>
            <a:endParaRPr lang="zh-CN" altLang="en-US" sz="3600" b="1" smtClean="0">
              <a:latin typeface="宋体" panose="02010600030101010101" pitchFamily="2" charset="-122"/>
            </a:endParaRPr>
          </a:p>
          <a:p>
            <a:pPr marL="723900" lvl="1" indent="-373380"/>
            <a:r>
              <a:rPr lang="zh-CN" altLang="en-US" b="1" smtClean="0">
                <a:solidFill>
                  <a:srgbClr val="CC0000"/>
                </a:solidFill>
                <a:latin typeface="宋体" panose="02010600030101010101" pitchFamily="2" charset="-122"/>
              </a:rPr>
              <a:t>例</a:t>
            </a:r>
            <a:r>
              <a:rPr lang="zh-CN" altLang="en-US" b="1" smtClean="0">
                <a:latin typeface="宋体" panose="02010600030101010101" pitchFamily="2" charset="-122"/>
              </a:rPr>
              <a:t>，某城市电话号码由三部分组成</a:t>
            </a:r>
            <a:endParaRPr lang="zh-CN" altLang="en-US" b="1" smtClean="0">
              <a:latin typeface="宋体" panose="02010600030101010101" pitchFamily="2" charset="-122"/>
            </a:endParaRPr>
          </a:p>
          <a:p>
            <a:pPr marL="171450" indent="-171450">
              <a:buClr>
                <a:schemeClr val="bg1"/>
              </a:buClr>
              <a:buFontTx/>
              <a:buNone/>
            </a:pPr>
            <a:r>
              <a:rPr lang="zh-CN" altLang="en-US" sz="2800" b="1" smtClean="0">
                <a:latin typeface="宋体" panose="02010600030101010101" pitchFamily="2" charset="-122"/>
              </a:rPr>
              <a:t>    地区码：空白或</a:t>
            </a:r>
            <a:r>
              <a:rPr lang="en-US" altLang="zh-CN" sz="2800" b="1" smtClean="0">
                <a:latin typeface="宋体" panose="02010600030101010101" pitchFamily="2" charset="-122"/>
              </a:rPr>
              <a:t>3</a:t>
            </a:r>
            <a:r>
              <a:rPr lang="zh-CN" altLang="en-US" sz="2800" b="1" smtClean="0">
                <a:latin typeface="宋体" panose="02010600030101010101" pitchFamily="2" charset="-122"/>
              </a:rPr>
              <a:t>位数字</a:t>
            </a:r>
            <a:endParaRPr lang="zh-CN" altLang="en-US" sz="2800" b="1" smtClean="0">
              <a:latin typeface="宋体" panose="02010600030101010101" pitchFamily="2" charset="-122"/>
            </a:endParaRPr>
          </a:p>
          <a:p>
            <a:pPr marL="171450" indent="-171450">
              <a:buClr>
                <a:schemeClr val="bg1"/>
              </a:buClr>
              <a:buFontTx/>
              <a:buNone/>
            </a:pPr>
            <a:r>
              <a:rPr lang="zh-CN" altLang="en-US" sz="2800" b="1" smtClean="0">
                <a:latin typeface="宋体" panose="02010600030101010101" pitchFamily="2" charset="-122"/>
              </a:rPr>
              <a:t>    前  缀：非</a:t>
            </a:r>
            <a:r>
              <a:rPr lang="zh-CN" altLang="en-US" sz="2800" b="1" smtClean="0">
                <a:latin typeface="黑体" panose="02010609060101010101" pitchFamily="2" charset="-122"/>
              </a:rPr>
              <a:t>‘</a:t>
            </a:r>
            <a:r>
              <a:rPr lang="en-US" altLang="zh-CN" sz="2800" b="1" smtClean="0">
                <a:latin typeface="宋体" panose="02010600030101010101" pitchFamily="2" charset="-122"/>
              </a:rPr>
              <a:t>0</a:t>
            </a:r>
            <a:r>
              <a:rPr lang="en-US" altLang="zh-CN" sz="2800" b="1" smtClean="0">
                <a:latin typeface="黑体" panose="02010609060101010101" pitchFamily="2" charset="-122"/>
              </a:rPr>
              <a:t>’</a:t>
            </a:r>
            <a:r>
              <a:rPr lang="zh-CN" altLang="en-US" sz="2800" b="1" smtClean="0">
                <a:latin typeface="宋体" panose="02010600030101010101" pitchFamily="2" charset="-122"/>
              </a:rPr>
              <a:t>或</a:t>
            </a:r>
            <a:r>
              <a:rPr lang="zh-CN" altLang="en-US" sz="2800" b="1" smtClean="0">
                <a:latin typeface="黑体" panose="02010609060101010101" pitchFamily="2" charset="-122"/>
              </a:rPr>
              <a:t>‘</a:t>
            </a:r>
            <a:r>
              <a:rPr lang="en-US" altLang="zh-CN" sz="2800" b="1" smtClean="0">
                <a:latin typeface="宋体" panose="02010600030101010101" pitchFamily="2" charset="-122"/>
              </a:rPr>
              <a:t>1</a:t>
            </a:r>
            <a:r>
              <a:rPr lang="en-US" altLang="zh-CN" sz="2800" b="1" smtClean="0">
                <a:latin typeface="黑体" panose="02010609060101010101" pitchFamily="2" charset="-122"/>
              </a:rPr>
              <a:t>’</a:t>
            </a:r>
            <a:r>
              <a:rPr lang="zh-CN" altLang="en-US" sz="2800" b="1" smtClean="0">
                <a:latin typeface="宋体" panose="02010600030101010101" pitchFamily="2" charset="-122"/>
              </a:rPr>
              <a:t>开头的三位数字</a:t>
            </a:r>
            <a:endParaRPr lang="zh-CN" altLang="en-US" sz="2800" b="1" smtClean="0">
              <a:latin typeface="宋体" panose="02010600030101010101" pitchFamily="2" charset="-122"/>
            </a:endParaRPr>
          </a:p>
          <a:p>
            <a:pPr marL="171450" indent="-171450">
              <a:buClr>
                <a:schemeClr val="bg1"/>
              </a:buClr>
              <a:buFontTx/>
              <a:buNone/>
            </a:pPr>
            <a:r>
              <a:rPr lang="zh-CN" altLang="en-US" sz="2800" b="1" smtClean="0">
                <a:latin typeface="宋体" panose="02010600030101010101" pitchFamily="2" charset="-122"/>
              </a:rPr>
              <a:t>    后  缀：</a:t>
            </a:r>
            <a:r>
              <a:rPr lang="en-US" altLang="zh-CN" sz="2800" b="1" smtClean="0">
                <a:latin typeface="宋体" panose="02010600030101010101" pitchFamily="2" charset="-122"/>
              </a:rPr>
              <a:t>4</a:t>
            </a:r>
            <a:r>
              <a:rPr lang="zh-CN" altLang="en-US" sz="2800" b="1" smtClean="0">
                <a:latin typeface="宋体" panose="02010600030101010101" pitchFamily="2" charset="-122"/>
              </a:rPr>
              <a:t>位数字</a:t>
            </a:r>
            <a:endParaRPr lang="zh-CN" altLang="en-US" sz="2800" b="1" smtClean="0">
              <a:latin typeface="宋体" panose="02010600030101010101" pitchFamily="2" charset="-122"/>
            </a:endParaRPr>
          </a:p>
        </p:txBody>
      </p:sp>
    </p:spTree>
  </p:cSld>
  <p:clrMapOvr>
    <a:masterClrMapping/>
  </p:clrMapOvr>
  <p:transition>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r>
              <a:rPr kumimoji="1" lang="zh-CN" altLang="en-US" sz="3600" b="1" smtClean="0">
                <a:solidFill>
                  <a:schemeClr val="tx1"/>
                </a:solidFill>
              </a:rPr>
              <a:t>第一步：电话号码等价类划分</a:t>
            </a:r>
            <a:endParaRPr kumimoji="1" lang="zh-CN" altLang="en-US" sz="3600" b="1" smtClean="0">
              <a:solidFill>
                <a:schemeClr val="tx1"/>
              </a:solidFill>
            </a:endParaRPr>
          </a:p>
        </p:txBody>
      </p:sp>
      <p:graphicFrame>
        <p:nvGraphicFramePr>
          <p:cNvPr id="171011" name="Group 3"/>
          <p:cNvGraphicFramePr>
            <a:graphicFrameLocks noGrp="1"/>
          </p:cNvGraphicFramePr>
          <p:nvPr>
            <p:ph idx="1"/>
          </p:nvPr>
        </p:nvGraphicFramePr>
        <p:xfrm>
          <a:off x="673100" y="2060575"/>
          <a:ext cx="7859713" cy="4480560"/>
        </p:xfrm>
        <a:graphic>
          <a:graphicData uri="http://schemas.openxmlformats.org/drawingml/2006/table">
            <a:tbl>
              <a:tblPr/>
              <a:tblGrid>
                <a:gridCol w="2125663"/>
                <a:gridCol w="2441575"/>
                <a:gridCol w="3292475"/>
              </a:tblGrid>
              <a:tr h="287338">
                <a:tc>
                  <a:txBody>
                    <a:bodyPr/>
                    <a:lstStyle/>
                    <a:p>
                      <a:pPr marL="342900" marR="0" lvl="0" indent="-342900" algn="ctr" defTabSz="914400" rtl="0" eaLnBrk="0" fontAlgn="t"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hlink"/>
                          </a:solidFill>
                          <a:effectLst/>
                          <a:latin typeface="宋体" panose="02010600030101010101" pitchFamily="2" charset="-122"/>
                          <a:ea typeface="宋体" panose="02010600030101010101" pitchFamily="2" charset="-122"/>
                        </a:rPr>
                        <a:t>输入条件</a:t>
                      </a:r>
                      <a:endParaRPr kumimoji="0" lang="zh-CN" altLang="en-US" sz="2400" b="1" i="0" u="none" strike="noStrike" cap="none" normalizeH="0" baseline="0" smtClean="0">
                        <a:ln>
                          <a:noFill/>
                        </a:ln>
                        <a:solidFill>
                          <a:schemeClr val="hlink"/>
                        </a:solidFill>
                        <a:effectLst/>
                        <a:latin typeface="Tahoma" panose="020B0604030504040204" pitchFamily="34" charset="0"/>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0" fontAlgn="t"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a:noFill/>
                    </a:lnR>
                    <a:lnT cap="flat">
                      <a:noFill/>
                    </a:lnT>
                    <a:lnB>
                      <a:noFill/>
                    </a:lnB>
                    <a:lnTlToBr>
                      <a:noFill/>
                    </a:lnTlToBr>
                    <a:lnBlToTr>
                      <a:noFill/>
                    </a:lnBlToTr>
                    <a:noFill/>
                  </a:tcPr>
                </a:tc>
                <a:tc>
                  <a:txBody>
                    <a:bodyPr/>
                    <a:lstStyle/>
                    <a:p>
                      <a:pPr marL="342900" marR="0" lvl="0" indent="-342900" algn="ctr" defTabSz="914400" rtl="0" eaLnBrk="0" fontAlgn="t"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horzOverflow="overflow">
                    <a:lnL>
                      <a:noFill/>
                    </a:lnL>
                    <a:lnR cap="flat">
                      <a:noFill/>
                    </a:lnR>
                    <a:lnT cap="flat">
                      <a:noFill/>
                    </a:lnT>
                    <a:lnB>
                      <a:noFill/>
                    </a:lnB>
                    <a:lnTlToBr>
                      <a:noFill/>
                    </a:lnTlToBr>
                    <a:lnBlToTr>
                      <a:noFill/>
                    </a:lnBlToTr>
                    <a:noFill/>
                  </a:tcPr>
                </a:tc>
              </a:tr>
              <a:tr h="307975">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地区码 </a:t>
                      </a:r>
                      <a:endParaRPr kumimoji="0" lang="zh-CN" alt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a:noFill/>
                    </a:lnB>
                    <a:lnTlToBr>
                      <a:noFill/>
                    </a:lnTlToBr>
                    <a:lnBlToTr>
                      <a:noFill/>
                    </a:lnBlToTr>
                    <a:noFill/>
                  </a:tcPr>
                </a:tc>
              </a:tr>
              <a:tr h="307975">
                <a:tc rowSpan="5">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前 缀</a:t>
                      </a:r>
                      <a:endParaRPr kumimoji="0" lang="zh-CN" alt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rowSpan="5">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a:noFill/>
                    </a:lnB>
                    <a:lnTlToBr>
                      <a:noFill/>
                    </a:lnTlToBr>
                    <a:lnBlToTr>
                      <a:noFill/>
                    </a:lnBlToTr>
                    <a:noFill/>
                  </a:tcPr>
                </a:tc>
              </a:tr>
              <a:tr h="307975">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后 缀 </a:t>
                      </a:r>
                      <a:endParaRPr kumimoji="0" lang="zh-CN" alt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a:noFill/>
                    </a:lnR>
                    <a:lnT>
                      <a:noFill/>
                    </a:lnT>
                    <a:lnB cap="flat">
                      <a:noFill/>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a:noFill/>
                    </a:lnL>
                    <a:lnR cap="flat">
                      <a:noFill/>
                    </a:lnR>
                    <a:lnT>
                      <a:noFill/>
                    </a:lnT>
                    <a:lnB cap="flat">
                      <a:noFill/>
                    </a:lnB>
                    <a:lnTlToBr>
                      <a:noFill/>
                    </a:lnTlToBr>
                    <a:lnBlToTr>
                      <a:noFill/>
                    </a:lnBlToTr>
                    <a:noFill/>
                  </a:tcPr>
                </a:tc>
              </a:tr>
            </a:tbl>
          </a:graphicData>
        </a:graphic>
      </p:graphicFrame>
    </p:spTree>
  </p:cSld>
  <p:clrMapOvr>
    <a:masterClrMapping/>
  </p:clrMapOvr>
  <p:transition>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r>
              <a:rPr kumimoji="1" lang="zh-CN" altLang="en-US" sz="3600" b="1" smtClean="0">
                <a:solidFill>
                  <a:schemeClr val="tx1"/>
                </a:solidFill>
              </a:rPr>
              <a:t>第一步：电话号码等价类划分</a:t>
            </a:r>
            <a:endParaRPr kumimoji="1" lang="zh-CN" altLang="en-US" sz="3600" b="1" smtClean="0">
              <a:solidFill>
                <a:schemeClr val="tx1"/>
              </a:solidFill>
            </a:endParaRPr>
          </a:p>
        </p:txBody>
      </p:sp>
      <p:graphicFrame>
        <p:nvGraphicFramePr>
          <p:cNvPr id="172035" name="Group 3"/>
          <p:cNvGraphicFramePr>
            <a:graphicFrameLocks noGrp="1"/>
          </p:cNvGraphicFramePr>
          <p:nvPr>
            <p:ph idx="1"/>
          </p:nvPr>
        </p:nvGraphicFramePr>
        <p:xfrm>
          <a:off x="673100" y="2060575"/>
          <a:ext cx="7859713" cy="4497388"/>
        </p:xfrm>
        <a:graphic>
          <a:graphicData uri="http://schemas.openxmlformats.org/drawingml/2006/table">
            <a:tbl>
              <a:tblPr/>
              <a:tblGrid>
                <a:gridCol w="2125663"/>
                <a:gridCol w="2441575"/>
                <a:gridCol w="3292475"/>
              </a:tblGrid>
              <a:tr h="287338">
                <a:tc>
                  <a:txBody>
                    <a:bodyPr/>
                    <a:lstStyle/>
                    <a:p>
                      <a:pPr marL="342900" marR="0" lvl="0" indent="-342900" algn="ctr" defTabSz="914400" rtl="0" eaLnBrk="0" fontAlgn="t"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hlink"/>
                          </a:solidFill>
                          <a:effectLst/>
                          <a:latin typeface="宋体" panose="02010600030101010101" pitchFamily="2" charset="-122"/>
                          <a:ea typeface="宋体" panose="02010600030101010101" pitchFamily="2" charset="-122"/>
                        </a:rPr>
                        <a:t>输入条件</a:t>
                      </a:r>
                      <a:endParaRPr kumimoji="0" lang="zh-CN" altLang="en-US" sz="2400" b="1" i="0" u="none" strike="noStrike" cap="none" normalizeH="0" baseline="0" smtClean="0">
                        <a:ln>
                          <a:noFill/>
                        </a:ln>
                        <a:solidFill>
                          <a:schemeClr val="hlink"/>
                        </a:solidFill>
                        <a:effectLst/>
                        <a:latin typeface="Tahoma" panose="020B0604030504040204" pitchFamily="34" charset="0"/>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0" fontAlgn="t"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hlink"/>
                          </a:solidFill>
                          <a:effectLst/>
                          <a:latin typeface="宋体" panose="02010600030101010101" pitchFamily="2" charset="-122"/>
                          <a:ea typeface="宋体" panose="02010600030101010101" pitchFamily="2" charset="-122"/>
                        </a:rPr>
                        <a:t>有效等价类</a:t>
                      </a:r>
                      <a:endParaRPr kumimoji="0" lang="zh-CN" altLang="en-US" sz="2400" b="1" i="0" u="none" strike="noStrike" cap="none" normalizeH="0" baseline="0" smtClean="0">
                        <a:ln>
                          <a:noFill/>
                        </a:ln>
                        <a:solidFill>
                          <a:schemeClr val="hlink"/>
                        </a:solidFill>
                        <a:effectLst/>
                        <a:latin typeface="Tahoma" panose="020B0604030504040204" pitchFamily="34" charset="0"/>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0" fontAlgn="t"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cap="flat">
                      <a:noFill/>
                    </a:lnR>
                    <a:lnT cap="flat">
                      <a:noFill/>
                    </a:lnT>
                    <a:lnB>
                      <a:noFill/>
                    </a:lnB>
                    <a:lnTlToBr>
                      <a:noFill/>
                    </a:lnTlToBr>
                    <a:lnBlToTr>
                      <a:noFill/>
                    </a:lnBlToTr>
                    <a:noFill/>
                  </a:tcPr>
                </a:tc>
              </a:tr>
              <a:tr h="314325">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地区码</a:t>
                      </a:r>
                      <a:r>
                        <a:rPr kumimoji="0" lang="zh-CN" altLang="en-US" sz="2400" b="0" i="0" u="none" strike="noStrike" cap="none" normalizeH="0" baseline="0" smtClean="0">
                          <a:ln>
                            <a:noFill/>
                          </a:ln>
                          <a:solidFill>
                            <a:schemeClr val="hlink"/>
                          </a:solidFill>
                          <a:effectLst/>
                          <a:latin typeface="宋体" panose="02010600030101010101" pitchFamily="2" charset="-122"/>
                          <a:ea typeface="宋体" panose="02010600030101010101" pitchFamily="2" charset="-122"/>
                        </a:rPr>
                        <a:t> </a:t>
                      </a:r>
                      <a:endParaRPr kumimoji="0" lang="zh-CN" altLang="en-US" sz="2400" b="1" i="0" u="none" strike="noStrike" cap="none" normalizeH="0" baseline="0" smtClean="0">
                        <a:ln>
                          <a:noFill/>
                        </a:ln>
                        <a:solidFill>
                          <a:schemeClr val="hlink"/>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空白   </a:t>
                      </a:r>
                      <a:r>
                        <a:rPr kumimoji="0" lang="en-US" altLang="zh-CN"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(1)                       3</a:t>
                      </a: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位数字</a:t>
                      </a:r>
                      <a:r>
                        <a:rPr kumimoji="0" lang="en-US" altLang="zh-CN"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(2) </a:t>
                      </a:r>
                      <a:endParaRPr kumimoji="0" lang="en-US" altLang="zh-CN"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15913">
                <a:tc rowSpan="5">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前 缀</a:t>
                      </a:r>
                      <a:endParaRPr kumimoji="0" lang="zh-CN" alt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rowSpan="5">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从</a:t>
                      </a: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a:t>
                      </a: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到</a:t>
                      </a: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999</a:t>
                      </a: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之间的</a:t>
                      </a: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位数字</a:t>
                      </a: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82588">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314325">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后 缀 </a:t>
                      </a:r>
                      <a:endParaRPr kumimoji="0" lang="zh-CN" alt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位数字</a:t>
                      </a: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endPara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noFill/>
                  </a:tcPr>
                </a:tc>
              </a:tr>
            </a:tbl>
          </a:graphicData>
        </a:graphic>
      </p:graphicFrame>
    </p:spTree>
  </p:cSld>
  <p:clrMapOvr>
    <a:masterClrMapping/>
  </p:clrMapOvr>
  <p:transition>
    <p:wipe dir="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kumimoji="1" lang="zh-CN" altLang="en-US" sz="3600" b="1" smtClean="0">
                <a:solidFill>
                  <a:schemeClr val="tx1"/>
                </a:solidFill>
              </a:rPr>
              <a:t>第一步：电话号码等价类划分</a:t>
            </a:r>
            <a:endParaRPr kumimoji="1" lang="zh-CN" altLang="en-US" sz="3600" b="1" smtClean="0">
              <a:solidFill>
                <a:schemeClr val="tx1"/>
              </a:solidFill>
            </a:endParaRPr>
          </a:p>
        </p:txBody>
      </p:sp>
      <p:graphicFrame>
        <p:nvGraphicFramePr>
          <p:cNvPr id="173059" name="Group 3"/>
          <p:cNvGraphicFramePr>
            <a:graphicFrameLocks noGrp="1"/>
          </p:cNvGraphicFramePr>
          <p:nvPr>
            <p:ph idx="1"/>
          </p:nvPr>
        </p:nvGraphicFramePr>
        <p:xfrm>
          <a:off x="673100" y="2060575"/>
          <a:ext cx="7859713" cy="4480560"/>
        </p:xfrm>
        <a:graphic>
          <a:graphicData uri="http://schemas.openxmlformats.org/drawingml/2006/table">
            <a:tbl>
              <a:tblPr/>
              <a:tblGrid>
                <a:gridCol w="2125663"/>
                <a:gridCol w="2441575"/>
                <a:gridCol w="3292475"/>
              </a:tblGrid>
              <a:tr h="287338">
                <a:tc>
                  <a:txBody>
                    <a:bodyPr/>
                    <a:lstStyle/>
                    <a:p>
                      <a:pPr marL="342900" marR="0" lvl="0" indent="-342900" algn="ctr" defTabSz="914400" rtl="0" eaLnBrk="0" fontAlgn="t"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hlink"/>
                          </a:solidFill>
                          <a:effectLst/>
                          <a:latin typeface="宋体" panose="02010600030101010101" pitchFamily="2" charset="-122"/>
                          <a:ea typeface="宋体" panose="02010600030101010101" pitchFamily="2" charset="-122"/>
                        </a:rPr>
                        <a:t>输入条件</a:t>
                      </a:r>
                      <a:endParaRPr kumimoji="0" lang="zh-CN" altLang="en-US" sz="2400" b="1" i="0" u="none" strike="noStrike" cap="none" normalizeH="0" baseline="0" smtClean="0">
                        <a:ln>
                          <a:noFill/>
                        </a:ln>
                        <a:solidFill>
                          <a:schemeClr val="hlink"/>
                        </a:solidFill>
                        <a:effectLst/>
                        <a:latin typeface="Tahoma" panose="020B0604030504040204" pitchFamily="34" charset="0"/>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0" fontAlgn="t"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hlink"/>
                          </a:solidFill>
                          <a:effectLst/>
                          <a:latin typeface="宋体" panose="02010600030101010101" pitchFamily="2" charset="-122"/>
                          <a:ea typeface="宋体" panose="02010600030101010101" pitchFamily="2" charset="-122"/>
                        </a:rPr>
                        <a:t>有效等价类</a:t>
                      </a:r>
                      <a:endParaRPr kumimoji="0" lang="zh-CN" altLang="en-US" sz="2400" b="1" i="0" u="none" strike="noStrike" cap="none" normalizeH="0" baseline="0" smtClean="0">
                        <a:ln>
                          <a:noFill/>
                        </a:ln>
                        <a:solidFill>
                          <a:schemeClr val="hlink"/>
                        </a:solidFill>
                        <a:effectLst/>
                        <a:latin typeface="Tahoma" panose="020B0604030504040204" pitchFamily="34" charset="0"/>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0" fontAlgn="t"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hlink"/>
                          </a:solidFill>
                          <a:effectLst/>
                          <a:latin typeface="宋体" panose="02010600030101010101" pitchFamily="2" charset="-122"/>
                          <a:ea typeface="宋体" panose="02010600030101010101" pitchFamily="2" charset="-122"/>
                        </a:rPr>
                        <a:t>无效等价类</a:t>
                      </a:r>
                      <a:endParaRPr kumimoji="0" lang="zh-CN" altLang="en-US" sz="2400" b="1" i="0" u="none" strike="noStrike" cap="none" normalizeH="0" baseline="0" smtClean="0">
                        <a:ln>
                          <a:noFill/>
                        </a:ln>
                        <a:solidFill>
                          <a:schemeClr val="hlink"/>
                        </a:solidFill>
                        <a:effectLst/>
                        <a:latin typeface="Tahoma" panose="020B0604030504040204" pitchFamily="34" charset="0"/>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r>
              <a:tr h="314325">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地区码 </a:t>
                      </a:r>
                      <a:endParaRPr kumimoji="0" lang="zh-CN" alt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空白   </a:t>
                      </a:r>
                      <a:r>
                        <a:rPr kumimoji="0" lang="en-US" altLang="zh-CN"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(1)                       3</a:t>
                      </a: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位数字</a:t>
                      </a:r>
                      <a:r>
                        <a:rPr kumimoji="0" lang="en-US" altLang="zh-CN"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(2) </a:t>
                      </a:r>
                      <a:endParaRPr kumimoji="0" lang="en-US" altLang="zh-CN"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有非数字字符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(5)</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少于</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3</a:t>
                      </a: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位数字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(6)</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多于</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3</a:t>
                      </a: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位数字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(7)</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r h="315913">
                <a:tc rowSpan="5">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前 缀</a:t>
                      </a:r>
                      <a:endParaRPr kumimoji="0" lang="zh-CN" alt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rowSpan="5">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从</a:t>
                      </a: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a:t>
                      </a: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到</a:t>
                      </a: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999</a:t>
                      </a: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之间的</a:t>
                      </a: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位数字</a:t>
                      </a: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有非数字字符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(8) </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起始位为</a:t>
                      </a:r>
                      <a:r>
                        <a:rPr kumimoji="0" lang="zh-CN" altLang="en-US" sz="1800" b="0" i="0" u="none" strike="noStrike" cap="none" normalizeH="0" baseline="0" smtClean="0">
                          <a:ln>
                            <a:noFill/>
                          </a:ln>
                          <a:solidFill>
                            <a:schemeClr val="bg1"/>
                          </a:solidFill>
                          <a:effectLst/>
                          <a:latin typeface="Tahoma" panose="020B0604030504040204"/>
                          <a:ea typeface="黑体" panose="02010609060101010101" pitchFamily="2" charset="-122"/>
                        </a:rPr>
                        <a:t>‘</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0</a:t>
                      </a:r>
                      <a:r>
                        <a:rPr kumimoji="0" lang="en-US" altLang="zh-CN" sz="1800" b="0" i="0" u="none" strike="noStrike" cap="none" normalizeH="0" baseline="0" smtClean="0">
                          <a:ln>
                            <a:noFill/>
                          </a:ln>
                          <a:solidFill>
                            <a:schemeClr val="bg1"/>
                          </a:solidFill>
                          <a:effectLst/>
                          <a:latin typeface="Tahoma" panose="020B0604030504040204"/>
                          <a:ea typeface="黑体" panose="02010609060101010101" pitchFamily="2" charset="-122"/>
                        </a:rPr>
                        <a:t>’</a:t>
                      </a:r>
                      <a:r>
                        <a:rPr kumimoji="0" lang="en-US" altLang="zh-CN" sz="1800" b="0" i="0" u="none" strike="noStrike" cap="none" normalizeH="0" baseline="0" smtClean="0">
                          <a:ln>
                            <a:noFill/>
                          </a:ln>
                          <a:solidFill>
                            <a:schemeClr val="bg1"/>
                          </a:solidFill>
                          <a:effectLst/>
                          <a:latin typeface="宋体" panose="02010600030101010101" pitchFamily="2" charset="-122"/>
                          <a:ea typeface="黑体" panose="02010609060101010101" pitchFamily="2" charset="-122"/>
                        </a:rPr>
                        <a:t>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(9) </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起始位为</a:t>
                      </a:r>
                      <a:r>
                        <a:rPr kumimoji="0" lang="zh-CN" altLang="en-US" sz="1800" b="0" i="0" u="none" strike="noStrike" cap="none" normalizeH="0" baseline="0" smtClean="0">
                          <a:ln>
                            <a:noFill/>
                          </a:ln>
                          <a:solidFill>
                            <a:schemeClr val="bg1"/>
                          </a:solidFill>
                          <a:effectLst/>
                          <a:latin typeface="Tahoma" panose="020B0604030504040204"/>
                          <a:ea typeface="黑体" panose="02010609060101010101" pitchFamily="2" charset="-122"/>
                        </a:rPr>
                        <a:t>‘</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1</a:t>
                      </a:r>
                      <a:r>
                        <a:rPr kumimoji="0" lang="en-US" altLang="zh-CN" sz="1800" b="0" i="0" u="none" strike="noStrike" cap="none" normalizeH="0" baseline="0" smtClean="0">
                          <a:ln>
                            <a:noFill/>
                          </a:ln>
                          <a:solidFill>
                            <a:schemeClr val="bg1"/>
                          </a:solidFill>
                          <a:effectLst/>
                          <a:latin typeface="Tahoma" panose="020B0604030504040204"/>
                          <a:ea typeface="黑体" panose="02010609060101010101" pitchFamily="2" charset="-122"/>
                        </a:rPr>
                        <a:t>’</a:t>
                      </a:r>
                      <a:r>
                        <a:rPr kumimoji="0" lang="en-US" altLang="zh-CN" sz="1800" b="0" i="0" u="none" strike="noStrike" cap="none" normalizeH="0" baseline="0" smtClean="0">
                          <a:ln>
                            <a:noFill/>
                          </a:ln>
                          <a:solidFill>
                            <a:schemeClr val="bg1"/>
                          </a:solidFill>
                          <a:effectLst/>
                          <a:latin typeface="宋体" panose="02010600030101010101" pitchFamily="2" charset="-122"/>
                          <a:ea typeface="黑体" panose="02010609060101010101" pitchFamily="2" charset="-122"/>
                        </a:rPr>
                        <a:t>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(10) </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少于</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3</a:t>
                      </a: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位数字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(11) </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多于</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3</a:t>
                      </a: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位数字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(12) </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r h="314325">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后 缀 </a:t>
                      </a:r>
                      <a:endParaRPr kumimoji="0" lang="zh-CN" alt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00"/>
                    </a:solidFill>
                  </a:tcPr>
                </a:tc>
                <a:tc rowSpan="3">
                  <a:txBody>
                    <a:bodyPr/>
                    <a:lstStyle/>
                    <a:p>
                      <a:pPr marL="0" marR="0" lvl="0" indent="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4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位数字</a:t>
                      </a:r>
                      <a:r>
                        <a:rPr kumimoji="0"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4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有非数字字符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(13) </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少于</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4</a:t>
                      </a: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位数字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(14) </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r h="285750">
                <a:tc vMerge="1">
                  <a:tcPr/>
                </a:tc>
                <a:tc vMerge="1">
                  <a:tcPr/>
                </a:tc>
                <a:tc>
                  <a:txBody>
                    <a:bodyPr/>
                    <a:lstStyle/>
                    <a:p>
                      <a:pPr marL="342900" marR="0" lvl="0" indent="-342900" algn="l" defTabSz="914400" rtl="0" eaLnBrk="0" fontAlgn="b"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   多于</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4</a:t>
                      </a:r>
                      <a:r>
                        <a:rPr kumimoji="0" lang="zh-CN" altLang="en-US"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位数字  </a:t>
                      </a:r>
                      <a:r>
                        <a:rPr kumimoji="0" lang="en-US" altLang="zh-CN" sz="1800" b="0" i="0" u="none" strike="noStrike" cap="none" normalizeH="0" baseline="0" smtClean="0">
                          <a:ln>
                            <a:noFill/>
                          </a:ln>
                          <a:solidFill>
                            <a:schemeClr val="bg1"/>
                          </a:solidFill>
                          <a:effectLst/>
                          <a:latin typeface="宋体" panose="02010600030101010101" pitchFamily="2" charset="-122"/>
                          <a:ea typeface="宋体" panose="02010600030101010101" pitchFamily="2" charset="-122"/>
                        </a:rPr>
                        <a:t>(15) </a:t>
                      </a:r>
                      <a:endParaRPr kumimoji="0" lang="en-US" altLang="zh-CN" sz="1800" b="1" i="0" u="none" strike="noStrike" cap="none" normalizeH="0" baseline="0" smtClean="0">
                        <a:ln>
                          <a:noFill/>
                        </a:ln>
                        <a:solidFill>
                          <a:schemeClr val="bg1"/>
                        </a:solidFill>
                        <a:effectLst/>
                        <a:latin typeface="Tahoma" panose="020B0604030504040204" pitchFamily="34" charset="0"/>
                        <a:ea typeface="宋体" panose="02010600030101010101" pitchFamily="2" charset="-122"/>
                      </a:endParaRPr>
                    </a:p>
                  </a:txBody>
                  <a:tcPr anchor="b"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0066"/>
                    </a:solidFill>
                  </a:tcPr>
                </a:tc>
              </a:tr>
            </a:tbl>
          </a:graphicData>
        </a:graphic>
      </p:graphicFrame>
    </p:spTree>
  </p:cSld>
  <p:clrMapOvr>
    <a:masterClrMapping/>
  </p:clrMapOvr>
  <p:transition>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zh-CN" altLang="en-US" sz="3600" smtClean="0">
                <a:solidFill>
                  <a:schemeClr val="tx1"/>
                </a:solidFill>
                <a:latin typeface="宋体" panose="02010600030101010101" pitchFamily="2" charset="-122"/>
              </a:rPr>
              <a:t>第二步：确定测试用例</a:t>
            </a:r>
            <a:endParaRPr lang="zh-CN" altLang="en-US" sz="3600" smtClean="0">
              <a:solidFill>
                <a:schemeClr val="tx1"/>
              </a:solidFill>
              <a:latin typeface="宋体" panose="02010600030101010101" pitchFamily="2" charset="-122"/>
            </a:endParaRPr>
          </a:p>
        </p:txBody>
      </p:sp>
      <p:sp>
        <p:nvSpPr>
          <p:cNvPr id="174083" name="Rectangle 3"/>
          <p:cNvSpPr>
            <a:spLocks noGrp="1" noChangeArrowheads="1"/>
          </p:cNvSpPr>
          <p:nvPr>
            <p:ph type="body" sz="half" idx="1"/>
          </p:nvPr>
        </p:nvSpPr>
        <p:spPr>
          <a:xfrm>
            <a:off x="539750" y="2017713"/>
            <a:ext cx="8343900" cy="4114800"/>
          </a:xfrm>
        </p:spPr>
        <p:txBody>
          <a:bodyPr/>
          <a:lstStyle/>
          <a:p>
            <a:r>
              <a:rPr lang="zh-CN" altLang="en-US" b="1" smtClean="0">
                <a:latin typeface="宋体" panose="02010600030101010101" pitchFamily="2" charset="-122"/>
              </a:rPr>
              <a:t>对表中</a:t>
            </a:r>
            <a:r>
              <a:rPr lang="en-US" altLang="zh-CN" b="1" smtClean="0">
                <a:latin typeface="宋体" panose="02010600030101010101" pitchFamily="2" charset="-122"/>
              </a:rPr>
              <a:t>4</a:t>
            </a:r>
            <a:r>
              <a:rPr lang="zh-CN" altLang="en-US" b="1" smtClean="0">
                <a:latin typeface="宋体" panose="02010600030101010101" pitchFamily="2" charset="-122"/>
              </a:rPr>
              <a:t>个有效等价类可共用下面两个测试用例</a:t>
            </a:r>
            <a:endParaRPr lang="zh-CN" altLang="en-US" b="1" smtClean="0">
              <a:latin typeface="宋体" panose="02010600030101010101" pitchFamily="2" charset="-122"/>
            </a:endParaRPr>
          </a:p>
        </p:txBody>
      </p:sp>
      <p:graphicFrame>
        <p:nvGraphicFramePr>
          <p:cNvPr id="174084" name="Group 4"/>
          <p:cNvGraphicFramePr>
            <a:graphicFrameLocks noGrp="1"/>
          </p:cNvGraphicFramePr>
          <p:nvPr>
            <p:ph sz="half" idx="2"/>
          </p:nvPr>
        </p:nvGraphicFramePr>
        <p:xfrm>
          <a:off x="755650" y="3284538"/>
          <a:ext cx="7662863" cy="2219325"/>
        </p:xfrm>
        <a:graphic>
          <a:graphicData uri="http://schemas.openxmlformats.org/drawingml/2006/table">
            <a:tbl>
              <a:tblPr/>
              <a:tblGrid>
                <a:gridCol w="2474913"/>
                <a:gridCol w="2992437"/>
                <a:gridCol w="2195513"/>
              </a:tblGrid>
              <a:tr h="796925">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测试数据</a:t>
                      </a:r>
                      <a:r>
                        <a:rPr kumimoji="0" lang="zh-CN" altLang="en-US" sz="2800" b="1" i="0" u="none" strike="noStrike" cap="none" normalizeH="0" baseline="0" smtClean="0">
                          <a:ln>
                            <a:noFill/>
                          </a:ln>
                          <a:solidFill>
                            <a:srgbClr val="0A0A0E"/>
                          </a:solidFill>
                          <a:effectLst/>
                          <a:latin typeface="宋体" panose="02010600030101010101" pitchFamily="2" charset="-122"/>
                          <a:ea typeface="黑体" panose="02010609060101010101" pitchFamily="2" charset="-122"/>
                        </a:rPr>
                        <a:t>        </a:t>
                      </a:r>
                      <a:endParaRPr kumimoji="0" lang="zh-CN" altLang="en-US"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28575"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测试范围</a:t>
                      </a:r>
                      <a:endParaRPr kumimoji="0" lang="zh-CN" altLang="en-US"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期望结果 </a:t>
                      </a:r>
                      <a:endParaRPr kumimoji="0" lang="zh-CN" altLang="en-US"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r>
              <a:tr h="711200">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   )276-2345 </a:t>
                      </a:r>
                      <a:endParaRPr kumimoji="0" lang="en-US" altLang="zh-CN"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28575"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等价类</a:t>
                      </a:r>
                      <a:r>
                        <a:rPr kumimoji="0" lang="en-US" altLang="zh-CN"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(1)(3)(4)</a:t>
                      </a:r>
                      <a:endParaRPr kumimoji="0" lang="en-US" altLang="zh-CN"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有效 </a:t>
                      </a:r>
                      <a:endParaRPr kumimoji="0" lang="zh-CN" altLang="en-US"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r>
              <a:tr h="711200">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(635)805-9321 </a:t>
                      </a:r>
                      <a:endParaRPr kumimoji="0" lang="en-US" altLang="zh-CN"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28575"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等价类</a:t>
                      </a:r>
                      <a:r>
                        <a:rPr kumimoji="0" lang="en-US" altLang="zh-CN"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(2)(3)(4)</a:t>
                      </a:r>
                      <a:endParaRPr kumimoji="0" lang="en-US" altLang="zh-CN"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有效</a:t>
                      </a:r>
                      <a:endParaRPr kumimoji="0" lang="zh-CN" altLang="en-US" sz="28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wipe dir="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r>
              <a:rPr lang="zh-CN" altLang="en-US" sz="3600" b="1" smtClean="0">
                <a:solidFill>
                  <a:schemeClr val="tx1"/>
                </a:solidFill>
                <a:latin typeface="宋体" panose="02010600030101010101" pitchFamily="2" charset="-122"/>
              </a:rPr>
              <a:t>第二步：确定测试用例</a:t>
            </a:r>
            <a:endParaRPr lang="zh-CN" altLang="en-US" sz="3600" b="1" smtClean="0">
              <a:solidFill>
                <a:schemeClr val="tx1"/>
              </a:solidFill>
              <a:latin typeface="宋体" panose="02010600030101010101" pitchFamily="2" charset="-122"/>
            </a:endParaRPr>
          </a:p>
        </p:txBody>
      </p:sp>
      <p:sp>
        <p:nvSpPr>
          <p:cNvPr id="175107" name="Rectangle 3"/>
          <p:cNvSpPr>
            <a:spLocks noGrp="1" noChangeArrowheads="1"/>
          </p:cNvSpPr>
          <p:nvPr>
            <p:ph type="body" sz="half" idx="1"/>
          </p:nvPr>
        </p:nvSpPr>
        <p:spPr>
          <a:xfrm>
            <a:off x="539750" y="1989138"/>
            <a:ext cx="8199438" cy="4114800"/>
          </a:xfrm>
        </p:spPr>
        <p:txBody>
          <a:bodyPr/>
          <a:lstStyle/>
          <a:p>
            <a:r>
              <a:rPr lang="zh-CN" altLang="en-US" b="1" smtClean="0">
                <a:latin typeface="宋体" panose="02010600030101010101" pitchFamily="2" charset="-122"/>
              </a:rPr>
              <a:t>对表中</a:t>
            </a:r>
            <a:r>
              <a:rPr lang="en-US" altLang="zh-CN" b="1" smtClean="0">
                <a:latin typeface="宋体" panose="02010600030101010101" pitchFamily="2" charset="-122"/>
              </a:rPr>
              <a:t>11</a:t>
            </a:r>
            <a:r>
              <a:rPr lang="zh-CN" altLang="en-US" b="1" smtClean="0">
                <a:latin typeface="宋体" panose="02010600030101010101" pitchFamily="2" charset="-122"/>
              </a:rPr>
              <a:t>个无效等价类应选择</a:t>
            </a:r>
            <a:r>
              <a:rPr lang="en-US" altLang="zh-CN" b="1" smtClean="0">
                <a:latin typeface="宋体" panose="02010600030101010101" pitchFamily="2" charset="-122"/>
              </a:rPr>
              <a:t>11</a:t>
            </a:r>
            <a:r>
              <a:rPr lang="zh-CN" altLang="en-US" b="1" smtClean="0">
                <a:latin typeface="宋体" panose="02010600030101010101" pitchFamily="2" charset="-122"/>
              </a:rPr>
              <a:t>个测试用例</a:t>
            </a:r>
            <a:endParaRPr lang="zh-CN" altLang="en-US" b="1" smtClean="0">
              <a:latin typeface="宋体" panose="02010600030101010101" pitchFamily="2" charset="-122"/>
            </a:endParaRPr>
          </a:p>
        </p:txBody>
      </p:sp>
      <p:graphicFrame>
        <p:nvGraphicFramePr>
          <p:cNvPr id="175108" name="Group 4"/>
          <p:cNvGraphicFramePr>
            <a:graphicFrameLocks noGrp="1"/>
          </p:cNvGraphicFramePr>
          <p:nvPr>
            <p:ph sz="half" idx="2"/>
          </p:nvPr>
        </p:nvGraphicFramePr>
        <p:xfrm>
          <a:off x="755650" y="3213100"/>
          <a:ext cx="7488238" cy="2684463"/>
        </p:xfrm>
        <a:graphic>
          <a:graphicData uri="http://schemas.openxmlformats.org/drawingml/2006/table">
            <a:tbl>
              <a:tblPr/>
              <a:tblGrid>
                <a:gridCol w="2663825"/>
                <a:gridCol w="2665413"/>
                <a:gridCol w="2159000"/>
              </a:tblGrid>
              <a:tr h="587375">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测试数据</a:t>
                      </a:r>
                      <a:r>
                        <a:rPr kumimoji="0" lang="zh-CN" altLang="en-US" sz="2400" b="1" i="0" u="none" strike="noStrike" cap="none" normalizeH="0" baseline="0" smtClean="0">
                          <a:ln>
                            <a:noFill/>
                          </a:ln>
                          <a:solidFill>
                            <a:srgbClr val="0A0A0E"/>
                          </a:solidFill>
                          <a:effectLst/>
                          <a:latin typeface="宋体" panose="02010600030101010101" pitchFamily="2" charset="-122"/>
                          <a:ea typeface="黑体" panose="02010609060101010101" pitchFamily="2" charset="-122"/>
                        </a:rPr>
                        <a:t>        </a:t>
                      </a:r>
                      <a:endPar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28575"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测试范围</a:t>
                      </a:r>
                      <a:endPar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期望结果 </a:t>
                      </a:r>
                      <a:endParaRPr kumimoji="0" lang="zh-CN" altLang="en-US" sz="2400" b="1" i="0" u="none" strike="noStrike" cap="none" normalizeH="0" baseline="0" smtClean="0">
                        <a:ln>
                          <a:noFill/>
                        </a:ln>
                        <a:solidFill>
                          <a:srgbClr val="0A0A0E"/>
                        </a:solidFill>
                        <a:effectLst/>
                        <a:latin typeface="Tahoma" panose="020B0604030504040204" pitchFamily="34" charset="0"/>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28575"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r>
              <a:tr h="523875">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(20A)123-4567</a:t>
                      </a:r>
                      <a:endPar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28575"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无效等价类</a:t>
                      </a:r>
                      <a:r>
                        <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(5)</a:t>
                      </a:r>
                      <a:endPar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无效 </a:t>
                      </a:r>
                      <a:endPar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r>
              <a:tr h="525463">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(33 )234-5678</a:t>
                      </a:r>
                      <a:endPar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28575"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无效等价类</a:t>
                      </a:r>
                      <a:r>
                        <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(6)</a:t>
                      </a:r>
                      <a:endPar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无效</a:t>
                      </a:r>
                      <a:endPar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r>
              <a:tr h="523875">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(7777)345-6789</a:t>
                      </a:r>
                      <a:endPar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28575"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无效等价类</a:t>
                      </a:r>
                      <a:r>
                        <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(7)</a:t>
                      </a:r>
                      <a:endParaRPr kumimoji="0" lang="en-US" altLang="zh-CN"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rPr>
                        <a:t>无效</a:t>
                      </a:r>
                      <a:endParaRPr kumimoji="0" lang="zh-CN" altLang="en-US" sz="2400" b="1"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19050" cap="flat" cmpd="sng" algn="ctr">
                      <a:solidFill>
                        <a:srgbClr val="003366"/>
                      </a:solidFill>
                      <a:prstDash val="solid"/>
                      <a:round/>
                      <a:headEnd type="none" w="med" len="med"/>
                      <a:tailEnd type="none" w="med" len="med"/>
                    </a:lnB>
                    <a:lnTlToBr>
                      <a:noFill/>
                    </a:lnTlToBr>
                    <a:lnBlToTr>
                      <a:noFill/>
                    </a:lnBlToTr>
                    <a:noFill/>
                  </a:tcPr>
                </a:tc>
              </a:tr>
              <a:tr h="523875">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smtClean="0">
                          <a:ln>
                            <a:noFill/>
                          </a:ln>
                          <a:solidFill>
                            <a:srgbClr val="0A0A0E"/>
                          </a:solidFill>
                          <a:effectLst/>
                          <a:latin typeface="Tahoma" panose="020B0604030504040204"/>
                          <a:ea typeface="宋体" panose="02010600030101010101" pitchFamily="2" charset="-122"/>
                        </a:rPr>
                        <a:t>…</a:t>
                      </a:r>
                      <a:endParaRPr kumimoji="0" lang="en-US" altLang="zh-CN" sz="2400" b="0"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28575"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smtClean="0">
                          <a:ln>
                            <a:noFill/>
                          </a:ln>
                          <a:solidFill>
                            <a:srgbClr val="0A0A0E"/>
                          </a:solidFill>
                          <a:effectLst/>
                          <a:latin typeface="Tahoma" panose="020B0604030504040204"/>
                          <a:ea typeface="宋体" panose="02010600030101010101" pitchFamily="2" charset="-122"/>
                        </a:rPr>
                        <a:t>…</a:t>
                      </a:r>
                      <a:endParaRPr kumimoji="0" lang="en-US" altLang="zh-CN" sz="2400" b="0"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19050"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2400" b="0" i="0" u="none" strike="noStrike" cap="none" normalizeH="0" baseline="0" smtClean="0">
                          <a:ln>
                            <a:noFill/>
                          </a:ln>
                          <a:solidFill>
                            <a:srgbClr val="0A0A0E"/>
                          </a:solidFill>
                          <a:effectLst/>
                          <a:latin typeface="Tahoma" panose="020B0604030504040204"/>
                          <a:ea typeface="宋体" panose="02010600030101010101" pitchFamily="2" charset="-122"/>
                        </a:rPr>
                        <a:t>…</a:t>
                      </a:r>
                      <a:endParaRPr kumimoji="0" lang="en-US" altLang="zh-CN" sz="2400" b="0" i="0" u="none" strike="noStrike" cap="none" normalizeH="0" baseline="0" smtClean="0">
                        <a:ln>
                          <a:noFill/>
                        </a:ln>
                        <a:solidFill>
                          <a:srgbClr val="0A0A0E"/>
                        </a:solidFill>
                        <a:effectLst/>
                        <a:latin typeface="宋体" panose="02010600030101010101" pitchFamily="2" charset="-122"/>
                        <a:ea typeface="宋体" panose="02010600030101010101" pitchFamily="2" charset="-122"/>
                      </a:endParaRPr>
                    </a:p>
                  </a:txBody>
                  <a:tcPr marL="18000" marR="18000" marT="46800" marB="46800" anchor="ctr" horzOverflow="overflow">
                    <a:lnL w="19050" cap="flat" cmpd="sng" algn="ctr">
                      <a:solidFill>
                        <a:srgbClr val="003366"/>
                      </a:solidFill>
                      <a:prstDash val="solid"/>
                      <a:round/>
                      <a:headEnd type="none" w="med" len="med"/>
                      <a:tailEnd type="none" w="med" len="med"/>
                    </a:lnL>
                    <a:lnR w="28575" cap="flat" cmpd="sng" algn="ctr">
                      <a:solidFill>
                        <a:srgbClr val="003366"/>
                      </a:solidFill>
                      <a:prstDash val="solid"/>
                      <a:round/>
                      <a:headEnd type="none" w="med" len="med"/>
                      <a:tailEnd type="none" w="med" len="med"/>
                    </a:lnR>
                    <a:lnT w="19050" cap="flat" cmpd="sng" algn="ctr">
                      <a:solidFill>
                        <a:srgbClr val="003366"/>
                      </a:solidFill>
                      <a:prstDash val="solid"/>
                      <a:round/>
                      <a:headEnd type="none" w="med" len="med"/>
                      <a:tailEnd type="none" w="med" len="med"/>
                    </a:lnT>
                    <a:lnB w="28575" cap="flat" cmpd="sng" algn="ctr">
                      <a:solidFill>
                        <a:srgbClr val="003366"/>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r>
              <a:rPr kumimoji="1" lang="zh-CN" altLang="en-US" sz="3600" b="1" smtClean="0">
                <a:solidFill>
                  <a:schemeClr val="tx1"/>
                </a:solidFill>
              </a:rPr>
              <a:t>黑盒法</a:t>
            </a:r>
            <a:endParaRPr kumimoji="1" lang="zh-CN" altLang="en-US" sz="3600" b="1" smtClean="0">
              <a:solidFill>
                <a:schemeClr val="tx1"/>
              </a:solidFill>
            </a:endParaRPr>
          </a:p>
        </p:txBody>
      </p:sp>
      <p:sp>
        <p:nvSpPr>
          <p:cNvPr id="176131" name="Rectangle 3"/>
          <p:cNvSpPr>
            <a:spLocks noGrp="1" noChangeArrowheads="1"/>
          </p:cNvSpPr>
          <p:nvPr>
            <p:ph type="body" idx="1"/>
          </p:nvPr>
        </p:nvSpPr>
        <p:spPr/>
        <p:txBody>
          <a:bodyPr/>
          <a:lstStyle/>
          <a:p>
            <a:pPr marL="174625" indent="-174625">
              <a:buFont typeface="Wingdings" panose="05000000000000000000" pitchFamily="2" charset="2"/>
              <a:buNone/>
            </a:pPr>
            <a:r>
              <a:rPr kumimoji="1" lang="zh-CN" altLang="en-US" b="1" smtClean="0">
                <a:solidFill>
                  <a:schemeClr val="hlink"/>
                </a:solidFill>
              </a:rPr>
              <a:t>边界值测试</a:t>
            </a:r>
            <a:endParaRPr kumimoji="1" lang="zh-CN" altLang="en-US" b="1" smtClean="0">
              <a:solidFill>
                <a:schemeClr val="hlink"/>
              </a:solidFill>
            </a:endParaRPr>
          </a:p>
        </p:txBody>
      </p:sp>
      <p:grpSp>
        <p:nvGrpSpPr>
          <p:cNvPr id="176132" name="Group 4"/>
          <p:cNvGrpSpPr/>
          <p:nvPr/>
        </p:nvGrpSpPr>
        <p:grpSpPr bwMode="auto">
          <a:xfrm>
            <a:off x="4211638" y="1268413"/>
            <a:ext cx="4191000" cy="1524000"/>
            <a:chOff x="2928" y="2784"/>
            <a:chExt cx="2640" cy="960"/>
          </a:xfrm>
        </p:grpSpPr>
        <p:sp>
          <p:nvSpPr>
            <p:cNvPr id="176133" name="Freeform 5"/>
            <p:cNvSpPr/>
            <p:nvPr/>
          </p:nvSpPr>
          <p:spPr bwMode="auto">
            <a:xfrm>
              <a:off x="2928" y="2784"/>
              <a:ext cx="1008" cy="960"/>
            </a:xfrm>
            <a:custGeom>
              <a:avLst/>
              <a:gdLst/>
              <a:ahLst/>
              <a:cxnLst>
                <a:cxn ang="0">
                  <a:pos x="1030" y="17"/>
                </a:cxn>
                <a:cxn ang="0">
                  <a:pos x="585" y="17"/>
                </a:cxn>
                <a:cxn ang="0">
                  <a:pos x="508" y="28"/>
                </a:cxn>
                <a:cxn ang="0">
                  <a:pos x="330" y="50"/>
                </a:cxn>
                <a:cxn ang="0">
                  <a:pos x="185" y="284"/>
                </a:cxn>
                <a:cxn ang="0">
                  <a:pos x="152" y="406"/>
                </a:cxn>
                <a:cxn ang="0">
                  <a:pos x="263" y="1073"/>
                </a:cxn>
                <a:cxn ang="0">
                  <a:pos x="408" y="1128"/>
                </a:cxn>
                <a:cxn ang="0">
                  <a:pos x="463" y="1173"/>
                </a:cxn>
                <a:cxn ang="0">
                  <a:pos x="530" y="1195"/>
                </a:cxn>
                <a:cxn ang="0">
                  <a:pos x="563" y="1217"/>
                </a:cxn>
                <a:cxn ang="0">
                  <a:pos x="596" y="1228"/>
                </a:cxn>
                <a:cxn ang="0">
                  <a:pos x="619" y="1250"/>
                </a:cxn>
                <a:cxn ang="0">
                  <a:pos x="685" y="1273"/>
                </a:cxn>
                <a:cxn ang="0">
                  <a:pos x="808" y="1350"/>
                </a:cxn>
                <a:cxn ang="0">
                  <a:pos x="952" y="1417"/>
                </a:cxn>
                <a:cxn ang="0">
                  <a:pos x="1108" y="1373"/>
                </a:cxn>
              </a:cxnLst>
              <a:rect l="0" t="0" r="r" b="b"/>
              <a:pathLst>
                <a:path w="1108" h="1425">
                  <a:moveTo>
                    <a:pt x="1030" y="17"/>
                  </a:moveTo>
                  <a:cubicBezTo>
                    <a:pt x="797" y="4"/>
                    <a:pt x="837" y="0"/>
                    <a:pt x="585" y="17"/>
                  </a:cubicBezTo>
                  <a:cubicBezTo>
                    <a:pt x="559" y="19"/>
                    <a:pt x="534" y="25"/>
                    <a:pt x="508" y="28"/>
                  </a:cubicBezTo>
                  <a:cubicBezTo>
                    <a:pt x="449" y="36"/>
                    <a:pt x="330" y="50"/>
                    <a:pt x="330" y="50"/>
                  </a:cubicBezTo>
                  <a:cubicBezTo>
                    <a:pt x="204" y="83"/>
                    <a:pt x="249" y="189"/>
                    <a:pt x="185" y="284"/>
                  </a:cubicBezTo>
                  <a:cubicBezTo>
                    <a:pt x="172" y="324"/>
                    <a:pt x="152" y="406"/>
                    <a:pt x="152" y="406"/>
                  </a:cubicBezTo>
                  <a:cubicBezTo>
                    <a:pt x="156" y="631"/>
                    <a:pt x="0" y="1001"/>
                    <a:pt x="263" y="1073"/>
                  </a:cubicBezTo>
                  <a:cubicBezTo>
                    <a:pt x="309" y="1103"/>
                    <a:pt x="356" y="1111"/>
                    <a:pt x="408" y="1128"/>
                  </a:cubicBezTo>
                  <a:cubicBezTo>
                    <a:pt x="428" y="1141"/>
                    <a:pt x="442" y="1162"/>
                    <a:pt x="463" y="1173"/>
                  </a:cubicBezTo>
                  <a:cubicBezTo>
                    <a:pt x="484" y="1184"/>
                    <a:pt x="530" y="1195"/>
                    <a:pt x="530" y="1195"/>
                  </a:cubicBezTo>
                  <a:cubicBezTo>
                    <a:pt x="541" y="1202"/>
                    <a:pt x="551" y="1211"/>
                    <a:pt x="563" y="1217"/>
                  </a:cubicBezTo>
                  <a:cubicBezTo>
                    <a:pt x="573" y="1222"/>
                    <a:pt x="586" y="1222"/>
                    <a:pt x="596" y="1228"/>
                  </a:cubicBezTo>
                  <a:cubicBezTo>
                    <a:pt x="605" y="1233"/>
                    <a:pt x="610" y="1245"/>
                    <a:pt x="619" y="1250"/>
                  </a:cubicBezTo>
                  <a:cubicBezTo>
                    <a:pt x="640" y="1261"/>
                    <a:pt x="685" y="1273"/>
                    <a:pt x="685" y="1273"/>
                  </a:cubicBezTo>
                  <a:cubicBezTo>
                    <a:pt x="722" y="1309"/>
                    <a:pt x="760" y="1334"/>
                    <a:pt x="808" y="1350"/>
                  </a:cubicBezTo>
                  <a:cubicBezTo>
                    <a:pt x="851" y="1380"/>
                    <a:pt x="901" y="1404"/>
                    <a:pt x="952" y="1417"/>
                  </a:cubicBezTo>
                  <a:cubicBezTo>
                    <a:pt x="1000" y="1412"/>
                    <a:pt x="1082" y="1425"/>
                    <a:pt x="1108" y="1373"/>
                  </a:cubicBezTo>
                </a:path>
              </a:pathLst>
            </a:custGeom>
            <a:noFill/>
            <a:ln w="38100" cap="flat" cmpd="sng">
              <a:solidFill>
                <a:srgbClr val="280049"/>
              </a:solidFill>
              <a:prstDash val="solid"/>
              <a:round/>
              <a:headEnd type="none" w="med" len="med"/>
              <a:tailEnd type="none" w="med" len="med"/>
            </a:ln>
            <a:effectLst/>
          </p:spPr>
          <p:txBody>
            <a:bodyPr wrap="none" anchor="ctr"/>
            <a:lstStyle/>
            <a:p>
              <a:endParaRPr lang="zh-CN" altLang="en-US"/>
            </a:p>
          </p:txBody>
        </p:sp>
        <p:sp>
          <p:nvSpPr>
            <p:cNvPr id="176134" name="Line 6"/>
            <p:cNvSpPr>
              <a:spLocks noChangeShapeType="1"/>
            </p:cNvSpPr>
            <p:nvPr/>
          </p:nvSpPr>
          <p:spPr bwMode="auto">
            <a:xfrm>
              <a:off x="3936" y="2813"/>
              <a:ext cx="0" cy="931"/>
            </a:xfrm>
            <a:prstGeom prst="line">
              <a:avLst/>
            </a:prstGeom>
            <a:noFill/>
            <a:ln w="38100">
              <a:solidFill>
                <a:srgbClr val="280049"/>
              </a:solidFill>
              <a:round/>
            </a:ln>
            <a:effectLst/>
          </p:spPr>
          <p:txBody>
            <a:bodyPr wrap="none" anchor="ctr"/>
            <a:lstStyle/>
            <a:p>
              <a:endParaRPr lang="zh-CN" altLang="en-US"/>
            </a:p>
          </p:txBody>
        </p:sp>
        <p:sp>
          <p:nvSpPr>
            <p:cNvPr id="176135" name="Oval 7"/>
            <p:cNvSpPr>
              <a:spLocks noChangeArrowheads="1"/>
            </p:cNvSpPr>
            <p:nvPr/>
          </p:nvSpPr>
          <p:spPr bwMode="auto">
            <a:xfrm>
              <a:off x="3840" y="2903"/>
              <a:ext cx="144" cy="144"/>
            </a:xfrm>
            <a:prstGeom prst="ellipse">
              <a:avLst/>
            </a:prstGeom>
            <a:solidFill>
              <a:srgbClr val="FC0128"/>
            </a:solidFill>
            <a:ln w="12700">
              <a:solidFill>
                <a:schemeClr val="tx1"/>
              </a:solidFill>
              <a:round/>
            </a:ln>
            <a:effectLst/>
          </p:spPr>
          <p:txBody>
            <a:bodyPr wrap="none" anchor="ctr"/>
            <a:lstStyle/>
            <a:p>
              <a:endParaRPr lang="zh-CN" altLang="en-US"/>
            </a:p>
          </p:txBody>
        </p:sp>
        <p:sp>
          <p:nvSpPr>
            <p:cNvPr id="176136" name="Oval 8"/>
            <p:cNvSpPr>
              <a:spLocks noChangeArrowheads="1"/>
            </p:cNvSpPr>
            <p:nvPr/>
          </p:nvSpPr>
          <p:spPr bwMode="auto">
            <a:xfrm>
              <a:off x="4022" y="3497"/>
              <a:ext cx="144" cy="144"/>
            </a:xfrm>
            <a:prstGeom prst="ellipse">
              <a:avLst/>
            </a:prstGeom>
            <a:solidFill>
              <a:srgbClr val="037C03"/>
            </a:solidFill>
            <a:ln w="12700">
              <a:solidFill>
                <a:schemeClr val="tx1"/>
              </a:solidFill>
              <a:round/>
            </a:ln>
            <a:effectLst/>
          </p:spPr>
          <p:txBody>
            <a:bodyPr wrap="none" anchor="ctr"/>
            <a:lstStyle/>
            <a:p>
              <a:endParaRPr lang="zh-CN" altLang="en-US"/>
            </a:p>
          </p:txBody>
        </p:sp>
        <p:sp>
          <p:nvSpPr>
            <p:cNvPr id="176137" name="Oval 9"/>
            <p:cNvSpPr>
              <a:spLocks noChangeArrowheads="1"/>
            </p:cNvSpPr>
            <p:nvPr/>
          </p:nvSpPr>
          <p:spPr bwMode="auto">
            <a:xfrm>
              <a:off x="3696" y="3143"/>
              <a:ext cx="144" cy="144"/>
            </a:xfrm>
            <a:prstGeom prst="ellipse">
              <a:avLst/>
            </a:prstGeom>
            <a:solidFill>
              <a:srgbClr val="FC0128"/>
            </a:solidFill>
            <a:ln w="12700">
              <a:solidFill>
                <a:schemeClr val="tx1"/>
              </a:solidFill>
              <a:round/>
            </a:ln>
            <a:effectLst/>
          </p:spPr>
          <p:txBody>
            <a:bodyPr wrap="none" anchor="ctr"/>
            <a:lstStyle/>
            <a:p>
              <a:endParaRPr lang="zh-CN" altLang="en-US"/>
            </a:p>
          </p:txBody>
        </p:sp>
        <p:sp>
          <p:nvSpPr>
            <p:cNvPr id="176138" name="Rectangle 10"/>
            <p:cNvSpPr>
              <a:spLocks noChangeArrowheads="1"/>
            </p:cNvSpPr>
            <p:nvPr/>
          </p:nvSpPr>
          <p:spPr bwMode="auto">
            <a:xfrm>
              <a:off x="3060" y="2976"/>
              <a:ext cx="768" cy="518"/>
            </a:xfrm>
            <a:prstGeom prst="rect">
              <a:avLst/>
            </a:prstGeom>
            <a:noFill/>
            <a:ln w="12700">
              <a:noFill/>
              <a:miter lim="800000"/>
            </a:ln>
            <a:effectLst/>
          </p:spPr>
          <p:txBody>
            <a:bodyPr>
              <a:spAutoFit/>
            </a:bodyPr>
            <a:lstStyle/>
            <a:p>
              <a:pPr eaLnBrk="0" hangingPunct="0"/>
              <a:r>
                <a:rPr kumimoji="1" lang="zh-CN" altLang="en-US" b="1">
                  <a:latin typeface="宋体" panose="02010600030101010101" pitchFamily="2" charset="-122"/>
                </a:rPr>
                <a:t>被测试</a:t>
              </a:r>
              <a:endParaRPr kumimoji="1" lang="zh-CN" altLang="en-US" b="1">
                <a:latin typeface="宋体" panose="02010600030101010101" pitchFamily="2" charset="-122"/>
              </a:endParaRPr>
            </a:p>
            <a:p>
              <a:pPr eaLnBrk="0" hangingPunct="0"/>
              <a:r>
                <a:rPr kumimoji="1" lang="zh-CN" altLang="en-US" b="1">
                  <a:latin typeface="宋体" panose="02010600030101010101" pitchFamily="2" charset="-122"/>
                </a:rPr>
                <a:t>子  域</a:t>
              </a:r>
              <a:endParaRPr kumimoji="1" lang="zh-CN" altLang="en-US" b="1">
                <a:latin typeface="宋体" panose="02010600030101010101" pitchFamily="2" charset="-122"/>
              </a:endParaRPr>
            </a:p>
          </p:txBody>
        </p:sp>
        <p:sp>
          <p:nvSpPr>
            <p:cNvPr id="176139" name="Line 11"/>
            <p:cNvSpPr>
              <a:spLocks noChangeShapeType="1"/>
            </p:cNvSpPr>
            <p:nvPr/>
          </p:nvSpPr>
          <p:spPr bwMode="auto">
            <a:xfrm flipH="1">
              <a:off x="3984" y="2922"/>
              <a:ext cx="624" cy="29"/>
            </a:xfrm>
            <a:prstGeom prst="line">
              <a:avLst/>
            </a:prstGeom>
            <a:noFill/>
            <a:ln w="12700">
              <a:solidFill>
                <a:schemeClr val="tx1"/>
              </a:solidFill>
              <a:round/>
              <a:tailEnd type="triangle" w="med" len="med"/>
            </a:ln>
            <a:effectLst/>
          </p:spPr>
          <p:txBody>
            <a:bodyPr wrap="none" anchor="ctr"/>
            <a:lstStyle/>
            <a:p>
              <a:endParaRPr lang="zh-CN" altLang="en-US"/>
            </a:p>
          </p:txBody>
        </p:sp>
        <p:sp>
          <p:nvSpPr>
            <p:cNvPr id="176140" name="Line 12"/>
            <p:cNvSpPr>
              <a:spLocks noChangeShapeType="1"/>
            </p:cNvSpPr>
            <p:nvPr/>
          </p:nvSpPr>
          <p:spPr bwMode="auto">
            <a:xfrm flipH="1">
              <a:off x="3888" y="2970"/>
              <a:ext cx="720" cy="221"/>
            </a:xfrm>
            <a:prstGeom prst="line">
              <a:avLst/>
            </a:prstGeom>
            <a:noFill/>
            <a:ln w="12700">
              <a:solidFill>
                <a:schemeClr val="tx1"/>
              </a:solidFill>
              <a:round/>
              <a:tailEnd type="triangle" w="med" len="med"/>
            </a:ln>
            <a:effectLst/>
          </p:spPr>
          <p:txBody>
            <a:bodyPr wrap="none" anchor="ctr"/>
            <a:lstStyle/>
            <a:p>
              <a:endParaRPr lang="zh-CN" altLang="en-US"/>
            </a:p>
          </p:txBody>
        </p:sp>
        <p:sp>
          <p:nvSpPr>
            <p:cNvPr id="176141" name="Rectangle 13"/>
            <p:cNvSpPr>
              <a:spLocks noChangeArrowheads="1"/>
            </p:cNvSpPr>
            <p:nvPr/>
          </p:nvSpPr>
          <p:spPr bwMode="auto">
            <a:xfrm>
              <a:off x="4560" y="2826"/>
              <a:ext cx="1008" cy="288"/>
            </a:xfrm>
            <a:prstGeom prst="rect">
              <a:avLst/>
            </a:prstGeom>
            <a:noFill/>
            <a:ln w="12700">
              <a:noFill/>
              <a:miter lim="800000"/>
            </a:ln>
            <a:effectLst/>
          </p:spPr>
          <p:txBody>
            <a:bodyPr>
              <a:spAutoFit/>
            </a:bodyPr>
            <a:lstStyle/>
            <a:p>
              <a:pPr eaLnBrk="0" hangingPunct="0"/>
              <a:r>
                <a:rPr kumimoji="1" lang="zh-CN" altLang="en-US" b="1">
                  <a:solidFill>
                    <a:srgbClr val="FC0128"/>
                  </a:solidFill>
                  <a:latin typeface="宋体" panose="02010600030101010101" pitchFamily="2" charset="-122"/>
                </a:rPr>
                <a:t>测试内点</a:t>
              </a:r>
              <a:endParaRPr kumimoji="1" lang="zh-CN" altLang="en-US" b="1">
                <a:latin typeface="宋体" panose="02010600030101010101" pitchFamily="2" charset="-122"/>
              </a:endParaRPr>
            </a:p>
          </p:txBody>
        </p:sp>
        <p:sp>
          <p:nvSpPr>
            <p:cNvPr id="176142" name="Line 14"/>
            <p:cNvSpPr>
              <a:spLocks noChangeShapeType="1"/>
            </p:cNvSpPr>
            <p:nvPr/>
          </p:nvSpPr>
          <p:spPr bwMode="auto">
            <a:xfrm flipH="1" flipV="1">
              <a:off x="4214" y="3564"/>
              <a:ext cx="240" cy="19"/>
            </a:xfrm>
            <a:prstGeom prst="line">
              <a:avLst/>
            </a:prstGeom>
            <a:noFill/>
            <a:ln w="38100">
              <a:solidFill>
                <a:schemeClr val="tx1"/>
              </a:solidFill>
              <a:round/>
              <a:tailEnd type="triangle" w="med" len="med"/>
            </a:ln>
            <a:effectLst/>
          </p:spPr>
          <p:txBody>
            <a:bodyPr wrap="none" anchor="ctr"/>
            <a:lstStyle/>
            <a:p>
              <a:endParaRPr lang="zh-CN" altLang="en-US"/>
            </a:p>
          </p:txBody>
        </p:sp>
        <p:sp>
          <p:nvSpPr>
            <p:cNvPr id="176143" name="Rectangle 15"/>
            <p:cNvSpPr>
              <a:spLocks noChangeArrowheads="1"/>
            </p:cNvSpPr>
            <p:nvPr/>
          </p:nvSpPr>
          <p:spPr bwMode="auto">
            <a:xfrm>
              <a:off x="4454" y="3408"/>
              <a:ext cx="888" cy="288"/>
            </a:xfrm>
            <a:prstGeom prst="rect">
              <a:avLst/>
            </a:prstGeom>
            <a:noFill/>
            <a:ln w="12700">
              <a:noFill/>
              <a:miter lim="800000"/>
            </a:ln>
            <a:effectLst/>
          </p:spPr>
          <p:txBody>
            <a:bodyPr wrap="none">
              <a:spAutoFit/>
            </a:bodyPr>
            <a:lstStyle/>
            <a:p>
              <a:pPr eaLnBrk="0" hangingPunct="0"/>
              <a:r>
                <a:rPr kumimoji="1" lang="zh-CN" altLang="en-US" b="1">
                  <a:solidFill>
                    <a:srgbClr val="037C03"/>
                  </a:solidFill>
                  <a:latin typeface="宋体" panose="02010600030101010101" pitchFamily="2" charset="-122"/>
                </a:rPr>
                <a:t>测试外点</a:t>
              </a:r>
              <a:endParaRPr kumimoji="1" lang="zh-CN" altLang="en-US" b="1">
                <a:solidFill>
                  <a:srgbClr val="FC0128"/>
                </a:solidFill>
                <a:latin typeface="宋体" panose="02010600030101010101" pitchFamily="2" charset="-122"/>
              </a:endParaRPr>
            </a:p>
          </p:txBody>
        </p:sp>
      </p:grpSp>
      <p:sp>
        <p:nvSpPr>
          <p:cNvPr id="176144" name="Rectangle 16"/>
          <p:cNvSpPr>
            <a:spLocks noChangeArrowheads="1"/>
          </p:cNvSpPr>
          <p:nvPr/>
        </p:nvSpPr>
        <p:spPr bwMode="auto">
          <a:xfrm>
            <a:off x="539750" y="3068638"/>
            <a:ext cx="7920038" cy="1828800"/>
          </a:xfrm>
          <a:prstGeom prst="rect">
            <a:avLst/>
          </a:prstGeom>
          <a:noFill/>
          <a:ln w="9525">
            <a:noFill/>
            <a:miter lim="800000"/>
          </a:ln>
          <a:effectLst/>
        </p:spPr>
        <p:txBody>
          <a:bodyPr/>
          <a:lstStyle/>
          <a:p>
            <a:pPr eaLnBrk="0" hangingPunct="0">
              <a:spcBef>
                <a:spcPct val="20000"/>
              </a:spcBef>
              <a:buClr>
                <a:schemeClr val="folHlink"/>
              </a:buClr>
              <a:buSzPct val="60000"/>
              <a:buFont typeface="Wingdings" panose="05000000000000000000" pitchFamily="2" charset="2"/>
              <a:buNone/>
            </a:pPr>
            <a:r>
              <a:rPr lang="zh-CN" altLang="en-US" sz="2800" b="1">
                <a:solidFill>
                  <a:srgbClr val="0A0A0E"/>
                </a:solidFill>
              </a:rPr>
              <a:t>边界值测试不是从某等价类中随便挑一个作为代表，而是使这个等价类的每个边界都要作为测试条件</a:t>
            </a:r>
            <a:endParaRPr lang="zh-CN" altLang="en-US" sz="2800" b="1">
              <a:solidFill>
                <a:srgbClr val="0A0A0E"/>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44"/>
                                        </p:tgtEl>
                                        <p:attrNameLst>
                                          <p:attrName>style.visibility</p:attrName>
                                        </p:attrNameLst>
                                      </p:cBhvr>
                                      <p:to>
                                        <p:strVal val="visible"/>
                                      </p:to>
                                    </p:set>
                                    <p:animEffect transition="in" filter="wipe(left)">
                                      <p:cBhvr>
                                        <p:cTn id="7" dur="500"/>
                                        <p:tgtEl>
                                          <p:spTgt spid="1761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6132"/>
                                        </p:tgtEl>
                                        <p:attrNameLst>
                                          <p:attrName>style.visibility</p:attrName>
                                        </p:attrNameLst>
                                      </p:cBhvr>
                                      <p:to>
                                        <p:strVal val="visible"/>
                                      </p:to>
                                    </p:set>
                                    <p:animEffect transition="in" filter="wipe(left)">
                                      <p:cBhvr>
                                        <p:cTn id="12" dur="500"/>
                                        <p:tgtEl>
                                          <p:spTgt spid="176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4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r>
              <a:rPr kumimoji="1" lang="zh-CN" altLang="en-US" sz="3600" smtClean="0">
                <a:solidFill>
                  <a:schemeClr val="tx1"/>
                </a:solidFill>
              </a:rPr>
              <a:t>边界值测试</a:t>
            </a:r>
            <a:r>
              <a:rPr lang="zh-CN" altLang="en-US" sz="3600" smtClean="0">
                <a:solidFill>
                  <a:schemeClr val="tx1"/>
                </a:solidFill>
              </a:rPr>
              <a:t>设计测试用例原则</a:t>
            </a:r>
            <a:endParaRPr lang="zh-CN" altLang="en-US" sz="3600" smtClean="0">
              <a:solidFill>
                <a:schemeClr val="tx1"/>
              </a:solidFill>
              <a:latin typeface="宋体" panose="02010600030101010101" pitchFamily="2" charset="-122"/>
            </a:endParaRPr>
          </a:p>
        </p:txBody>
      </p:sp>
      <p:sp>
        <p:nvSpPr>
          <p:cNvPr id="177155" name="Rectangle 3"/>
          <p:cNvSpPr>
            <a:spLocks noGrp="1" noChangeArrowheads="1"/>
          </p:cNvSpPr>
          <p:nvPr>
            <p:ph type="body" idx="1"/>
          </p:nvPr>
        </p:nvSpPr>
        <p:spPr>
          <a:xfrm>
            <a:off x="673100" y="2032000"/>
            <a:ext cx="8147050" cy="3917950"/>
          </a:xfrm>
        </p:spPr>
        <p:txBody>
          <a:bodyPr/>
          <a:lstStyle/>
          <a:p>
            <a:pPr marL="171450" indent="-171450"/>
            <a:r>
              <a:rPr lang="zh-CN" altLang="en-US" b="1" smtClean="0"/>
              <a:t>如输入条件代表以</a:t>
            </a:r>
            <a:r>
              <a:rPr lang="en-US" altLang="zh-CN" b="1" smtClean="0"/>
              <a:t>a</a:t>
            </a:r>
            <a:r>
              <a:rPr lang="zh-CN" altLang="en-US" b="1" smtClean="0"/>
              <a:t>和</a:t>
            </a:r>
            <a:r>
              <a:rPr lang="en-US" altLang="zh-CN" b="1" smtClean="0"/>
              <a:t>b</a:t>
            </a:r>
            <a:r>
              <a:rPr lang="zh-CN" altLang="en-US" b="1" smtClean="0"/>
              <a:t>为边界的范围，测试用例应包含</a:t>
            </a:r>
            <a:r>
              <a:rPr lang="en-US" altLang="zh-CN" b="1" smtClean="0"/>
              <a:t>a</a:t>
            </a:r>
            <a:r>
              <a:rPr lang="zh-CN" altLang="en-US" b="1" smtClean="0"/>
              <a:t>、</a:t>
            </a:r>
            <a:r>
              <a:rPr lang="en-US" altLang="zh-CN" b="1" smtClean="0"/>
              <a:t>b</a:t>
            </a:r>
            <a:r>
              <a:rPr lang="zh-CN" altLang="en-US" b="1" smtClean="0"/>
              <a:t>、略大于 </a:t>
            </a:r>
            <a:r>
              <a:rPr lang="en-US" altLang="zh-CN" b="1" smtClean="0"/>
              <a:t>a </a:t>
            </a:r>
            <a:r>
              <a:rPr lang="zh-CN" altLang="en-US" b="1" smtClean="0"/>
              <a:t>和略小于 </a:t>
            </a:r>
            <a:r>
              <a:rPr lang="en-US" altLang="zh-CN" b="1" smtClean="0"/>
              <a:t>b  </a:t>
            </a:r>
            <a:r>
              <a:rPr lang="zh-CN" altLang="en-US" b="1" smtClean="0"/>
              <a:t>的值</a:t>
            </a:r>
            <a:endParaRPr lang="zh-CN" altLang="en-US" b="1" smtClean="0">
              <a:latin typeface="宋体" panose="02010600030101010101" pitchFamily="2" charset="-122"/>
            </a:endParaRPr>
          </a:p>
        </p:txBody>
      </p:sp>
    </p:spTree>
  </p:cSld>
  <p:clrMapOvr>
    <a:masterClrMapping/>
  </p:clrMapOvr>
  <p:transition>
    <p:wipe dir="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r>
              <a:rPr kumimoji="1" lang="zh-CN" altLang="en-US" sz="3600" b="1" smtClean="0">
                <a:solidFill>
                  <a:schemeClr val="tx1"/>
                </a:solidFill>
              </a:rPr>
              <a:t>边界值测试</a:t>
            </a:r>
            <a:r>
              <a:rPr lang="zh-CN" altLang="en-US" sz="3600" b="1" smtClean="0">
                <a:solidFill>
                  <a:schemeClr val="tx1"/>
                </a:solidFill>
                <a:latin typeface="宋体" panose="02010600030101010101" pitchFamily="2" charset="-122"/>
              </a:rPr>
              <a:t>设计测试用例原则</a:t>
            </a:r>
            <a:endParaRPr lang="zh-CN" altLang="en-US" sz="3600" b="1" smtClean="0">
              <a:solidFill>
                <a:schemeClr val="tx1"/>
              </a:solidFill>
              <a:latin typeface="宋体" panose="02010600030101010101" pitchFamily="2" charset="-122"/>
            </a:endParaRPr>
          </a:p>
        </p:txBody>
      </p:sp>
      <p:sp>
        <p:nvSpPr>
          <p:cNvPr id="178179" name="Rectangle 3"/>
          <p:cNvSpPr>
            <a:spLocks noGrp="1" noChangeArrowheads="1"/>
          </p:cNvSpPr>
          <p:nvPr>
            <p:ph type="body" idx="1"/>
          </p:nvPr>
        </p:nvSpPr>
        <p:spPr>
          <a:xfrm>
            <a:off x="755650" y="1989138"/>
            <a:ext cx="7772400" cy="4114800"/>
          </a:xfrm>
        </p:spPr>
        <p:txBody>
          <a:bodyPr/>
          <a:lstStyle/>
          <a:p>
            <a:pPr marL="273050" indent="-273050"/>
            <a:r>
              <a:rPr lang="zh-CN" altLang="en-US" sz="2800" b="1" smtClean="0">
                <a:solidFill>
                  <a:schemeClr val="hlink"/>
                </a:solidFill>
                <a:latin typeface="宋体" panose="02010600030101010101" pitchFamily="2" charset="-122"/>
              </a:rPr>
              <a:t>例：</a:t>
            </a:r>
            <a:r>
              <a:rPr lang="zh-CN" altLang="en-US" sz="2800" b="1" smtClean="0">
                <a:latin typeface="Times New Roman" panose="02020603050405020304" pitchFamily="18" charset="0"/>
              </a:rPr>
              <a:t>每日保险扣除额在</a:t>
            </a:r>
            <a:r>
              <a:rPr lang="en-US" altLang="zh-CN" sz="2800" b="1" smtClean="0">
                <a:latin typeface="Times New Roman" panose="02020603050405020304" pitchFamily="18" charset="0"/>
              </a:rPr>
              <a:t>0</a:t>
            </a:r>
            <a:r>
              <a:rPr lang="zh-CN" altLang="en-US" sz="2800" b="1" smtClean="0">
                <a:latin typeface="Times New Roman" panose="02020603050405020304" pitchFamily="18" charset="0"/>
              </a:rPr>
              <a:t>～</a:t>
            </a:r>
            <a:r>
              <a:rPr lang="en-US" altLang="zh-CN" sz="2800" b="1" smtClean="0">
                <a:latin typeface="Times New Roman" panose="02020603050405020304" pitchFamily="18" charset="0"/>
              </a:rPr>
              <a:t>1165.25 </a:t>
            </a:r>
            <a:r>
              <a:rPr lang="zh-CN" altLang="en-US" sz="2800" b="1" smtClean="0">
                <a:latin typeface="Times New Roman" panose="02020603050405020304" pitchFamily="18" charset="0"/>
              </a:rPr>
              <a:t>元</a:t>
            </a:r>
            <a:endParaRPr lang="zh-CN" altLang="en-US" sz="2800" b="1" smtClean="0">
              <a:latin typeface="Times New Roman" panose="02020603050405020304" pitchFamily="18" charset="0"/>
            </a:endParaRPr>
          </a:p>
          <a:p>
            <a:pPr marL="273050" indent="-273050">
              <a:buFont typeface="Wingdings" panose="05000000000000000000" pitchFamily="2" charset="2"/>
              <a:buNone/>
            </a:pPr>
            <a:r>
              <a:rPr lang="zh-CN" altLang="en-US" sz="2800" b="1" smtClean="0">
                <a:solidFill>
                  <a:schemeClr val="hlink"/>
                </a:solidFill>
                <a:latin typeface="宋体" panose="02010600030101010101" pitchFamily="2" charset="-122"/>
              </a:rPr>
              <a:t> 则：</a:t>
            </a:r>
            <a:r>
              <a:rPr lang="zh-CN" altLang="en-US" sz="2800" b="1" smtClean="0">
                <a:latin typeface="宋体" panose="02010600030101010101" pitchFamily="2" charset="-122"/>
              </a:rPr>
              <a:t>应设计测试用例使其恰好产生</a:t>
            </a:r>
            <a:r>
              <a:rPr lang="en-US" altLang="zh-CN" sz="2800" b="1" smtClean="0">
                <a:solidFill>
                  <a:schemeClr val="hlink"/>
                </a:solidFill>
                <a:latin typeface="宋体" panose="02010600030101010101" pitchFamily="2" charset="-122"/>
              </a:rPr>
              <a:t>0</a:t>
            </a:r>
            <a:r>
              <a:rPr lang="zh-CN" altLang="en-US" sz="2800" b="1" smtClean="0">
                <a:solidFill>
                  <a:schemeClr val="hlink"/>
                </a:solidFill>
                <a:latin typeface="宋体" panose="02010600030101010101" pitchFamily="2" charset="-122"/>
              </a:rPr>
              <a:t>元和</a:t>
            </a:r>
            <a:r>
              <a:rPr lang="en-US" altLang="zh-CN" sz="2800" b="1" smtClean="0">
                <a:solidFill>
                  <a:schemeClr val="hlink"/>
                </a:solidFill>
                <a:latin typeface="宋体" panose="02010600030101010101" pitchFamily="2" charset="-122"/>
              </a:rPr>
              <a:t>1165.25</a:t>
            </a:r>
            <a:r>
              <a:rPr lang="zh-CN" altLang="en-US" sz="2800" b="1" smtClean="0">
                <a:solidFill>
                  <a:schemeClr val="hlink"/>
                </a:solidFill>
                <a:latin typeface="宋体" panose="02010600030101010101" pitchFamily="2" charset="-122"/>
              </a:rPr>
              <a:t>元</a:t>
            </a:r>
            <a:r>
              <a:rPr lang="zh-CN" altLang="en-US" sz="2800" b="1" smtClean="0">
                <a:latin typeface="宋体" panose="02010600030101010101" pitchFamily="2" charset="-122"/>
              </a:rPr>
              <a:t>的结果</a:t>
            </a:r>
            <a:r>
              <a:rPr lang="en-US" altLang="zh-CN" sz="2800" b="1" smtClean="0">
                <a:latin typeface="宋体" panose="02010600030101010101" pitchFamily="2" charset="-122"/>
              </a:rPr>
              <a:t>, </a:t>
            </a:r>
            <a:r>
              <a:rPr lang="zh-CN" altLang="en-US" sz="2800" b="1" smtClean="0">
                <a:latin typeface="宋体" panose="02010600030101010101" pitchFamily="2" charset="-122"/>
              </a:rPr>
              <a:t>此外还应考虑设计结果为</a:t>
            </a:r>
            <a:r>
              <a:rPr lang="zh-CN" altLang="en-US" sz="2800" b="1" smtClean="0">
                <a:solidFill>
                  <a:schemeClr val="hlink"/>
                </a:solidFill>
                <a:latin typeface="宋体" panose="02010600030101010101" pitchFamily="2" charset="-122"/>
              </a:rPr>
              <a:t>负值</a:t>
            </a:r>
            <a:r>
              <a:rPr lang="zh-CN" altLang="en-US" sz="2800" b="1" smtClean="0">
                <a:latin typeface="宋体" panose="02010600030101010101" pitchFamily="2" charset="-122"/>
              </a:rPr>
              <a:t>或 </a:t>
            </a:r>
            <a:r>
              <a:rPr lang="en-US" altLang="zh-CN" sz="2800" b="1" smtClean="0">
                <a:solidFill>
                  <a:schemeClr val="hlink"/>
                </a:solidFill>
                <a:latin typeface="宋体" panose="02010600030101010101" pitchFamily="2" charset="-122"/>
              </a:rPr>
              <a:t>&gt;1165.25</a:t>
            </a:r>
            <a:r>
              <a:rPr lang="zh-CN" altLang="en-US" sz="2800" b="1" smtClean="0">
                <a:solidFill>
                  <a:schemeClr val="hlink"/>
                </a:solidFill>
                <a:latin typeface="宋体" panose="02010600030101010101" pitchFamily="2" charset="-122"/>
              </a:rPr>
              <a:t>元</a:t>
            </a:r>
            <a:r>
              <a:rPr lang="zh-CN" altLang="en-US" sz="2800" b="1" smtClean="0">
                <a:latin typeface="宋体" panose="02010600030101010101" pitchFamily="2" charset="-122"/>
              </a:rPr>
              <a:t>的测试用例。</a:t>
            </a:r>
            <a:endParaRPr lang="zh-CN" altLang="en-US" sz="2800" b="1" smtClean="0">
              <a:latin typeface="宋体" panose="02010600030101010101" pitchFamily="2" charset="-122"/>
            </a:endParaRPr>
          </a:p>
          <a:p>
            <a:pPr marL="273050" indent="-273050">
              <a:buFont typeface="Wingdings" panose="05000000000000000000" pitchFamily="2" charset="2"/>
              <a:buNone/>
            </a:pPr>
            <a:r>
              <a:rPr lang="zh-CN" altLang="en-US" sz="2800" b="1" smtClean="0">
                <a:latin typeface="宋体" panose="02010600030101010101" pitchFamily="2" charset="-122"/>
              </a:rPr>
              <a:t>  </a:t>
            </a:r>
            <a:r>
              <a:rPr lang="en-US" altLang="zh-CN" sz="2800" b="1" smtClean="0">
                <a:latin typeface="宋体" panose="02010600030101010101" pitchFamily="2" charset="-122"/>
              </a:rPr>
              <a:t>(</a:t>
            </a:r>
            <a:r>
              <a:rPr lang="zh-CN" altLang="en-US" sz="2800" b="1" smtClean="0">
                <a:latin typeface="宋体" panose="02010600030101010101" pitchFamily="2" charset="-122"/>
              </a:rPr>
              <a:t>如</a:t>
            </a:r>
            <a:r>
              <a:rPr lang="en-US" altLang="zh-CN" sz="2800" b="1" smtClean="0">
                <a:latin typeface="宋体" panose="02010600030101010101" pitchFamily="2" charset="-122"/>
              </a:rPr>
              <a:t>: </a:t>
            </a:r>
            <a:r>
              <a:rPr lang="en-US" altLang="zh-CN" sz="2800" b="1" smtClean="0">
                <a:solidFill>
                  <a:schemeClr val="hlink"/>
                </a:solidFill>
                <a:latin typeface="宋体" panose="02010600030101010101" pitchFamily="2" charset="-122"/>
              </a:rPr>
              <a:t>-0.01</a:t>
            </a:r>
            <a:r>
              <a:rPr lang="zh-CN" altLang="en-US" sz="2800" b="1" smtClean="0">
                <a:solidFill>
                  <a:schemeClr val="hlink"/>
                </a:solidFill>
                <a:latin typeface="宋体" panose="02010600030101010101" pitchFamily="2" charset="-122"/>
              </a:rPr>
              <a:t>元和</a:t>
            </a:r>
            <a:r>
              <a:rPr lang="en-US" altLang="zh-CN" sz="2800" b="1" smtClean="0">
                <a:solidFill>
                  <a:schemeClr val="hlink"/>
                </a:solidFill>
                <a:latin typeface="宋体" panose="02010600030101010101" pitchFamily="2" charset="-122"/>
              </a:rPr>
              <a:t>1165.26</a:t>
            </a:r>
            <a:r>
              <a:rPr lang="zh-CN" altLang="en-US" sz="2800" b="1" smtClean="0">
                <a:solidFill>
                  <a:schemeClr val="hlink"/>
                </a:solidFill>
                <a:latin typeface="宋体" panose="02010600030101010101" pitchFamily="2" charset="-122"/>
              </a:rPr>
              <a:t>元</a:t>
            </a:r>
            <a:r>
              <a:rPr lang="en-US" altLang="zh-CN" sz="2800" b="1" smtClean="0">
                <a:latin typeface="宋体" panose="02010600030101010101" pitchFamily="2" charset="-122"/>
              </a:rPr>
              <a:t>)</a:t>
            </a:r>
            <a:endParaRPr lang="en-US" altLang="zh-CN" sz="2800" b="1" smtClean="0">
              <a:latin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Effect transition="in" filter="wipe(left)">
                                      <p:cBhvr>
                                        <p:cTn id="7" dur="500"/>
                                        <p:tgtEl>
                                          <p:spTgt spid="178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8179">
                                            <p:txEl>
                                              <p:pRg st="1" end="1"/>
                                            </p:txEl>
                                          </p:spTgt>
                                        </p:tgtEl>
                                        <p:attrNameLst>
                                          <p:attrName>style.visibility</p:attrName>
                                        </p:attrNameLst>
                                      </p:cBhvr>
                                      <p:to>
                                        <p:strVal val="visible"/>
                                      </p:to>
                                    </p:set>
                                    <p:animEffect transition="in" filter="wipe(left)">
                                      <p:cBhvr>
                                        <p:cTn id="12" dur="500"/>
                                        <p:tgtEl>
                                          <p:spTgt spid="178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8179">
                                            <p:txEl>
                                              <p:pRg st="2" end="2"/>
                                            </p:txEl>
                                          </p:spTgt>
                                        </p:tgtEl>
                                        <p:attrNameLst>
                                          <p:attrName>style.visibility</p:attrName>
                                        </p:attrNameLst>
                                      </p:cBhvr>
                                      <p:to>
                                        <p:strVal val="visible"/>
                                      </p:to>
                                    </p:set>
                                    <p:animEffect transition="in" filter="wipe(left)">
                                      <p:cBhvr>
                                        <p:cTn id="17" dur="500"/>
                                        <p:tgtEl>
                                          <p:spTgt spid="1781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r>
              <a:rPr kumimoji="1" lang="zh-CN" altLang="en-US" sz="3600" b="1" smtClean="0">
                <a:solidFill>
                  <a:schemeClr val="tx1"/>
                </a:solidFill>
              </a:rPr>
              <a:t>边界值测试</a:t>
            </a:r>
            <a:r>
              <a:rPr lang="zh-CN" altLang="en-US" sz="3600" b="1" smtClean="0">
                <a:solidFill>
                  <a:schemeClr val="tx1"/>
                </a:solidFill>
                <a:latin typeface="宋体" panose="02010600030101010101" pitchFamily="2" charset="-122"/>
              </a:rPr>
              <a:t>设计测试用例原则</a:t>
            </a:r>
            <a:endParaRPr lang="zh-CN" altLang="en-US" sz="3600" b="1" smtClean="0">
              <a:solidFill>
                <a:schemeClr val="tx1"/>
              </a:solidFill>
              <a:latin typeface="宋体" panose="02010600030101010101" pitchFamily="2" charset="-122"/>
            </a:endParaRPr>
          </a:p>
        </p:txBody>
      </p:sp>
      <p:sp>
        <p:nvSpPr>
          <p:cNvPr id="179203" name="Rectangle 3"/>
          <p:cNvSpPr>
            <a:spLocks noGrp="1" noChangeArrowheads="1"/>
          </p:cNvSpPr>
          <p:nvPr>
            <p:ph type="body" idx="1"/>
          </p:nvPr>
        </p:nvSpPr>
        <p:spPr>
          <a:xfrm>
            <a:off x="673100" y="2032000"/>
            <a:ext cx="8147050" cy="3917950"/>
          </a:xfrm>
        </p:spPr>
        <p:txBody>
          <a:bodyPr/>
          <a:lstStyle/>
          <a:p>
            <a:pPr marL="171450" indent="-171450"/>
            <a:r>
              <a:rPr lang="zh-CN" altLang="en-US" sz="2800" b="1" smtClean="0"/>
              <a:t>如输入条件代表一组值，测试用例应当执行其中的最大值和最小值，还应测试略大于最大值和略小于最小值的值</a:t>
            </a:r>
            <a:endParaRPr lang="zh-CN" altLang="en-US" sz="2800" b="1" smtClean="0"/>
          </a:p>
        </p:txBody>
      </p:sp>
    </p:spTree>
  </p:cSld>
  <p:clrMapOvr>
    <a:masterClrMapping/>
  </p:clrMapOvr>
  <p:transition>
    <p:wipe dir="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kumimoji="1" lang="zh-CN" altLang="en-US" sz="3600" b="1" smtClean="0">
                <a:solidFill>
                  <a:schemeClr val="tx1"/>
                </a:solidFill>
              </a:rPr>
              <a:t>边界值测试</a:t>
            </a:r>
            <a:r>
              <a:rPr lang="zh-CN" altLang="en-US" sz="3600" b="1" smtClean="0">
                <a:solidFill>
                  <a:schemeClr val="tx1"/>
                </a:solidFill>
                <a:latin typeface="Times New Roman" panose="02020603050405020304" pitchFamily="18" charset="0"/>
              </a:rPr>
              <a:t>设计测试用例</a:t>
            </a:r>
            <a:r>
              <a:rPr lang="zh-CN" altLang="en-US" sz="3600" b="1" smtClean="0">
                <a:solidFill>
                  <a:schemeClr val="tx1"/>
                </a:solidFill>
              </a:rPr>
              <a:t>举例</a:t>
            </a:r>
            <a:endParaRPr lang="zh-CN" altLang="en-US" sz="3600" b="1" smtClean="0">
              <a:solidFill>
                <a:schemeClr val="tx1"/>
              </a:solidFill>
            </a:endParaRPr>
          </a:p>
        </p:txBody>
      </p:sp>
      <p:sp>
        <p:nvSpPr>
          <p:cNvPr id="180227" name="Rectangle 3"/>
          <p:cNvSpPr>
            <a:spLocks noGrp="1" noChangeArrowheads="1"/>
          </p:cNvSpPr>
          <p:nvPr>
            <p:ph type="body" idx="1"/>
          </p:nvPr>
        </p:nvSpPr>
        <p:spPr>
          <a:xfrm>
            <a:off x="673100" y="2032000"/>
            <a:ext cx="8147050" cy="2189163"/>
          </a:xfrm>
        </p:spPr>
        <p:txBody>
          <a:bodyPr/>
          <a:lstStyle/>
          <a:p>
            <a:pPr marL="171450" indent="-171450">
              <a:lnSpc>
                <a:spcPct val="90000"/>
              </a:lnSpc>
              <a:buFont typeface="Wingdings" panose="05000000000000000000" pitchFamily="2" charset="2"/>
              <a:buNone/>
            </a:pPr>
            <a:r>
              <a:rPr lang="zh-CN" altLang="en-US" sz="2800" b="1" smtClean="0">
                <a:solidFill>
                  <a:schemeClr val="hlink"/>
                </a:solidFill>
                <a:latin typeface="Times New Roman" panose="02020603050405020304" pitchFamily="18" charset="0"/>
              </a:rPr>
              <a:t>例：</a:t>
            </a:r>
            <a:r>
              <a:rPr lang="zh-CN" altLang="en-US" sz="2800" b="1" smtClean="0">
                <a:latin typeface="Times New Roman" panose="02020603050405020304" pitchFamily="18" charset="0"/>
              </a:rPr>
              <a:t>邮件收费规定 </a:t>
            </a:r>
            <a:r>
              <a:rPr lang="en-US" altLang="zh-CN" sz="2800" b="1" smtClean="0">
                <a:latin typeface="Times New Roman" panose="02020603050405020304" pitchFamily="18" charset="0"/>
              </a:rPr>
              <a:t>1</a:t>
            </a:r>
            <a:r>
              <a:rPr lang="zh-CN" altLang="en-US" sz="2800" b="1" smtClean="0">
                <a:latin typeface="Times New Roman" panose="02020603050405020304" pitchFamily="18" charset="0"/>
              </a:rPr>
              <a:t>～</a:t>
            </a:r>
            <a:r>
              <a:rPr lang="en-US" altLang="zh-CN" sz="2800" b="1" smtClean="0">
                <a:latin typeface="Times New Roman" panose="02020603050405020304" pitchFamily="18" charset="0"/>
              </a:rPr>
              <a:t>5 kg</a:t>
            </a:r>
            <a:r>
              <a:rPr lang="zh-CN" altLang="en-US" sz="2800" b="1" smtClean="0">
                <a:latin typeface="Times New Roman" panose="02020603050405020304" pitchFamily="18" charset="0"/>
              </a:rPr>
              <a:t>收费</a:t>
            </a:r>
            <a:r>
              <a:rPr lang="en-US" altLang="zh-CN" sz="2800" b="1" smtClean="0">
                <a:latin typeface="Times New Roman" panose="02020603050405020304" pitchFamily="18" charset="0"/>
              </a:rPr>
              <a:t>2</a:t>
            </a:r>
            <a:r>
              <a:rPr lang="zh-CN" altLang="en-US" sz="2800" b="1" smtClean="0">
                <a:latin typeface="Times New Roman" panose="02020603050405020304" pitchFamily="18" charset="0"/>
              </a:rPr>
              <a:t>元</a:t>
            </a:r>
            <a:endParaRPr lang="zh-CN" altLang="en-US" sz="2800" b="1" smtClean="0">
              <a:latin typeface="Times New Roman" panose="02020603050405020304" pitchFamily="18" charset="0"/>
            </a:endParaRPr>
          </a:p>
          <a:p>
            <a:pPr marL="171450" indent="-171450">
              <a:lnSpc>
                <a:spcPct val="90000"/>
              </a:lnSpc>
              <a:buFont typeface="Wingdings" panose="05000000000000000000" pitchFamily="2" charset="2"/>
              <a:buNone/>
            </a:pPr>
            <a:r>
              <a:rPr lang="zh-CN" altLang="en-US" sz="2800" b="1" smtClean="0">
                <a:solidFill>
                  <a:schemeClr val="hlink"/>
                </a:solidFill>
                <a:latin typeface="Times New Roman" panose="02020603050405020304" pitchFamily="18" charset="0"/>
              </a:rPr>
              <a:t>则：</a:t>
            </a:r>
            <a:r>
              <a:rPr lang="zh-CN" altLang="en-US" sz="2800" b="1" smtClean="0">
                <a:latin typeface="Times New Roman" panose="02020603050405020304" pitchFamily="18" charset="0"/>
              </a:rPr>
              <a:t>应设计测试用例</a:t>
            </a:r>
            <a:r>
              <a:rPr lang="en-US" altLang="zh-CN" sz="2800" b="1" smtClean="0">
                <a:latin typeface="Times New Roman" panose="02020603050405020304" pitchFamily="18" charset="0"/>
              </a:rPr>
              <a:t>:</a:t>
            </a:r>
            <a:endParaRPr lang="en-US" altLang="zh-CN" sz="2800" b="1" smtClean="0">
              <a:latin typeface="Times New Roman" panose="02020603050405020304" pitchFamily="18" charset="0"/>
            </a:endParaRPr>
          </a:p>
          <a:p>
            <a:pPr marL="171450" indent="-171450">
              <a:lnSpc>
                <a:spcPct val="90000"/>
              </a:lnSpc>
              <a:buFont typeface="Wingdings" panose="05000000000000000000" pitchFamily="2" charset="2"/>
              <a:buNone/>
            </a:pPr>
            <a:r>
              <a:rPr lang="en-US" altLang="zh-CN" sz="2800" b="1" smtClean="0">
                <a:latin typeface="Times New Roman" panose="02020603050405020304" pitchFamily="18" charset="0"/>
              </a:rPr>
              <a:t>         </a:t>
            </a:r>
            <a:r>
              <a:rPr lang="en-US" altLang="zh-CN" sz="2800" b="1" smtClean="0">
                <a:solidFill>
                  <a:schemeClr val="hlink"/>
                </a:solidFill>
                <a:latin typeface="Times New Roman" panose="02020603050405020304" pitchFamily="18" charset="0"/>
              </a:rPr>
              <a:t>0.9</a:t>
            </a:r>
            <a:r>
              <a:rPr lang="zh-CN" altLang="en-US" sz="2800" b="1" smtClean="0">
                <a:solidFill>
                  <a:schemeClr val="hlink"/>
                </a:solidFill>
                <a:latin typeface="Times New Roman" panose="02020603050405020304" pitchFamily="18" charset="0"/>
              </a:rPr>
              <a:t>，</a:t>
            </a:r>
            <a:r>
              <a:rPr lang="en-US" altLang="zh-CN" sz="2800" b="1" smtClean="0">
                <a:solidFill>
                  <a:schemeClr val="hlink"/>
                </a:solidFill>
                <a:latin typeface="Times New Roman" panose="02020603050405020304" pitchFamily="18" charset="0"/>
              </a:rPr>
              <a:t>1</a:t>
            </a:r>
            <a:r>
              <a:rPr lang="zh-CN" altLang="en-US" sz="2800" b="1" smtClean="0">
                <a:solidFill>
                  <a:schemeClr val="hlink"/>
                </a:solidFill>
                <a:latin typeface="Times New Roman" panose="02020603050405020304" pitchFamily="18" charset="0"/>
              </a:rPr>
              <a:t>， </a:t>
            </a:r>
            <a:r>
              <a:rPr lang="en-US" altLang="zh-CN" sz="2800" b="1" smtClean="0">
                <a:solidFill>
                  <a:schemeClr val="hlink"/>
                </a:solidFill>
                <a:latin typeface="Times New Roman" panose="02020603050405020304" pitchFamily="18" charset="0"/>
              </a:rPr>
              <a:t>5</a:t>
            </a:r>
            <a:r>
              <a:rPr lang="zh-CN" altLang="en-US" sz="2800" b="1" smtClean="0">
                <a:solidFill>
                  <a:schemeClr val="hlink"/>
                </a:solidFill>
                <a:latin typeface="Times New Roman" panose="02020603050405020304" pitchFamily="18" charset="0"/>
              </a:rPr>
              <a:t>，</a:t>
            </a:r>
            <a:r>
              <a:rPr lang="en-US" altLang="zh-CN" sz="2800" b="1" smtClean="0">
                <a:solidFill>
                  <a:schemeClr val="hlink"/>
                </a:solidFill>
                <a:latin typeface="Times New Roman" panose="02020603050405020304" pitchFamily="18" charset="0"/>
              </a:rPr>
              <a:t>5.1 kg</a:t>
            </a:r>
            <a:endParaRPr lang="en-US" altLang="zh-CN" sz="2800" b="1" smtClean="0">
              <a:solidFill>
                <a:schemeClr val="hlink"/>
              </a:solidFill>
              <a:latin typeface="Times New Roman" panose="02020603050405020304" pitchFamily="18" charset="0"/>
            </a:endParaRPr>
          </a:p>
          <a:p>
            <a:pPr marL="171450" indent="-171450">
              <a:lnSpc>
                <a:spcPct val="90000"/>
              </a:lnSpc>
              <a:buFont typeface="Wingdings" panose="05000000000000000000" pitchFamily="2" charset="2"/>
              <a:buNone/>
            </a:pPr>
            <a:r>
              <a:rPr lang="en-US" altLang="zh-CN" sz="2800" b="1" smtClean="0">
                <a:solidFill>
                  <a:schemeClr val="hlink"/>
                </a:solidFill>
                <a:latin typeface="Times New Roman" panose="02020603050405020304" pitchFamily="18" charset="0"/>
              </a:rPr>
              <a:t>    </a:t>
            </a:r>
            <a:r>
              <a:rPr lang="zh-CN" altLang="en-US" sz="2800" b="1" smtClean="0">
                <a:solidFill>
                  <a:schemeClr val="hlink"/>
                </a:solidFill>
                <a:latin typeface="Times New Roman" panose="02020603050405020304" pitchFamily="18" charset="0"/>
              </a:rPr>
              <a:t>或 </a:t>
            </a:r>
            <a:r>
              <a:rPr lang="en-US" altLang="zh-CN" sz="2800" b="1" smtClean="0">
                <a:solidFill>
                  <a:schemeClr val="hlink"/>
                </a:solidFill>
                <a:latin typeface="Times New Roman" panose="02020603050405020304" pitchFamily="18" charset="0"/>
              </a:rPr>
              <a:t>0.99</a:t>
            </a:r>
            <a:r>
              <a:rPr lang="zh-CN" altLang="en-US" sz="2800" b="1" smtClean="0">
                <a:solidFill>
                  <a:schemeClr val="hlink"/>
                </a:solidFill>
                <a:latin typeface="Times New Roman" panose="02020603050405020304" pitchFamily="18" charset="0"/>
              </a:rPr>
              <a:t>，</a:t>
            </a:r>
            <a:r>
              <a:rPr lang="en-US" altLang="zh-CN" sz="2800" b="1" smtClean="0">
                <a:solidFill>
                  <a:schemeClr val="hlink"/>
                </a:solidFill>
                <a:latin typeface="Times New Roman" panose="02020603050405020304" pitchFamily="18" charset="0"/>
              </a:rPr>
              <a:t>1</a:t>
            </a:r>
            <a:r>
              <a:rPr lang="zh-CN" altLang="en-US" sz="2800" b="1" smtClean="0">
                <a:solidFill>
                  <a:schemeClr val="hlink"/>
                </a:solidFill>
                <a:latin typeface="Times New Roman" panose="02020603050405020304" pitchFamily="18" charset="0"/>
              </a:rPr>
              <a:t>， </a:t>
            </a:r>
            <a:r>
              <a:rPr lang="en-US" altLang="zh-CN" sz="2800" b="1" smtClean="0">
                <a:solidFill>
                  <a:schemeClr val="hlink"/>
                </a:solidFill>
                <a:latin typeface="Times New Roman" panose="02020603050405020304" pitchFamily="18" charset="0"/>
              </a:rPr>
              <a:t>5</a:t>
            </a:r>
            <a:r>
              <a:rPr lang="zh-CN" altLang="en-US" sz="2800" b="1" smtClean="0">
                <a:solidFill>
                  <a:schemeClr val="hlink"/>
                </a:solidFill>
                <a:latin typeface="Times New Roman" panose="02020603050405020304" pitchFamily="18" charset="0"/>
              </a:rPr>
              <a:t>，</a:t>
            </a:r>
            <a:r>
              <a:rPr lang="en-US" altLang="zh-CN" sz="2800" b="1" smtClean="0">
                <a:solidFill>
                  <a:schemeClr val="hlink"/>
                </a:solidFill>
                <a:latin typeface="Times New Roman" panose="02020603050405020304" pitchFamily="18" charset="0"/>
              </a:rPr>
              <a:t>5.01 kg</a:t>
            </a:r>
            <a:endParaRPr lang="en-US" altLang="zh-CN" sz="2800" b="1" smtClean="0">
              <a:solidFill>
                <a:schemeClr val="hlink"/>
              </a:solidFill>
              <a:latin typeface="Times New Roman" panose="02020603050405020304" pitchFamily="18" charset="0"/>
            </a:endParaRPr>
          </a:p>
        </p:txBody>
      </p:sp>
      <p:sp>
        <p:nvSpPr>
          <p:cNvPr id="180228" name="Rectangle 4"/>
          <p:cNvSpPr>
            <a:spLocks noChangeArrowheads="1"/>
          </p:cNvSpPr>
          <p:nvPr/>
        </p:nvSpPr>
        <p:spPr bwMode="auto">
          <a:xfrm>
            <a:off x="673100" y="4191000"/>
            <a:ext cx="8147050" cy="2117725"/>
          </a:xfrm>
          <a:prstGeom prst="rect">
            <a:avLst/>
          </a:prstGeom>
          <a:noFill/>
          <a:ln w="9525">
            <a:noFill/>
            <a:miter lim="800000"/>
          </a:ln>
          <a:effectLst/>
        </p:spPr>
        <p:txBody>
          <a:bodyPr/>
          <a:lstStyle/>
          <a:p>
            <a:pPr marL="171450" indent="-171450" eaLnBrk="0" hangingPunct="0">
              <a:lnSpc>
                <a:spcPct val="90000"/>
              </a:lnSpc>
              <a:spcBef>
                <a:spcPct val="20000"/>
              </a:spcBef>
              <a:buClr>
                <a:schemeClr val="folHlink"/>
              </a:buClr>
              <a:buSzPct val="60000"/>
              <a:buFont typeface="Wingdings" panose="05000000000000000000" pitchFamily="2" charset="2"/>
              <a:buNone/>
            </a:pPr>
            <a:r>
              <a:rPr lang="zh-CN" altLang="en-US" sz="2800" b="1">
                <a:solidFill>
                  <a:schemeClr val="hlink"/>
                </a:solidFill>
                <a:latin typeface="Times New Roman" panose="02020603050405020304" pitchFamily="18" charset="0"/>
              </a:rPr>
              <a:t>例：</a:t>
            </a:r>
            <a:r>
              <a:rPr lang="zh-CN" altLang="en-US" sz="2800" b="1">
                <a:solidFill>
                  <a:srgbClr val="0A0A0E"/>
                </a:solidFill>
                <a:latin typeface="Times New Roman" panose="02020603050405020304" pitchFamily="18" charset="0"/>
              </a:rPr>
              <a:t>一个数据库表可有</a:t>
            </a:r>
            <a:r>
              <a:rPr lang="en-US" altLang="zh-CN" sz="2800" b="1">
                <a:solidFill>
                  <a:srgbClr val="0A0A0E"/>
                </a:solidFill>
                <a:latin typeface="Times New Roman" panose="02020603050405020304" pitchFamily="18" charset="0"/>
              </a:rPr>
              <a:t>1</a:t>
            </a:r>
            <a:r>
              <a:rPr lang="zh-CN" altLang="en-US" sz="2800" b="1">
                <a:solidFill>
                  <a:srgbClr val="0A0A0E"/>
                </a:solidFill>
                <a:latin typeface="Times New Roman" panose="02020603050405020304" pitchFamily="18" charset="0"/>
              </a:rPr>
              <a:t>～</a:t>
            </a:r>
            <a:r>
              <a:rPr lang="en-US" altLang="zh-CN" sz="2800" b="1">
                <a:solidFill>
                  <a:srgbClr val="0A0A0E"/>
                </a:solidFill>
                <a:latin typeface="Times New Roman" panose="02020603050405020304" pitchFamily="18" charset="0"/>
              </a:rPr>
              <a:t>255</a:t>
            </a:r>
            <a:r>
              <a:rPr lang="zh-CN" altLang="en-US" sz="2800" b="1">
                <a:solidFill>
                  <a:srgbClr val="0A0A0E"/>
                </a:solidFill>
                <a:latin typeface="Times New Roman" panose="02020603050405020304" pitchFamily="18" charset="0"/>
              </a:rPr>
              <a:t>个记录</a:t>
            </a:r>
            <a:endParaRPr lang="zh-CN" altLang="en-US" sz="2800" b="1">
              <a:solidFill>
                <a:srgbClr val="0A0A0E"/>
              </a:solidFill>
              <a:latin typeface="Times New Roman" panose="02020603050405020304" pitchFamily="18" charset="0"/>
            </a:endParaRPr>
          </a:p>
          <a:p>
            <a:pPr marL="171450" indent="-171450" eaLnBrk="0" hangingPunct="0">
              <a:lnSpc>
                <a:spcPct val="90000"/>
              </a:lnSpc>
              <a:spcBef>
                <a:spcPct val="20000"/>
              </a:spcBef>
              <a:buClr>
                <a:schemeClr val="folHlink"/>
              </a:buClr>
              <a:buSzPct val="60000"/>
              <a:buFont typeface="Wingdings" panose="05000000000000000000" pitchFamily="2" charset="2"/>
              <a:buNone/>
            </a:pPr>
            <a:r>
              <a:rPr lang="zh-CN" altLang="en-US" sz="2800" b="1">
                <a:solidFill>
                  <a:schemeClr val="hlink"/>
                </a:solidFill>
                <a:latin typeface="Times New Roman" panose="02020603050405020304" pitchFamily="18" charset="0"/>
              </a:rPr>
              <a:t>则：</a:t>
            </a:r>
            <a:r>
              <a:rPr lang="zh-CN" altLang="en-US" sz="2800" b="1">
                <a:solidFill>
                  <a:srgbClr val="0A0A0E"/>
                </a:solidFill>
                <a:latin typeface="Times New Roman" panose="02020603050405020304" pitchFamily="18" charset="0"/>
              </a:rPr>
              <a:t>应设计测试用例</a:t>
            </a:r>
            <a:r>
              <a:rPr lang="en-US" altLang="zh-CN" sz="2800" b="1">
                <a:solidFill>
                  <a:srgbClr val="0A0A0E"/>
                </a:solidFill>
                <a:latin typeface="Times New Roman" panose="02020603050405020304" pitchFamily="18" charset="0"/>
              </a:rPr>
              <a:t>:</a:t>
            </a:r>
            <a:endParaRPr lang="en-US" altLang="zh-CN" sz="2800" b="1">
              <a:solidFill>
                <a:srgbClr val="0A0A0E"/>
              </a:solidFill>
              <a:latin typeface="Times New Roman" panose="02020603050405020304" pitchFamily="18" charset="0"/>
            </a:endParaRPr>
          </a:p>
          <a:p>
            <a:pPr marL="171450" indent="-171450" eaLnBrk="0" hangingPunct="0">
              <a:lnSpc>
                <a:spcPct val="90000"/>
              </a:lnSpc>
              <a:spcBef>
                <a:spcPct val="20000"/>
              </a:spcBef>
              <a:buClr>
                <a:schemeClr val="folHlink"/>
              </a:buClr>
              <a:buSzPct val="60000"/>
              <a:buFont typeface="Wingdings" panose="05000000000000000000" pitchFamily="2" charset="2"/>
              <a:buNone/>
            </a:pPr>
            <a:r>
              <a:rPr lang="en-US" altLang="zh-CN" sz="2800" b="1">
                <a:solidFill>
                  <a:srgbClr val="0A0A0E"/>
                </a:solidFill>
                <a:latin typeface="Times New Roman" panose="02020603050405020304" pitchFamily="18" charset="0"/>
              </a:rPr>
              <a:t>        </a:t>
            </a:r>
            <a:r>
              <a:rPr lang="en-US" altLang="zh-CN" sz="2800" b="1">
                <a:solidFill>
                  <a:schemeClr val="hlink"/>
                </a:solidFill>
                <a:latin typeface="Times New Roman" panose="02020603050405020304" pitchFamily="18" charset="0"/>
              </a:rPr>
              <a:t>1</a:t>
            </a:r>
            <a:r>
              <a:rPr lang="zh-CN" altLang="en-US" sz="2800" b="1">
                <a:solidFill>
                  <a:schemeClr val="hlink"/>
                </a:solidFill>
                <a:latin typeface="Times New Roman" panose="02020603050405020304" pitchFamily="18" charset="0"/>
              </a:rPr>
              <a:t>个、</a:t>
            </a:r>
            <a:r>
              <a:rPr lang="en-US" altLang="zh-CN" sz="2800" b="1">
                <a:solidFill>
                  <a:schemeClr val="hlink"/>
                </a:solidFill>
                <a:latin typeface="Times New Roman" panose="02020603050405020304" pitchFamily="18" charset="0"/>
              </a:rPr>
              <a:t>255</a:t>
            </a:r>
            <a:r>
              <a:rPr lang="zh-CN" altLang="en-US" sz="2800" b="1">
                <a:solidFill>
                  <a:schemeClr val="hlink"/>
                </a:solidFill>
                <a:latin typeface="Times New Roman" panose="02020603050405020304" pitchFamily="18" charset="0"/>
              </a:rPr>
              <a:t>个、</a:t>
            </a:r>
            <a:r>
              <a:rPr lang="en-US" altLang="zh-CN" sz="2800" b="1">
                <a:solidFill>
                  <a:schemeClr val="hlink"/>
                </a:solidFill>
                <a:latin typeface="Times New Roman" panose="02020603050405020304" pitchFamily="18" charset="0"/>
              </a:rPr>
              <a:t>0</a:t>
            </a:r>
            <a:r>
              <a:rPr lang="zh-CN" altLang="en-US" sz="2800" b="1">
                <a:solidFill>
                  <a:schemeClr val="hlink"/>
                </a:solidFill>
                <a:latin typeface="Times New Roman" panose="02020603050405020304" pitchFamily="18" charset="0"/>
              </a:rPr>
              <a:t>个、</a:t>
            </a:r>
            <a:r>
              <a:rPr lang="en-US" altLang="zh-CN" sz="2800" b="1">
                <a:solidFill>
                  <a:schemeClr val="hlink"/>
                </a:solidFill>
                <a:latin typeface="Times New Roman" panose="02020603050405020304" pitchFamily="18" charset="0"/>
              </a:rPr>
              <a:t>256</a:t>
            </a:r>
            <a:r>
              <a:rPr lang="zh-CN" altLang="en-US" sz="2800" b="1">
                <a:solidFill>
                  <a:schemeClr val="hlink"/>
                </a:solidFill>
                <a:latin typeface="Times New Roman" panose="02020603050405020304" pitchFamily="18" charset="0"/>
              </a:rPr>
              <a:t>个记录</a:t>
            </a:r>
            <a:endParaRPr lang="zh-CN" altLang="en-US" sz="2800" b="1">
              <a:solidFill>
                <a:schemeClr val="hlink"/>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227"/>
                                        </p:tgtEl>
                                        <p:attrNameLst>
                                          <p:attrName>style.visibility</p:attrName>
                                        </p:attrNameLst>
                                      </p:cBhvr>
                                      <p:to>
                                        <p:strVal val="visible"/>
                                      </p:to>
                                    </p:set>
                                    <p:animEffect transition="in" filter="wipe(left)">
                                      <p:cBhvr>
                                        <p:cTn id="7" dur="500"/>
                                        <p:tgtEl>
                                          <p:spTgt spid="1802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0228"/>
                                        </p:tgtEl>
                                        <p:attrNameLst>
                                          <p:attrName>style.visibility</p:attrName>
                                        </p:attrNameLst>
                                      </p:cBhvr>
                                      <p:to>
                                        <p:strVal val="visible"/>
                                      </p:to>
                                    </p:set>
                                    <p:animEffect transition="in" filter="wipe(left)">
                                      <p:cBhvr>
                                        <p:cTn id="12" dur="500"/>
                                        <p:tgtEl>
                                          <p:spTgt spid="180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p:bldP spid="18022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kumimoji="1" lang="zh-CN" altLang="en-US" sz="3600" b="1" smtClean="0">
                <a:solidFill>
                  <a:schemeClr val="tx1"/>
                </a:solidFill>
              </a:rPr>
              <a:t>边界值测试</a:t>
            </a:r>
            <a:r>
              <a:rPr lang="zh-CN" altLang="en-US" sz="3600" b="1" smtClean="0">
                <a:solidFill>
                  <a:schemeClr val="tx1"/>
                </a:solidFill>
              </a:rPr>
              <a:t>设计测试用例原则</a:t>
            </a:r>
            <a:endParaRPr lang="zh-CN" altLang="en-US" sz="3600" b="1" smtClean="0">
              <a:solidFill>
                <a:schemeClr val="tx1"/>
              </a:solidFill>
            </a:endParaRPr>
          </a:p>
        </p:txBody>
      </p:sp>
      <p:sp>
        <p:nvSpPr>
          <p:cNvPr id="181251" name="Rectangle 3"/>
          <p:cNvSpPr>
            <a:spLocks noGrp="1" noChangeArrowheads="1"/>
          </p:cNvSpPr>
          <p:nvPr>
            <p:ph type="body" idx="1"/>
          </p:nvPr>
        </p:nvSpPr>
        <p:spPr>
          <a:xfrm>
            <a:off x="673100" y="2032000"/>
            <a:ext cx="8147050" cy="3917950"/>
          </a:xfrm>
        </p:spPr>
        <p:txBody>
          <a:bodyPr/>
          <a:lstStyle/>
          <a:p>
            <a:pPr marL="171450" indent="-171450"/>
            <a:r>
              <a:rPr lang="zh-CN" altLang="en-US" sz="2800" b="1" smtClean="0">
                <a:latin typeface="宋体" panose="02010600030101010101" pitchFamily="2" charset="-122"/>
              </a:rPr>
              <a:t>如程序数据结构有预定的边界，应测试其边界的数据项</a:t>
            </a:r>
            <a:endParaRPr lang="zh-CN" altLang="en-US" sz="2800" b="1" smtClean="0">
              <a:latin typeface="宋体" panose="02010600030101010101" pitchFamily="2" charset="-122"/>
            </a:endParaRPr>
          </a:p>
          <a:p>
            <a:pPr marL="171450" indent="-171450"/>
            <a:r>
              <a:rPr lang="zh-CN" altLang="en-US" sz="2800" b="1" smtClean="0">
                <a:latin typeface="宋体" panose="02010600030101010101" pitchFamily="2" charset="-122"/>
              </a:rPr>
              <a:t>如输出条件规定了取值范围，</a:t>
            </a:r>
            <a:r>
              <a:rPr lang="zh-CN" altLang="en-US" sz="2800" b="1" smtClean="0"/>
              <a:t>取边界上下浮动值做测试用例</a:t>
            </a:r>
            <a:endParaRPr lang="zh-CN" altLang="en-US" sz="2800" b="1" smtClean="0"/>
          </a:p>
        </p:txBody>
      </p:sp>
    </p:spTree>
  </p:cSld>
  <p:clrMapOvr>
    <a:masterClrMapping/>
  </p:clrMapOvr>
  <p:transition>
    <p:wipe dir="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r>
              <a:rPr kumimoji="1" lang="zh-CN" altLang="en-US" sz="3600" b="1" smtClean="0">
                <a:solidFill>
                  <a:schemeClr val="tx1"/>
                </a:solidFill>
              </a:rPr>
              <a:t>黑盒法</a:t>
            </a:r>
            <a:endParaRPr kumimoji="1" lang="zh-CN" altLang="en-US" sz="3600" b="1" smtClean="0">
              <a:solidFill>
                <a:schemeClr val="tx1"/>
              </a:solidFill>
            </a:endParaRPr>
          </a:p>
        </p:txBody>
      </p:sp>
      <p:sp>
        <p:nvSpPr>
          <p:cNvPr id="182275" name="Rectangle 3"/>
          <p:cNvSpPr>
            <a:spLocks noGrp="1" noChangeArrowheads="1"/>
          </p:cNvSpPr>
          <p:nvPr>
            <p:ph type="body" idx="1"/>
          </p:nvPr>
        </p:nvSpPr>
        <p:spPr>
          <a:xfrm>
            <a:off x="684213" y="2060575"/>
            <a:ext cx="7859712" cy="3773488"/>
          </a:xfrm>
        </p:spPr>
        <p:txBody>
          <a:bodyPr/>
          <a:lstStyle/>
          <a:p>
            <a:r>
              <a:rPr kumimoji="1" lang="zh-CN" altLang="en-US" b="1" smtClean="0">
                <a:solidFill>
                  <a:schemeClr val="hlink"/>
                </a:solidFill>
              </a:rPr>
              <a:t>错误推测测试</a:t>
            </a:r>
            <a:endParaRPr kumimoji="1" lang="zh-CN" altLang="en-US" b="1" smtClean="0">
              <a:solidFill>
                <a:schemeClr val="hlink"/>
              </a:solidFill>
            </a:endParaRPr>
          </a:p>
        </p:txBody>
      </p:sp>
      <p:sp>
        <p:nvSpPr>
          <p:cNvPr id="182276" name="Rectangle 4"/>
          <p:cNvSpPr>
            <a:spLocks noChangeArrowheads="1"/>
          </p:cNvSpPr>
          <p:nvPr/>
        </p:nvSpPr>
        <p:spPr bwMode="auto">
          <a:xfrm>
            <a:off x="395288" y="2852738"/>
            <a:ext cx="7859712" cy="2016125"/>
          </a:xfrm>
          <a:prstGeom prst="rect">
            <a:avLst/>
          </a:prstGeom>
          <a:noFill/>
          <a:ln w="9525">
            <a:noFill/>
            <a:miter lim="800000"/>
          </a:ln>
          <a:effectLst/>
        </p:spPr>
        <p:txBody>
          <a:bodyPr/>
          <a:lstStyle/>
          <a:p>
            <a:pPr marL="742950" lvl="1" indent="-285750" eaLnBrk="0" hangingPunct="0">
              <a:spcBef>
                <a:spcPct val="20000"/>
              </a:spcBef>
              <a:buClr>
                <a:schemeClr val="hlink"/>
              </a:buClr>
              <a:buSzPct val="55000"/>
              <a:buFont typeface="Wingdings" panose="05000000000000000000" pitchFamily="2" charset="2"/>
              <a:buChar char="n"/>
            </a:pPr>
            <a:r>
              <a:rPr kumimoji="1" lang="zh-CN" altLang="en-US" sz="2800" b="1">
                <a:solidFill>
                  <a:srgbClr val="0A0A0E"/>
                </a:solidFill>
              </a:rPr>
              <a:t>基本思想：列举出程序中可能有错和容易出错的情况，并且根据它们选择测试方案</a:t>
            </a:r>
            <a:endParaRPr kumimoji="1" lang="zh-CN" altLang="en-US" sz="2800" b="1">
              <a:solidFill>
                <a:srgbClr val="0A0A0E"/>
              </a:solidFill>
            </a:endParaRPr>
          </a:p>
          <a:p>
            <a:pPr marL="742950" lvl="1" indent="-285750" eaLnBrk="0" hangingPunct="0">
              <a:spcBef>
                <a:spcPct val="20000"/>
              </a:spcBef>
              <a:buClr>
                <a:schemeClr val="hlink"/>
              </a:buClr>
              <a:buSzPct val="55000"/>
              <a:buFont typeface="Wingdings" panose="05000000000000000000" pitchFamily="2" charset="2"/>
              <a:buChar char="n"/>
            </a:pPr>
            <a:r>
              <a:rPr kumimoji="1" lang="zh-CN" altLang="en-US" sz="2800" b="1">
                <a:solidFill>
                  <a:srgbClr val="0A0A0E"/>
                </a:solidFill>
              </a:rPr>
              <a:t>如对一个数据库表进行操作，需要特别检查的情况有：表为空、表中只有一个记录</a:t>
            </a:r>
            <a:endParaRPr lang="zh-CN" altLang="en-US" sz="2800" b="1">
              <a:solidFill>
                <a:srgbClr val="0A0A0E"/>
              </a:solidFill>
            </a:endParaRPr>
          </a:p>
        </p:txBody>
      </p:sp>
    </p:spTree>
  </p:cSld>
  <p:clrMapOvr>
    <a:masterClrMapping/>
  </p:clrMapOvr>
  <p:transition>
    <p:wipe dir="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zh-CN" altLang="en-US" sz="3600" b="1" smtClean="0">
                <a:solidFill>
                  <a:schemeClr val="tx1"/>
                </a:solidFill>
              </a:rPr>
              <a:t>综合策略</a:t>
            </a:r>
            <a:endParaRPr lang="zh-CN" altLang="en-US" sz="3600" b="1" smtClean="0">
              <a:solidFill>
                <a:schemeClr val="tx1"/>
              </a:solidFill>
            </a:endParaRPr>
          </a:p>
        </p:txBody>
      </p:sp>
      <p:sp>
        <p:nvSpPr>
          <p:cNvPr id="183299" name="Rectangle 3"/>
          <p:cNvSpPr>
            <a:spLocks noGrp="1" noChangeArrowheads="1"/>
          </p:cNvSpPr>
          <p:nvPr>
            <p:ph type="body" idx="1"/>
          </p:nvPr>
        </p:nvSpPr>
        <p:spPr>
          <a:xfrm>
            <a:off x="539750" y="1989138"/>
            <a:ext cx="7772400" cy="4114800"/>
          </a:xfrm>
        </p:spPr>
        <p:txBody>
          <a:bodyPr/>
          <a:lstStyle/>
          <a:p>
            <a:pPr marL="174625" indent="-174625">
              <a:lnSpc>
                <a:spcPct val="90000"/>
              </a:lnSpc>
            </a:pPr>
            <a:r>
              <a:rPr lang="zh-CN" altLang="en-US" b="1" smtClean="0"/>
              <a:t>黑盒法为主、白盒法为辅</a:t>
            </a:r>
            <a:endParaRPr lang="zh-CN" altLang="en-US" b="1" smtClean="0"/>
          </a:p>
          <a:p>
            <a:pPr marL="640080" lvl="1">
              <a:lnSpc>
                <a:spcPct val="90000"/>
              </a:lnSpc>
            </a:pPr>
            <a:r>
              <a:rPr lang="zh-CN" altLang="en-US" b="1" smtClean="0">
                <a:solidFill>
                  <a:schemeClr val="hlink"/>
                </a:solidFill>
              </a:rPr>
              <a:t>任何情况下</a:t>
            </a:r>
            <a:r>
              <a:rPr lang="zh-CN" altLang="en-US" b="1" smtClean="0"/>
              <a:t>都应该使用边界值测试设计测试用例</a:t>
            </a:r>
            <a:endParaRPr lang="zh-CN" altLang="en-US" b="1" smtClean="0"/>
          </a:p>
          <a:p>
            <a:pPr marL="640080" lvl="1">
              <a:lnSpc>
                <a:spcPct val="90000"/>
              </a:lnSpc>
            </a:pPr>
            <a:r>
              <a:rPr lang="zh-CN" altLang="en-US" b="1" smtClean="0">
                <a:solidFill>
                  <a:schemeClr val="hlink"/>
                </a:solidFill>
              </a:rPr>
              <a:t>必要时</a:t>
            </a:r>
            <a:r>
              <a:rPr lang="zh-CN" altLang="en-US" b="1" smtClean="0"/>
              <a:t>采用等价分类法补充用例</a:t>
            </a:r>
            <a:endParaRPr lang="zh-CN" altLang="en-US" b="1" smtClean="0"/>
          </a:p>
          <a:p>
            <a:pPr marL="640080" lvl="1">
              <a:lnSpc>
                <a:spcPct val="90000"/>
              </a:lnSpc>
            </a:pPr>
            <a:r>
              <a:rPr lang="zh-CN" altLang="en-US" b="1" smtClean="0">
                <a:solidFill>
                  <a:schemeClr val="hlink"/>
                </a:solidFill>
              </a:rPr>
              <a:t>必要时再</a:t>
            </a:r>
            <a:r>
              <a:rPr lang="zh-CN" altLang="en-US" b="1" smtClean="0"/>
              <a:t>用错误推测法补充用例</a:t>
            </a:r>
            <a:endParaRPr lang="zh-CN" altLang="en-US" b="1" smtClean="0"/>
          </a:p>
          <a:p>
            <a:pPr marL="640080" lvl="1">
              <a:lnSpc>
                <a:spcPct val="90000"/>
              </a:lnSpc>
            </a:pPr>
            <a:r>
              <a:rPr lang="zh-CN" altLang="en-US" b="1" smtClean="0"/>
              <a:t>对照程序逻辑，检查设计用例的逻辑覆盖标准。根据程序可靠性要求，补充用例使之达到规定的覆盖标准</a:t>
            </a:r>
            <a:endParaRPr lang="zh-CN" altLang="en-US" b="1"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3299">
                                            <p:txEl>
                                              <p:pRg st="0" end="0"/>
                                            </p:txEl>
                                          </p:spTgt>
                                        </p:tgtEl>
                                        <p:attrNameLst>
                                          <p:attrName>style.visibility</p:attrName>
                                        </p:attrNameLst>
                                      </p:cBhvr>
                                      <p:to>
                                        <p:strVal val="visible"/>
                                      </p:to>
                                    </p:set>
                                    <p:animEffect transition="in" filter="wipe(left)">
                                      <p:cBhvr>
                                        <p:cTn id="7" dur="500"/>
                                        <p:tgtEl>
                                          <p:spTgt spid="1832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3299">
                                            <p:txEl>
                                              <p:pRg st="1" end="1"/>
                                            </p:txEl>
                                          </p:spTgt>
                                        </p:tgtEl>
                                        <p:attrNameLst>
                                          <p:attrName>style.visibility</p:attrName>
                                        </p:attrNameLst>
                                      </p:cBhvr>
                                      <p:to>
                                        <p:strVal val="visible"/>
                                      </p:to>
                                    </p:set>
                                    <p:animEffect transition="in" filter="wipe(left)">
                                      <p:cBhvr>
                                        <p:cTn id="12" dur="500"/>
                                        <p:tgtEl>
                                          <p:spTgt spid="1832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3299">
                                            <p:txEl>
                                              <p:pRg st="2" end="2"/>
                                            </p:txEl>
                                          </p:spTgt>
                                        </p:tgtEl>
                                        <p:attrNameLst>
                                          <p:attrName>style.visibility</p:attrName>
                                        </p:attrNameLst>
                                      </p:cBhvr>
                                      <p:to>
                                        <p:strVal val="visible"/>
                                      </p:to>
                                    </p:set>
                                    <p:animEffect transition="in" filter="wipe(left)">
                                      <p:cBhvr>
                                        <p:cTn id="17" dur="500"/>
                                        <p:tgtEl>
                                          <p:spTgt spid="1832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3299">
                                            <p:txEl>
                                              <p:pRg st="3" end="3"/>
                                            </p:txEl>
                                          </p:spTgt>
                                        </p:tgtEl>
                                        <p:attrNameLst>
                                          <p:attrName>style.visibility</p:attrName>
                                        </p:attrNameLst>
                                      </p:cBhvr>
                                      <p:to>
                                        <p:strVal val="visible"/>
                                      </p:to>
                                    </p:set>
                                    <p:animEffect transition="in" filter="wipe(left)">
                                      <p:cBhvr>
                                        <p:cTn id="22" dur="500"/>
                                        <p:tgtEl>
                                          <p:spTgt spid="1832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3299">
                                            <p:txEl>
                                              <p:pRg st="4" end="4"/>
                                            </p:txEl>
                                          </p:spTgt>
                                        </p:tgtEl>
                                        <p:attrNameLst>
                                          <p:attrName>style.visibility</p:attrName>
                                        </p:attrNameLst>
                                      </p:cBhvr>
                                      <p:to>
                                        <p:strVal val="visible"/>
                                      </p:to>
                                    </p:set>
                                    <p:animEffect transition="in" filter="wipe(left)">
                                      <p:cBhvr>
                                        <p:cTn id="27" dur="500"/>
                                        <p:tgtEl>
                                          <p:spTgt spid="1832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bldLvl="2"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zh-CN" sz="3600" b="1" smtClean="0">
                <a:solidFill>
                  <a:srgbClr val="0A0A0E"/>
                </a:solidFill>
                <a:latin typeface="Times New Roman" panose="02020603050405020304" pitchFamily="18" charset="0"/>
              </a:rPr>
              <a:t>黑</a:t>
            </a:r>
            <a:r>
              <a:rPr lang="zh-CN" altLang="en-US" sz="3600" b="1" smtClean="0">
                <a:solidFill>
                  <a:srgbClr val="0A0A0E"/>
                </a:solidFill>
                <a:latin typeface="Times New Roman" panose="02020603050405020304" pitchFamily="18" charset="0"/>
              </a:rPr>
              <a:t>盒测试</a:t>
            </a:r>
            <a:endParaRPr lang="zh-CN" altLang="en-US" sz="3600" b="1" smtClean="0">
              <a:solidFill>
                <a:srgbClr val="0A0A0E"/>
              </a:solidFill>
              <a:latin typeface="Times New Roman" panose="02020603050405020304" pitchFamily="18" charset="0"/>
            </a:endParaRPr>
          </a:p>
        </p:txBody>
      </p:sp>
      <p:sp>
        <p:nvSpPr>
          <p:cNvPr id="61443" name="Rectangle 3"/>
          <p:cNvSpPr>
            <a:spLocks noGrp="1" noChangeArrowheads="1"/>
          </p:cNvSpPr>
          <p:nvPr>
            <p:ph type="body" idx="1"/>
          </p:nvPr>
        </p:nvSpPr>
        <p:spPr>
          <a:xfrm>
            <a:off x="611188" y="2017713"/>
            <a:ext cx="7273925" cy="4114800"/>
          </a:xfrm>
        </p:spPr>
        <p:txBody>
          <a:bodyPr/>
          <a:lstStyle/>
          <a:p>
            <a:pPr eaLnBrk="1" hangingPunct="1"/>
            <a:r>
              <a:rPr lang="zh-CN" altLang="en-US" b="1" smtClean="0">
                <a:latin typeface="宋体" panose="02010600030101010101" pitchFamily="2" charset="-122"/>
              </a:rPr>
              <a:t>练习</a:t>
            </a:r>
            <a:endParaRPr lang="zh-CN" altLang="en-US" b="1" smtClean="0">
              <a:latin typeface="宋体" panose="02010600030101010101" pitchFamily="2" charset="-122"/>
            </a:endParaRPr>
          </a:p>
          <a:p>
            <a:pPr lvl="1" eaLnBrk="1" hangingPunct="1"/>
            <a:r>
              <a:rPr kumimoji="1" lang="zh-CN" altLang="en-US" b="1" smtClean="0">
                <a:latin typeface="宋体" panose="02010600030101010101" pitchFamily="2" charset="-122"/>
              </a:rPr>
              <a:t>程序</a:t>
            </a:r>
            <a:r>
              <a:rPr kumimoji="1" lang="en-US" altLang="zh-CN" b="1" smtClean="0">
                <a:latin typeface="宋体" panose="02010600030101010101" pitchFamily="2" charset="-122"/>
              </a:rPr>
              <a:t>TRI</a:t>
            </a:r>
            <a:r>
              <a:rPr kumimoji="1" lang="zh-CN" altLang="en-US" b="1" smtClean="0">
                <a:latin typeface="宋体" panose="02010600030101010101" pitchFamily="2" charset="-122"/>
              </a:rPr>
              <a:t>读入三个整数值，这三个整数代表同一个三角形三条边的长度，程序根据这三个值判断三角形属于等腰、等边、还是一般三角形。</a:t>
            </a:r>
            <a:endParaRPr kumimoji="1" lang="zh-CN" altLang="en-US" b="1" smtClean="0">
              <a:latin typeface="宋体" panose="02010600030101010101" pitchFamily="2" charset="-122"/>
            </a:endParaRPr>
          </a:p>
          <a:p>
            <a:pPr>
              <a:buFont typeface="Wingdings" panose="05000000000000000000" pitchFamily="2" charset="2"/>
              <a:buNone/>
            </a:pPr>
            <a:r>
              <a:rPr kumimoji="1" lang="zh-CN" altLang="en-US" b="1" smtClean="0"/>
              <a:t>使用黑盒方法设计测试用例</a:t>
            </a:r>
            <a:endParaRPr kumimoji="1" lang="zh-CN" altLang="en-US" b="1" smtClean="0"/>
          </a:p>
          <a:p>
            <a:pPr lvl="1" eaLnBrk="1" hangingPunct="1"/>
            <a:endParaRPr kumimoji="1" lang="zh-CN" altLang="en-US" b="1" smtClean="0">
              <a:latin typeface="宋体" panose="02010600030101010101" pitchFamily="2" charset="-122"/>
            </a:endParaRPr>
          </a:p>
        </p:txBody>
      </p:sp>
    </p:spTree>
  </p:cSld>
  <p:clrMapOvr>
    <a:masterClrMapping/>
  </p:clrMapOvr>
  <p:transition>
    <p:wipe dir="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zh-CN" altLang="zh-CN" sz="3600" b="1" smtClean="0">
                <a:solidFill>
                  <a:srgbClr val="0A0A0E"/>
                </a:solidFill>
                <a:latin typeface="Times New Roman" panose="02020603050405020304" pitchFamily="18" charset="0"/>
              </a:rPr>
              <a:t>黑</a:t>
            </a:r>
            <a:r>
              <a:rPr lang="zh-CN" altLang="en-US" sz="3600" b="1" smtClean="0">
                <a:solidFill>
                  <a:srgbClr val="0A0A0E"/>
                </a:solidFill>
                <a:latin typeface="Times New Roman" panose="02020603050405020304" pitchFamily="18" charset="0"/>
              </a:rPr>
              <a:t>盒测试</a:t>
            </a:r>
            <a:endParaRPr lang="zh-CN" altLang="en-US" sz="3600" b="1" smtClean="0">
              <a:solidFill>
                <a:srgbClr val="0A0A0E"/>
              </a:solidFill>
              <a:latin typeface="Times New Roman" panose="02020603050405020304" pitchFamily="18" charset="0"/>
            </a:endParaRPr>
          </a:p>
        </p:txBody>
      </p:sp>
      <p:sp>
        <p:nvSpPr>
          <p:cNvPr id="62467" name="Rectangle 3"/>
          <p:cNvSpPr>
            <a:spLocks noGrp="1" noChangeArrowheads="1"/>
          </p:cNvSpPr>
          <p:nvPr>
            <p:ph type="body" idx="1"/>
          </p:nvPr>
        </p:nvSpPr>
        <p:spPr>
          <a:xfrm>
            <a:off x="611188" y="2017713"/>
            <a:ext cx="8343900" cy="4114800"/>
          </a:xfrm>
        </p:spPr>
        <p:txBody>
          <a:bodyPr/>
          <a:lstStyle/>
          <a:p>
            <a:pPr eaLnBrk="1" hangingPunct="1"/>
            <a:r>
              <a:rPr kumimoji="1" lang="zh-CN" altLang="en-US" sz="2800" b="1" smtClean="0">
                <a:solidFill>
                  <a:srgbClr val="003366"/>
                </a:solidFill>
              </a:rPr>
              <a:t>要测试的情况</a:t>
            </a:r>
            <a:endParaRPr kumimoji="1" lang="zh-CN" altLang="en-US" sz="2800" b="1" smtClean="0">
              <a:solidFill>
                <a:srgbClr val="003366"/>
              </a:solidFill>
            </a:endParaRPr>
          </a:p>
          <a:p>
            <a:pPr lvl="1" eaLnBrk="1" hangingPunct="1"/>
            <a:r>
              <a:rPr kumimoji="1" lang="en-US" altLang="zh-CN" sz="2400" b="1" smtClean="0">
                <a:solidFill>
                  <a:schemeClr val="tx1"/>
                </a:solidFill>
                <a:latin typeface="Arial" panose="020B0604020202020204" pitchFamily="34" charset="0"/>
                <a:sym typeface="Wingdings" panose="05000000000000000000" pitchFamily="2" charset="2"/>
              </a:rPr>
              <a:t>–</a:t>
            </a:r>
            <a:r>
              <a:rPr kumimoji="1" lang="en-US" altLang="zh-CN" sz="2400" b="1" smtClean="0">
                <a:solidFill>
                  <a:schemeClr val="tx1"/>
                </a:solidFill>
                <a:sym typeface="Wingdings" panose="05000000000000000000" pitchFamily="2" charset="2"/>
              </a:rPr>
              <a:t> </a:t>
            </a:r>
            <a:r>
              <a:rPr kumimoji="1" lang="zh-CN" altLang="en-US" sz="2400" b="1" smtClean="0">
                <a:solidFill>
                  <a:schemeClr val="tx1"/>
                </a:solidFill>
              </a:rPr>
              <a:t>正常的不等边三角形    </a:t>
            </a:r>
            <a:r>
              <a:rPr kumimoji="1" lang="en-US" altLang="zh-CN" sz="2400" b="1" smtClean="0">
                <a:solidFill>
                  <a:schemeClr val="tx1"/>
                </a:solidFill>
                <a:latin typeface="Arial" panose="020B0604020202020204" pitchFamily="34" charset="0"/>
                <a:sym typeface="Wingdings" panose="05000000000000000000" pitchFamily="2" charset="2"/>
              </a:rPr>
              <a:t>–</a:t>
            </a:r>
            <a:r>
              <a:rPr kumimoji="1" lang="en-US" altLang="zh-CN" sz="2400" b="1" smtClean="0">
                <a:solidFill>
                  <a:schemeClr val="tx1"/>
                </a:solidFill>
                <a:sym typeface="Wingdings" panose="05000000000000000000" pitchFamily="2" charset="2"/>
              </a:rPr>
              <a:t> </a:t>
            </a:r>
            <a:r>
              <a:rPr kumimoji="1" lang="zh-CN" altLang="en-US" sz="2400" b="1" smtClean="0">
                <a:solidFill>
                  <a:schemeClr val="tx1"/>
                </a:solidFill>
              </a:rPr>
              <a:t>正常的等边三角形</a:t>
            </a:r>
            <a:endParaRPr kumimoji="1" lang="zh-CN" altLang="en-US" sz="2400" b="1" smtClean="0">
              <a:solidFill>
                <a:schemeClr val="tx1"/>
              </a:solidFill>
            </a:endParaRPr>
          </a:p>
          <a:p>
            <a:pPr lvl="1" eaLnBrk="1" hangingPunct="1"/>
            <a:r>
              <a:rPr kumimoji="1" lang="en-US" altLang="zh-CN" sz="2400" b="1" smtClean="0">
                <a:solidFill>
                  <a:schemeClr val="tx1"/>
                </a:solidFill>
                <a:latin typeface="Arial" panose="020B0604020202020204" pitchFamily="34" charset="0"/>
                <a:sym typeface="Wingdings" panose="05000000000000000000" pitchFamily="2" charset="2"/>
              </a:rPr>
              <a:t>–</a:t>
            </a:r>
            <a:r>
              <a:rPr kumimoji="1" lang="en-US" altLang="zh-CN" sz="2400" b="1" smtClean="0">
                <a:solidFill>
                  <a:schemeClr val="tx1"/>
                </a:solidFill>
                <a:sym typeface="Wingdings" panose="05000000000000000000" pitchFamily="2" charset="2"/>
              </a:rPr>
              <a:t> </a:t>
            </a:r>
            <a:r>
              <a:rPr kumimoji="1" lang="zh-CN" altLang="en-US" sz="2400" b="1" smtClean="0">
                <a:solidFill>
                  <a:schemeClr val="tx1"/>
                </a:solidFill>
              </a:rPr>
              <a:t>正常的等腰三角形       </a:t>
            </a:r>
            <a:r>
              <a:rPr kumimoji="1" lang="en-US" altLang="zh-CN" sz="2400" b="1" smtClean="0">
                <a:solidFill>
                  <a:schemeClr val="tx1"/>
                </a:solidFill>
                <a:latin typeface="Arial" panose="020B0604020202020204" pitchFamily="34" charset="0"/>
                <a:sym typeface="Wingdings" panose="05000000000000000000" pitchFamily="2" charset="2"/>
              </a:rPr>
              <a:t>–</a:t>
            </a:r>
            <a:r>
              <a:rPr kumimoji="1" lang="en-US" altLang="zh-CN" sz="2400" b="1" smtClean="0">
                <a:solidFill>
                  <a:schemeClr val="tx1"/>
                </a:solidFill>
                <a:sym typeface="Wingdings" panose="05000000000000000000" pitchFamily="2" charset="2"/>
              </a:rPr>
              <a:t> </a:t>
            </a:r>
            <a:r>
              <a:rPr kumimoji="1" lang="zh-CN" altLang="en-US" sz="2400" b="1" smtClean="0">
                <a:solidFill>
                  <a:schemeClr val="tx1"/>
                </a:solidFill>
              </a:rPr>
              <a:t>三条边不构成三角形</a:t>
            </a:r>
            <a:endParaRPr kumimoji="1" lang="zh-CN" altLang="en-US" sz="2400" b="1" smtClean="0">
              <a:solidFill>
                <a:schemeClr val="tx1"/>
              </a:solidFill>
            </a:endParaRPr>
          </a:p>
          <a:p>
            <a:pPr lvl="1" eaLnBrk="1" hangingPunct="1"/>
            <a:r>
              <a:rPr kumimoji="1" lang="en-US" altLang="zh-CN" sz="2400" b="1" smtClean="0">
                <a:solidFill>
                  <a:schemeClr val="tx1"/>
                </a:solidFill>
                <a:latin typeface="Arial" panose="020B0604020202020204" pitchFamily="34" charset="0"/>
                <a:sym typeface="Wingdings" panose="05000000000000000000" pitchFamily="2" charset="2"/>
              </a:rPr>
              <a:t>–</a:t>
            </a:r>
            <a:r>
              <a:rPr kumimoji="1" lang="en-US" altLang="zh-CN" sz="2400" b="1" smtClean="0">
                <a:solidFill>
                  <a:schemeClr val="tx1"/>
                </a:solidFill>
                <a:sym typeface="Wingdings" panose="05000000000000000000" pitchFamily="2" charset="2"/>
              </a:rPr>
              <a:t> </a:t>
            </a:r>
            <a:r>
              <a:rPr kumimoji="1" lang="zh-CN" altLang="en-US" sz="2400" b="1" smtClean="0">
                <a:solidFill>
                  <a:schemeClr val="tx1"/>
                </a:solidFill>
              </a:rPr>
              <a:t>一条边的长度为０       </a:t>
            </a:r>
            <a:r>
              <a:rPr kumimoji="1" lang="en-US" altLang="zh-CN" sz="2400" b="1" smtClean="0">
                <a:solidFill>
                  <a:schemeClr val="tx1"/>
                </a:solidFill>
                <a:latin typeface="Arial" panose="020B0604020202020204" pitchFamily="34" charset="0"/>
                <a:sym typeface="Wingdings" panose="05000000000000000000" pitchFamily="2" charset="2"/>
              </a:rPr>
              <a:t>–</a:t>
            </a:r>
            <a:r>
              <a:rPr kumimoji="1" lang="en-US" altLang="zh-CN" sz="2400" b="1" smtClean="0">
                <a:solidFill>
                  <a:schemeClr val="tx1"/>
                </a:solidFill>
              </a:rPr>
              <a:t> </a:t>
            </a:r>
            <a:r>
              <a:rPr kumimoji="1" lang="zh-CN" altLang="en-US" sz="2400" b="1" smtClean="0">
                <a:solidFill>
                  <a:schemeClr val="tx1"/>
                </a:solidFill>
              </a:rPr>
              <a:t>两条边的长度为０</a:t>
            </a:r>
            <a:endParaRPr kumimoji="1" lang="zh-CN" altLang="en-US" sz="2400" b="1" smtClean="0">
              <a:solidFill>
                <a:schemeClr val="tx1"/>
              </a:solidFill>
            </a:endParaRPr>
          </a:p>
          <a:p>
            <a:pPr lvl="1" eaLnBrk="1" hangingPunct="1"/>
            <a:r>
              <a:rPr kumimoji="1" lang="en-US" altLang="zh-CN" sz="2400" b="1" smtClean="0">
                <a:solidFill>
                  <a:schemeClr val="tx1"/>
                </a:solidFill>
                <a:latin typeface="Arial" panose="020B0604020202020204" pitchFamily="34" charset="0"/>
                <a:sym typeface="Wingdings" panose="05000000000000000000" pitchFamily="2" charset="2"/>
              </a:rPr>
              <a:t>–</a:t>
            </a:r>
            <a:r>
              <a:rPr kumimoji="1" lang="en-US" altLang="zh-CN" sz="2400" b="1" smtClean="0">
                <a:solidFill>
                  <a:schemeClr val="tx1"/>
                </a:solidFill>
                <a:sym typeface="Wingdings" panose="05000000000000000000" pitchFamily="2" charset="2"/>
              </a:rPr>
              <a:t> </a:t>
            </a:r>
            <a:r>
              <a:rPr kumimoji="1" lang="zh-CN" altLang="en-US" sz="2400" b="1" smtClean="0">
                <a:solidFill>
                  <a:schemeClr val="tx1"/>
                </a:solidFill>
              </a:rPr>
              <a:t>三条边全为０             </a:t>
            </a:r>
            <a:r>
              <a:rPr kumimoji="1" lang="en-US" altLang="zh-CN" sz="2400" b="1" smtClean="0">
                <a:solidFill>
                  <a:schemeClr val="tx1"/>
                </a:solidFill>
                <a:latin typeface="Arial" panose="020B0604020202020204" pitchFamily="34" charset="0"/>
                <a:sym typeface="Wingdings" panose="05000000000000000000" pitchFamily="2" charset="2"/>
              </a:rPr>
              <a:t>–</a:t>
            </a:r>
            <a:r>
              <a:rPr kumimoji="1" lang="en-US" altLang="zh-CN" sz="2400" b="1" smtClean="0">
                <a:solidFill>
                  <a:schemeClr val="tx1"/>
                </a:solidFill>
              </a:rPr>
              <a:t> </a:t>
            </a:r>
            <a:r>
              <a:rPr kumimoji="1" lang="zh-CN" altLang="en-US" sz="2400" b="1" smtClean="0">
                <a:solidFill>
                  <a:schemeClr val="tx1"/>
                </a:solidFill>
              </a:rPr>
              <a:t>输入数据中包含负整数</a:t>
            </a:r>
            <a:endParaRPr kumimoji="1" lang="zh-CN" altLang="en-US" sz="2400" b="1" smtClean="0">
              <a:solidFill>
                <a:schemeClr val="tx1"/>
              </a:solidFill>
            </a:endParaRPr>
          </a:p>
          <a:p>
            <a:pPr lvl="1" eaLnBrk="1" hangingPunct="1"/>
            <a:r>
              <a:rPr kumimoji="1" lang="en-US" altLang="zh-CN" sz="2400" b="1" smtClean="0">
                <a:solidFill>
                  <a:schemeClr val="tx1"/>
                </a:solidFill>
                <a:latin typeface="Arial" panose="020B0604020202020204" pitchFamily="34" charset="0"/>
                <a:sym typeface="Wingdings" panose="05000000000000000000" pitchFamily="2" charset="2"/>
              </a:rPr>
              <a:t>–</a:t>
            </a:r>
            <a:r>
              <a:rPr kumimoji="1" lang="en-US" altLang="zh-CN" sz="2400" b="1" smtClean="0">
                <a:solidFill>
                  <a:schemeClr val="tx1"/>
                </a:solidFill>
                <a:sym typeface="Wingdings" panose="05000000000000000000" pitchFamily="2" charset="2"/>
              </a:rPr>
              <a:t> </a:t>
            </a:r>
            <a:r>
              <a:rPr kumimoji="1" lang="zh-CN" altLang="en-US" sz="2400" b="1" smtClean="0">
                <a:solidFill>
                  <a:schemeClr val="tx1"/>
                </a:solidFill>
              </a:rPr>
              <a:t>输入数据不全</a:t>
            </a:r>
            <a:endParaRPr kumimoji="1" lang="zh-CN" altLang="en-US" sz="2400" b="1" smtClean="0">
              <a:solidFill>
                <a:schemeClr val="tx1"/>
              </a:solidFill>
            </a:endParaRPr>
          </a:p>
          <a:p>
            <a:pPr lvl="1" eaLnBrk="1" hangingPunct="1"/>
            <a:r>
              <a:rPr kumimoji="1" lang="en-US" altLang="zh-CN" sz="2400" b="1" smtClean="0">
                <a:solidFill>
                  <a:schemeClr val="tx1"/>
                </a:solidFill>
                <a:latin typeface="Arial" panose="020B0604020202020204" pitchFamily="34" charset="0"/>
                <a:sym typeface="Wingdings" panose="05000000000000000000" pitchFamily="2" charset="2"/>
              </a:rPr>
              <a:t>–</a:t>
            </a:r>
            <a:r>
              <a:rPr kumimoji="1" lang="en-US" altLang="zh-CN" sz="2400" b="1" smtClean="0">
                <a:solidFill>
                  <a:schemeClr val="tx1"/>
                </a:solidFill>
                <a:sym typeface="Wingdings" panose="05000000000000000000" pitchFamily="2" charset="2"/>
              </a:rPr>
              <a:t> </a:t>
            </a:r>
            <a:r>
              <a:rPr kumimoji="1" lang="zh-CN" altLang="en-US" sz="2400" b="1" smtClean="0">
                <a:solidFill>
                  <a:schemeClr val="tx1"/>
                </a:solidFill>
              </a:rPr>
              <a:t>输入数据中包含非整数型数据</a:t>
            </a:r>
            <a:endParaRPr kumimoji="1" lang="zh-CN" altLang="en-US" sz="2400" b="1" smtClean="0">
              <a:solidFill>
                <a:schemeClr val="tx1"/>
              </a:solidFill>
            </a:endParaRPr>
          </a:p>
        </p:txBody>
      </p:sp>
    </p:spTree>
  </p:cSld>
  <p:clrMapOvr>
    <a:masterClrMapping/>
  </p:clrMapOvr>
  <p:transition>
    <p:wipe dir="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ph idx="1"/>
          </p:nvPr>
        </p:nvGraphicFramePr>
        <p:xfrm>
          <a:off x="0" y="-26988"/>
          <a:ext cx="9144000" cy="6884988"/>
        </p:xfrm>
        <a:graphic>
          <a:graphicData uri="http://schemas.openxmlformats.org/presentationml/2006/ole">
            <mc:AlternateContent xmlns:mc="http://schemas.openxmlformats.org/markup-compatibility/2006">
              <mc:Choice xmlns:v="urn:schemas-microsoft-com:vml" Requires="v">
                <p:oleObj spid="_x0000_s1025" name="工作表" r:id="rId1" imgW="6479540" imgH="5712460" progId="Excel.Sheet.8">
                  <p:embed/>
                </p:oleObj>
              </mc:Choice>
              <mc:Fallback>
                <p:oleObj name="工作表" r:id="rId1" imgW="6479540" imgH="5712460" progId="Excel.Sheet.8">
                  <p:embed/>
                  <p:pic>
                    <p:nvPicPr>
                      <p:cNvPr id="0" name="Object 2"/>
                      <p:cNvPicPr>
                        <a:picLocks noChangeAspect="1"/>
                      </p:cNvPicPr>
                      <p:nvPr/>
                    </p:nvPicPr>
                    <p:blipFill>
                      <a:blip r:embed="rId2"/>
                      <a:stretch>
                        <a:fillRect/>
                      </a:stretch>
                    </p:blipFill>
                    <p:spPr>
                      <a:xfrm>
                        <a:off x="0" y="-26988"/>
                        <a:ext cx="9144000" cy="6884988"/>
                      </a:xfrm>
                      <a:prstGeom prst="rect">
                        <a:avLst/>
                      </a:prstGeom>
                      <a:noFill/>
                      <a:ln w="9525">
                        <a:noFill/>
                      </a:ln>
                    </p:spPr>
                  </p:pic>
                </p:oleObj>
              </mc:Fallback>
            </mc:AlternateContent>
          </a:graphicData>
        </a:graphic>
      </p:graphicFrame>
    </p:spTree>
  </p:cSld>
  <p:clrMapOvr>
    <a:masterClrMapping/>
  </p:clrMapOvr>
  <p:transition>
    <p:wipe dir="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body" idx="1"/>
          </p:nvPr>
        </p:nvSpPr>
        <p:spPr>
          <a:xfrm>
            <a:off x="539750" y="1844675"/>
            <a:ext cx="8415338" cy="4840288"/>
          </a:xfrm>
        </p:spPr>
        <p:txBody>
          <a:bodyPr/>
          <a:lstStyle/>
          <a:p>
            <a:pPr marL="0" indent="0" defTabSz="284480" eaLnBrk="1" hangingPunct="1">
              <a:lnSpc>
                <a:spcPct val="110000"/>
              </a:lnSpc>
              <a:spcBef>
                <a:spcPct val="0"/>
              </a:spcBef>
              <a:buFontTx/>
              <a:buNone/>
              <a:tabLst>
                <a:tab pos="95250" algn="l"/>
              </a:tabLst>
            </a:pPr>
            <a:r>
              <a:rPr lang="en-US" altLang="zh-CN" sz="2800" b="1" smtClean="0"/>
              <a:t>2. </a:t>
            </a:r>
            <a:r>
              <a:rPr lang="zh-CN" altLang="en-US" sz="2800" b="1" smtClean="0"/>
              <a:t>软件测试基本原则</a:t>
            </a:r>
            <a:endParaRPr lang="zh-CN" altLang="en-US" sz="2800" b="1" smtClean="0"/>
          </a:p>
          <a:p>
            <a:pPr marL="179705" lvl="1" indent="0" defTabSz="284480" eaLnBrk="1" hangingPunct="1">
              <a:lnSpc>
                <a:spcPct val="80000"/>
              </a:lnSpc>
              <a:spcBef>
                <a:spcPct val="30000"/>
              </a:spcBef>
              <a:tabLst>
                <a:tab pos="95250" algn="l"/>
              </a:tabLst>
            </a:pPr>
            <a:r>
              <a:rPr lang="zh-CN" altLang="en-US" sz="2400" b="1" smtClean="0">
                <a:latin typeface="Times New Roman" panose="02020603050405020304" pitchFamily="18" charset="0"/>
              </a:rPr>
              <a:t> 严格按照测试计划来测试</a:t>
            </a:r>
            <a:endParaRPr lang="zh-CN" altLang="en-US" sz="2400" b="1" smtClean="0">
              <a:latin typeface="Times New Roman" panose="02020603050405020304" pitchFamily="18" charset="0"/>
            </a:endParaRPr>
          </a:p>
          <a:p>
            <a:pPr marL="179705" lvl="1" indent="0" defTabSz="284480" eaLnBrk="1" hangingPunct="1">
              <a:lnSpc>
                <a:spcPct val="80000"/>
              </a:lnSpc>
              <a:spcBef>
                <a:spcPct val="30000"/>
              </a:spcBef>
              <a:tabLst>
                <a:tab pos="95250" algn="l"/>
              </a:tabLst>
            </a:pPr>
            <a:r>
              <a:rPr lang="zh-CN" altLang="en-US" sz="2400" b="1" smtClean="0">
                <a:latin typeface="Times New Roman" panose="02020603050405020304" pitchFamily="18" charset="0"/>
              </a:rPr>
              <a:t> 尽早并不断地进行测试</a:t>
            </a:r>
            <a:endParaRPr lang="zh-CN" altLang="en-US" sz="2400" b="1" smtClean="0">
              <a:latin typeface="Times New Roman" panose="02020603050405020304" pitchFamily="18" charset="0"/>
            </a:endParaRPr>
          </a:p>
          <a:p>
            <a:pPr marL="179705" lvl="1" indent="0" defTabSz="284480" eaLnBrk="1" hangingPunct="1">
              <a:lnSpc>
                <a:spcPct val="80000"/>
              </a:lnSpc>
              <a:spcBef>
                <a:spcPct val="30000"/>
              </a:spcBef>
              <a:tabLst>
                <a:tab pos="95250" algn="l"/>
              </a:tabLst>
            </a:pPr>
            <a:r>
              <a:rPr lang="zh-CN" altLang="en-US" sz="2400" b="1" smtClean="0">
                <a:latin typeface="Times New Roman" panose="02020603050405020304" pitchFamily="18" charset="0"/>
              </a:rPr>
              <a:t> 程序员应尽可能避免检查自己的程序</a:t>
            </a:r>
            <a:endParaRPr lang="zh-CN" altLang="en-US" sz="2400" b="1" smtClean="0">
              <a:latin typeface="Times New Roman" panose="02020603050405020304" pitchFamily="18" charset="0"/>
            </a:endParaRPr>
          </a:p>
          <a:p>
            <a:pPr marL="179705" lvl="1" indent="0" defTabSz="284480" eaLnBrk="1" hangingPunct="1">
              <a:lnSpc>
                <a:spcPct val="80000"/>
              </a:lnSpc>
              <a:spcBef>
                <a:spcPct val="30000"/>
              </a:spcBef>
              <a:tabLst>
                <a:tab pos="95250" algn="l"/>
              </a:tabLst>
            </a:pPr>
            <a:r>
              <a:rPr lang="zh-CN" altLang="en-US" sz="2400" b="1" smtClean="0">
                <a:latin typeface="Times New Roman" panose="02020603050405020304" pitchFamily="18" charset="0"/>
              </a:rPr>
              <a:t> 测试用例应当兼顾合理的输入条件和不合理的输入条件</a:t>
            </a:r>
            <a:endParaRPr lang="zh-CN" altLang="en-US" sz="2400" b="1" smtClean="0">
              <a:latin typeface="Times New Roman" panose="02020603050405020304" pitchFamily="18" charset="0"/>
            </a:endParaRPr>
          </a:p>
          <a:p>
            <a:pPr marL="179705" lvl="1" indent="0" defTabSz="284480" eaLnBrk="1" hangingPunct="1">
              <a:lnSpc>
                <a:spcPct val="80000"/>
              </a:lnSpc>
              <a:spcBef>
                <a:spcPct val="30000"/>
              </a:spcBef>
              <a:tabLst>
                <a:tab pos="95250" algn="l"/>
              </a:tabLst>
            </a:pPr>
            <a:r>
              <a:rPr lang="zh-CN" altLang="en-US" sz="2400" b="1" smtClean="0">
                <a:latin typeface="Times New Roman" panose="02020603050405020304" pitchFamily="18" charset="0"/>
              </a:rPr>
              <a:t> 测试用例应包括输入数据和预期的输出结果两部分</a:t>
            </a:r>
            <a:endParaRPr lang="zh-CN" altLang="en-US" sz="2400" b="1" smtClean="0">
              <a:latin typeface="Times New Roman" panose="02020603050405020304" pitchFamily="18" charset="0"/>
            </a:endParaRPr>
          </a:p>
          <a:p>
            <a:pPr marL="179705" lvl="1" indent="0" defTabSz="284480" eaLnBrk="1" hangingPunct="1">
              <a:lnSpc>
                <a:spcPct val="80000"/>
              </a:lnSpc>
              <a:spcBef>
                <a:spcPct val="30000"/>
              </a:spcBef>
              <a:tabLst>
                <a:tab pos="95250" algn="l"/>
              </a:tabLst>
            </a:pPr>
            <a:r>
              <a:rPr lang="zh-CN" altLang="en-US" sz="2400" b="1" smtClean="0">
                <a:latin typeface="Times New Roman" panose="02020603050405020304" pitchFamily="18" charset="0"/>
              </a:rPr>
              <a:t> 测试用例应当兼顾有用功能和无用功能</a:t>
            </a:r>
            <a:endParaRPr lang="zh-CN" altLang="en-US" sz="2400" b="1" smtClean="0">
              <a:latin typeface="Times New Roman" panose="02020603050405020304" pitchFamily="18" charset="0"/>
            </a:endParaRPr>
          </a:p>
          <a:p>
            <a:pPr marL="179705" lvl="1" indent="0" defTabSz="284480" eaLnBrk="1" hangingPunct="1">
              <a:lnSpc>
                <a:spcPct val="80000"/>
              </a:lnSpc>
              <a:spcBef>
                <a:spcPct val="30000"/>
              </a:spcBef>
              <a:tabLst>
                <a:tab pos="95250" algn="l"/>
              </a:tabLst>
            </a:pPr>
            <a:r>
              <a:rPr lang="zh-CN" altLang="en-US" sz="2400" b="1" smtClean="0">
                <a:latin typeface="Times New Roman" panose="02020603050405020304" pitchFamily="18" charset="0"/>
              </a:rPr>
              <a:t> 全面检查每个测试结果</a:t>
            </a:r>
            <a:r>
              <a:rPr lang="en-US" altLang="zh-CN" sz="2400" b="1" smtClean="0">
                <a:latin typeface="Times New Roman" panose="02020603050405020304" pitchFamily="18" charset="0"/>
              </a:rPr>
              <a:t>,</a:t>
            </a:r>
            <a:r>
              <a:rPr lang="zh-CN" altLang="en-US" sz="2400" b="1" smtClean="0">
                <a:latin typeface="Times New Roman" panose="02020603050405020304" pitchFamily="18" charset="0"/>
              </a:rPr>
              <a:t>保留测试 用例</a:t>
            </a:r>
            <a:endParaRPr lang="zh-CN" altLang="en-US" sz="2400" b="1" smtClean="0">
              <a:latin typeface="Times New Roman" panose="02020603050405020304" pitchFamily="18" charset="0"/>
            </a:endParaRPr>
          </a:p>
          <a:p>
            <a:pPr marL="179705" lvl="1" indent="0" defTabSz="284480" eaLnBrk="1" hangingPunct="1">
              <a:lnSpc>
                <a:spcPct val="80000"/>
              </a:lnSpc>
              <a:spcBef>
                <a:spcPct val="30000"/>
              </a:spcBef>
              <a:tabLst>
                <a:tab pos="95250" algn="l"/>
              </a:tabLst>
            </a:pPr>
            <a:r>
              <a:rPr lang="zh-CN" altLang="en-US" sz="2400" b="1" smtClean="0">
                <a:latin typeface="Times New Roman" panose="02020603050405020304" pitchFamily="18" charset="0"/>
              </a:rPr>
              <a:t> 充分注意测试中的集群现象</a:t>
            </a:r>
            <a:endParaRPr lang="zh-CN" altLang="en-US" sz="2400" b="1" smtClean="0">
              <a:latin typeface="Times New Roman" panose="02020603050405020304" pitchFamily="18" charset="0"/>
            </a:endParaRPr>
          </a:p>
          <a:p>
            <a:pPr marL="179705" lvl="1" indent="0" defTabSz="284480" eaLnBrk="1" hangingPunct="1">
              <a:lnSpc>
                <a:spcPct val="80000"/>
              </a:lnSpc>
              <a:spcBef>
                <a:spcPct val="30000"/>
              </a:spcBef>
              <a:tabLst>
                <a:tab pos="95250" algn="l"/>
              </a:tabLst>
            </a:pPr>
            <a:r>
              <a:rPr lang="zh-CN" altLang="en-US" sz="2400" b="1" smtClean="0"/>
              <a:t> 注意回归测试的关联性 </a:t>
            </a:r>
            <a:endParaRPr lang="zh-CN" altLang="en-US" sz="2400" b="1" smtClean="0">
              <a:latin typeface="Times New Roman" panose="02020603050405020304" pitchFamily="18" charset="0"/>
            </a:endParaRPr>
          </a:p>
          <a:p>
            <a:pPr marL="179705" lvl="1" indent="0" defTabSz="284480" eaLnBrk="1" hangingPunct="1">
              <a:lnSpc>
                <a:spcPct val="80000"/>
              </a:lnSpc>
              <a:spcBef>
                <a:spcPct val="30000"/>
              </a:spcBef>
              <a:tabLst>
                <a:tab pos="95250" algn="l"/>
              </a:tabLst>
            </a:pPr>
            <a:r>
              <a:rPr lang="zh-CN" altLang="en-US" sz="2400" b="1" smtClean="0">
                <a:latin typeface="Times New Roman" panose="02020603050405020304" pitchFamily="18" charset="0"/>
              </a:rPr>
              <a:t> 注意遵守</a:t>
            </a:r>
            <a:r>
              <a:rPr lang="zh-CN" altLang="en-US" sz="2400" b="1" smtClean="0">
                <a:latin typeface="Arial" panose="020B0604020202020204" pitchFamily="34" charset="0"/>
              </a:rPr>
              <a:t>“</a:t>
            </a:r>
            <a:r>
              <a:rPr lang="zh-CN" altLang="en-US" sz="2400" b="1" smtClean="0">
                <a:latin typeface="Times New Roman" panose="02020603050405020304" pitchFamily="18" charset="0"/>
              </a:rPr>
              <a:t>经济性</a:t>
            </a:r>
            <a:r>
              <a:rPr lang="zh-CN" altLang="en-US" sz="2400" b="1" smtClean="0">
                <a:latin typeface="Arial" panose="020B0604020202020204" pitchFamily="34" charset="0"/>
              </a:rPr>
              <a:t>”</a:t>
            </a:r>
            <a:r>
              <a:rPr lang="zh-CN" altLang="en-US" sz="2400" b="1" smtClean="0">
                <a:latin typeface="Times New Roman" panose="02020603050405020304" pitchFamily="18" charset="0"/>
              </a:rPr>
              <a:t>原则</a:t>
            </a:r>
            <a:endParaRPr lang="zh-CN" altLang="en-US" sz="2400" b="1" smtClean="0">
              <a:latin typeface="Times New Roman" panose="02020603050405020304" pitchFamily="18" charset="0"/>
            </a:endParaRPr>
          </a:p>
        </p:txBody>
      </p:sp>
      <p:sp>
        <p:nvSpPr>
          <p:cNvPr id="64515" name="AutoShape 3">
            <a:hlinkClick r:id="" action="ppaction://noaction" highlightClick="1"/>
          </p:cNvPr>
          <p:cNvSpPr>
            <a:spLocks noChangeArrowheads="1"/>
          </p:cNvSpPr>
          <p:nvPr/>
        </p:nvSpPr>
        <p:spPr bwMode="auto">
          <a:xfrm>
            <a:off x="11874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6.3.1 </a:t>
            </a:r>
            <a:r>
              <a:rPr lang="zh-CN" altLang="en-US" sz="3200" b="1">
                <a:solidFill>
                  <a:srgbClr val="0A0A0E"/>
                </a:solidFill>
                <a:latin typeface="Times New Roman" panose="02020603050405020304" pitchFamily="18" charset="0"/>
              </a:rPr>
              <a:t>软件测试</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noChangeArrowheads="1"/>
          </p:cNvSpPr>
          <p:nvPr>
            <p:ph type="body" idx="1"/>
          </p:nvPr>
        </p:nvSpPr>
        <p:spPr/>
        <p:txBody>
          <a:bodyPr/>
          <a:lstStyle/>
          <a:p>
            <a:pPr marL="0" indent="0" defTabSz="284480" eaLnBrk="1" hangingPunct="1">
              <a:lnSpc>
                <a:spcPct val="110000"/>
              </a:lnSpc>
              <a:spcBef>
                <a:spcPct val="0"/>
              </a:spcBef>
              <a:buFontTx/>
              <a:buNone/>
              <a:tabLst>
                <a:tab pos="95250" algn="l"/>
              </a:tabLst>
            </a:pPr>
            <a:r>
              <a:rPr lang="en-US" altLang="zh-CN" smtClean="0"/>
              <a:t>3.</a:t>
            </a:r>
            <a:r>
              <a:rPr lang="zh-CN" altLang="en-US" smtClean="0"/>
              <a:t>软件测试步骤</a:t>
            </a:r>
            <a:r>
              <a:rPr lang="zh-CN" altLang="en-US" sz="2800" smtClean="0">
                <a:latin typeface="宋体" panose="02010600030101010101" pitchFamily="2" charset="-122"/>
              </a:rPr>
              <a:t> </a:t>
            </a:r>
            <a:endParaRPr lang="zh-CN" altLang="en-US" smtClean="0"/>
          </a:p>
        </p:txBody>
      </p:sp>
      <p:sp>
        <p:nvSpPr>
          <p:cNvPr id="65539" name="AutoShape 4">
            <a:hlinkClick r:id="" action="ppaction://noaction" highlightClick="1"/>
          </p:cNvPr>
          <p:cNvSpPr>
            <a:spLocks noChangeArrowheads="1"/>
          </p:cNvSpPr>
          <p:nvPr/>
        </p:nvSpPr>
        <p:spPr bwMode="auto">
          <a:xfrm>
            <a:off x="16192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6.3.1 </a:t>
            </a:r>
            <a:r>
              <a:rPr lang="zh-CN" altLang="en-US" sz="3200" b="1">
                <a:solidFill>
                  <a:srgbClr val="0A0A0E"/>
                </a:solidFill>
                <a:latin typeface="Times New Roman" panose="02020603050405020304" pitchFamily="18" charset="0"/>
              </a:rPr>
              <a:t>软件测试</a:t>
            </a:r>
            <a:endParaRPr lang="zh-CN" altLang="en-US" sz="3200" b="1">
              <a:solidFill>
                <a:srgbClr val="0A0A0E"/>
              </a:solidFill>
              <a:latin typeface="Times New Roman" panose="02020603050405020304" pitchFamily="18" charset="0"/>
            </a:endParaRPr>
          </a:p>
        </p:txBody>
      </p:sp>
      <p:pic>
        <p:nvPicPr>
          <p:cNvPr id="65540" name="Picture 5" descr="6"/>
          <p:cNvPicPr>
            <a:picLocks noChangeAspect="1" noChangeArrowheads="1"/>
          </p:cNvPicPr>
          <p:nvPr/>
        </p:nvPicPr>
        <p:blipFill>
          <a:blip r:embed="rId1" cstate="print"/>
          <a:srcRect/>
          <a:stretch>
            <a:fillRect/>
          </a:stretch>
        </p:blipFill>
        <p:spPr bwMode="auto">
          <a:xfrm>
            <a:off x="827088" y="2781300"/>
            <a:ext cx="7848600" cy="3355975"/>
          </a:xfrm>
          <a:prstGeom prst="rect">
            <a:avLst/>
          </a:prstGeom>
          <a:noFill/>
          <a:ln w="76200">
            <a:pattFill prst="sphere">
              <a:fgClr>
                <a:srgbClr val="663300"/>
              </a:fgClr>
              <a:bgClr>
                <a:srgbClr val="FFFFFF"/>
              </a:bgClr>
            </a:pattFill>
            <a:miter lim="800000"/>
            <a:headEnd/>
            <a:tailEnd/>
          </a:ln>
        </p:spPr>
      </p:pic>
    </p:spTree>
  </p:cSld>
  <p:clrMapOvr>
    <a:masterClrMapping/>
  </p:clrMapOvr>
  <p:transition>
    <p:wipe dir="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body" idx="1"/>
          </p:nvPr>
        </p:nvSpPr>
        <p:spPr>
          <a:xfrm>
            <a:off x="179388" y="1773238"/>
            <a:ext cx="8675687" cy="4114800"/>
          </a:xfrm>
        </p:spPr>
        <p:txBody>
          <a:bodyPr/>
          <a:lstStyle/>
          <a:p>
            <a:pPr marL="0" indent="0" defTabSz="284480" eaLnBrk="1" hangingPunct="1">
              <a:buFont typeface="Wingdings" panose="05000000000000000000" pitchFamily="2" charset="2"/>
              <a:buNone/>
              <a:tabLst>
                <a:tab pos="450850" algn="l"/>
              </a:tabLst>
            </a:pPr>
            <a:r>
              <a:rPr lang="zh-CN" altLang="en-US" sz="2400" b="1" smtClean="0"/>
              <a:t>规范化的测试过程与内容包括如下内容：</a:t>
            </a:r>
            <a:endParaRPr lang="zh-CN" altLang="en-US" sz="2400" b="1" smtClean="0"/>
          </a:p>
          <a:p>
            <a:pPr marL="0" indent="0" defTabSz="284480" eaLnBrk="1" hangingPunct="1">
              <a:tabLst>
                <a:tab pos="450850" algn="l"/>
              </a:tabLst>
            </a:pPr>
            <a:r>
              <a:rPr lang="zh-CN" altLang="en-US" sz="2400" b="1" smtClean="0"/>
              <a:t>拟定测试计划：测试的内容、进度安排、测试所需的环境和条件、测试培训安排等。</a:t>
            </a:r>
            <a:endParaRPr lang="zh-CN" altLang="en-US" sz="2400" b="1" smtClean="0"/>
          </a:p>
          <a:p>
            <a:pPr marL="0" indent="0" defTabSz="284480" eaLnBrk="1" hangingPunct="1">
              <a:tabLst>
                <a:tab pos="450850" algn="l"/>
              </a:tabLst>
            </a:pPr>
            <a:r>
              <a:rPr lang="zh-CN" altLang="en-US" sz="2400" b="1" smtClean="0"/>
              <a:t>编制测试大纲：明确详细地规定了在测试中针对系统的每一项功能或特性所必须完成的基本测试项目和测试完成的标准。无论是自动测试还是手动测试，都必须满足测试大纲的要求。</a:t>
            </a:r>
            <a:endParaRPr lang="zh-CN" altLang="en-US" sz="2400" b="1" smtClean="0"/>
          </a:p>
          <a:p>
            <a:pPr marL="0" indent="0" defTabSz="284480" eaLnBrk="1" hangingPunct="1">
              <a:tabLst>
                <a:tab pos="450850" algn="l"/>
              </a:tabLst>
            </a:pPr>
            <a:r>
              <a:rPr lang="zh-CN" altLang="en-US" sz="2400" b="1" smtClean="0"/>
              <a:t>设计和生成测试用例：产生测试设计说明文档，其内容主要有：被测项目、输入数据、测试过程、预期输出结果等。</a:t>
            </a:r>
            <a:endParaRPr lang="zh-CN" altLang="en-US" sz="2400" b="1" smtClean="0"/>
          </a:p>
          <a:p>
            <a:pPr marL="0" indent="0" defTabSz="284480" eaLnBrk="1" hangingPunct="1">
              <a:tabLst>
                <a:tab pos="450850" algn="l"/>
              </a:tabLst>
            </a:pPr>
            <a:r>
              <a:rPr lang="zh-CN" altLang="en-US" sz="2400" b="1" smtClean="0"/>
              <a:t>实施测试：测试的实施阶段时由一系列的测试周期组成的。</a:t>
            </a:r>
            <a:endParaRPr lang="zh-CN" altLang="en-US" sz="2400" b="1" smtClean="0"/>
          </a:p>
          <a:p>
            <a:pPr marL="0" indent="0" defTabSz="284480" eaLnBrk="1" hangingPunct="1">
              <a:tabLst>
                <a:tab pos="450850" algn="l"/>
              </a:tabLst>
            </a:pPr>
            <a:r>
              <a:rPr lang="zh-CN" altLang="en-US" sz="2400" b="1" smtClean="0"/>
              <a:t>生成测试报告：对测试进行概要说明，列出测试的结论，指出缺陷和错误，另外，给出一些建议。例如，可采用的修改方法，各项修改预计的工作量等。</a:t>
            </a:r>
            <a:endParaRPr lang="zh-CN" altLang="en-US" sz="2400" b="1" smtClean="0"/>
          </a:p>
        </p:txBody>
      </p:sp>
      <p:sp>
        <p:nvSpPr>
          <p:cNvPr id="66563" name="AutoShape 3">
            <a:hlinkClick r:id="" action="ppaction://noaction" highlightClick="1"/>
          </p:cNvPr>
          <p:cNvSpPr>
            <a:spLocks noChangeArrowheads="1"/>
          </p:cNvSpPr>
          <p:nvPr/>
        </p:nvSpPr>
        <p:spPr bwMode="auto">
          <a:xfrm>
            <a:off x="14033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3. </a:t>
            </a:r>
            <a:r>
              <a:rPr lang="zh-CN" altLang="en-US" sz="3200" b="1">
                <a:solidFill>
                  <a:srgbClr val="0A0A0E"/>
                </a:solidFill>
                <a:latin typeface="Times New Roman" panose="02020603050405020304" pitchFamily="18" charset="0"/>
              </a:rPr>
              <a:t>软件测试步骤</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403350" y="692150"/>
            <a:ext cx="6621463" cy="990600"/>
          </a:xfrm>
        </p:spPr>
        <p:txBody>
          <a:bodyPr/>
          <a:lstStyle/>
          <a:p>
            <a:pPr eaLnBrk="1" hangingPunct="1"/>
            <a:r>
              <a:rPr lang="zh-CN" altLang="en-US" sz="3600" b="1" smtClean="0">
                <a:solidFill>
                  <a:schemeClr val="tx1"/>
                </a:solidFill>
              </a:rPr>
              <a:t>错误种类</a:t>
            </a:r>
            <a:r>
              <a:rPr lang="zh-CN" altLang="en-US" smtClean="0"/>
              <a:t> </a:t>
            </a:r>
            <a:endParaRPr lang="zh-CN" altLang="en-US" smtClean="0"/>
          </a:p>
        </p:txBody>
      </p:sp>
      <p:sp>
        <p:nvSpPr>
          <p:cNvPr id="67587" name="Rectangle 3"/>
          <p:cNvSpPr>
            <a:spLocks noGrp="1" noChangeArrowheads="1"/>
          </p:cNvSpPr>
          <p:nvPr>
            <p:ph type="body" idx="1"/>
          </p:nvPr>
        </p:nvSpPr>
        <p:spPr>
          <a:xfrm>
            <a:off x="395288" y="1916113"/>
            <a:ext cx="8132762" cy="3886200"/>
          </a:xfrm>
        </p:spPr>
        <p:txBody>
          <a:bodyPr/>
          <a:lstStyle/>
          <a:p>
            <a:pPr eaLnBrk="1" hangingPunct="1">
              <a:lnSpc>
                <a:spcPct val="110000"/>
              </a:lnSpc>
              <a:spcBef>
                <a:spcPct val="5000"/>
              </a:spcBef>
              <a:buFont typeface="Wingdings" panose="05000000000000000000" pitchFamily="2" charset="2"/>
              <a:buNone/>
            </a:pPr>
            <a:r>
              <a:rPr lang="zh-CN" altLang="en-US" sz="2800" b="1" smtClean="0"/>
              <a:t>测试中可能发现的错误按其性质可分为：</a:t>
            </a:r>
            <a:r>
              <a:rPr lang="zh-CN" altLang="en-US" b="1" smtClean="0"/>
              <a:t> </a:t>
            </a:r>
            <a:endParaRPr lang="zh-CN" altLang="en-US" b="1" smtClean="0"/>
          </a:p>
          <a:p>
            <a:pPr eaLnBrk="1" hangingPunct="1">
              <a:lnSpc>
                <a:spcPct val="110000"/>
              </a:lnSpc>
              <a:spcBef>
                <a:spcPct val="5000"/>
              </a:spcBef>
              <a:buFont typeface="Wingdings" panose="05000000000000000000" pitchFamily="2" charset="2"/>
              <a:buNone/>
            </a:pPr>
            <a:r>
              <a:rPr lang="zh-CN" altLang="en-US" sz="2800" b="1" smtClean="0"/>
              <a:t>    </a:t>
            </a:r>
            <a:r>
              <a:rPr lang="en-US" altLang="zh-CN" sz="2800" b="1" smtClean="0"/>
              <a:t>(1) </a:t>
            </a:r>
            <a:r>
              <a:rPr lang="zh-CN" altLang="en-US" sz="2800" b="1" smtClean="0"/>
              <a:t>功能错误</a:t>
            </a:r>
            <a:endParaRPr lang="zh-CN" altLang="en-US" sz="2800" b="1" smtClean="0"/>
          </a:p>
          <a:p>
            <a:pPr lvl="1" eaLnBrk="1" hangingPunct="1">
              <a:lnSpc>
                <a:spcPct val="110000"/>
              </a:lnSpc>
              <a:spcBef>
                <a:spcPct val="5000"/>
              </a:spcBef>
              <a:buFont typeface="Wingdings" panose="05000000000000000000" pitchFamily="2" charset="2"/>
              <a:buNone/>
            </a:pPr>
            <a:r>
              <a:rPr lang="zh-CN" altLang="en-US" sz="2400" b="1" smtClean="0"/>
              <a:t>       由于处理功能说明不够完整或不够确切，致使编程时对功能有误解而产生的错误</a:t>
            </a:r>
            <a:endParaRPr lang="zh-CN" altLang="en-US" sz="2400" b="1" smtClean="0"/>
          </a:p>
          <a:p>
            <a:pPr lvl="1" eaLnBrk="1" hangingPunct="1">
              <a:lnSpc>
                <a:spcPct val="110000"/>
              </a:lnSpc>
              <a:spcBef>
                <a:spcPct val="5000"/>
              </a:spcBef>
              <a:buFont typeface="Wingdings" panose="05000000000000000000" pitchFamily="2" charset="2"/>
              <a:buNone/>
            </a:pPr>
            <a:r>
              <a:rPr lang="en-US" altLang="zh-CN" b="1" smtClean="0"/>
              <a:t>(2) </a:t>
            </a:r>
            <a:r>
              <a:rPr lang="zh-CN" altLang="en-US" b="1" smtClean="0"/>
              <a:t>系统错误</a:t>
            </a:r>
            <a:endParaRPr lang="zh-CN" altLang="en-US" b="1" smtClean="0"/>
          </a:p>
          <a:p>
            <a:pPr lvl="1" eaLnBrk="1" hangingPunct="1">
              <a:lnSpc>
                <a:spcPct val="110000"/>
              </a:lnSpc>
              <a:spcBef>
                <a:spcPct val="5000"/>
              </a:spcBef>
              <a:buFont typeface="Wingdings" panose="05000000000000000000" pitchFamily="2" charset="2"/>
              <a:buNone/>
            </a:pPr>
            <a:r>
              <a:rPr lang="zh-CN" altLang="en-US" sz="2400" b="1" smtClean="0"/>
              <a:t>        指与外部接口错误、子程序调用错误、参数使用错误等。</a:t>
            </a:r>
            <a:endParaRPr lang="zh-CN" altLang="en-US" sz="2400" b="1" smtClean="0"/>
          </a:p>
        </p:txBody>
      </p:sp>
    </p:spTree>
  </p:cSld>
  <p:clrMapOvr>
    <a:masterClrMapping/>
  </p:clrMapOvr>
  <p:transition>
    <p:wipe dir="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body" idx="1"/>
          </p:nvPr>
        </p:nvSpPr>
        <p:spPr>
          <a:xfrm>
            <a:off x="900113" y="1916113"/>
            <a:ext cx="7416800" cy="3886200"/>
          </a:xfrm>
        </p:spPr>
        <p:txBody>
          <a:bodyPr/>
          <a:lstStyle/>
          <a:p>
            <a:pPr eaLnBrk="1" hangingPunct="1">
              <a:lnSpc>
                <a:spcPct val="105000"/>
              </a:lnSpc>
              <a:spcBef>
                <a:spcPct val="10000"/>
              </a:spcBef>
              <a:buFont typeface="Wingdings" panose="05000000000000000000" pitchFamily="2" charset="2"/>
              <a:buNone/>
            </a:pPr>
            <a:r>
              <a:rPr lang="en-US" altLang="zh-CN" sz="2400" smtClean="0"/>
              <a:t>  </a:t>
            </a:r>
            <a:r>
              <a:rPr lang="en-US" altLang="zh-CN" sz="2800" b="1" smtClean="0"/>
              <a:t>(3) </a:t>
            </a:r>
            <a:r>
              <a:rPr lang="zh-CN" altLang="en-US" sz="2800" b="1" smtClean="0"/>
              <a:t>过程错误</a:t>
            </a:r>
            <a:endParaRPr lang="zh-CN" altLang="en-US" sz="2800" b="1" smtClean="0"/>
          </a:p>
          <a:p>
            <a:pPr lvl="1" eaLnBrk="1" hangingPunct="1">
              <a:lnSpc>
                <a:spcPct val="105000"/>
              </a:lnSpc>
              <a:spcBef>
                <a:spcPct val="10000"/>
              </a:spcBef>
            </a:pPr>
            <a:r>
              <a:rPr lang="zh-CN" altLang="en-US" sz="2400" b="1" smtClean="0"/>
              <a:t>主要指算术运算错误、逻辑错误等。</a:t>
            </a:r>
            <a:endParaRPr lang="zh-CN" altLang="en-US" sz="2400" b="1" smtClean="0"/>
          </a:p>
          <a:p>
            <a:pPr eaLnBrk="1" hangingPunct="1">
              <a:lnSpc>
                <a:spcPct val="105000"/>
              </a:lnSpc>
              <a:spcBef>
                <a:spcPct val="10000"/>
              </a:spcBef>
              <a:buFont typeface="Wingdings" panose="05000000000000000000" pitchFamily="2" charset="2"/>
              <a:buNone/>
            </a:pPr>
            <a:r>
              <a:rPr lang="zh-CN" altLang="en-US" sz="2400" b="1" smtClean="0"/>
              <a:t>  </a:t>
            </a:r>
            <a:r>
              <a:rPr lang="en-US" altLang="zh-CN" sz="2800" b="1" smtClean="0"/>
              <a:t>(4) </a:t>
            </a:r>
            <a:r>
              <a:rPr lang="zh-CN" altLang="en-US" sz="2800" b="1" smtClean="0"/>
              <a:t>数据错误</a:t>
            </a:r>
            <a:endParaRPr lang="zh-CN" altLang="en-US" sz="2800" b="1" smtClean="0"/>
          </a:p>
          <a:p>
            <a:pPr lvl="1" eaLnBrk="1" hangingPunct="1">
              <a:lnSpc>
                <a:spcPct val="105000"/>
              </a:lnSpc>
              <a:spcBef>
                <a:spcPct val="10000"/>
              </a:spcBef>
            </a:pPr>
            <a:r>
              <a:rPr lang="zh-CN" altLang="en-US" sz="2400" b="1" smtClean="0"/>
              <a:t>数据结构、实体、属性错误，参数与控制数据混淆等。</a:t>
            </a:r>
            <a:r>
              <a:rPr lang="zh-CN" altLang="en-US" sz="2000" b="1" smtClean="0"/>
              <a:t> </a:t>
            </a:r>
            <a:endParaRPr lang="zh-CN" altLang="en-US" sz="2000" b="1" smtClean="0"/>
          </a:p>
          <a:p>
            <a:pPr eaLnBrk="1" hangingPunct="1">
              <a:lnSpc>
                <a:spcPct val="105000"/>
              </a:lnSpc>
              <a:spcBef>
                <a:spcPct val="10000"/>
              </a:spcBef>
              <a:buFont typeface="Wingdings" panose="05000000000000000000" pitchFamily="2" charset="2"/>
              <a:buNone/>
            </a:pPr>
            <a:r>
              <a:rPr lang="zh-CN" altLang="en-US" sz="2400" b="1" smtClean="0"/>
              <a:t>  </a:t>
            </a:r>
            <a:r>
              <a:rPr lang="en-US" altLang="zh-CN" sz="2800" b="1" smtClean="0"/>
              <a:t>(5) </a:t>
            </a:r>
            <a:r>
              <a:rPr lang="zh-CN" altLang="en-US" sz="2800" b="1" smtClean="0"/>
              <a:t>编程错误</a:t>
            </a:r>
            <a:endParaRPr lang="zh-CN" altLang="en-US" sz="2800" b="1" smtClean="0"/>
          </a:p>
          <a:p>
            <a:pPr lvl="1" eaLnBrk="1" hangingPunct="1">
              <a:lnSpc>
                <a:spcPct val="105000"/>
              </a:lnSpc>
              <a:spcBef>
                <a:spcPct val="10000"/>
              </a:spcBef>
            </a:pPr>
            <a:r>
              <a:rPr lang="zh-CN" altLang="en-US" sz="2400" b="1" smtClean="0"/>
              <a:t>语法错误、逻辑错误、编程书写错误等。</a:t>
            </a:r>
            <a:endParaRPr lang="zh-CN" altLang="en-US" sz="2400" b="1" smtClean="0"/>
          </a:p>
        </p:txBody>
      </p:sp>
      <p:sp>
        <p:nvSpPr>
          <p:cNvPr id="68611" name="Rectangle 3"/>
          <p:cNvSpPr>
            <a:spLocks noChangeArrowheads="1"/>
          </p:cNvSpPr>
          <p:nvPr/>
        </p:nvSpPr>
        <p:spPr bwMode="auto">
          <a:xfrm>
            <a:off x="1258888" y="981075"/>
            <a:ext cx="6981825" cy="990600"/>
          </a:xfrm>
          <a:prstGeom prst="rect">
            <a:avLst/>
          </a:prstGeom>
          <a:noFill/>
          <a:ln w="9525">
            <a:noFill/>
            <a:miter lim="800000"/>
          </a:ln>
        </p:spPr>
        <p:txBody>
          <a:bodyPr anchor="ctr"/>
          <a:lstStyle/>
          <a:p>
            <a:r>
              <a:rPr lang="zh-CN" altLang="en-US" sz="3600" b="1"/>
              <a:t>错误种类</a:t>
            </a:r>
            <a:r>
              <a:rPr lang="zh-CN" altLang="en-US" sz="4400">
                <a:solidFill>
                  <a:schemeClr val="tx2"/>
                </a:solidFill>
              </a:rPr>
              <a:t> </a:t>
            </a:r>
            <a:endParaRPr lang="zh-CN" altLang="en-US" sz="4400">
              <a:solidFill>
                <a:schemeClr val="tx2"/>
              </a:solidFill>
            </a:endParaRPr>
          </a:p>
        </p:txBody>
      </p:sp>
    </p:spTree>
  </p:cSld>
  <p:clrMapOvr>
    <a:masterClrMapping/>
  </p:clrMapOvr>
  <p:transition>
    <p:wipe dir="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5" descr="单元测试1"/>
          <p:cNvPicPr>
            <a:picLocks noChangeAspect="1" noChangeArrowheads="1"/>
          </p:cNvPicPr>
          <p:nvPr/>
        </p:nvPicPr>
        <p:blipFill>
          <a:blip r:embed="rId1" cstate="print"/>
          <a:srcRect/>
          <a:stretch>
            <a:fillRect/>
          </a:stretch>
        </p:blipFill>
        <p:spPr bwMode="auto">
          <a:xfrm>
            <a:off x="971550" y="1196975"/>
            <a:ext cx="7129463" cy="5400675"/>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3" descr="单元测试2"/>
          <p:cNvPicPr>
            <a:picLocks noChangeAspect="1" noChangeArrowheads="1"/>
          </p:cNvPicPr>
          <p:nvPr/>
        </p:nvPicPr>
        <p:blipFill>
          <a:blip r:embed="rId1" cstate="print"/>
          <a:srcRect/>
          <a:stretch>
            <a:fillRect/>
          </a:stretch>
        </p:blipFill>
        <p:spPr bwMode="auto">
          <a:xfrm>
            <a:off x="1116013" y="1196975"/>
            <a:ext cx="7056437" cy="5111750"/>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body" idx="4294967295"/>
          </p:nvPr>
        </p:nvSpPr>
        <p:spPr>
          <a:xfrm>
            <a:off x="755650" y="1989138"/>
            <a:ext cx="7596188" cy="3827462"/>
          </a:xfrm>
        </p:spPr>
        <p:txBody>
          <a:bodyPr/>
          <a:lstStyle/>
          <a:p>
            <a:pPr marL="0" indent="0" defTabSz="284480" eaLnBrk="1" hangingPunct="1">
              <a:buFont typeface="Wingdings" panose="05000000000000000000" pitchFamily="2" charset="2"/>
              <a:buNone/>
              <a:tabLst>
                <a:tab pos="450850" algn="l"/>
              </a:tabLst>
            </a:pPr>
            <a:r>
              <a:rPr lang="en-US" altLang="zh-CN" sz="2400" smtClean="0"/>
              <a:t>   </a:t>
            </a:r>
            <a:r>
              <a:rPr lang="zh-CN" altLang="en-US" sz="2400" smtClean="0"/>
              <a:t>程序错误一般包括</a:t>
            </a:r>
            <a:endParaRPr lang="zh-CN" altLang="en-US" sz="2400" smtClean="0"/>
          </a:p>
          <a:p>
            <a:pPr marL="0" indent="0" defTabSz="284480" eaLnBrk="1" hangingPunct="1">
              <a:tabLst>
                <a:tab pos="450850" algn="l"/>
              </a:tabLst>
            </a:pPr>
            <a:r>
              <a:rPr lang="zh-CN" altLang="en-US" sz="2400" smtClean="0"/>
              <a:t>数据缺陷</a:t>
            </a:r>
            <a:endParaRPr lang="zh-CN" altLang="en-US" sz="2400" smtClean="0"/>
          </a:p>
          <a:p>
            <a:pPr marL="0" indent="0" defTabSz="284480" eaLnBrk="1" hangingPunct="1">
              <a:tabLst>
                <a:tab pos="450850" algn="l"/>
              </a:tabLst>
            </a:pPr>
            <a:r>
              <a:rPr lang="zh-CN" altLang="en-US" sz="2400" smtClean="0"/>
              <a:t>控制缺陷</a:t>
            </a:r>
            <a:endParaRPr lang="zh-CN" altLang="en-US" sz="2400" smtClean="0"/>
          </a:p>
          <a:p>
            <a:pPr marL="0" indent="0" defTabSz="284480" eaLnBrk="1" hangingPunct="1">
              <a:tabLst>
                <a:tab pos="450850" algn="l"/>
              </a:tabLst>
            </a:pPr>
            <a:r>
              <a:rPr lang="zh-CN" altLang="en-US" sz="2400" smtClean="0"/>
              <a:t>计算缺陷</a:t>
            </a:r>
            <a:endParaRPr lang="zh-CN" altLang="en-US" sz="2400" smtClean="0"/>
          </a:p>
          <a:p>
            <a:pPr marL="0" indent="0" defTabSz="284480" eaLnBrk="1" hangingPunct="1">
              <a:tabLst>
                <a:tab pos="450850" algn="l"/>
              </a:tabLst>
            </a:pPr>
            <a:r>
              <a:rPr lang="zh-CN" altLang="en-US" sz="2400" smtClean="0"/>
              <a:t>接口缺陷</a:t>
            </a:r>
            <a:endParaRPr lang="zh-CN" altLang="en-US" sz="2400" smtClean="0"/>
          </a:p>
          <a:p>
            <a:pPr marL="0" indent="0" defTabSz="284480" eaLnBrk="1" hangingPunct="1">
              <a:tabLst>
                <a:tab pos="450850" algn="l"/>
              </a:tabLst>
            </a:pPr>
            <a:r>
              <a:rPr lang="zh-CN" altLang="en-US" sz="2400" smtClean="0"/>
              <a:t>输入／输出缺陷</a:t>
            </a:r>
            <a:endParaRPr lang="zh-CN" altLang="en-US" sz="2400" smtClean="0"/>
          </a:p>
          <a:p>
            <a:pPr marL="0" indent="0" defTabSz="284480" eaLnBrk="1" hangingPunct="1">
              <a:tabLst>
                <a:tab pos="450850" algn="l"/>
              </a:tabLst>
            </a:pPr>
            <a:r>
              <a:rPr lang="zh-CN" altLang="en-US" sz="2400" smtClean="0"/>
              <a:t>存储管理缺陷</a:t>
            </a:r>
            <a:endParaRPr lang="zh-CN" altLang="en-US" sz="2400" smtClean="0"/>
          </a:p>
          <a:p>
            <a:pPr marL="0" indent="0" defTabSz="284480" eaLnBrk="1" hangingPunct="1">
              <a:tabLst>
                <a:tab pos="450850" algn="l"/>
              </a:tabLst>
            </a:pPr>
            <a:r>
              <a:rPr lang="zh-CN" altLang="en-US" sz="2400" smtClean="0"/>
              <a:t>异常处理缺陷等类型</a:t>
            </a:r>
            <a:endParaRPr lang="zh-CN" altLang="en-US" sz="2400" smtClean="0"/>
          </a:p>
        </p:txBody>
      </p:sp>
      <p:sp>
        <p:nvSpPr>
          <p:cNvPr id="189443" name="AutoShape 3">
            <a:hlinkClick r:id="" action="ppaction://noaction" highlightClick="1"/>
          </p:cNvPr>
          <p:cNvSpPr>
            <a:spLocks noChangeArrowheads="1"/>
          </p:cNvSpPr>
          <p:nvPr/>
        </p:nvSpPr>
        <p:spPr bwMode="auto">
          <a:xfrm>
            <a:off x="14033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3. </a:t>
            </a:r>
            <a:r>
              <a:rPr lang="zh-CN" altLang="en-US" sz="3200" b="1">
                <a:solidFill>
                  <a:srgbClr val="0A0A0E"/>
                </a:solidFill>
                <a:latin typeface="Times New Roman" panose="02020603050405020304" pitchFamily="18" charset="0"/>
              </a:rPr>
              <a:t>软件测试步骤</a:t>
            </a:r>
            <a:endParaRPr lang="zh-CN" altLang="en-US" sz="3200" b="1">
              <a:solidFill>
                <a:srgbClr val="0A0A0E"/>
              </a:solidFill>
              <a:latin typeface="Times New Roman" panose="02020603050405020304" pitchFamily="18" charset="0"/>
            </a:endParaRPr>
          </a:p>
        </p:txBody>
      </p:sp>
      <p:pic>
        <p:nvPicPr>
          <p:cNvPr id="1687556" name="Picture 4" descr="t01"/>
          <p:cNvPicPr>
            <a:picLocks noChangeAspect="1" noChangeArrowheads="1"/>
          </p:cNvPicPr>
          <p:nvPr/>
        </p:nvPicPr>
        <p:blipFill>
          <a:blip r:embed="rId1" cstate="print"/>
          <a:srcRect/>
          <a:stretch>
            <a:fillRect/>
          </a:stretch>
        </p:blipFill>
        <p:spPr bwMode="auto">
          <a:xfrm>
            <a:off x="468313" y="68263"/>
            <a:ext cx="8207375" cy="6789737"/>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87556"/>
                                        </p:tgtEl>
                                        <p:attrNameLst>
                                          <p:attrName>style.visibility</p:attrName>
                                        </p:attrNameLst>
                                      </p:cBhvr>
                                      <p:to>
                                        <p:strVal val="visible"/>
                                      </p:to>
                                    </p:set>
                                    <p:anim calcmode="lin" valueType="num">
                                      <p:cBhvr additive="base">
                                        <p:cTn id="7" dur="500" fill="hold"/>
                                        <p:tgtEl>
                                          <p:spTgt spid="1687556"/>
                                        </p:tgtEl>
                                        <p:attrNameLst>
                                          <p:attrName>ppt_x</p:attrName>
                                        </p:attrNameLst>
                                      </p:cBhvr>
                                      <p:tavLst>
                                        <p:tav tm="0">
                                          <p:val>
                                            <p:strVal val="#ppt_x"/>
                                          </p:val>
                                        </p:tav>
                                        <p:tav tm="100000">
                                          <p:val>
                                            <p:strVal val="#ppt_x"/>
                                          </p:val>
                                        </p:tav>
                                      </p:tavLst>
                                    </p:anim>
                                    <p:anim calcmode="lin" valueType="num">
                                      <p:cBhvr additive="base">
                                        <p:cTn id="8" dur="500" fill="hold"/>
                                        <p:tgtEl>
                                          <p:spTgt spid="16875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3"/>
          <p:cNvSpPr>
            <a:spLocks noGrp="1" noChangeArrowheads="1"/>
          </p:cNvSpPr>
          <p:nvPr>
            <p:ph type="body" idx="4294967295"/>
          </p:nvPr>
        </p:nvSpPr>
        <p:spPr>
          <a:xfrm>
            <a:off x="395288" y="2017713"/>
            <a:ext cx="8280400" cy="4114800"/>
          </a:xfrm>
        </p:spPr>
        <p:txBody>
          <a:bodyPr/>
          <a:lstStyle/>
          <a:p>
            <a:pPr marL="0" indent="0" algn="just" defTabSz="284480" eaLnBrk="1" hangingPunct="1">
              <a:buFont typeface="Wingdings" panose="05000000000000000000" pitchFamily="2" charset="2"/>
              <a:buNone/>
              <a:tabLst>
                <a:tab pos="450850" algn="l"/>
              </a:tabLst>
            </a:pPr>
            <a:r>
              <a:rPr lang="zh-CN" altLang="en-US" b="1" smtClean="0"/>
              <a:t>单元测试</a:t>
            </a:r>
            <a:r>
              <a:rPr lang="en-US" altLang="zh-CN" b="1" smtClean="0"/>
              <a:t>:</a:t>
            </a:r>
            <a:endParaRPr lang="en-US" altLang="zh-CN" b="1" smtClean="0">
              <a:cs typeface="Times New Roman" panose="02020603050405020304" pitchFamily="18" charset="0"/>
            </a:endParaRPr>
          </a:p>
          <a:p>
            <a:pPr marL="274955" lvl="1" indent="0" algn="just" defTabSz="284480" eaLnBrk="1" hangingPunct="1">
              <a:lnSpc>
                <a:spcPct val="110000"/>
              </a:lnSpc>
              <a:spcBef>
                <a:spcPct val="30000"/>
              </a:spcBef>
              <a:buFont typeface="Wingdings" panose="05000000000000000000" pitchFamily="2" charset="2"/>
              <a:buNone/>
              <a:tabLst>
                <a:tab pos="450850" algn="l"/>
              </a:tabLst>
            </a:pPr>
            <a:r>
              <a:rPr lang="zh-CN" altLang="en-US" sz="2400" b="1" smtClean="0">
                <a:latin typeface="Times New Roman" panose="02020603050405020304" pitchFamily="18" charset="0"/>
              </a:rPr>
              <a:t>单元测试是对源程序中的每一个程序单元进行测试，验证每个模块是否满足系统设计说明书的要求。</a:t>
            </a:r>
            <a:endParaRPr lang="zh-CN" altLang="en-US" sz="2400" b="1" smtClean="0">
              <a:latin typeface="Times New Roman" panose="02020603050405020304" pitchFamily="18" charset="0"/>
            </a:endParaRPr>
          </a:p>
          <a:p>
            <a:pPr marL="274955" lvl="1" indent="0" algn="just" defTabSz="284480" eaLnBrk="1" hangingPunct="1">
              <a:lnSpc>
                <a:spcPct val="110000"/>
              </a:lnSpc>
              <a:spcBef>
                <a:spcPct val="30000"/>
              </a:spcBef>
              <a:buFont typeface="Wingdings" panose="05000000000000000000" pitchFamily="2" charset="2"/>
              <a:buNone/>
              <a:tabLst>
                <a:tab pos="450850" algn="l"/>
              </a:tabLst>
            </a:pPr>
            <a:r>
              <a:rPr lang="zh-CN" altLang="en-US" sz="2400" b="1" smtClean="0"/>
              <a:t>可使用白盒测试方法测试单元的内部结构，使用黑盒测试方法测试单元的功能和可观测的行为。 </a:t>
            </a:r>
            <a:endParaRPr lang="zh-CN" altLang="en-US" sz="2400" b="1" smtClean="0"/>
          </a:p>
        </p:txBody>
      </p:sp>
      <p:sp>
        <p:nvSpPr>
          <p:cNvPr id="188419" name="AutoShape 4">
            <a:hlinkClick r:id="" action="ppaction://noaction" highlightClick="1"/>
          </p:cNvPr>
          <p:cNvSpPr>
            <a:spLocks noChangeArrowheads="1"/>
          </p:cNvSpPr>
          <p:nvPr/>
        </p:nvSpPr>
        <p:spPr bwMode="auto">
          <a:xfrm>
            <a:off x="14033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3. </a:t>
            </a:r>
            <a:r>
              <a:rPr lang="zh-CN" altLang="en-US" sz="3200" b="1">
                <a:solidFill>
                  <a:srgbClr val="0A0A0E"/>
                </a:solidFill>
                <a:latin typeface="Times New Roman" panose="02020603050405020304" pitchFamily="18" charset="0"/>
              </a:rPr>
              <a:t>软件测试步骤</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body" idx="1"/>
          </p:nvPr>
        </p:nvSpPr>
        <p:spPr>
          <a:xfrm>
            <a:off x="250825" y="1844675"/>
            <a:ext cx="8675688" cy="4114800"/>
          </a:xfrm>
        </p:spPr>
        <p:txBody>
          <a:bodyPr/>
          <a:lstStyle/>
          <a:p>
            <a:pPr marL="0" indent="0" defTabSz="284480" eaLnBrk="1" hangingPunct="1">
              <a:buFont typeface="Wingdings" panose="05000000000000000000" pitchFamily="2" charset="2"/>
              <a:buNone/>
              <a:tabLst>
                <a:tab pos="450850" algn="l"/>
              </a:tabLst>
            </a:pPr>
            <a:r>
              <a:rPr lang="zh-CN" altLang="en-US" sz="2400" b="1" smtClean="0">
                <a:solidFill>
                  <a:schemeClr val="tx1"/>
                </a:solidFill>
              </a:rPr>
              <a:t>单元测试主要从模块的</a:t>
            </a:r>
            <a:r>
              <a:rPr lang="en-US" altLang="zh-CN" sz="2400" b="1" smtClean="0">
                <a:solidFill>
                  <a:schemeClr val="tx1"/>
                </a:solidFill>
              </a:rPr>
              <a:t>5</a:t>
            </a:r>
            <a:r>
              <a:rPr lang="zh-CN" altLang="en-US" sz="2400" b="1" smtClean="0">
                <a:solidFill>
                  <a:schemeClr val="tx1"/>
                </a:solidFill>
              </a:rPr>
              <a:t>个特征进行检查： </a:t>
            </a:r>
            <a:endParaRPr lang="zh-CN" altLang="en-US" sz="2400" b="1" smtClean="0">
              <a:solidFill>
                <a:schemeClr val="tx1"/>
              </a:solidFill>
            </a:endParaRPr>
          </a:p>
          <a:p>
            <a:pPr marL="0" indent="0" defTabSz="284480" eaLnBrk="1" hangingPunct="1">
              <a:buFont typeface="Wingdings" panose="05000000000000000000" pitchFamily="2" charset="2"/>
              <a:buNone/>
              <a:tabLst>
                <a:tab pos="450850" algn="l"/>
              </a:tabLst>
            </a:pPr>
            <a:r>
              <a:rPr lang="zh-CN" altLang="en-US" sz="2400" b="1" smtClean="0">
                <a:solidFill>
                  <a:schemeClr val="tx1"/>
                </a:solidFill>
              </a:rPr>
              <a:t>（</a:t>
            </a:r>
            <a:r>
              <a:rPr lang="en-US" altLang="zh-CN" sz="2400" b="1" smtClean="0">
                <a:solidFill>
                  <a:schemeClr val="tx1"/>
                </a:solidFill>
              </a:rPr>
              <a:t>1</a:t>
            </a:r>
            <a:r>
              <a:rPr lang="zh-CN" altLang="en-US" sz="2400" b="1" smtClean="0">
                <a:solidFill>
                  <a:schemeClr val="tx1"/>
                </a:solidFill>
              </a:rPr>
              <a:t>）模块接口测试。对被测的模块，信息能否正常无误地流入和流出。</a:t>
            </a:r>
            <a:endParaRPr lang="zh-CN" altLang="en-US" sz="2400" b="1" smtClean="0">
              <a:solidFill>
                <a:schemeClr val="tx1"/>
              </a:solidFill>
            </a:endParaRPr>
          </a:p>
          <a:p>
            <a:pPr marL="0" indent="0" defTabSz="284480" eaLnBrk="1" hangingPunct="1">
              <a:buFont typeface="Wingdings" panose="05000000000000000000" pitchFamily="2" charset="2"/>
              <a:buNone/>
              <a:tabLst>
                <a:tab pos="450850" algn="l"/>
              </a:tabLst>
            </a:pPr>
            <a:r>
              <a:rPr lang="zh-CN" altLang="en-US" sz="2400" b="1" smtClean="0">
                <a:solidFill>
                  <a:schemeClr val="tx1"/>
                </a:solidFill>
              </a:rPr>
              <a:t>例如，用被测模块的输入参数和形式参数在个数、属性、单位上是否一致；调用其他模块时所给的实际参数和被调模块的形式参数在个数、属性、单位上是否一致；全局变量在各模块中的定义和用法是否一致；输入是否仅改变了形式参数。</a:t>
            </a:r>
            <a:endParaRPr lang="zh-CN" altLang="en-US" sz="2400" b="1" smtClean="0">
              <a:solidFill>
                <a:schemeClr val="tx1"/>
              </a:solidFill>
            </a:endParaRPr>
          </a:p>
          <a:p>
            <a:pPr marL="0" indent="0" defTabSz="284480" eaLnBrk="1" hangingPunct="1">
              <a:buFont typeface="Wingdings" panose="05000000000000000000" pitchFamily="2" charset="2"/>
              <a:buNone/>
              <a:tabLst>
                <a:tab pos="450850" algn="l"/>
              </a:tabLst>
            </a:pPr>
            <a:r>
              <a:rPr lang="zh-CN" altLang="en-US" sz="2400" b="1" smtClean="0">
                <a:solidFill>
                  <a:schemeClr val="tx1"/>
                </a:solidFill>
              </a:rPr>
              <a:t>（</a:t>
            </a:r>
            <a:r>
              <a:rPr lang="en-US" altLang="zh-CN" sz="2400" b="1" smtClean="0">
                <a:solidFill>
                  <a:schemeClr val="tx1"/>
                </a:solidFill>
              </a:rPr>
              <a:t>2</a:t>
            </a:r>
            <a:r>
              <a:rPr lang="zh-CN" altLang="en-US" sz="2400" b="1" smtClean="0">
                <a:solidFill>
                  <a:schemeClr val="tx1"/>
                </a:solidFill>
              </a:rPr>
              <a:t>）局部数据结构测试。在模块工作过程中，其内部的数据能否保持其完整性，包括内部数据的内容、形式及相互关系不发生错误。</a:t>
            </a:r>
            <a:endParaRPr lang="zh-CN" altLang="en-US" sz="2400" b="1" smtClean="0">
              <a:solidFill>
                <a:schemeClr val="tx1"/>
              </a:solidFill>
            </a:endParaRPr>
          </a:p>
          <a:p>
            <a:pPr marL="0" indent="0" defTabSz="284480" eaLnBrk="1" hangingPunct="1">
              <a:buFont typeface="Wingdings" panose="05000000000000000000" pitchFamily="2" charset="2"/>
              <a:buNone/>
              <a:tabLst>
                <a:tab pos="450850" algn="l"/>
              </a:tabLst>
            </a:pPr>
            <a:r>
              <a:rPr lang="zh-CN" altLang="en-US" sz="2400" b="1" smtClean="0">
                <a:solidFill>
                  <a:schemeClr val="tx1"/>
                </a:solidFill>
              </a:rPr>
              <a:t>例如，变量的说明是否合适；是否使用了尚未赋值或尚未初始化的变量；是否出现上溢、下溢或地址异常的错误等。</a:t>
            </a:r>
            <a:endParaRPr lang="zh-CN" altLang="en-US" b="1" smtClean="0">
              <a:solidFill>
                <a:schemeClr val="tx1"/>
              </a:solidFill>
            </a:endParaRPr>
          </a:p>
        </p:txBody>
      </p:sp>
      <p:sp>
        <p:nvSpPr>
          <p:cNvPr id="72707" name="AutoShape 3">
            <a:hlinkClick r:id="" action="ppaction://noaction" highlightClick="1"/>
          </p:cNvPr>
          <p:cNvSpPr>
            <a:spLocks noChangeArrowheads="1"/>
          </p:cNvSpPr>
          <p:nvPr/>
        </p:nvSpPr>
        <p:spPr bwMode="auto">
          <a:xfrm>
            <a:off x="14033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3. </a:t>
            </a:r>
            <a:r>
              <a:rPr lang="zh-CN" altLang="en-US" sz="3200" b="1">
                <a:solidFill>
                  <a:srgbClr val="0A0A0E"/>
                </a:solidFill>
                <a:latin typeface="Times New Roman" panose="02020603050405020304" pitchFamily="18" charset="0"/>
              </a:rPr>
              <a:t>软件测试步骤</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body" idx="1"/>
          </p:nvPr>
        </p:nvSpPr>
        <p:spPr>
          <a:xfrm>
            <a:off x="468313" y="1989138"/>
            <a:ext cx="8207375" cy="4143375"/>
          </a:xfrm>
        </p:spPr>
        <p:txBody>
          <a:bodyPr/>
          <a:lstStyle/>
          <a:p>
            <a:pPr marL="0" indent="0" defTabSz="284480" eaLnBrk="1" hangingPunct="1">
              <a:lnSpc>
                <a:spcPct val="90000"/>
              </a:lnSpc>
              <a:buFont typeface="Wingdings" panose="05000000000000000000" pitchFamily="2" charset="2"/>
              <a:buNone/>
              <a:tabLst>
                <a:tab pos="450850" algn="l"/>
              </a:tabLst>
            </a:pPr>
            <a:r>
              <a:rPr lang="zh-CN" altLang="en-US" sz="2400" b="1" smtClean="0"/>
              <a:t>单元测试主要从模块的</a:t>
            </a:r>
            <a:r>
              <a:rPr lang="en-US" altLang="zh-CN" sz="2400" b="1" smtClean="0"/>
              <a:t>5</a:t>
            </a:r>
            <a:r>
              <a:rPr lang="zh-CN" altLang="en-US" sz="2400" b="1" smtClean="0"/>
              <a:t>个特征进行检查： </a:t>
            </a:r>
            <a:endParaRPr lang="zh-CN" altLang="en-US" sz="2400" b="1" smtClean="0"/>
          </a:p>
          <a:p>
            <a:pPr marL="0" indent="0" defTabSz="284480" eaLnBrk="1" hangingPunct="1">
              <a:lnSpc>
                <a:spcPct val="90000"/>
              </a:lnSpc>
              <a:buFont typeface="Wingdings" panose="05000000000000000000" pitchFamily="2" charset="2"/>
              <a:buNone/>
              <a:tabLst>
                <a:tab pos="450850" algn="l"/>
              </a:tabLst>
            </a:pPr>
            <a:r>
              <a:rPr lang="zh-CN" altLang="en-US" sz="2400" b="1" smtClean="0"/>
              <a:t>（</a:t>
            </a:r>
            <a:r>
              <a:rPr lang="en-US" altLang="zh-CN" sz="2400" b="1" smtClean="0"/>
              <a:t>3</a:t>
            </a:r>
            <a:r>
              <a:rPr lang="zh-CN" altLang="en-US" sz="2400" b="1" smtClean="0"/>
              <a:t>）路径测试。模块的运行能否达到满足特定的逻辑覆盖。</a:t>
            </a:r>
            <a:endParaRPr lang="zh-CN" altLang="en-US" sz="2400" b="1" smtClean="0"/>
          </a:p>
          <a:p>
            <a:pPr marL="0" indent="0" defTabSz="284480" eaLnBrk="1" hangingPunct="1">
              <a:lnSpc>
                <a:spcPct val="90000"/>
              </a:lnSpc>
              <a:buFont typeface="Wingdings" panose="05000000000000000000" pitchFamily="2" charset="2"/>
              <a:buNone/>
              <a:tabLst>
                <a:tab pos="450850" algn="l"/>
              </a:tabLst>
            </a:pPr>
            <a:r>
              <a:rPr lang="zh-CN" altLang="en-US" sz="2400" b="1" smtClean="0"/>
              <a:t>（</a:t>
            </a:r>
            <a:r>
              <a:rPr lang="en-US" altLang="zh-CN" sz="2400" b="1" smtClean="0"/>
              <a:t>4</a:t>
            </a:r>
            <a:r>
              <a:rPr lang="zh-CN" altLang="en-US" sz="2400" b="1" smtClean="0"/>
              <a:t>）错误处理测试。模块工作中发生了错误，其中的出错处理设施是否有效。</a:t>
            </a:r>
            <a:endParaRPr lang="zh-CN" altLang="en-US" sz="2400" b="1" smtClean="0"/>
          </a:p>
          <a:p>
            <a:pPr marL="0" indent="0" defTabSz="284480" eaLnBrk="1" hangingPunct="1">
              <a:lnSpc>
                <a:spcPct val="90000"/>
              </a:lnSpc>
              <a:buFont typeface="Wingdings" panose="05000000000000000000" pitchFamily="2" charset="2"/>
              <a:buNone/>
              <a:tabLst>
                <a:tab pos="450850" algn="l"/>
              </a:tabLst>
            </a:pPr>
            <a:r>
              <a:rPr lang="zh-CN" altLang="en-US" sz="2400" b="1" smtClean="0"/>
              <a:t>例如，在对错误进行处理之前，系统已经对错误条件干预；出错的提示信息不足以确定错误或确定造成错误的原因；错误的描述难于理解等。</a:t>
            </a:r>
            <a:endParaRPr lang="zh-CN" altLang="en-US" sz="2400" b="1" smtClean="0"/>
          </a:p>
          <a:p>
            <a:pPr marL="0" indent="0" defTabSz="284480" eaLnBrk="1" hangingPunct="1">
              <a:lnSpc>
                <a:spcPct val="90000"/>
              </a:lnSpc>
              <a:buFont typeface="Wingdings" panose="05000000000000000000" pitchFamily="2" charset="2"/>
              <a:buNone/>
              <a:tabLst>
                <a:tab pos="450850" algn="l"/>
              </a:tabLst>
            </a:pPr>
            <a:r>
              <a:rPr lang="zh-CN" altLang="en-US" sz="2400" b="1" smtClean="0"/>
              <a:t>（</a:t>
            </a:r>
            <a:r>
              <a:rPr lang="en-US" altLang="zh-CN" sz="2400" b="1" smtClean="0"/>
              <a:t>5</a:t>
            </a:r>
            <a:r>
              <a:rPr lang="zh-CN" altLang="en-US" sz="2400" b="1" smtClean="0"/>
              <a:t>）边界测试。在为限制数据加工而设置的边界处，模块是否能够正常工作</a:t>
            </a:r>
            <a:r>
              <a:rPr lang="zh-CN" altLang="en-US" b="1" smtClean="0"/>
              <a:t>。</a:t>
            </a:r>
            <a:endParaRPr lang="zh-CN" altLang="en-US" b="1" smtClean="0"/>
          </a:p>
        </p:txBody>
      </p:sp>
      <p:sp>
        <p:nvSpPr>
          <p:cNvPr id="73731" name="AutoShape 3">
            <a:hlinkClick r:id="" action="ppaction://noaction" highlightClick="1"/>
          </p:cNvPr>
          <p:cNvSpPr>
            <a:spLocks noChangeArrowheads="1"/>
          </p:cNvSpPr>
          <p:nvPr/>
        </p:nvSpPr>
        <p:spPr bwMode="auto">
          <a:xfrm>
            <a:off x="14033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3. </a:t>
            </a:r>
            <a:r>
              <a:rPr lang="zh-CN" altLang="en-US" sz="3200" b="1">
                <a:solidFill>
                  <a:srgbClr val="0A0A0E"/>
                </a:solidFill>
                <a:latin typeface="Times New Roman" panose="02020603050405020304" pitchFamily="18" charset="0"/>
              </a:rPr>
              <a:t>软件测试步骤</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body" idx="1"/>
          </p:nvPr>
        </p:nvSpPr>
        <p:spPr>
          <a:xfrm>
            <a:off x="468313" y="2205038"/>
            <a:ext cx="8675687" cy="4114800"/>
          </a:xfrm>
        </p:spPr>
        <p:txBody>
          <a:bodyPr/>
          <a:lstStyle/>
          <a:p>
            <a:pPr marL="0" indent="0" defTabSz="284480" eaLnBrk="1" hangingPunct="1">
              <a:buFont typeface="Wingdings" panose="05000000000000000000" pitchFamily="2" charset="2"/>
              <a:buNone/>
              <a:tabLst>
                <a:tab pos="450850" algn="l"/>
              </a:tabLst>
            </a:pPr>
            <a:r>
              <a:rPr lang="zh-CN" altLang="en-US" sz="2800" b="1" smtClean="0"/>
              <a:t>单元测试过程</a:t>
            </a:r>
            <a:endParaRPr lang="zh-CN" altLang="en-US" sz="2800" b="1" smtClean="0"/>
          </a:p>
          <a:p>
            <a:pPr marL="0" indent="0" defTabSz="284480" eaLnBrk="1" hangingPunct="1">
              <a:tabLst>
                <a:tab pos="450850" algn="l"/>
              </a:tabLst>
            </a:pPr>
            <a:r>
              <a:rPr lang="zh-CN" altLang="en-US" sz="2400" b="1" smtClean="0"/>
              <a:t>由于每个模块在整个软件中并不是孤立的，在对每个模块进行单元测试时，也不能完全忽视它们和周围模块的相互联系。为模拟这一联系，在进行单元测试时，需设置若干辅助测试模块。辅助模块有两种：</a:t>
            </a:r>
            <a:endParaRPr lang="zh-CN" altLang="en-US" sz="2400" b="1" smtClean="0"/>
          </a:p>
          <a:p>
            <a:pPr marL="274955" lvl="1" indent="0" defTabSz="284480" eaLnBrk="1" hangingPunct="1">
              <a:tabLst>
                <a:tab pos="450850" algn="l"/>
              </a:tabLst>
            </a:pPr>
            <a:r>
              <a:rPr lang="zh-CN" altLang="en-US" sz="2000" b="1" smtClean="0"/>
              <a:t>一种是驱动模块，用以模拟被测模块的上级模块；</a:t>
            </a:r>
            <a:endParaRPr lang="zh-CN" altLang="en-US" sz="2000" b="1" smtClean="0"/>
          </a:p>
          <a:p>
            <a:pPr marL="274955" lvl="1" indent="0" defTabSz="284480" eaLnBrk="1" hangingPunct="1">
              <a:tabLst>
                <a:tab pos="450850" algn="l"/>
              </a:tabLst>
            </a:pPr>
            <a:r>
              <a:rPr lang="zh-CN" altLang="en-US" sz="2000" b="1" smtClean="0"/>
              <a:t>另一种是桩模块，用以模拟被测模块工作过程中所调用的模块。</a:t>
            </a:r>
            <a:endParaRPr lang="zh-CN" altLang="en-US" sz="2000" b="1" smtClean="0"/>
          </a:p>
          <a:p>
            <a:pPr marL="0" indent="0" defTabSz="284480" eaLnBrk="1" hangingPunct="1">
              <a:tabLst>
                <a:tab pos="450850" algn="l"/>
              </a:tabLst>
            </a:pPr>
            <a:r>
              <a:rPr lang="zh-CN" altLang="en-US" sz="2400" b="1" smtClean="0"/>
              <a:t>在测试过程中，需要对整个测试过程进行有效的管理，保证测试质量和测试效率。</a:t>
            </a:r>
            <a:endParaRPr lang="zh-CN" altLang="en-US" sz="2400" b="1" smtClean="0"/>
          </a:p>
        </p:txBody>
      </p:sp>
      <p:sp>
        <p:nvSpPr>
          <p:cNvPr id="74755" name="AutoShape 3">
            <a:hlinkClick r:id="" action="ppaction://noaction" highlightClick="1"/>
          </p:cNvPr>
          <p:cNvSpPr>
            <a:spLocks noChangeArrowheads="1"/>
          </p:cNvSpPr>
          <p:nvPr/>
        </p:nvSpPr>
        <p:spPr bwMode="auto">
          <a:xfrm>
            <a:off x="468313" y="981075"/>
            <a:ext cx="4106862"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3. </a:t>
            </a:r>
            <a:r>
              <a:rPr lang="zh-CN" altLang="en-US" sz="3200" b="1">
                <a:solidFill>
                  <a:srgbClr val="0A0A0E"/>
                </a:solidFill>
                <a:latin typeface="Times New Roman" panose="02020603050405020304" pitchFamily="18" charset="0"/>
              </a:rPr>
              <a:t>软件测试步骤</a:t>
            </a:r>
            <a:endParaRPr lang="zh-CN" altLang="en-US" sz="32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r>
              <a:rPr lang="en-US" altLang="zh-CN" sz="3600" b="1" smtClean="0">
                <a:solidFill>
                  <a:srgbClr val="0A0A0E"/>
                </a:solidFill>
              </a:rPr>
              <a:t>3. </a:t>
            </a:r>
            <a:r>
              <a:rPr lang="zh-CN" altLang="en-US" sz="3600" b="1" smtClean="0">
                <a:solidFill>
                  <a:srgbClr val="0A0A0E"/>
                </a:solidFill>
              </a:rPr>
              <a:t>软件测试步骤</a:t>
            </a:r>
            <a:endParaRPr lang="zh-CN" altLang="en-US" sz="3600" b="1" smtClean="0">
              <a:solidFill>
                <a:srgbClr val="0A0A0E"/>
              </a:solidFill>
            </a:endParaRPr>
          </a:p>
        </p:txBody>
      </p:sp>
      <p:sp>
        <p:nvSpPr>
          <p:cNvPr id="158723" name="Rectangle 3"/>
          <p:cNvSpPr>
            <a:spLocks noGrp="1" noChangeArrowheads="1"/>
          </p:cNvSpPr>
          <p:nvPr>
            <p:ph type="body" idx="1"/>
          </p:nvPr>
        </p:nvSpPr>
        <p:spPr>
          <a:xfrm>
            <a:off x="827088" y="1989138"/>
            <a:ext cx="7772400" cy="4114800"/>
          </a:xfrm>
        </p:spPr>
        <p:txBody>
          <a:bodyPr/>
          <a:lstStyle/>
          <a:p>
            <a:r>
              <a:rPr lang="zh-CN" altLang="en-US" sz="2800" b="1" smtClean="0"/>
              <a:t>驱动模块：是模拟待测模块</a:t>
            </a:r>
            <a:r>
              <a:rPr lang="en-US" altLang="zh-CN" sz="2800" b="1" smtClean="0"/>
              <a:t>X</a:t>
            </a:r>
            <a:r>
              <a:rPr lang="zh-CN" altLang="en-US" sz="2800" b="1" smtClean="0"/>
              <a:t>的调用模块，其作用是将测试数据传送给待测模块</a:t>
            </a:r>
            <a:r>
              <a:rPr lang="en-US" altLang="zh-CN" sz="2800" b="1" smtClean="0"/>
              <a:t>X</a:t>
            </a:r>
            <a:r>
              <a:rPr lang="zh-CN" altLang="en-US" sz="2800" b="1" smtClean="0"/>
              <a:t>，并显示待测模块</a:t>
            </a:r>
            <a:r>
              <a:rPr lang="en-US" altLang="zh-CN" sz="2800" b="1" smtClean="0"/>
              <a:t>X</a:t>
            </a:r>
            <a:r>
              <a:rPr lang="zh-CN" altLang="en-US" sz="2800" b="1" smtClean="0"/>
              <a:t>的结果</a:t>
            </a:r>
            <a:endParaRPr lang="zh-CN" altLang="en-US" sz="2800" b="1" smtClean="0"/>
          </a:p>
        </p:txBody>
      </p:sp>
      <p:grpSp>
        <p:nvGrpSpPr>
          <p:cNvPr id="158724" name="Group 4"/>
          <p:cNvGrpSpPr/>
          <p:nvPr/>
        </p:nvGrpSpPr>
        <p:grpSpPr bwMode="auto">
          <a:xfrm>
            <a:off x="900113" y="3716338"/>
            <a:ext cx="6818312" cy="2209800"/>
            <a:chOff x="567" y="2341"/>
            <a:chExt cx="4295" cy="1392"/>
          </a:xfrm>
        </p:grpSpPr>
        <p:sp>
          <p:nvSpPr>
            <p:cNvPr id="158725" name="AutoShape 5"/>
            <p:cNvSpPr>
              <a:spLocks noChangeArrowheads="1"/>
            </p:cNvSpPr>
            <p:nvPr/>
          </p:nvSpPr>
          <p:spPr bwMode="auto">
            <a:xfrm>
              <a:off x="1620" y="2341"/>
              <a:ext cx="576" cy="288"/>
            </a:xfrm>
            <a:prstGeom prst="flowChartProcess">
              <a:avLst/>
            </a:prstGeom>
            <a:solidFill>
              <a:schemeClr val="folHlink"/>
            </a:solidFill>
            <a:ln w="12700" cap="sq">
              <a:solidFill>
                <a:schemeClr val="tx1"/>
              </a:solidFill>
              <a:miter lim="800000"/>
              <a:headEnd type="none" w="sm" len="sm"/>
              <a:tailEnd type="none" w="sm" len="sm"/>
            </a:ln>
            <a:effectLst/>
          </p:spPr>
          <p:txBody>
            <a:bodyPr wrap="none" anchor="ctr"/>
            <a:lstStyle/>
            <a:p>
              <a:pPr algn="ctr"/>
              <a:r>
                <a:rPr kumimoji="1" lang="en-US" altLang="zh-CN" b="1">
                  <a:solidFill>
                    <a:schemeClr val="bg1"/>
                  </a:solidFill>
                  <a:latin typeface="Times New Roman" panose="02020603050405020304" pitchFamily="18" charset="0"/>
                </a:rPr>
                <a:t>A</a:t>
              </a:r>
              <a:endParaRPr kumimoji="1" lang="en-US" altLang="zh-CN" b="1">
                <a:solidFill>
                  <a:schemeClr val="bg1"/>
                </a:solidFill>
                <a:latin typeface="Times New Roman" panose="02020603050405020304" pitchFamily="18" charset="0"/>
              </a:endParaRPr>
            </a:p>
          </p:txBody>
        </p:sp>
        <p:sp>
          <p:nvSpPr>
            <p:cNvPr id="158726" name="AutoShape 6"/>
            <p:cNvSpPr>
              <a:spLocks noChangeArrowheads="1"/>
            </p:cNvSpPr>
            <p:nvPr/>
          </p:nvSpPr>
          <p:spPr bwMode="auto">
            <a:xfrm>
              <a:off x="1092" y="2965"/>
              <a:ext cx="576" cy="288"/>
            </a:xfrm>
            <a:prstGeom prst="flowChartProcess">
              <a:avLst/>
            </a:prstGeom>
            <a:solidFill>
              <a:srgbClr val="FFFF00"/>
            </a:solidFill>
            <a:ln w="28575" cap="sq">
              <a:solidFill>
                <a:srgbClr val="FF0000"/>
              </a:solidFill>
              <a:miter lim="800000"/>
              <a:headEnd type="none" w="sm" len="sm"/>
              <a:tailEnd type="none" w="sm" len="sm"/>
            </a:ln>
            <a:effectLst/>
          </p:spPr>
          <p:txBody>
            <a:bodyPr wrap="none" anchor="ctr"/>
            <a:lstStyle/>
            <a:p>
              <a:pPr algn="ctr"/>
              <a:r>
                <a:rPr kumimoji="1" lang="en-US" altLang="zh-CN" b="1">
                  <a:latin typeface="Times New Roman" panose="02020603050405020304" pitchFamily="18" charset="0"/>
                </a:rPr>
                <a:t>X</a:t>
              </a:r>
              <a:endParaRPr kumimoji="1" lang="en-US" altLang="zh-CN" b="1">
                <a:latin typeface="Times New Roman" panose="02020603050405020304" pitchFamily="18" charset="0"/>
              </a:endParaRPr>
            </a:p>
          </p:txBody>
        </p:sp>
        <p:sp>
          <p:nvSpPr>
            <p:cNvPr id="158727" name="AutoShape 7"/>
            <p:cNvSpPr>
              <a:spLocks noChangeArrowheads="1"/>
            </p:cNvSpPr>
            <p:nvPr/>
          </p:nvSpPr>
          <p:spPr bwMode="auto">
            <a:xfrm>
              <a:off x="1860" y="2965"/>
              <a:ext cx="576" cy="288"/>
            </a:xfrm>
            <a:prstGeom prst="flowChartProcess">
              <a:avLst/>
            </a:prstGeom>
            <a:solidFill>
              <a:schemeClr val="folHlink"/>
            </a:solidFill>
            <a:ln w="12700" cap="sq">
              <a:solidFill>
                <a:schemeClr val="tx1"/>
              </a:solidFill>
              <a:miter lim="800000"/>
              <a:headEnd type="none" w="sm" len="sm"/>
              <a:tailEnd type="none" w="sm" len="sm"/>
            </a:ln>
            <a:effectLst/>
          </p:spPr>
          <p:txBody>
            <a:bodyPr wrap="none" anchor="ctr"/>
            <a:lstStyle/>
            <a:p>
              <a:pPr algn="ctr"/>
              <a:r>
                <a:rPr kumimoji="1" lang="en-US" altLang="zh-CN" b="1">
                  <a:solidFill>
                    <a:schemeClr val="bg1"/>
                  </a:solidFill>
                  <a:latin typeface="Times New Roman" panose="02020603050405020304" pitchFamily="18" charset="0"/>
                </a:rPr>
                <a:t>Y</a:t>
              </a:r>
              <a:endParaRPr kumimoji="1" lang="en-US" altLang="zh-CN" b="1">
                <a:solidFill>
                  <a:schemeClr val="bg1"/>
                </a:solidFill>
                <a:latin typeface="Times New Roman" panose="02020603050405020304" pitchFamily="18" charset="0"/>
              </a:endParaRPr>
            </a:p>
          </p:txBody>
        </p:sp>
        <p:sp>
          <p:nvSpPr>
            <p:cNvPr id="158728" name="Text Box 8"/>
            <p:cNvSpPr txBox="1">
              <a:spLocks noChangeArrowheads="1"/>
            </p:cNvSpPr>
            <p:nvPr/>
          </p:nvSpPr>
          <p:spPr bwMode="auto">
            <a:xfrm>
              <a:off x="2580" y="2965"/>
              <a:ext cx="576" cy="288"/>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b="1">
                  <a:latin typeface="Times New Roman" panose="02020603050405020304" pitchFamily="18" charset="0"/>
                </a:rPr>
                <a:t>… …</a:t>
              </a:r>
              <a:endParaRPr kumimoji="1" lang="en-US" altLang="zh-CN" b="1">
                <a:latin typeface="Times New Roman" panose="02020603050405020304" pitchFamily="18" charset="0"/>
              </a:endParaRPr>
            </a:p>
          </p:txBody>
        </p:sp>
        <p:sp>
          <p:nvSpPr>
            <p:cNvPr id="158729" name="Text Box 9"/>
            <p:cNvSpPr txBox="1">
              <a:spLocks noChangeArrowheads="1"/>
            </p:cNvSpPr>
            <p:nvPr/>
          </p:nvSpPr>
          <p:spPr bwMode="auto">
            <a:xfrm>
              <a:off x="2196" y="3445"/>
              <a:ext cx="576" cy="288"/>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b="1">
                  <a:latin typeface="Times New Roman" panose="02020603050405020304" pitchFamily="18" charset="0"/>
                </a:rPr>
                <a:t>… …</a:t>
              </a:r>
              <a:endParaRPr kumimoji="1" lang="en-US" altLang="zh-CN" b="1">
                <a:latin typeface="Times New Roman" panose="02020603050405020304" pitchFamily="18" charset="0"/>
              </a:endParaRPr>
            </a:p>
          </p:txBody>
        </p:sp>
        <p:sp>
          <p:nvSpPr>
            <p:cNvPr id="158730" name="Text Box 10"/>
            <p:cNvSpPr txBox="1">
              <a:spLocks noChangeArrowheads="1"/>
            </p:cNvSpPr>
            <p:nvPr/>
          </p:nvSpPr>
          <p:spPr bwMode="auto">
            <a:xfrm>
              <a:off x="1092" y="3445"/>
              <a:ext cx="576" cy="288"/>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b="1">
                  <a:latin typeface="Times New Roman" panose="02020603050405020304" pitchFamily="18" charset="0"/>
                </a:rPr>
                <a:t>… …</a:t>
              </a:r>
              <a:endParaRPr kumimoji="1" lang="en-US" altLang="zh-CN" b="1">
                <a:latin typeface="Times New Roman" panose="02020603050405020304" pitchFamily="18" charset="0"/>
              </a:endParaRPr>
            </a:p>
          </p:txBody>
        </p:sp>
        <p:sp>
          <p:nvSpPr>
            <p:cNvPr id="158731" name="Line 11"/>
            <p:cNvSpPr>
              <a:spLocks noChangeShapeType="1"/>
            </p:cNvSpPr>
            <p:nvPr/>
          </p:nvSpPr>
          <p:spPr bwMode="auto">
            <a:xfrm flipH="1">
              <a:off x="1380" y="2629"/>
              <a:ext cx="480" cy="336"/>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8732" name="Line 12"/>
            <p:cNvSpPr>
              <a:spLocks noChangeShapeType="1"/>
            </p:cNvSpPr>
            <p:nvPr/>
          </p:nvSpPr>
          <p:spPr bwMode="auto">
            <a:xfrm>
              <a:off x="1908" y="2629"/>
              <a:ext cx="144" cy="336"/>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8733" name="Line 13"/>
            <p:cNvSpPr>
              <a:spLocks noChangeShapeType="1"/>
            </p:cNvSpPr>
            <p:nvPr/>
          </p:nvSpPr>
          <p:spPr bwMode="auto">
            <a:xfrm>
              <a:off x="2004" y="2629"/>
              <a:ext cx="816" cy="288"/>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8734" name="Line 14"/>
            <p:cNvSpPr>
              <a:spLocks noChangeShapeType="1"/>
            </p:cNvSpPr>
            <p:nvPr/>
          </p:nvSpPr>
          <p:spPr bwMode="auto">
            <a:xfrm flipH="1">
              <a:off x="1188" y="3253"/>
              <a:ext cx="144" cy="240"/>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8735" name="Line 15"/>
            <p:cNvSpPr>
              <a:spLocks noChangeShapeType="1"/>
            </p:cNvSpPr>
            <p:nvPr/>
          </p:nvSpPr>
          <p:spPr bwMode="auto">
            <a:xfrm>
              <a:off x="1428" y="3253"/>
              <a:ext cx="192" cy="240"/>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8736" name="Line 16"/>
            <p:cNvSpPr>
              <a:spLocks noChangeShapeType="1"/>
            </p:cNvSpPr>
            <p:nvPr/>
          </p:nvSpPr>
          <p:spPr bwMode="auto">
            <a:xfrm flipH="1">
              <a:off x="2052" y="3253"/>
              <a:ext cx="96" cy="336"/>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8737" name="Line 17"/>
            <p:cNvSpPr>
              <a:spLocks noChangeShapeType="1"/>
            </p:cNvSpPr>
            <p:nvPr/>
          </p:nvSpPr>
          <p:spPr bwMode="auto">
            <a:xfrm>
              <a:off x="2244" y="3253"/>
              <a:ext cx="288" cy="240"/>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8738" name="Text Box 18"/>
            <p:cNvSpPr txBox="1">
              <a:spLocks noChangeArrowheads="1"/>
            </p:cNvSpPr>
            <p:nvPr/>
          </p:nvSpPr>
          <p:spPr bwMode="auto">
            <a:xfrm>
              <a:off x="567" y="2341"/>
              <a:ext cx="454" cy="978"/>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b="1">
                  <a:solidFill>
                    <a:srgbClr val="FF0000"/>
                  </a:solidFill>
                  <a:latin typeface="Times New Roman" panose="02020603050405020304" pitchFamily="18" charset="0"/>
                </a:rPr>
                <a:t>待测模块</a:t>
              </a:r>
              <a:endParaRPr kumimoji="1" lang="zh-CN" altLang="en-US" b="1">
                <a:solidFill>
                  <a:srgbClr val="FF0000"/>
                </a:solidFill>
                <a:latin typeface="Times New Roman" panose="02020603050405020304" pitchFamily="18" charset="0"/>
              </a:endParaRPr>
            </a:p>
          </p:txBody>
        </p:sp>
        <p:sp>
          <p:nvSpPr>
            <p:cNvPr id="158739" name="AutoShape 19"/>
            <p:cNvSpPr>
              <a:spLocks noChangeArrowheads="1"/>
            </p:cNvSpPr>
            <p:nvPr/>
          </p:nvSpPr>
          <p:spPr bwMode="auto">
            <a:xfrm rot="2400000">
              <a:off x="842" y="2813"/>
              <a:ext cx="240" cy="192"/>
            </a:xfrm>
            <a:prstGeom prst="rightArrow">
              <a:avLst>
                <a:gd name="adj1" fmla="val 50000"/>
                <a:gd name="adj2" fmla="val 31250"/>
              </a:avLst>
            </a:prstGeom>
            <a:solidFill>
              <a:srgbClr val="FF0000"/>
            </a:solidFill>
            <a:ln w="12700" cap="sq">
              <a:solidFill>
                <a:schemeClr val="tx1"/>
              </a:solidFill>
              <a:miter lim="800000"/>
              <a:headEnd type="none" w="sm" len="sm"/>
              <a:tailEnd type="none" w="sm" len="sm"/>
            </a:ln>
            <a:effectLst/>
          </p:spPr>
          <p:txBody>
            <a:bodyPr wrap="none" anchor="ctr"/>
            <a:lstStyle/>
            <a:p>
              <a:endParaRPr lang="zh-CN" altLang="en-US"/>
            </a:p>
          </p:txBody>
        </p:sp>
        <p:sp>
          <p:nvSpPr>
            <p:cNvPr id="158740" name="AutoShape 20"/>
            <p:cNvSpPr>
              <a:spLocks noChangeArrowheads="1"/>
            </p:cNvSpPr>
            <p:nvPr/>
          </p:nvSpPr>
          <p:spPr bwMode="auto">
            <a:xfrm>
              <a:off x="4286" y="2840"/>
              <a:ext cx="576" cy="288"/>
            </a:xfrm>
            <a:prstGeom prst="flowChartProcess">
              <a:avLst/>
            </a:prstGeom>
            <a:solidFill>
              <a:srgbClr val="FFFF00"/>
            </a:solidFill>
            <a:ln w="28575" cap="sq">
              <a:solidFill>
                <a:srgbClr val="FF0000"/>
              </a:solidFill>
              <a:miter lim="800000"/>
              <a:headEnd type="none" w="sm" len="sm"/>
              <a:tailEnd type="none" w="sm" len="sm"/>
            </a:ln>
            <a:effectLst/>
          </p:spPr>
          <p:txBody>
            <a:bodyPr wrap="none" anchor="ctr"/>
            <a:lstStyle/>
            <a:p>
              <a:pPr algn="ctr"/>
              <a:r>
                <a:rPr kumimoji="1" lang="en-US" altLang="zh-CN" b="1">
                  <a:latin typeface="Times New Roman" panose="02020603050405020304" pitchFamily="18" charset="0"/>
                </a:rPr>
                <a:t>X</a:t>
              </a:r>
              <a:endParaRPr kumimoji="1" lang="en-US" altLang="zh-CN" b="1">
                <a:latin typeface="Times New Roman" panose="02020603050405020304" pitchFamily="18" charset="0"/>
              </a:endParaRPr>
            </a:p>
          </p:txBody>
        </p:sp>
        <p:sp>
          <p:nvSpPr>
            <p:cNvPr id="158741" name="Line 21"/>
            <p:cNvSpPr>
              <a:spLocks noChangeShapeType="1"/>
            </p:cNvSpPr>
            <p:nvPr/>
          </p:nvSpPr>
          <p:spPr bwMode="auto">
            <a:xfrm flipH="1">
              <a:off x="4382" y="3128"/>
              <a:ext cx="144" cy="240"/>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8742" name="Line 22"/>
            <p:cNvSpPr>
              <a:spLocks noChangeShapeType="1"/>
            </p:cNvSpPr>
            <p:nvPr/>
          </p:nvSpPr>
          <p:spPr bwMode="auto">
            <a:xfrm>
              <a:off x="4622" y="3128"/>
              <a:ext cx="192" cy="240"/>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8743" name="AutoShape 23"/>
            <p:cNvSpPr>
              <a:spLocks noChangeArrowheads="1"/>
            </p:cNvSpPr>
            <p:nvPr/>
          </p:nvSpPr>
          <p:spPr bwMode="auto">
            <a:xfrm>
              <a:off x="4286" y="2360"/>
              <a:ext cx="576" cy="288"/>
            </a:xfrm>
            <a:prstGeom prst="flowChartProcess">
              <a:avLst/>
            </a:prstGeom>
            <a:solidFill>
              <a:srgbClr val="3366FF"/>
            </a:solidFill>
            <a:ln w="12700">
              <a:solidFill>
                <a:schemeClr val="tx1"/>
              </a:solidFill>
              <a:prstDash val="dash"/>
              <a:miter lim="800000"/>
              <a:headEnd type="none" w="sm" len="sm"/>
              <a:tailEnd type="none" w="sm" len="sm"/>
            </a:ln>
            <a:effectLst/>
          </p:spPr>
          <p:txBody>
            <a:bodyPr wrap="none" anchor="ctr"/>
            <a:lstStyle/>
            <a:p>
              <a:pPr algn="ctr"/>
              <a:r>
                <a:rPr kumimoji="1" lang="zh-CN" altLang="en-US" b="1">
                  <a:solidFill>
                    <a:schemeClr val="bg1"/>
                  </a:solidFill>
                  <a:latin typeface="Times New Roman" panose="02020603050405020304" pitchFamily="18" charset="0"/>
                </a:rPr>
                <a:t>驱动</a:t>
              </a:r>
              <a:endParaRPr kumimoji="1" lang="zh-CN" altLang="en-US" b="1">
                <a:solidFill>
                  <a:schemeClr val="bg1"/>
                </a:solidFill>
                <a:latin typeface="Times New Roman" panose="02020603050405020304" pitchFamily="18" charset="0"/>
              </a:endParaRPr>
            </a:p>
          </p:txBody>
        </p:sp>
        <p:sp>
          <p:nvSpPr>
            <p:cNvPr id="158744" name="Line 24"/>
            <p:cNvSpPr>
              <a:spLocks noChangeShapeType="1"/>
            </p:cNvSpPr>
            <p:nvPr/>
          </p:nvSpPr>
          <p:spPr bwMode="auto">
            <a:xfrm>
              <a:off x="4574" y="2648"/>
              <a:ext cx="0" cy="192"/>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8745" name="Text Box 25"/>
            <p:cNvSpPr txBox="1">
              <a:spLocks noChangeArrowheads="1"/>
            </p:cNvSpPr>
            <p:nvPr/>
          </p:nvSpPr>
          <p:spPr bwMode="auto">
            <a:xfrm>
              <a:off x="3252" y="2341"/>
              <a:ext cx="1008" cy="541"/>
            </a:xfrm>
            <a:prstGeom prst="rect">
              <a:avLst/>
            </a:prstGeom>
            <a:noFill/>
            <a:ln w="12700" cap="sq">
              <a:noFill/>
              <a:miter lim="800000"/>
              <a:headEnd type="none" w="sm" len="sm"/>
              <a:tailEnd type="none" w="sm" len="sm"/>
            </a:ln>
            <a:effectLst/>
          </p:spPr>
          <p:txBody>
            <a:bodyPr>
              <a:spAutoFit/>
            </a:bodyPr>
            <a:lstStyle/>
            <a:p>
              <a:pPr>
                <a:spcBef>
                  <a:spcPct val="10000"/>
                </a:spcBef>
              </a:pPr>
              <a:r>
                <a:rPr kumimoji="1" lang="zh-CN" altLang="en-US" b="1">
                  <a:latin typeface="Times New Roman" panose="02020603050405020304" pitchFamily="18" charset="0"/>
                </a:rPr>
                <a:t>集成</a:t>
              </a:r>
              <a:endParaRPr kumimoji="1" lang="zh-CN" altLang="en-US" b="1">
                <a:latin typeface="Times New Roman" panose="02020603050405020304" pitchFamily="18" charset="0"/>
              </a:endParaRPr>
            </a:p>
            <a:p>
              <a:pPr>
                <a:spcBef>
                  <a:spcPct val="10000"/>
                </a:spcBef>
              </a:pPr>
              <a:r>
                <a:rPr kumimoji="1" lang="zh-CN" altLang="en-US" b="1">
                  <a:latin typeface="Times New Roman" panose="02020603050405020304" pitchFamily="18" charset="0"/>
                </a:rPr>
                <a:t>测试：</a:t>
              </a:r>
              <a:endParaRPr kumimoji="1" lang="zh-CN" altLang="en-US" b="1">
                <a:latin typeface="Times New Roman" panose="02020603050405020304" pitchFamily="18" charset="0"/>
              </a:endParaRPr>
            </a:p>
          </p:txBody>
        </p:sp>
      </p:grpSp>
    </p:spTree>
  </p:cSld>
  <p:clrMapOvr>
    <a:masterClrMapping/>
  </p:clrMapOvr>
  <p:transition>
    <p:wipe dir="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r>
              <a:rPr lang="en-US" altLang="zh-CN" sz="3600" b="1" smtClean="0">
                <a:solidFill>
                  <a:srgbClr val="0A0A0E"/>
                </a:solidFill>
              </a:rPr>
              <a:t>3. </a:t>
            </a:r>
            <a:r>
              <a:rPr lang="zh-CN" altLang="en-US" sz="3600" b="1" smtClean="0">
                <a:solidFill>
                  <a:srgbClr val="0A0A0E"/>
                </a:solidFill>
              </a:rPr>
              <a:t>软件测试步骤</a:t>
            </a:r>
            <a:endParaRPr lang="zh-CN" altLang="en-US" sz="3600" b="1" smtClean="0">
              <a:solidFill>
                <a:srgbClr val="0A0A0E"/>
              </a:solidFill>
            </a:endParaRPr>
          </a:p>
        </p:txBody>
      </p:sp>
      <p:sp>
        <p:nvSpPr>
          <p:cNvPr id="159747" name="Rectangle 3"/>
          <p:cNvSpPr>
            <a:spLocks noGrp="1" noChangeArrowheads="1"/>
          </p:cNvSpPr>
          <p:nvPr>
            <p:ph type="body" idx="1"/>
          </p:nvPr>
        </p:nvSpPr>
        <p:spPr/>
        <p:txBody>
          <a:bodyPr/>
          <a:lstStyle/>
          <a:p>
            <a:r>
              <a:rPr lang="zh-CN" altLang="en-US" sz="2800" b="1" smtClean="0"/>
              <a:t>桩模块：作用是模拟待测模块</a:t>
            </a:r>
            <a:r>
              <a:rPr lang="en-US" altLang="zh-CN" sz="2800" b="1" smtClean="0"/>
              <a:t>X</a:t>
            </a:r>
            <a:r>
              <a:rPr lang="zh-CN" altLang="en-US" sz="2800" b="1" smtClean="0"/>
              <a:t>的下层模块</a:t>
            </a:r>
            <a:r>
              <a:rPr lang="en-US" altLang="zh-CN" sz="2800" b="1" smtClean="0"/>
              <a:t>E</a:t>
            </a:r>
            <a:r>
              <a:rPr lang="zh-CN" altLang="en-US" sz="2800" b="1" smtClean="0"/>
              <a:t>。其作用是接受待测模块</a:t>
            </a:r>
            <a:r>
              <a:rPr lang="en-US" altLang="zh-CN" sz="2800" b="1" smtClean="0"/>
              <a:t>X</a:t>
            </a:r>
            <a:r>
              <a:rPr lang="zh-CN" altLang="en-US" sz="2800" b="1" smtClean="0"/>
              <a:t>的控制并模拟下层模块</a:t>
            </a:r>
            <a:r>
              <a:rPr lang="en-US" altLang="zh-CN" sz="2800" b="1" smtClean="0"/>
              <a:t>E</a:t>
            </a:r>
            <a:r>
              <a:rPr lang="zh-CN" altLang="en-US" sz="2800" b="1" smtClean="0"/>
              <a:t>的功能</a:t>
            </a:r>
            <a:endParaRPr lang="zh-CN" altLang="en-US" sz="2800" b="1" smtClean="0"/>
          </a:p>
        </p:txBody>
      </p:sp>
      <p:grpSp>
        <p:nvGrpSpPr>
          <p:cNvPr id="159748" name="Group 4"/>
          <p:cNvGrpSpPr/>
          <p:nvPr/>
        </p:nvGrpSpPr>
        <p:grpSpPr bwMode="auto">
          <a:xfrm>
            <a:off x="900113" y="3716338"/>
            <a:ext cx="6818312" cy="2289175"/>
            <a:chOff x="567" y="2341"/>
            <a:chExt cx="4295" cy="1442"/>
          </a:xfrm>
        </p:grpSpPr>
        <p:sp>
          <p:nvSpPr>
            <p:cNvPr id="159749" name="AutoShape 5"/>
            <p:cNvSpPr>
              <a:spLocks noChangeArrowheads="1"/>
            </p:cNvSpPr>
            <p:nvPr/>
          </p:nvSpPr>
          <p:spPr bwMode="auto">
            <a:xfrm>
              <a:off x="1632" y="2341"/>
              <a:ext cx="576" cy="288"/>
            </a:xfrm>
            <a:prstGeom prst="flowChartProcess">
              <a:avLst/>
            </a:prstGeom>
            <a:solidFill>
              <a:schemeClr val="folHlink"/>
            </a:solidFill>
            <a:ln w="12700" cap="sq">
              <a:solidFill>
                <a:schemeClr val="tx1"/>
              </a:solidFill>
              <a:miter lim="800000"/>
              <a:headEnd type="none" w="sm" len="sm"/>
              <a:tailEnd type="none" w="sm" len="sm"/>
            </a:ln>
            <a:effectLst/>
          </p:spPr>
          <p:txBody>
            <a:bodyPr wrap="none" anchor="ctr"/>
            <a:lstStyle/>
            <a:p>
              <a:pPr algn="ctr"/>
              <a:r>
                <a:rPr kumimoji="1" lang="en-US" altLang="zh-CN" b="1">
                  <a:solidFill>
                    <a:schemeClr val="bg1"/>
                  </a:solidFill>
                  <a:latin typeface="Times New Roman" panose="02020603050405020304" pitchFamily="18" charset="0"/>
                </a:rPr>
                <a:t>A</a:t>
              </a:r>
              <a:endParaRPr kumimoji="1" lang="en-US" altLang="zh-CN" b="1">
                <a:solidFill>
                  <a:schemeClr val="bg1"/>
                </a:solidFill>
                <a:latin typeface="Times New Roman" panose="02020603050405020304" pitchFamily="18" charset="0"/>
              </a:endParaRPr>
            </a:p>
          </p:txBody>
        </p:sp>
        <p:sp>
          <p:nvSpPr>
            <p:cNvPr id="159750" name="AutoShape 6"/>
            <p:cNvSpPr>
              <a:spLocks noChangeArrowheads="1"/>
            </p:cNvSpPr>
            <p:nvPr/>
          </p:nvSpPr>
          <p:spPr bwMode="auto">
            <a:xfrm>
              <a:off x="1104" y="2965"/>
              <a:ext cx="576" cy="288"/>
            </a:xfrm>
            <a:prstGeom prst="flowChartProcess">
              <a:avLst/>
            </a:prstGeom>
            <a:solidFill>
              <a:srgbClr val="FFFF00"/>
            </a:solidFill>
            <a:ln w="57150" cap="sq">
              <a:solidFill>
                <a:srgbClr val="CC3300"/>
              </a:solidFill>
              <a:miter lim="800000"/>
              <a:headEnd type="none" w="sm" len="sm"/>
              <a:tailEnd type="none" w="sm" len="sm"/>
            </a:ln>
            <a:effectLst/>
          </p:spPr>
          <p:txBody>
            <a:bodyPr wrap="none" anchor="ctr"/>
            <a:lstStyle/>
            <a:p>
              <a:pPr algn="ctr"/>
              <a:r>
                <a:rPr kumimoji="1" lang="en-US" altLang="zh-CN" b="1">
                  <a:latin typeface="Times New Roman" panose="02020603050405020304" pitchFamily="18" charset="0"/>
                </a:rPr>
                <a:t>X</a:t>
              </a:r>
              <a:endParaRPr kumimoji="1" lang="en-US" altLang="zh-CN" b="1">
                <a:latin typeface="Times New Roman" panose="02020603050405020304" pitchFamily="18" charset="0"/>
              </a:endParaRPr>
            </a:p>
          </p:txBody>
        </p:sp>
        <p:sp>
          <p:nvSpPr>
            <p:cNvPr id="159751" name="AutoShape 7"/>
            <p:cNvSpPr>
              <a:spLocks noChangeArrowheads="1"/>
            </p:cNvSpPr>
            <p:nvPr/>
          </p:nvSpPr>
          <p:spPr bwMode="auto">
            <a:xfrm>
              <a:off x="1872" y="2965"/>
              <a:ext cx="576" cy="288"/>
            </a:xfrm>
            <a:prstGeom prst="flowChartProcess">
              <a:avLst/>
            </a:prstGeom>
            <a:solidFill>
              <a:schemeClr val="folHlink"/>
            </a:solidFill>
            <a:ln w="12700" cap="sq">
              <a:solidFill>
                <a:schemeClr val="tx1"/>
              </a:solidFill>
              <a:miter lim="800000"/>
              <a:headEnd type="none" w="sm" len="sm"/>
              <a:tailEnd type="none" w="sm" len="sm"/>
            </a:ln>
            <a:effectLst/>
          </p:spPr>
          <p:txBody>
            <a:bodyPr wrap="none" anchor="ctr"/>
            <a:lstStyle/>
            <a:p>
              <a:pPr algn="ctr"/>
              <a:r>
                <a:rPr kumimoji="1" lang="en-US" altLang="zh-CN" b="1">
                  <a:solidFill>
                    <a:schemeClr val="bg1"/>
                  </a:solidFill>
                  <a:latin typeface="Times New Roman" panose="02020603050405020304" pitchFamily="18" charset="0"/>
                </a:rPr>
                <a:t>Y</a:t>
              </a:r>
              <a:endParaRPr kumimoji="1" lang="en-US" altLang="zh-CN" b="1">
                <a:solidFill>
                  <a:schemeClr val="bg1"/>
                </a:solidFill>
                <a:latin typeface="Times New Roman" panose="02020603050405020304" pitchFamily="18" charset="0"/>
              </a:endParaRPr>
            </a:p>
          </p:txBody>
        </p:sp>
        <p:sp>
          <p:nvSpPr>
            <p:cNvPr id="159752" name="Text Box 8"/>
            <p:cNvSpPr txBox="1">
              <a:spLocks noChangeArrowheads="1"/>
            </p:cNvSpPr>
            <p:nvPr/>
          </p:nvSpPr>
          <p:spPr bwMode="auto">
            <a:xfrm>
              <a:off x="2592" y="2965"/>
              <a:ext cx="576" cy="288"/>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b="1">
                  <a:latin typeface="Times New Roman" panose="02020603050405020304" pitchFamily="18" charset="0"/>
                </a:rPr>
                <a:t>… …</a:t>
              </a:r>
              <a:endParaRPr kumimoji="1" lang="en-US" altLang="zh-CN" b="1">
                <a:latin typeface="Times New Roman" panose="02020603050405020304" pitchFamily="18" charset="0"/>
              </a:endParaRPr>
            </a:p>
          </p:txBody>
        </p:sp>
        <p:sp>
          <p:nvSpPr>
            <p:cNvPr id="159753" name="Text Box 9"/>
            <p:cNvSpPr txBox="1">
              <a:spLocks noChangeArrowheads="1"/>
            </p:cNvSpPr>
            <p:nvPr/>
          </p:nvSpPr>
          <p:spPr bwMode="auto">
            <a:xfrm>
              <a:off x="2208" y="3445"/>
              <a:ext cx="576" cy="288"/>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b="1">
                  <a:latin typeface="Times New Roman" panose="02020603050405020304" pitchFamily="18" charset="0"/>
                </a:rPr>
                <a:t>… …</a:t>
              </a:r>
              <a:endParaRPr kumimoji="1" lang="en-US" altLang="zh-CN" b="1">
                <a:latin typeface="Times New Roman" panose="02020603050405020304" pitchFamily="18" charset="0"/>
              </a:endParaRPr>
            </a:p>
          </p:txBody>
        </p:sp>
        <p:sp>
          <p:nvSpPr>
            <p:cNvPr id="159754" name="Text Box 10"/>
            <p:cNvSpPr txBox="1">
              <a:spLocks noChangeArrowheads="1"/>
            </p:cNvSpPr>
            <p:nvPr/>
          </p:nvSpPr>
          <p:spPr bwMode="auto">
            <a:xfrm>
              <a:off x="1536" y="3473"/>
              <a:ext cx="288" cy="288"/>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b="1">
                  <a:latin typeface="Times New Roman" panose="02020603050405020304" pitchFamily="18" charset="0"/>
                </a:rPr>
                <a:t>…</a:t>
              </a:r>
              <a:endParaRPr kumimoji="1" lang="en-US" altLang="zh-CN" b="1">
                <a:latin typeface="Times New Roman" panose="02020603050405020304" pitchFamily="18" charset="0"/>
              </a:endParaRPr>
            </a:p>
          </p:txBody>
        </p:sp>
        <p:sp>
          <p:nvSpPr>
            <p:cNvPr id="159755" name="Line 11"/>
            <p:cNvSpPr>
              <a:spLocks noChangeShapeType="1"/>
            </p:cNvSpPr>
            <p:nvPr/>
          </p:nvSpPr>
          <p:spPr bwMode="auto">
            <a:xfrm flipH="1">
              <a:off x="1392" y="2629"/>
              <a:ext cx="480" cy="336"/>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9756" name="Line 12"/>
            <p:cNvSpPr>
              <a:spLocks noChangeShapeType="1"/>
            </p:cNvSpPr>
            <p:nvPr/>
          </p:nvSpPr>
          <p:spPr bwMode="auto">
            <a:xfrm>
              <a:off x="1920" y="2629"/>
              <a:ext cx="144" cy="336"/>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9757" name="Line 13"/>
            <p:cNvSpPr>
              <a:spLocks noChangeShapeType="1"/>
            </p:cNvSpPr>
            <p:nvPr/>
          </p:nvSpPr>
          <p:spPr bwMode="auto">
            <a:xfrm>
              <a:off x="2016" y="2629"/>
              <a:ext cx="816" cy="288"/>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9758" name="Line 14"/>
            <p:cNvSpPr>
              <a:spLocks noChangeShapeType="1"/>
            </p:cNvSpPr>
            <p:nvPr/>
          </p:nvSpPr>
          <p:spPr bwMode="auto">
            <a:xfrm flipH="1">
              <a:off x="1066" y="3261"/>
              <a:ext cx="240" cy="220"/>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9759" name="Line 15"/>
            <p:cNvSpPr>
              <a:spLocks noChangeShapeType="1"/>
            </p:cNvSpPr>
            <p:nvPr/>
          </p:nvSpPr>
          <p:spPr bwMode="auto">
            <a:xfrm>
              <a:off x="1440" y="3253"/>
              <a:ext cx="192" cy="240"/>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9760" name="Line 16"/>
            <p:cNvSpPr>
              <a:spLocks noChangeShapeType="1"/>
            </p:cNvSpPr>
            <p:nvPr/>
          </p:nvSpPr>
          <p:spPr bwMode="auto">
            <a:xfrm flipH="1">
              <a:off x="2064" y="3253"/>
              <a:ext cx="96" cy="336"/>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9761" name="Line 17"/>
            <p:cNvSpPr>
              <a:spLocks noChangeShapeType="1"/>
            </p:cNvSpPr>
            <p:nvPr/>
          </p:nvSpPr>
          <p:spPr bwMode="auto">
            <a:xfrm>
              <a:off x="2256" y="3253"/>
              <a:ext cx="288" cy="240"/>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9762" name="Text Box 18"/>
            <p:cNvSpPr txBox="1">
              <a:spLocks noChangeArrowheads="1"/>
            </p:cNvSpPr>
            <p:nvPr/>
          </p:nvSpPr>
          <p:spPr bwMode="auto">
            <a:xfrm>
              <a:off x="567" y="2341"/>
              <a:ext cx="260" cy="978"/>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zh-CN" altLang="en-US" b="1">
                  <a:solidFill>
                    <a:srgbClr val="FF0000"/>
                  </a:solidFill>
                  <a:latin typeface="Times New Roman" panose="02020603050405020304" pitchFamily="18" charset="0"/>
                </a:rPr>
                <a:t>待测模块</a:t>
              </a:r>
              <a:endParaRPr kumimoji="1" lang="zh-CN" altLang="en-US" b="1">
                <a:solidFill>
                  <a:srgbClr val="FF0000"/>
                </a:solidFill>
                <a:latin typeface="Times New Roman" panose="02020603050405020304" pitchFamily="18" charset="0"/>
              </a:endParaRPr>
            </a:p>
          </p:txBody>
        </p:sp>
        <p:sp>
          <p:nvSpPr>
            <p:cNvPr id="159763" name="AutoShape 19"/>
            <p:cNvSpPr>
              <a:spLocks noChangeArrowheads="1"/>
            </p:cNvSpPr>
            <p:nvPr/>
          </p:nvSpPr>
          <p:spPr bwMode="auto">
            <a:xfrm rot="2400000">
              <a:off x="854" y="2813"/>
              <a:ext cx="240" cy="192"/>
            </a:xfrm>
            <a:prstGeom prst="rightArrow">
              <a:avLst>
                <a:gd name="adj1" fmla="val 50000"/>
                <a:gd name="adj2" fmla="val 31250"/>
              </a:avLst>
            </a:prstGeom>
            <a:solidFill>
              <a:srgbClr val="FF0000"/>
            </a:solidFill>
            <a:ln w="12700" cap="sq">
              <a:solidFill>
                <a:schemeClr val="tx1"/>
              </a:solidFill>
              <a:miter lim="800000"/>
              <a:headEnd type="none" w="sm" len="sm"/>
              <a:tailEnd type="none" w="sm" len="sm"/>
            </a:ln>
            <a:effectLst/>
          </p:spPr>
          <p:txBody>
            <a:bodyPr wrap="none" anchor="ctr"/>
            <a:lstStyle/>
            <a:p>
              <a:endParaRPr lang="zh-CN" altLang="en-US"/>
            </a:p>
          </p:txBody>
        </p:sp>
        <p:sp>
          <p:nvSpPr>
            <p:cNvPr id="159764" name="AutoShape 20"/>
            <p:cNvSpPr>
              <a:spLocks noChangeArrowheads="1"/>
            </p:cNvSpPr>
            <p:nvPr/>
          </p:nvSpPr>
          <p:spPr bwMode="auto">
            <a:xfrm>
              <a:off x="4286" y="2614"/>
              <a:ext cx="576" cy="288"/>
            </a:xfrm>
            <a:prstGeom prst="flowChartProcess">
              <a:avLst/>
            </a:prstGeom>
            <a:solidFill>
              <a:srgbClr val="FFFF00"/>
            </a:solidFill>
            <a:ln w="57150" cap="sq">
              <a:solidFill>
                <a:srgbClr val="FF0000"/>
              </a:solidFill>
              <a:miter lim="800000"/>
              <a:headEnd type="none" w="sm" len="sm"/>
              <a:tailEnd type="none" w="sm" len="sm"/>
            </a:ln>
            <a:effectLst/>
          </p:spPr>
          <p:txBody>
            <a:bodyPr wrap="none" anchor="ctr"/>
            <a:lstStyle/>
            <a:p>
              <a:pPr algn="ctr"/>
              <a:r>
                <a:rPr kumimoji="1" lang="en-US" altLang="zh-CN" b="1">
                  <a:latin typeface="Times New Roman" panose="02020603050405020304" pitchFamily="18" charset="0"/>
                </a:rPr>
                <a:t>X</a:t>
              </a:r>
              <a:endParaRPr kumimoji="1" lang="en-US" altLang="zh-CN" b="1">
                <a:latin typeface="Times New Roman" panose="02020603050405020304" pitchFamily="18" charset="0"/>
              </a:endParaRPr>
            </a:p>
          </p:txBody>
        </p:sp>
        <p:sp>
          <p:nvSpPr>
            <p:cNvPr id="159765" name="Line 21"/>
            <p:cNvSpPr>
              <a:spLocks noChangeShapeType="1"/>
            </p:cNvSpPr>
            <p:nvPr/>
          </p:nvSpPr>
          <p:spPr bwMode="auto">
            <a:xfrm flipH="1">
              <a:off x="4382" y="2902"/>
              <a:ext cx="144" cy="240"/>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9766" name="Line 22"/>
            <p:cNvSpPr>
              <a:spLocks noChangeShapeType="1"/>
            </p:cNvSpPr>
            <p:nvPr/>
          </p:nvSpPr>
          <p:spPr bwMode="auto">
            <a:xfrm>
              <a:off x="4622" y="2902"/>
              <a:ext cx="192" cy="240"/>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9767" name="AutoShape 23"/>
            <p:cNvSpPr>
              <a:spLocks noChangeArrowheads="1"/>
            </p:cNvSpPr>
            <p:nvPr/>
          </p:nvSpPr>
          <p:spPr bwMode="auto">
            <a:xfrm>
              <a:off x="3998" y="3150"/>
              <a:ext cx="576" cy="288"/>
            </a:xfrm>
            <a:prstGeom prst="flowChartProcess">
              <a:avLst/>
            </a:prstGeom>
            <a:solidFill>
              <a:srgbClr val="3366FF"/>
            </a:solidFill>
            <a:ln w="38100" cap="rnd">
              <a:solidFill>
                <a:schemeClr val="tx1"/>
              </a:solidFill>
              <a:prstDash val="sysDot"/>
              <a:miter lim="800000"/>
              <a:headEnd type="none" w="sm" len="sm"/>
              <a:tailEnd type="none" w="sm" len="sm"/>
            </a:ln>
            <a:effectLst/>
          </p:spPr>
          <p:txBody>
            <a:bodyPr wrap="none" anchor="ctr"/>
            <a:lstStyle/>
            <a:p>
              <a:pPr algn="ctr"/>
              <a:r>
                <a:rPr kumimoji="1" lang="zh-CN" altLang="en-US" b="1">
                  <a:solidFill>
                    <a:schemeClr val="bg1"/>
                  </a:solidFill>
                  <a:latin typeface="Times New Roman" panose="02020603050405020304" pitchFamily="18" charset="0"/>
                </a:rPr>
                <a:t>桩</a:t>
              </a:r>
              <a:r>
                <a:rPr kumimoji="1" lang="en-US" altLang="zh-CN" b="1">
                  <a:solidFill>
                    <a:schemeClr val="bg1"/>
                  </a:solidFill>
                  <a:latin typeface="Times New Roman" panose="02020603050405020304" pitchFamily="18" charset="0"/>
                </a:rPr>
                <a:t>1</a:t>
              </a:r>
              <a:endParaRPr kumimoji="1" lang="en-US" altLang="zh-CN" b="1">
                <a:solidFill>
                  <a:schemeClr val="bg1"/>
                </a:solidFill>
                <a:latin typeface="Times New Roman" panose="02020603050405020304" pitchFamily="18" charset="0"/>
              </a:endParaRPr>
            </a:p>
          </p:txBody>
        </p:sp>
        <p:sp>
          <p:nvSpPr>
            <p:cNvPr id="159768" name="Line 24"/>
            <p:cNvSpPr>
              <a:spLocks noChangeShapeType="1"/>
            </p:cNvSpPr>
            <p:nvPr/>
          </p:nvSpPr>
          <p:spPr bwMode="auto">
            <a:xfrm>
              <a:off x="4574" y="2422"/>
              <a:ext cx="0" cy="192"/>
            </a:xfrm>
            <a:prstGeom prst="line">
              <a:avLst/>
            </a:prstGeom>
            <a:noFill/>
            <a:ln w="12700" cap="sq">
              <a:solidFill>
                <a:schemeClr val="tx1"/>
              </a:solidFill>
              <a:round/>
              <a:headEnd type="none" w="sm" len="sm"/>
              <a:tailEnd type="triangle" w="lg" len="med"/>
            </a:ln>
            <a:effectLst/>
          </p:spPr>
          <p:txBody>
            <a:bodyPr wrap="none"/>
            <a:lstStyle/>
            <a:p>
              <a:endParaRPr lang="zh-CN" altLang="en-US"/>
            </a:p>
          </p:txBody>
        </p:sp>
        <p:sp>
          <p:nvSpPr>
            <p:cNvPr id="159769" name="Text Box 25"/>
            <p:cNvSpPr txBox="1">
              <a:spLocks noChangeArrowheads="1"/>
            </p:cNvSpPr>
            <p:nvPr/>
          </p:nvSpPr>
          <p:spPr bwMode="auto">
            <a:xfrm>
              <a:off x="3264" y="2341"/>
              <a:ext cx="750" cy="530"/>
            </a:xfrm>
            <a:prstGeom prst="rect">
              <a:avLst/>
            </a:prstGeom>
            <a:noFill/>
            <a:ln w="12700" cap="sq">
              <a:noFill/>
              <a:miter lim="800000"/>
              <a:headEnd type="none" w="sm" len="sm"/>
              <a:tailEnd type="none" w="sm" len="sm"/>
            </a:ln>
            <a:effectLst/>
          </p:spPr>
          <p:txBody>
            <a:bodyPr>
              <a:spAutoFit/>
            </a:bodyPr>
            <a:lstStyle/>
            <a:p>
              <a:pPr>
                <a:spcBef>
                  <a:spcPct val="5000"/>
                </a:spcBef>
              </a:pPr>
              <a:r>
                <a:rPr kumimoji="1" lang="zh-CN" altLang="en-US" b="1">
                  <a:latin typeface="Times New Roman" panose="02020603050405020304" pitchFamily="18" charset="0"/>
                </a:rPr>
                <a:t>集成</a:t>
              </a:r>
              <a:endParaRPr kumimoji="1" lang="zh-CN" altLang="en-US" b="1">
                <a:latin typeface="Times New Roman" panose="02020603050405020304" pitchFamily="18" charset="0"/>
              </a:endParaRPr>
            </a:p>
            <a:p>
              <a:pPr>
                <a:spcBef>
                  <a:spcPct val="5000"/>
                </a:spcBef>
              </a:pPr>
              <a:r>
                <a:rPr kumimoji="1" lang="zh-CN" altLang="en-US" b="1">
                  <a:latin typeface="Times New Roman" panose="02020603050405020304" pitchFamily="18" charset="0"/>
                </a:rPr>
                <a:t>测试：</a:t>
              </a:r>
              <a:endParaRPr kumimoji="1" lang="zh-CN" altLang="en-US" b="1">
                <a:latin typeface="Times New Roman" panose="02020603050405020304" pitchFamily="18" charset="0"/>
              </a:endParaRPr>
            </a:p>
          </p:txBody>
        </p:sp>
        <p:sp>
          <p:nvSpPr>
            <p:cNvPr id="159770" name="AutoShape 26"/>
            <p:cNvSpPr>
              <a:spLocks noChangeArrowheads="1"/>
            </p:cNvSpPr>
            <p:nvPr/>
          </p:nvSpPr>
          <p:spPr bwMode="auto">
            <a:xfrm>
              <a:off x="794" y="3495"/>
              <a:ext cx="576" cy="288"/>
            </a:xfrm>
            <a:prstGeom prst="flowChartProcess">
              <a:avLst/>
            </a:prstGeom>
            <a:solidFill>
              <a:schemeClr val="folHlink"/>
            </a:solidFill>
            <a:ln w="12700" cap="sq">
              <a:solidFill>
                <a:schemeClr val="tx1"/>
              </a:solidFill>
              <a:miter lim="800000"/>
              <a:headEnd type="none" w="sm" len="sm"/>
              <a:tailEnd type="none" w="sm" len="sm"/>
            </a:ln>
            <a:effectLst/>
          </p:spPr>
          <p:txBody>
            <a:bodyPr wrap="none" anchor="ctr"/>
            <a:lstStyle/>
            <a:p>
              <a:pPr algn="ctr"/>
              <a:r>
                <a:rPr kumimoji="1" lang="en-US" altLang="zh-CN" b="1">
                  <a:solidFill>
                    <a:schemeClr val="bg1"/>
                  </a:solidFill>
                  <a:latin typeface="Times New Roman" panose="02020603050405020304" pitchFamily="18" charset="0"/>
                </a:rPr>
                <a:t>E</a:t>
              </a:r>
              <a:endParaRPr kumimoji="1" lang="en-US" altLang="zh-CN" b="1">
                <a:solidFill>
                  <a:schemeClr val="bg1"/>
                </a:solidFill>
                <a:latin typeface="Times New Roman" panose="02020603050405020304" pitchFamily="18" charset="0"/>
              </a:endParaRPr>
            </a:p>
          </p:txBody>
        </p:sp>
      </p:grpSp>
    </p:spTree>
  </p:cSld>
  <p:clrMapOvr>
    <a:masterClrMapping/>
  </p:clrMapOvr>
  <p:transition>
    <p:wipe dir="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body" idx="1"/>
          </p:nvPr>
        </p:nvSpPr>
        <p:spPr>
          <a:xfrm>
            <a:off x="179388" y="1773238"/>
            <a:ext cx="8675687" cy="4114800"/>
          </a:xfrm>
        </p:spPr>
        <p:txBody>
          <a:bodyPr/>
          <a:lstStyle/>
          <a:p>
            <a:pPr marL="0" indent="0" defTabSz="284480" eaLnBrk="1" hangingPunct="1">
              <a:buFont typeface="Wingdings" panose="05000000000000000000" pitchFamily="2" charset="2"/>
              <a:buNone/>
              <a:tabLst>
                <a:tab pos="450850" algn="l"/>
              </a:tabLst>
            </a:pPr>
            <a:r>
              <a:rPr lang="zh-CN" altLang="en-US" sz="2400" smtClean="0"/>
              <a:t>例：下图是新生管理子系统的功能层次图：</a:t>
            </a:r>
            <a:endParaRPr lang="zh-CN" altLang="en-US" sz="2400" smtClean="0"/>
          </a:p>
        </p:txBody>
      </p:sp>
      <p:sp>
        <p:nvSpPr>
          <p:cNvPr id="75779" name="AutoShape 3">
            <a:hlinkClick r:id="" action="ppaction://noaction" highlightClick="1"/>
          </p:cNvPr>
          <p:cNvSpPr>
            <a:spLocks noChangeArrowheads="1"/>
          </p:cNvSpPr>
          <p:nvPr/>
        </p:nvSpPr>
        <p:spPr bwMode="auto">
          <a:xfrm>
            <a:off x="14033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3. </a:t>
            </a:r>
            <a:r>
              <a:rPr lang="zh-CN" altLang="en-US" sz="3200" b="1">
                <a:solidFill>
                  <a:srgbClr val="0A0A0E"/>
                </a:solidFill>
                <a:latin typeface="Times New Roman" panose="02020603050405020304" pitchFamily="18" charset="0"/>
              </a:rPr>
              <a:t>软件测试步骤</a:t>
            </a:r>
            <a:endParaRPr lang="zh-CN" altLang="en-US" sz="3200" b="1">
              <a:solidFill>
                <a:srgbClr val="0A0A0E"/>
              </a:solidFill>
              <a:latin typeface="Times New Roman" panose="02020603050405020304" pitchFamily="18" charset="0"/>
            </a:endParaRPr>
          </a:p>
        </p:txBody>
      </p:sp>
      <p:grpSp>
        <p:nvGrpSpPr>
          <p:cNvPr id="75780" name="Group 4"/>
          <p:cNvGrpSpPr/>
          <p:nvPr/>
        </p:nvGrpSpPr>
        <p:grpSpPr bwMode="auto">
          <a:xfrm>
            <a:off x="250825" y="2276475"/>
            <a:ext cx="7999413" cy="4032250"/>
            <a:chOff x="2108" y="637"/>
            <a:chExt cx="7560" cy="3916"/>
          </a:xfrm>
        </p:grpSpPr>
        <p:sp>
          <p:nvSpPr>
            <p:cNvPr id="75781" name="Rectangle 5"/>
            <p:cNvSpPr>
              <a:spLocks noChangeArrowheads="1"/>
            </p:cNvSpPr>
            <p:nvPr/>
          </p:nvSpPr>
          <p:spPr bwMode="auto">
            <a:xfrm>
              <a:off x="5168" y="637"/>
              <a:ext cx="1800" cy="468"/>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新生基本信息管理</a:t>
              </a:r>
              <a:endParaRPr lang="zh-CN" altLang="en-US" sz="1600"/>
            </a:p>
          </p:txBody>
        </p:sp>
        <p:sp>
          <p:nvSpPr>
            <p:cNvPr id="75782" name="Rectangle 6"/>
            <p:cNvSpPr>
              <a:spLocks noChangeArrowheads="1"/>
            </p:cNvSpPr>
            <p:nvPr/>
          </p:nvSpPr>
          <p:spPr bwMode="auto">
            <a:xfrm>
              <a:off x="2108" y="1893"/>
              <a:ext cx="1440" cy="460"/>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招生数据导入</a:t>
              </a:r>
              <a:endParaRPr lang="zh-CN" altLang="en-US" sz="1600"/>
            </a:p>
          </p:txBody>
        </p:sp>
        <p:sp>
          <p:nvSpPr>
            <p:cNvPr id="75783" name="Rectangle 7"/>
            <p:cNvSpPr>
              <a:spLocks noChangeArrowheads="1"/>
            </p:cNvSpPr>
            <p:nvPr/>
          </p:nvSpPr>
          <p:spPr bwMode="auto">
            <a:xfrm>
              <a:off x="3728" y="1885"/>
              <a:ext cx="1440" cy="460"/>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报到预处理</a:t>
              </a:r>
              <a:endParaRPr lang="zh-CN" altLang="en-US" sz="1600"/>
            </a:p>
          </p:txBody>
        </p:sp>
        <p:sp>
          <p:nvSpPr>
            <p:cNvPr id="75784" name="Rectangle 8"/>
            <p:cNvSpPr>
              <a:spLocks noChangeArrowheads="1"/>
            </p:cNvSpPr>
            <p:nvPr/>
          </p:nvSpPr>
          <p:spPr bwMode="auto">
            <a:xfrm>
              <a:off x="5888" y="1893"/>
              <a:ext cx="1440" cy="460"/>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新生报到管理</a:t>
              </a:r>
              <a:endParaRPr lang="zh-CN" altLang="en-US" sz="1600"/>
            </a:p>
          </p:txBody>
        </p:sp>
        <p:sp>
          <p:nvSpPr>
            <p:cNvPr id="75785" name="Rectangle 9"/>
            <p:cNvSpPr>
              <a:spLocks noChangeArrowheads="1"/>
            </p:cNvSpPr>
            <p:nvPr/>
          </p:nvSpPr>
          <p:spPr bwMode="auto">
            <a:xfrm>
              <a:off x="7688" y="1893"/>
              <a:ext cx="1980" cy="460"/>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新生信息查询与统计</a:t>
              </a:r>
              <a:endParaRPr lang="zh-CN" altLang="en-US" sz="1600"/>
            </a:p>
          </p:txBody>
        </p:sp>
        <p:sp>
          <p:nvSpPr>
            <p:cNvPr id="75786" name="Line 10"/>
            <p:cNvSpPr>
              <a:spLocks noChangeShapeType="1"/>
            </p:cNvSpPr>
            <p:nvPr/>
          </p:nvSpPr>
          <p:spPr bwMode="auto">
            <a:xfrm>
              <a:off x="2648" y="1417"/>
              <a:ext cx="6300" cy="0"/>
            </a:xfrm>
            <a:prstGeom prst="line">
              <a:avLst/>
            </a:prstGeom>
            <a:noFill/>
            <a:ln w="9525">
              <a:solidFill>
                <a:srgbClr val="000000"/>
              </a:solidFill>
              <a:round/>
            </a:ln>
          </p:spPr>
          <p:txBody>
            <a:bodyPr/>
            <a:lstStyle/>
            <a:p>
              <a:endParaRPr lang="zh-CN" altLang="en-US"/>
            </a:p>
          </p:txBody>
        </p:sp>
        <p:sp>
          <p:nvSpPr>
            <p:cNvPr id="75787" name="Line 11"/>
            <p:cNvSpPr>
              <a:spLocks noChangeShapeType="1"/>
            </p:cNvSpPr>
            <p:nvPr/>
          </p:nvSpPr>
          <p:spPr bwMode="auto">
            <a:xfrm>
              <a:off x="2648" y="1417"/>
              <a:ext cx="0" cy="452"/>
            </a:xfrm>
            <a:prstGeom prst="line">
              <a:avLst/>
            </a:prstGeom>
            <a:noFill/>
            <a:ln w="9525">
              <a:solidFill>
                <a:srgbClr val="000000"/>
              </a:solidFill>
              <a:round/>
            </a:ln>
          </p:spPr>
          <p:txBody>
            <a:bodyPr/>
            <a:lstStyle/>
            <a:p>
              <a:endParaRPr lang="zh-CN" altLang="en-US"/>
            </a:p>
          </p:txBody>
        </p:sp>
        <p:sp>
          <p:nvSpPr>
            <p:cNvPr id="75788" name="Line 12"/>
            <p:cNvSpPr>
              <a:spLocks noChangeShapeType="1"/>
            </p:cNvSpPr>
            <p:nvPr/>
          </p:nvSpPr>
          <p:spPr bwMode="auto">
            <a:xfrm>
              <a:off x="4808" y="1417"/>
              <a:ext cx="0" cy="452"/>
            </a:xfrm>
            <a:prstGeom prst="line">
              <a:avLst/>
            </a:prstGeom>
            <a:noFill/>
            <a:ln w="9525">
              <a:solidFill>
                <a:srgbClr val="000000"/>
              </a:solidFill>
              <a:round/>
            </a:ln>
          </p:spPr>
          <p:txBody>
            <a:bodyPr/>
            <a:lstStyle/>
            <a:p>
              <a:endParaRPr lang="zh-CN" altLang="en-US"/>
            </a:p>
          </p:txBody>
        </p:sp>
        <p:sp>
          <p:nvSpPr>
            <p:cNvPr id="75789" name="Line 13"/>
            <p:cNvSpPr>
              <a:spLocks noChangeShapeType="1"/>
            </p:cNvSpPr>
            <p:nvPr/>
          </p:nvSpPr>
          <p:spPr bwMode="auto">
            <a:xfrm>
              <a:off x="6768" y="1417"/>
              <a:ext cx="0" cy="452"/>
            </a:xfrm>
            <a:prstGeom prst="line">
              <a:avLst/>
            </a:prstGeom>
            <a:noFill/>
            <a:ln w="9525">
              <a:solidFill>
                <a:srgbClr val="000000"/>
              </a:solidFill>
              <a:round/>
            </a:ln>
          </p:spPr>
          <p:txBody>
            <a:bodyPr/>
            <a:lstStyle/>
            <a:p>
              <a:endParaRPr lang="zh-CN" altLang="en-US"/>
            </a:p>
          </p:txBody>
        </p:sp>
        <p:sp>
          <p:nvSpPr>
            <p:cNvPr id="75790" name="Line 14"/>
            <p:cNvSpPr>
              <a:spLocks noChangeShapeType="1"/>
            </p:cNvSpPr>
            <p:nvPr/>
          </p:nvSpPr>
          <p:spPr bwMode="auto">
            <a:xfrm>
              <a:off x="8948" y="1417"/>
              <a:ext cx="0" cy="452"/>
            </a:xfrm>
            <a:prstGeom prst="line">
              <a:avLst/>
            </a:prstGeom>
            <a:noFill/>
            <a:ln w="9525">
              <a:solidFill>
                <a:srgbClr val="000000"/>
              </a:solidFill>
              <a:round/>
            </a:ln>
          </p:spPr>
          <p:txBody>
            <a:bodyPr/>
            <a:lstStyle/>
            <a:p>
              <a:endParaRPr lang="zh-CN" altLang="en-US"/>
            </a:p>
          </p:txBody>
        </p:sp>
        <p:sp>
          <p:nvSpPr>
            <p:cNvPr id="75791" name="Line 15"/>
            <p:cNvSpPr>
              <a:spLocks noChangeShapeType="1"/>
            </p:cNvSpPr>
            <p:nvPr/>
          </p:nvSpPr>
          <p:spPr bwMode="auto">
            <a:xfrm>
              <a:off x="5888" y="1105"/>
              <a:ext cx="0" cy="312"/>
            </a:xfrm>
            <a:prstGeom prst="line">
              <a:avLst/>
            </a:prstGeom>
            <a:noFill/>
            <a:ln w="9525">
              <a:solidFill>
                <a:srgbClr val="000000"/>
              </a:solidFill>
              <a:round/>
            </a:ln>
          </p:spPr>
          <p:txBody>
            <a:bodyPr/>
            <a:lstStyle/>
            <a:p>
              <a:endParaRPr lang="zh-CN" altLang="en-US"/>
            </a:p>
          </p:txBody>
        </p:sp>
        <p:grpSp>
          <p:nvGrpSpPr>
            <p:cNvPr id="75792" name="Group 16"/>
            <p:cNvGrpSpPr/>
            <p:nvPr/>
          </p:nvGrpSpPr>
          <p:grpSpPr bwMode="auto">
            <a:xfrm>
              <a:off x="3008" y="2353"/>
              <a:ext cx="2340" cy="2200"/>
              <a:chOff x="3368" y="2961"/>
              <a:chExt cx="2340" cy="2200"/>
            </a:xfrm>
          </p:grpSpPr>
          <p:sp>
            <p:nvSpPr>
              <p:cNvPr id="75809" name="Rectangle 17"/>
              <p:cNvSpPr>
                <a:spLocks noChangeArrowheads="1"/>
              </p:cNvSpPr>
              <p:nvPr/>
            </p:nvSpPr>
            <p:spPr bwMode="auto">
              <a:xfrm>
                <a:off x="3368" y="3601"/>
                <a:ext cx="540" cy="1560"/>
              </a:xfrm>
              <a:prstGeom prst="rect">
                <a:avLst/>
              </a:prstGeom>
              <a:solidFill>
                <a:srgbClr val="FFFFFF"/>
              </a:solidFill>
              <a:ln w="9525">
                <a:solidFill>
                  <a:srgbClr val="000000"/>
                </a:solidFill>
                <a:miter lim="800000"/>
              </a:ln>
            </p:spPr>
            <p:txBody>
              <a:bodyPr/>
              <a:lstStyle/>
              <a:p>
                <a:r>
                  <a:rPr lang="zh-CN" altLang="en-US" sz="1600">
                    <a:latin typeface="Times New Roman" panose="02020603050405020304" pitchFamily="18" charset="0"/>
                  </a:rPr>
                  <a:t>预分学号</a:t>
                </a:r>
                <a:endParaRPr lang="zh-CN" altLang="en-US" sz="1600"/>
              </a:p>
            </p:txBody>
          </p:sp>
          <p:sp>
            <p:nvSpPr>
              <p:cNvPr id="75810" name="Rectangle 18"/>
              <p:cNvSpPr>
                <a:spLocks noChangeArrowheads="1"/>
              </p:cNvSpPr>
              <p:nvPr/>
            </p:nvSpPr>
            <p:spPr bwMode="auto">
              <a:xfrm>
                <a:off x="3908" y="3601"/>
                <a:ext cx="540" cy="1560"/>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班级编排</a:t>
                </a:r>
                <a:endParaRPr lang="zh-CN" altLang="en-US" sz="1600"/>
              </a:p>
            </p:txBody>
          </p:sp>
          <p:sp>
            <p:nvSpPr>
              <p:cNvPr id="75811" name="Rectangle 19"/>
              <p:cNvSpPr>
                <a:spLocks noChangeArrowheads="1"/>
              </p:cNvSpPr>
              <p:nvPr/>
            </p:nvSpPr>
            <p:spPr bwMode="auto">
              <a:xfrm>
                <a:off x="4528" y="3585"/>
                <a:ext cx="540" cy="1576"/>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寝室安排</a:t>
                </a:r>
                <a:endParaRPr lang="zh-CN" altLang="en-US" sz="1600"/>
              </a:p>
            </p:txBody>
          </p:sp>
          <p:sp>
            <p:nvSpPr>
              <p:cNvPr id="75812" name="Rectangle 20"/>
              <p:cNvSpPr>
                <a:spLocks noChangeArrowheads="1"/>
              </p:cNvSpPr>
              <p:nvPr/>
            </p:nvSpPr>
            <p:spPr bwMode="auto">
              <a:xfrm>
                <a:off x="5168" y="3601"/>
                <a:ext cx="540" cy="1560"/>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预处理查询</a:t>
                </a:r>
                <a:endParaRPr lang="zh-CN" altLang="en-US" sz="1600"/>
              </a:p>
            </p:txBody>
          </p:sp>
          <p:sp>
            <p:nvSpPr>
              <p:cNvPr id="75813" name="Line 21"/>
              <p:cNvSpPr>
                <a:spLocks noChangeShapeType="1"/>
              </p:cNvSpPr>
              <p:nvPr/>
            </p:nvSpPr>
            <p:spPr bwMode="auto">
              <a:xfrm>
                <a:off x="3548" y="3289"/>
                <a:ext cx="1980" cy="0"/>
              </a:xfrm>
              <a:prstGeom prst="line">
                <a:avLst/>
              </a:prstGeom>
              <a:noFill/>
              <a:ln w="9525">
                <a:solidFill>
                  <a:srgbClr val="000000"/>
                </a:solidFill>
                <a:round/>
              </a:ln>
            </p:spPr>
            <p:txBody>
              <a:bodyPr/>
              <a:lstStyle/>
              <a:p>
                <a:endParaRPr lang="zh-CN" altLang="en-US"/>
              </a:p>
            </p:txBody>
          </p:sp>
          <p:sp>
            <p:nvSpPr>
              <p:cNvPr id="75814" name="Line 22"/>
              <p:cNvSpPr>
                <a:spLocks noChangeShapeType="1"/>
              </p:cNvSpPr>
              <p:nvPr/>
            </p:nvSpPr>
            <p:spPr bwMode="auto">
              <a:xfrm>
                <a:off x="3548" y="3289"/>
                <a:ext cx="0" cy="296"/>
              </a:xfrm>
              <a:prstGeom prst="line">
                <a:avLst/>
              </a:prstGeom>
              <a:noFill/>
              <a:ln w="9525">
                <a:solidFill>
                  <a:srgbClr val="000000"/>
                </a:solidFill>
                <a:round/>
              </a:ln>
            </p:spPr>
            <p:txBody>
              <a:bodyPr/>
              <a:lstStyle/>
              <a:p>
                <a:endParaRPr lang="zh-CN" altLang="en-US"/>
              </a:p>
            </p:txBody>
          </p:sp>
          <p:sp>
            <p:nvSpPr>
              <p:cNvPr id="75815" name="Line 23"/>
              <p:cNvSpPr>
                <a:spLocks noChangeShapeType="1"/>
              </p:cNvSpPr>
              <p:nvPr/>
            </p:nvSpPr>
            <p:spPr bwMode="auto">
              <a:xfrm>
                <a:off x="4188" y="3289"/>
                <a:ext cx="0" cy="296"/>
              </a:xfrm>
              <a:prstGeom prst="line">
                <a:avLst/>
              </a:prstGeom>
              <a:noFill/>
              <a:ln w="9525">
                <a:solidFill>
                  <a:srgbClr val="000000"/>
                </a:solidFill>
                <a:round/>
              </a:ln>
            </p:spPr>
            <p:txBody>
              <a:bodyPr/>
              <a:lstStyle/>
              <a:p>
                <a:endParaRPr lang="zh-CN" altLang="en-US"/>
              </a:p>
            </p:txBody>
          </p:sp>
          <p:sp>
            <p:nvSpPr>
              <p:cNvPr id="75816" name="Line 24"/>
              <p:cNvSpPr>
                <a:spLocks noChangeShapeType="1"/>
              </p:cNvSpPr>
              <p:nvPr/>
            </p:nvSpPr>
            <p:spPr bwMode="auto">
              <a:xfrm>
                <a:off x="4808" y="2961"/>
                <a:ext cx="0" cy="624"/>
              </a:xfrm>
              <a:prstGeom prst="line">
                <a:avLst/>
              </a:prstGeom>
              <a:noFill/>
              <a:ln w="9525">
                <a:solidFill>
                  <a:srgbClr val="000000"/>
                </a:solidFill>
                <a:round/>
              </a:ln>
            </p:spPr>
            <p:txBody>
              <a:bodyPr/>
              <a:lstStyle/>
              <a:p>
                <a:endParaRPr lang="zh-CN" altLang="en-US"/>
              </a:p>
            </p:txBody>
          </p:sp>
          <p:sp>
            <p:nvSpPr>
              <p:cNvPr id="75817" name="Line 25"/>
              <p:cNvSpPr>
                <a:spLocks noChangeShapeType="1"/>
              </p:cNvSpPr>
              <p:nvPr/>
            </p:nvSpPr>
            <p:spPr bwMode="auto">
              <a:xfrm>
                <a:off x="5528" y="3289"/>
                <a:ext cx="0" cy="296"/>
              </a:xfrm>
              <a:prstGeom prst="line">
                <a:avLst/>
              </a:prstGeom>
              <a:noFill/>
              <a:ln w="9525">
                <a:solidFill>
                  <a:srgbClr val="000000"/>
                </a:solidFill>
                <a:round/>
              </a:ln>
            </p:spPr>
            <p:txBody>
              <a:bodyPr/>
              <a:lstStyle/>
              <a:p>
                <a:endParaRPr lang="zh-CN" altLang="en-US"/>
              </a:p>
            </p:txBody>
          </p:sp>
        </p:grpSp>
        <p:grpSp>
          <p:nvGrpSpPr>
            <p:cNvPr id="75793" name="Group 26"/>
            <p:cNvGrpSpPr/>
            <p:nvPr/>
          </p:nvGrpSpPr>
          <p:grpSpPr bwMode="auto">
            <a:xfrm>
              <a:off x="5888" y="2353"/>
              <a:ext cx="1800" cy="2200"/>
              <a:chOff x="5888" y="2961"/>
              <a:chExt cx="1800" cy="2200"/>
            </a:xfrm>
          </p:grpSpPr>
          <p:sp>
            <p:nvSpPr>
              <p:cNvPr id="75802" name="Rectangle 27"/>
              <p:cNvSpPr>
                <a:spLocks noChangeArrowheads="1"/>
              </p:cNvSpPr>
              <p:nvPr/>
            </p:nvSpPr>
            <p:spPr bwMode="auto">
              <a:xfrm>
                <a:off x="5888" y="3585"/>
                <a:ext cx="540" cy="1576"/>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现场报到处理</a:t>
                </a:r>
                <a:endParaRPr lang="zh-CN" altLang="en-US" sz="1600"/>
              </a:p>
            </p:txBody>
          </p:sp>
          <p:sp>
            <p:nvSpPr>
              <p:cNvPr id="75803" name="Rectangle 28"/>
              <p:cNvSpPr>
                <a:spLocks noChangeArrowheads="1"/>
              </p:cNvSpPr>
              <p:nvPr/>
            </p:nvSpPr>
            <p:spPr bwMode="auto">
              <a:xfrm>
                <a:off x="6508" y="3585"/>
                <a:ext cx="540" cy="1576"/>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欠费查询统计</a:t>
                </a:r>
                <a:endParaRPr lang="zh-CN" altLang="en-US" sz="1600"/>
              </a:p>
            </p:txBody>
          </p:sp>
          <p:sp>
            <p:nvSpPr>
              <p:cNvPr id="75804" name="Rectangle 29"/>
              <p:cNvSpPr>
                <a:spLocks noChangeArrowheads="1"/>
              </p:cNvSpPr>
              <p:nvPr/>
            </p:nvSpPr>
            <p:spPr bwMode="auto">
              <a:xfrm>
                <a:off x="7148" y="3585"/>
                <a:ext cx="540" cy="1576"/>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报到情况统计</a:t>
                </a:r>
                <a:endParaRPr lang="zh-CN" altLang="en-US" sz="1600"/>
              </a:p>
            </p:txBody>
          </p:sp>
          <p:sp>
            <p:nvSpPr>
              <p:cNvPr id="75805" name="Line 30"/>
              <p:cNvSpPr>
                <a:spLocks noChangeShapeType="1"/>
              </p:cNvSpPr>
              <p:nvPr/>
            </p:nvSpPr>
            <p:spPr bwMode="auto">
              <a:xfrm>
                <a:off x="6068" y="3289"/>
                <a:ext cx="1260" cy="0"/>
              </a:xfrm>
              <a:prstGeom prst="line">
                <a:avLst/>
              </a:prstGeom>
              <a:noFill/>
              <a:ln w="9525">
                <a:solidFill>
                  <a:srgbClr val="000000"/>
                </a:solidFill>
                <a:round/>
              </a:ln>
            </p:spPr>
            <p:txBody>
              <a:bodyPr/>
              <a:lstStyle/>
              <a:p>
                <a:endParaRPr lang="zh-CN" altLang="en-US"/>
              </a:p>
            </p:txBody>
          </p:sp>
          <p:sp>
            <p:nvSpPr>
              <p:cNvPr id="75806" name="Line 31"/>
              <p:cNvSpPr>
                <a:spLocks noChangeShapeType="1"/>
              </p:cNvSpPr>
              <p:nvPr/>
            </p:nvSpPr>
            <p:spPr bwMode="auto">
              <a:xfrm>
                <a:off x="6068" y="3289"/>
                <a:ext cx="0" cy="296"/>
              </a:xfrm>
              <a:prstGeom prst="line">
                <a:avLst/>
              </a:prstGeom>
              <a:noFill/>
              <a:ln w="9525">
                <a:solidFill>
                  <a:srgbClr val="000000"/>
                </a:solidFill>
                <a:round/>
              </a:ln>
            </p:spPr>
            <p:txBody>
              <a:bodyPr/>
              <a:lstStyle/>
              <a:p>
                <a:endParaRPr lang="zh-CN" altLang="en-US"/>
              </a:p>
            </p:txBody>
          </p:sp>
          <p:sp>
            <p:nvSpPr>
              <p:cNvPr id="75807" name="Line 32"/>
              <p:cNvSpPr>
                <a:spLocks noChangeShapeType="1"/>
              </p:cNvSpPr>
              <p:nvPr/>
            </p:nvSpPr>
            <p:spPr bwMode="auto">
              <a:xfrm>
                <a:off x="6788" y="2961"/>
                <a:ext cx="0" cy="624"/>
              </a:xfrm>
              <a:prstGeom prst="line">
                <a:avLst/>
              </a:prstGeom>
              <a:noFill/>
              <a:ln w="9525">
                <a:solidFill>
                  <a:srgbClr val="000000"/>
                </a:solidFill>
                <a:round/>
              </a:ln>
            </p:spPr>
            <p:txBody>
              <a:bodyPr/>
              <a:lstStyle/>
              <a:p>
                <a:endParaRPr lang="zh-CN" altLang="en-US"/>
              </a:p>
            </p:txBody>
          </p:sp>
          <p:sp>
            <p:nvSpPr>
              <p:cNvPr id="75808" name="Line 33"/>
              <p:cNvSpPr>
                <a:spLocks noChangeShapeType="1"/>
              </p:cNvSpPr>
              <p:nvPr/>
            </p:nvSpPr>
            <p:spPr bwMode="auto">
              <a:xfrm>
                <a:off x="7328" y="3289"/>
                <a:ext cx="0" cy="296"/>
              </a:xfrm>
              <a:prstGeom prst="line">
                <a:avLst/>
              </a:prstGeom>
              <a:noFill/>
              <a:ln w="9525">
                <a:solidFill>
                  <a:srgbClr val="000000"/>
                </a:solidFill>
                <a:round/>
              </a:ln>
            </p:spPr>
            <p:txBody>
              <a:bodyPr/>
              <a:lstStyle/>
              <a:p>
                <a:endParaRPr lang="zh-CN" altLang="en-US"/>
              </a:p>
            </p:txBody>
          </p:sp>
        </p:grpSp>
        <p:sp>
          <p:nvSpPr>
            <p:cNvPr id="75794" name="Line 34"/>
            <p:cNvSpPr>
              <a:spLocks noChangeShapeType="1"/>
            </p:cNvSpPr>
            <p:nvPr/>
          </p:nvSpPr>
          <p:spPr bwMode="auto">
            <a:xfrm>
              <a:off x="6788" y="2493"/>
              <a:ext cx="0" cy="468"/>
            </a:xfrm>
            <a:prstGeom prst="line">
              <a:avLst/>
            </a:prstGeom>
            <a:noFill/>
            <a:ln w="9525">
              <a:solidFill>
                <a:srgbClr val="000000"/>
              </a:solidFill>
              <a:round/>
            </a:ln>
          </p:spPr>
          <p:txBody>
            <a:bodyPr/>
            <a:lstStyle/>
            <a:p>
              <a:endParaRPr lang="zh-CN" altLang="en-US"/>
            </a:p>
          </p:txBody>
        </p:sp>
        <p:grpSp>
          <p:nvGrpSpPr>
            <p:cNvPr id="75795" name="Group 35"/>
            <p:cNvGrpSpPr/>
            <p:nvPr/>
          </p:nvGrpSpPr>
          <p:grpSpPr bwMode="auto">
            <a:xfrm>
              <a:off x="8048" y="2665"/>
              <a:ext cx="1260" cy="1872"/>
              <a:chOff x="8348" y="3289"/>
              <a:chExt cx="1260" cy="1872"/>
            </a:xfrm>
          </p:grpSpPr>
          <p:sp>
            <p:nvSpPr>
              <p:cNvPr id="75797" name="Rectangle 36"/>
              <p:cNvSpPr>
                <a:spLocks noChangeArrowheads="1"/>
              </p:cNvSpPr>
              <p:nvPr/>
            </p:nvSpPr>
            <p:spPr bwMode="auto">
              <a:xfrm>
                <a:off x="8348" y="3585"/>
                <a:ext cx="540" cy="1576"/>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新生比例分布</a:t>
                </a:r>
                <a:endParaRPr lang="zh-CN" altLang="en-US" sz="1600"/>
              </a:p>
            </p:txBody>
          </p:sp>
          <p:sp>
            <p:nvSpPr>
              <p:cNvPr id="75798" name="Rectangle 37"/>
              <p:cNvSpPr>
                <a:spLocks noChangeArrowheads="1"/>
              </p:cNvSpPr>
              <p:nvPr/>
            </p:nvSpPr>
            <p:spPr bwMode="auto">
              <a:xfrm>
                <a:off x="9068" y="3585"/>
                <a:ext cx="540" cy="1576"/>
              </a:xfrm>
              <a:prstGeom prst="rect">
                <a:avLst/>
              </a:prstGeom>
              <a:solidFill>
                <a:srgbClr val="FFFFFF"/>
              </a:solidFill>
              <a:ln w="9525">
                <a:solidFill>
                  <a:srgbClr val="000000"/>
                </a:solidFill>
                <a:miter lim="800000"/>
              </a:ln>
            </p:spPr>
            <p:txBody>
              <a:bodyPr/>
              <a:lstStyle/>
              <a:p>
                <a:pPr algn="just"/>
                <a:r>
                  <a:rPr lang="zh-CN" altLang="en-US" sz="1600">
                    <a:latin typeface="Times New Roman" panose="02020603050405020304" pitchFamily="18" charset="0"/>
                  </a:rPr>
                  <a:t>高考成绩统计考</a:t>
                </a:r>
                <a:endParaRPr lang="zh-CN" altLang="en-US" sz="1600"/>
              </a:p>
            </p:txBody>
          </p:sp>
          <p:sp>
            <p:nvSpPr>
              <p:cNvPr id="75799" name="Line 38"/>
              <p:cNvSpPr>
                <a:spLocks noChangeShapeType="1"/>
              </p:cNvSpPr>
              <p:nvPr/>
            </p:nvSpPr>
            <p:spPr bwMode="auto">
              <a:xfrm>
                <a:off x="8588" y="3289"/>
                <a:ext cx="720" cy="0"/>
              </a:xfrm>
              <a:prstGeom prst="line">
                <a:avLst/>
              </a:prstGeom>
              <a:noFill/>
              <a:ln w="9525">
                <a:solidFill>
                  <a:srgbClr val="000000"/>
                </a:solidFill>
                <a:round/>
              </a:ln>
            </p:spPr>
            <p:txBody>
              <a:bodyPr/>
              <a:lstStyle/>
              <a:p>
                <a:endParaRPr lang="zh-CN" altLang="en-US"/>
              </a:p>
            </p:txBody>
          </p:sp>
          <p:sp>
            <p:nvSpPr>
              <p:cNvPr id="75800" name="Line 39"/>
              <p:cNvSpPr>
                <a:spLocks noChangeShapeType="1"/>
              </p:cNvSpPr>
              <p:nvPr/>
            </p:nvSpPr>
            <p:spPr bwMode="auto">
              <a:xfrm>
                <a:off x="8588" y="3289"/>
                <a:ext cx="0" cy="312"/>
              </a:xfrm>
              <a:prstGeom prst="line">
                <a:avLst/>
              </a:prstGeom>
              <a:noFill/>
              <a:ln w="9525">
                <a:solidFill>
                  <a:srgbClr val="000000"/>
                </a:solidFill>
                <a:round/>
              </a:ln>
            </p:spPr>
            <p:txBody>
              <a:bodyPr/>
              <a:lstStyle/>
              <a:p>
                <a:endParaRPr lang="zh-CN" altLang="en-US"/>
              </a:p>
            </p:txBody>
          </p:sp>
          <p:sp>
            <p:nvSpPr>
              <p:cNvPr id="75801" name="Line 40"/>
              <p:cNvSpPr>
                <a:spLocks noChangeShapeType="1"/>
              </p:cNvSpPr>
              <p:nvPr/>
            </p:nvSpPr>
            <p:spPr bwMode="auto">
              <a:xfrm>
                <a:off x="9308" y="3289"/>
                <a:ext cx="0" cy="296"/>
              </a:xfrm>
              <a:prstGeom prst="line">
                <a:avLst/>
              </a:prstGeom>
              <a:noFill/>
              <a:ln w="9525">
                <a:solidFill>
                  <a:srgbClr val="000000"/>
                </a:solidFill>
                <a:round/>
              </a:ln>
            </p:spPr>
            <p:txBody>
              <a:bodyPr/>
              <a:lstStyle/>
              <a:p>
                <a:endParaRPr lang="zh-CN" altLang="en-US"/>
              </a:p>
            </p:txBody>
          </p:sp>
        </p:grpSp>
        <p:sp>
          <p:nvSpPr>
            <p:cNvPr id="75796" name="Line 41"/>
            <p:cNvSpPr>
              <a:spLocks noChangeShapeType="1"/>
            </p:cNvSpPr>
            <p:nvPr/>
          </p:nvSpPr>
          <p:spPr bwMode="auto">
            <a:xfrm>
              <a:off x="8768" y="2353"/>
              <a:ext cx="0" cy="312"/>
            </a:xfrm>
            <a:prstGeom prst="line">
              <a:avLst/>
            </a:prstGeom>
            <a:noFill/>
            <a:ln w="9525">
              <a:solidFill>
                <a:srgbClr val="000000"/>
              </a:solidFill>
              <a:round/>
            </a:ln>
          </p:spPr>
          <p:txBody>
            <a:bodyPr/>
            <a:lstStyle/>
            <a:p>
              <a:endParaRPr lang="zh-CN" altLang="en-US"/>
            </a:p>
          </p:txBody>
        </p:sp>
      </p:grpSp>
    </p:spTree>
  </p:cSld>
  <p:clrMapOvr>
    <a:masterClrMapping/>
  </p:clrMapOvr>
  <p:transition>
    <p:wipe dir="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body" idx="1"/>
          </p:nvPr>
        </p:nvSpPr>
        <p:spPr>
          <a:xfrm>
            <a:off x="468313" y="1773238"/>
            <a:ext cx="8386762" cy="4114800"/>
          </a:xfrm>
        </p:spPr>
        <p:txBody>
          <a:bodyPr/>
          <a:lstStyle/>
          <a:p>
            <a:pPr marL="0" indent="0" defTabSz="284480" eaLnBrk="1" hangingPunct="1">
              <a:buFont typeface="Wingdings" panose="05000000000000000000" pitchFamily="2" charset="2"/>
              <a:buNone/>
              <a:tabLst>
                <a:tab pos="450850" algn="l"/>
              </a:tabLst>
            </a:pPr>
            <a:r>
              <a:rPr lang="zh-CN" altLang="en-US" sz="2400" b="1" smtClean="0"/>
              <a:t>例：下图是新生管理子系统的功能层次图：</a:t>
            </a:r>
            <a:endParaRPr lang="zh-CN" altLang="en-US" sz="2400" b="1" smtClean="0"/>
          </a:p>
          <a:p>
            <a:pPr marL="0" indent="0" defTabSz="284480" eaLnBrk="1" hangingPunct="1">
              <a:tabLst>
                <a:tab pos="450850" algn="l"/>
              </a:tabLst>
            </a:pPr>
            <a:r>
              <a:rPr lang="zh-CN" altLang="en-US" sz="2400" b="1" smtClean="0"/>
              <a:t>要测试</a:t>
            </a:r>
            <a:r>
              <a:rPr lang="zh-CN" altLang="en-US" sz="2400" b="1" smtClean="0">
                <a:latin typeface="Arial" panose="020B0604020202020204" pitchFamily="34" charset="0"/>
              </a:rPr>
              <a:t>“</a:t>
            </a:r>
            <a:r>
              <a:rPr lang="zh-CN" altLang="en-US" sz="2400" b="1" smtClean="0"/>
              <a:t>新生信息查询与统计</a:t>
            </a:r>
            <a:r>
              <a:rPr lang="zh-CN" altLang="en-US" sz="2400" b="1" smtClean="0">
                <a:latin typeface="Arial" panose="020B0604020202020204" pitchFamily="34" charset="0"/>
              </a:rPr>
              <a:t>”</a:t>
            </a:r>
            <a:r>
              <a:rPr lang="zh-CN" altLang="en-US" sz="2400" b="1" smtClean="0"/>
              <a:t>模块，由于它不是独立运行的程序，需要有一个驱动模块来调用它，驱动模块要说明必需的变量、接收测试数据</a:t>
            </a:r>
            <a:r>
              <a:rPr lang="en-US" altLang="zh-CN" sz="2400" b="1" smtClean="0"/>
              <a:t>----</a:t>
            </a:r>
            <a:r>
              <a:rPr lang="zh-CN" altLang="en-US" sz="2400" b="1" smtClean="0"/>
              <a:t>模拟总控模块来调用它。另外还需要准备桩模块来代替被调用的子模块（新生比例分布、高考成绩统计），对于多个子模块可以用一个桩模块来代替。在测试时，用控制变量</a:t>
            </a:r>
            <a:r>
              <a:rPr lang="en-US" altLang="zh-CN" sz="2400" b="1" smtClean="0"/>
              <a:t>DISCOUNT</a:t>
            </a:r>
            <a:r>
              <a:rPr lang="en-US" altLang="zh-CN" sz="2400" b="1" smtClean="0">
                <a:latin typeface="Arial" panose="020B0604020202020204" pitchFamily="34" charset="0"/>
              </a:rPr>
              <a:t>—</a:t>
            </a:r>
            <a:r>
              <a:rPr lang="en-US" altLang="zh-CN" sz="2400" b="1" smtClean="0"/>
              <a:t>TYPE</a:t>
            </a:r>
            <a:r>
              <a:rPr lang="zh-CN" altLang="en-US" sz="2400" b="1" smtClean="0"/>
              <a:t>标记是新生比例分布还是高考成绩统计。新生基本信息管理招生数据导入报到预处理新生报到管理新生信息查询与统计预分学号班级编排寝室安排预处理查询现场报到处理欠费查询统计报到情况统计新生比例分布高考成绩统计。</a:t>
            </a:r>
            <a:endParaRPr lang="zh-CN" altLang="en-US" sz="2400" b="1" smtClean="0"/>
          </a:p>
          <a:p>
            <a:pPr marL="0" indent="0" defTabSz="284480" eaLnBrk="1" hangingPunct="1">
              <a:tabLst>
                <a:tab pos="450850" algn="l"/>
              </a:tabLst>
            </a:pPr>
            <a:endParaRPr lang="en-US" altLang="zh-CN" sz="2400" b="1" smtClean="0"/>
          </a:p>
        </p:txBody>
      </p:sp>
      <p:sp>
        <p:nvSpPr>
          <p:cNvPr id="76803" name="AutoShape 3">
            <a:hlinkClick r:id="" action="ppaction://noaction" highlightClick="1"/>
          </p:cNvPr>
          <p:cNvSpPr>
            <a:spLocks noChangeArrowheads="1"/>
          </p:cNvSpPr>
          <p:nvPr/>
        </p:nvSpPr>
        <p:spPr bwMode="auto">
          <a:xfrm>
            <a:off x="14033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en-US" altLang="zh-CN" sz="3600" b="1">
                <a:solidFill>
                  <a:srgbClr val="0A0A0E"/>
                </a:solidFill>
                <a:latin typeface="Times New Roman" panose="02020603050405020304" pitchFamily="18" charset="0"/>
              </a:rPr>
              <a:t>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body" idx="1"/>
          </p:nvPr>
        </p:nvSpPr>
        <p:spPr>
          <a:xfrm>
            <a:off x="1042988" y="1989138"/>
            <a:ext cx="7812087" cy="3898900"/>
          </a:xfrm>
        </p:spPr>
        <p:txBody>
          <a:bodyPr/>
          <a:lstStyle/>
          <a:p>
            <a:pPr marL="0" indent="0" defTabSz="284480" eaLnBrk="1" hangingPunct="1">
              <a:buFont typeface="Wingdings" panose="05000000000000000000" pitchFamily="2" charset="2"/>
              <a:buNone/>
              <a:tabLst>
                <a:tab pos="450850" algn="l"/>
              </a:tabLst>
            </a:pPr>
            <a:r>
              <a:rPr lang="zh-CN" altLang="en-US" sz="2400" b="1" smtClean="0">
                <a:latin typeface="宋体" panose="02010600030101010101" pitchFamily="2" charset="-122"/>
              </a:rPr>
              <a:t>下面是伪码编写的驱动模块和桩模块。</a:t>
            </a:r>
            <a:endParaRPr lang="zh-CN" altLang="en-US" sz="2400" b="1" smtClean="0">
              <a:latin typeface="宋体" panose="02010600030101010101" pitchFamily="2" charset="-122"/>
            </a:endParaRPr>
          </a:p>
          <a:p>
            <a:pPr marL="0" indent="0" defTabSz="284480" eaLnBrk="1" hangingPunct="1">
              <a:buFont typeface="Wingdings" panose="05000000000000000000" pitchFamily="2" charset="2"/>
              <a:buNone/>
              <a:tabLst>
                <a:tab pos="450850" algn="l"/>
              </a:tabLst>
            </a:pPr>
            <a:r>
              <a:rPr lang="zh-CN" altLang="en-US" sz="2400" b="1" smtClean="0">
                <a:latin typeface="宋体" panose="02010600030101010101" pitchFamily="2" charset="-122"/>
              </a:rPr>
              <a:t>驱动模块的伪码：</a:t>
            </a:r>
            <a:endParaRPr lang="zh-CN" altLang="en-US" sz="2400" b="1" smtClean="0">
              <a:latin typeface="宋体" panose="02010600030101010101" pitchFamily="2" charset="-122"/>
            </a:endParaRPr>
          </a:p>
          <a:p>
            <a:pPr marL="0" indent="0" defTabSz="284480" eaLnBrk="1" hangingPunct="1">
              <a:tabLst>
                <a:tab pos="450850" algn="l"/>
              </a:tabLst>
            </a:pPr>
            <a:r>
              <a:rPr lang="en-US" altLang="zh-CN" sz="2400" b="1" smtClean="0">
                <a:latin typeface="宋体" panose="02010600030101010101" pitchFamily="2" charset="-122"/>
              </a:rPr>
              <a:t>TEST DRIVER</a:t>
            </a:r>
            <a:endParaRPr lang="en-US" altLang="zh-CN" sz="2400" b="1" smtClean="0">
              <a:latin typeface="宋体" panose="02010600030101010101" pitchFamily="2" charset="-122"/>
            </a:endParaRPr>
          </a:p>
          <a:p>
            <a:pPr marL="0" indent="0" defTabSz="284480" eaLnBrk="1" hangingPunct="1">
              <a:tabLst>
                <a:tab pos="450850" algn="l"/>
              </a:tabLst>
            </a:pPr>
            <a:r>
              <a:rPr lang="en-US" altLang="zh-CN" sz="2400" b="1" smtClean="0">
                <a:latin typeface="宋体" panose="02010600030101010101" pitchFamily="2" charset="-122"/>
              </a:rPr>
              <a:t>  WHILE </a:t>
            </a:r>
            <a:r>
              <a:rPr lang="zh-CN" altLang="en-US" sz="2400" b="1" smtClean="0">
                <a:latin typeface="宋体" panose="02010600030101010101" pitchFamily="2" charset="-122"/>
              </a:rPr>
              <a:t>未到文件尾部</a:t>
            </a:r>
            <a:endParaRPr lang="zh-CN" altLang="en-US" sz="2400" b="1" smtClean="0">
              <a:latin typeface="宋体" panose="02010600030101010101" pitchFamily="2" charset="-122"/>
            </a:endParaRPr>
          </a:p>
          <a:p>
            <a:pPr marL="0" indent="0" defTabSz="284480" eaLnBrk="1" hangingPunct="1">
              <a:tabLst>
                <a:tab pos="450850" algn="l"/>
              </a:tabLst>
            </a:pPr>
            <a:r>
              <a:rPr lang="zh-CN" altLang="en-US" sz="2400" b="1" smtClean="0">
                <a:latin typeface="宋体" panose="02010600030101010101" pitchFamily="2" charset="-122"/>
              </a:rPr>
              <a:t>    读取输入信息</a:t>
            </a:r>
            <a:endParaRPr lang="zh-CN" altLang="en-US" sz="2400" b="1" smtClean="0">
              <a:latin typeface="宋体" panose="02010600030101010101" pitchFamily="2" charset="-122"/>
            </a:endParaRPr>
          </a:p>
          <a:p>
            <a:pPr marL="0" indent="0" defTabSz="284480" eaLnBrk="1" hangingPunct="1">
              <a:tabLst>
                <a:tab pos="450850" algn="l"/>
              </a:tabLst>
            </a:pPr>
            <a:r>
              <a:rPr lang="zh-CN" altLang="en-US" sz="2400" b="1" smtClean="0">
                <a:latin typeface="宋体" panose="02010600030101010101" pitchFamily="2" charset="-122"/>
              </a:rPr>
              <a:t>    </a:t>
            </a:r>
            <a:r>
              <a:rPr lang="en-US" altLang="zh-CN" sz="2400" b="1" smtClean="0">
                <a:latin typeface="宋体" panose="02010600030101010101" pitchFamily="2" charset="-122"/>
              </a:rPr>
              <a:t>IF </a:t>
            </a:r>
            <a:r>
              <a:rPr lang="zh-CN" altLang="en-US" sz="2400" b="1" smtClean="0">
                <a:latin typeface="宋体" panose="02010600030101010101" pitchFamily="2" charset="-122"/>
              </a:rPr>
              <a:t>输入信息是调用“新生信息查询与统计”模块</a:t>
            </a:r>
            <a:endParaRPr lang="zh-CN" altLang="en-US" sz="2400" b="1" smtClean="0">
              <a:latin typeface="宋体" panose="02010600030101010101" pitchFamily="2" charset="-122"/>
            </a:endParaRPr>
          </a:p>
          <a:p>
            <a:pPr marL="0" indent="0" defTabSz="284480" eaLnBrk="1" hangingPunct="1">
              <a:tabLst>
                <a:tab pos="450850" algn="l"/>
              </a:tabLst>
            </a:pPr>
            <a:r>
              <a:rPr lang="zh-CN" altLang="en-US" sz="2400" b="1" smtClean="0">
                <a:latin typeface="宋体" panose="02010600030101010101" pitchFamily="2" charset="-122"/>
              </a:rPr>
              <a:t>      调用“新生信息查询与统计”模块</a:t>
            </a:r>
            <a:endParaRPr lang="zh-CN" altLang="en-US" sz="2400" b="1" smtClean="0">
              <a:latin typeface="宋体" panose="02010600030101010101" pitchFamily="2" charset="-122"/>
            </a:endParaRPr>
          </a:p>
          <a:p>
            <a:pPr marL="0" indent="0" defTabSz="284480" eaLnBrk="1" hangingPunct="1">
              <a:tabLst>
                <a:tab pos="450850" algn="l"/>
              </a:tabLst>
            </a:pPr>
            <a:r>
              <a:rPr lang="zh-CN" altLang="en-US" sz="2400" b="1" smtClean="0">
                <a:latin typeface="宋体" panose="02010600030101010101" pitchFamily="2" charset="-122"/>
              </a:rPr>
              <a:t>    </a:t>
            </a:r>
            <a:r>
              <a:rPr lang="en-US" altLang="zh-CN" sz="2400" b="1" smtClean="0">
                <a:latin typeface="宋体" panose="02010600030101010101" pitchFamily="2" charset="-122"/>
              </a:rPr>
              <a:t>END IF</a:t>
            </a:r>
            <a:endParaRPr lang="en-US" altLang="zh-CN" sz="2400" b="1" smtClean="0">
              <a:latin typeface="宋体" panose="02010600030101010101" pitchFamily="2" charset="-122"/>
            </a:endParaRPr>
          </a:p>
          <a:p>
            <a:pPr marL="0" indent="0" defTabSz="284480" eaLnBrk="1" hangingPunct="1">
              <a:tabLst>
                <a:tab pos="450850" algn="l"/>
              </a:tabLst>
            </a:pPr>
            <a:r>
              <a:rPr lang="en-US" altLang="zh-CN" sz="2400" b="1" smtClean="0">
                <a:latin typeface="宋体" panose="02010600030101010101" pitchFamily="2" charset="-122"/>
              </a:rPr>
              <a:t>END WHILE</a:t>
            </a:r>
            <a:endParaRPr lang="en-US" altLang="zh-CN" sz="2400" b="1" smtClean="0">
              <a:latin typeface="宋体" panose="02010600030101010101" pitchFamily="2" charset="-122"/>
            </a:endParaRPr>
          </a:p>
          <a:p>
            <a:pPr marL="0" indent="0" defTabSz="284480" eaLnBrk="1" hangingPunct="1">
              <a:tabLst>
                <a:tab pos="450850" algn="l"/>
              </a:tabLst>
            </a:pPr>
            <a:r>
              <a:rPr lang="en-US" altLang="zh-CN" sz="2400" b="1" smtClean="0">
                <a:latin typeface="宋体" panose="02010600030101010101" pitchFamily="2" charset="-122"/>
              </a:rPr>
              <a:t>END TEST DRIVER</a:t>
            </a:r>
            <a:endParaRPr lang="en-US" altLang="zh-CN" sz="2400" b="1" smtClean="0">
              <a:latin typeface="宋体" panose="02010600030101010101" pitchFamily="2" charset="-122"/>
            </a:endParaRPr>
          </a:p>
        </p:txBody>
      </p:sp>
      <p:sp>
        <p:nvSpPr>
          <p:cNvPr id="77827" name="AutoShape 3">
            <a:hlinkClick r:id="" action="ppaction://noaction" highlightClick="1"/>
          </p:cNvPr>
          <p:cNvSpPr>
            <a:spLocks noChangeArrowheads="1"/>
          </p:cNvSpPr>
          <p:nvPr/>
        </p:nvSpPr>
        <p:spPr bwMode="auto">
          <a:xfrm>
            <a:off x="14033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en-US" altLang="zh-CN" sz="3600" b="1">
                <a:solidFill>
                  <a:srgbClr val="0A0A0E"/>
                </a:solidFill>
                <a:latin typeface="Times New Roman" panose="02020603050405020304" pitchFamily="18" charset="0"/>
              </a:rPr>
              <a:t>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body" idx="1"/>
          </p:nvPr>
        </p:nvSpPr>
        <p:spPr>
          <a:xfrm>
            <a:off x="1258888" y="2060575"/>
            <a:ext cx="7596187" cy="3827463"/>
          </a:xfrm>
        </p:spPr>
        <p:txBody>
          <a:bodyPr/>
          <a:lstStyle/>
          <a:p>
            <a:pPr marL="0" indent="0" defTabSz="284480" eaLnBrk="1" hangingPunct="1">
              <a:buFont typeface="Wingdings" panose="05000000000000000000" pitchFamily="2" charset="2"/>
              <a:buNone/>
              <a:tabLst>
                <a:tab pos="450850" algn="l"/>
              </a:tabLst>
            </a:pPr>
            <a:r>
              <a:rPr lang="zh-CN" altLang="en-US" sz="2400" smtClean="0"/>
              <a:t>桩模块的伪码：</a:t>
            </a:r>
            <a:endParaRPr lang="zh-CN" altLang="en-US" sz="2400" smtClean="0"/>
          </a:p>
          <a:p>
            <a:pPr marL="0" indent="0" defTabSz="284480" eaLnBrk="1" hangingPunct="1">
              <a:tabLst>
                <a:tab pos="450850" algn="l"/>
              </a:tabLst>
            </a:pPr>
            <a:r>
              <a:rPr lang="en-US" altLang="zh-CN" sz="2400" smtClean="0"/>
              <a:t>TEST STUB</a:t>
            </a:r>
            <a:endParaRPr lang="en-US" altLang="zh-CN" sz="2400" smtClean="0"/>
          </a:p>
          <a:p>
            <a:pPr marL="0" indent="0" defTabSz="284480" eaLnBrk="1" hangingPunct="1">
              <a:tabLst>
                <a:tab pos="450850" algn="l"/>
              </a:tabLst>
            </a:pPr>
            <a:r>
              <a:rPr lang="en-US" altLang="zh-CN" sz="2400" smtClean="0"/>
              <a:t>    IF DISCOUNT</a:t>
            </a:r>
            <a:r>
              <a:rPr lang="en-US" altLang="zh-CN" sz="2400" smtClean="0">
                <a:latin typeface="Arial" panose="020B0604020202020204" pitchFamily="34" charset="0"/>
              </a:rPr>
              <a:t>—</a:t>
            </a:r>
            <a:r>
              <a:rPr lang="en-US" altLang="zh-CN" sz="2400" smtClean="0"/>
              <a:t>TYPE= </a:t>
            </a:r>
            <a:r>
              <a:rPr lang="en-US" altLang="zh-CN" sz="2400" smtClean="0">
                <a:latin typeface="Arial" panose="020B0604020202020204" pitchFamily="34" charset="0"/>
              </a:rPr>
              <a:t>“</a:t>
            </a:r>
            <a:r>
              <a:rPr lang="zh-CN" altLang="en-US" sz="2400" smtClean="0"/>
              <a:t>新生比例分布</a:t>
            </a:r>
            <a:r>
              <a:rPr lang="zh-CN" altLang="en-US" sz="2400" smtClean="0">
                <a:latin typeface="Arial" panose="020B0604020202020204" pitchFamily="34" charset="0"/>
              </a:rPr>
              <a:t>”</a:t>
            </a:r>
            <a:endParaRPr lang="zh-CN" altLang="en-US" sz="2400" smtClean="0"/>
          </a:p>
          <a:p>
            <a:pPr marL="0" indent="0" defTabSz="284480" eaLnBrk="1" hangingPunct="1">
              <a:tabLst>
                <a:tab pos="450850" algn="l"/>
              </a:tabLst>
            </a:pPr>
            <a:r>
              <a:rPr lang="zh-CN" altLang="en-US" sz="2400" smtClean="0"/>
              <a:t>      输出</a:t>
            </a:r>
            <a:r>
              <a:rPr lang="zh-CN" altLang="en-US" sz="2400" smtClean="0">
                <a:latin typeface="Arial" panose="020B0604020202020204" pitchFamily="34" charset="0"/>
              </a:rPr>
              <a:t>“</a:t>
            </a:r>
            <a:r>
              <a:rPr lang="zh-CN" altLang="en-US" sz="2400" smtClean="0"/>
              <a:t>新生比例分布模块</a:t>
            </a:r>
            <a:r>
              <a:rPr lang="zh-CN" altLang="en-US" sz="2400" smtClean="0">
                <a:latin typeface="Arial" panose="020B0604020202020204" pitchFamily="34" charset="0"/>
              </a:rPr>
              <a:t>”</a:t>
            </a:r>
            <a:endParaRPr lang="zh-CN" altLang="en-US" sz="2400" smtClean="0"/>
          </a:p>
          <a:p>
            <a:pPr marL="0" indent="0" defTabSz="284480" eaLnBrk="1" hangingPunct="1">
              <a:tabLst>
                <a:tab pos="450850" algn="l"/>
              </a:tabLst>
            </a:pPr>
            <a:r>
              <a:rPr lang="zh-CN" altLang="en-US" sz="2400" smtClean="0"/>
              <a:t>    </a:t>
            </a:r>
            <a:r>
              <a:rPr lang="en-US" altLang="zh-CN" sz="2400" smtClean="0"/>
              <a:t>ELSE</a:t>
            </a:r>
            <a:endParaRPr lang="en-US" altLang="zh-CN" sz="2400" smtClean="0"/>
          </a:p>
          <a:p>
            <a:pPr marL="0" indent="0" defTabSz="284480" eaLnBrk="1" hangingPunct="1">
              <a:tabLst>
                <a:tab pos="450850" algn="l"/>
              </a:tabLst>
            </a:pPr>
            <a:r>
              <a:rPr lang="en-US" altLang="zh-CN" sz="2400" smtClean="0"/>
              <a:t>   </a:t>
            </a:r>
            <a:r>
              <a:rPr lang="zh-CN" altLang="en-US" sz="2400" smtClean="0"/>
              <a:t>输出</a:t>
            </a:r>
            <a:r>
              <a:rPr lang="zh-CN" altLang="en-US" sz="2400" smtClean="0">
                <a:latin typeface="Arial" panose="020B0604020202020204" pitchFamily="34" charset="0"/>
              </a:rPr>
              <a:t>“</a:t>
            </a:r>
            <a:r>
              <a:rPr lang="zh-CN" altLang="en-US" sz="2400" smtClean="0"/>
              <a:t>高考成绩统计模块</a:t>
            </a:r>
            <a:r>
              <a:rPr lang="zh-CN" altLang="en-US" sz="2400" smtClean="0">
                <a:latin typeface="Arial" panose="020B0604020202020204" pitchFamily="34" charset="0"/>
              </a:rPr>
              <a:t>”</a:t>
            </a:r>
            <a:endParaRPr lang="zh-CN" altLang="en-US" sz="2400" smtClean="0"/>
          </a:p>
          <a:p>
            <a:pPr marL="0" indent="0" defTabSz="284480" eaLnBrk="1" hangingPunct="1">
              <a:tabLst>
                <a:tab pos="450850" algn="l"/>
              </a:tabLst>
            </a:pPr>
            <a:r>
              <a:rPr lang="zh-CN" altLang="en-US" sz="2400" smtClean="0"/>
              <a:t>    </a:t>
            </a:r>
            <a:r>
              <a:rPr lang="en-US" altLang="zh-CN" sz="2400" smtClean="0"/>
              <a:t>END IF</a:t>
            </a:r>
            <a:endParaRPr lang="en-US" altLang="zh-CN" sz="2400" smtClean="0"/>
          </a:p>
          <a:p>
            <a:pPr marL="0" indent="0" defTabSz="284480" eaLnBrk="1" hangingPunct="1">
              <a:tabLst>
                <a:tab pos="450850" algn="l"/>
              </a:tabLst>
            </a:pPr>
            <a:r>
              <a:rPr lang="en-US" altLang="zh-CN" sz="2400" smtClean="0"/>
              <a:t>END TEST STUB</a:t>
            </a:r>
            <a:endParaRPr lang="en-US" altLang="zh-CN" sz="2400" smtClean="0"/>
          </a:p>
        </p:txBody>
      </p:sp>
      <p:sp>
        <p:nvSpPr>
          <p:cNvPr id="78851" name="AutoShape 3">
            <a:hlinkClick r:id="" action="ppaction://noaction" highlightClick="1"/>
          </p:cNvPr>
          <p:cNvSpPr>
            <a:spLocks noChangeArrowheads="1"/>
          </p:cNvSpPr>
          <p:nvPr/>
        </p:nvSpPr>
        <p:spPr bwMode="auto">
          <a:xfrm>
            <a:off x="1403350" y="836613"/>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en-US" altLang="zh-CN" sz="3600" b="1">
                <a:solidFill>
                  <a:srgbClr val="0A0A0E"/>
                </a:solidFill>
                <a:latin typeface="Times New Roman" panose="02020603050405020304" pitchFamily="18" charset="0"/>
              </a:rPr>
              <a:t>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type="body" idx="1"/>
          </p:nvPr>
        </p:nvSpPr>
        <p:spPr>
          <a:xfrm>
            <a:off x="827088" y="2017713"/>
            <a:ext cx="7561262" cy="4114800"/>
          </a:xfrm>
        </p:spPr>
        <p:txBody>
          <a:bodyPr/>
          <a:lstStyle/>
          <a:p>
            <a:pPr marL="0" indent="0" algn="just" defTabSz="284480" eaLnBrk="1" hangingPunct="1">
              <a:buFont typeface="Wingdings" panose="05000000000000000000" pitchFamily="2" charset="2"/>
              <a:buNone/>
              <a:tabLst>
                <a:tab pos="450850" algn="l"/>
              </a:tabLst>
            </a:pPr>
            <a:r>
              <a:rPr lang="zh-CN" altLang="en-US" b="1" smtClean="0"/>
              <a:t>集成测试</a:t>
            </a:r>
            <a:r>
              <a:rPr lang="en-US" altLang="zh-CN" b="1" smtClean="0"/>
              <a:t>:</a:t>
            </a:r>
            <a:endParaRPr lang="en-US" altLang="zh-CN" b="1" smtClean="0">
              <a:cs typeface="Times New Roman" panose="02020603050405020304" pitchFamily="18" charset="0"/>
            </a:endParaRPr>
          </a:p>
          <a:p>
            <a:pPr marL="274955" lvl="1" indent="0" algn="just" defTabSz="284480" eaLnBrk="1" hangingPunct="1">
              <a:lnSpc>
                <a:spcPct val="110000"/>
              </a:lnSpc>
              <a:spcBef>
                <a:spcPct val="30000"/>
              </a:spcBef>
              <a:buFont typeface="Wingdings" panose="05000000000000000000" pitchFamily="2" charset="2"/>
              <a:buNone/>
              <a:tabLst>
                <a:tab pos="450850" algn="l"/>
              </a:tabLst>
            </a:pPr>
            <a:r>
              <a:rPr lang="zh-CN" altLang="en-US" b="1" smtClean="0">
                <a:latin typeface="Times New Roman" panose="02020603050405020304" pitchFamily="18" charset="0"/>
              </a:rPr>
              <a:t>集成测试是将已测试过的模块组合成子系统，重点测试各模块之间接口和联系。它所测试的内容包括：单元间的接口以及集成后的功能。</a:t>
            </a:r>
            <a:endParaRPr lang="zh-CN" altLang="en-US" b="1" smtClean="0">
              <a:latin typeface="Times New Roman" panose="02020603050405020304" pitchFamily="18" charset="0"/>
            </a:endParaRPr>
          </a:p>
          <a:p>
            <a:pPr marL="274955" lvl="1" indent="0" algn="just" defTabSz="284480" eaLnBrk="1" hangingPunct="1">
              <a:lnSpc>
                <a:spcPct val="110000"/>
              </a:lnSpc>
              <a:spcBef>
                <a:spcPct val="30000"/>
              </a:spcBef>
              <a:buFont typeface="Wingdings" panose="05000000000000000000" pitchFamily="2" charset="2"/>
              <a:buNone/>
              <a:tabLst>
                <a:tab pos="450850" algn="l"/>
              </a:tabLst>
            </a:pPr>
            <a:r>
              <a:rPr lang="zh-CN" altLang="en-US" b="1" smtClean="0"/>
              <a:t>使用黑盒测试方法测试集成的功能，并且对以前的集成进行回归测试。</a:t>
            </a:r>
            <a:r>
              <a:rPr lang="zh-CN" altLang="en-US" smtClean="0"/>
              <a:t> </a:t>
            </a:r>
            <a:endParaRPr lang="zh-CN" altLang="en-US" smtClean="0"/>
          </a:p>
        </p:txBody>
      </p:sp>
      <p:sp>
        <p:nvSpPr>
          <p:cNvPr id="80899" name="AutoShape 4">
            <a:hlinkClick r:id="" action="ppaction://noaction" highlightClick="1"/>
          </p:cNvPr>
          <p:cNvSpPr>
            <a:spLocks noChangeArrowheads="1"/>
          </p:cNvSpPr>
          <p:nvPr/>
        </p:nvSpPr>
        <p:spPr bwMode="auto">
          <a:xfrm>
            <a:off x="1331913" y="836613"/>
            <a:ext cx="4106862"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body" idx="1"/>
          </p:nvPr>
        </p:nvSpPr>
        <p:spPr>
          <a:xfrm>
            <a:off x="395288" y="2017713"/>
            <a:ext cx="8208962" cy="4364037"/>
          </a:xfrm>
        </p:spPr>
        <p:txBody>
          <a:bodyPr/>
          <a:lstStyle/>
          <a:p>
            <a:pPr marL="0" indent="0" algn="just" defTabSz="284480" eaLnBrk="1" hangingPunct="1">
              <a:lnSpc>
                <a:spcPct val="90000"/>
              </a:lnSpc>
              <a:buFont typeface="Wingdings" panose="05000000000000000000" pitchFamily="2" charset="2"/>
              <a:buNone/>
              <a:tabLst>
                <a:tab pos="450850" algn="l"/>
              </a:tabLst>
            </a:pPr>
            <a:r>
              <a:rPr lang="zh-CN" altLang="en-US" sz="2800" b="1" smtClean="0"/>
              <a:t>集成测试方法：</a:t>
            </a:r>
            <a:endParaRPr lang="zh-CN" altLang="en-US" sz="2800" b="1" smtClean="0"/>
          </a:p>
          <a:p>
            <a:pPr marL="0" indent="0" algn="just" defTabSz="284480" eaLnBrk="1" hangingPunct="1">
              <a:lnSpc>
                <a:spcPct val="90000"/>
              </a:lnSpc>
              <a:tabLst>
                <a:tab pos="450850" algn="l"/>
              </a:tabLst>
            </a:pPr>
            <a:r>
              <a:rPr lang="zh-CN" altLang="en-US" sz="2400" b="1" smtClean="0"/>
              <a:t>一种是分别测试各个模块，再把这些模块组合起来进行整体测试，这种方法称为非增量式集成。非增量式集成可以对模块进行并行测试，能充分利用人力，加快工程进度。但这种方法容易混乱，出现错误不容易查找和定位。</a:t>
            </a:r>
            <a:endParaRPr lang="zh-CN" altLang="en-US" sz="2400" b="1" smtClean="0"/>
          </a:p>
          <a:p>
            <a:pPr marL="0" indent="0" algn="just" defTabSz="284480" eaLnBrk="1" hangingPunct="1">
              <a:lnSpc>
                <a:spcPct val="90000"/>
              </a:lnSpc>
              <a:tabLst>
                <a:tab pos="450850" algn="l"/>
              </a:tabLst>
            </a:pPr>
            <a:r>
              <a:rPr lang="zh-CN" altLang="en-US" sz="2400" b="1" smtClean="0"/>
              <a:t>另一种是把一个要测试的模块组合到已测试好的模块中，测试完后再将一个需要测试的模块组合进来测试，逐步把所有模块组合在一起，并完成测试。该方法称为增量式集成。增量式测试的范围是一步步扩大的，所以错误容易定位，而且已测试的模块可在新的条件下进行测试，程序测试得更彻底。增量式测试有自顶向下的增量方式和自底向上的增量方式两种测试方法。 </a:t>
            </a:r>
            <a:endParaRPr lang="zh-CN" altLang="en-US" sz="2400" b="1" smtClean="0"/>
          </a:p>
        </p:txBody>
      </p:sp>
      <p:sp>
        <p:nvSpPr>
          <p:cNvPr id="81923" name="AutoShape 3">
            <a:hlinkClick r:id="" action="ppaction://noaction" highlightClick="1"/>
          </p:cNvPr>
          <p:cNvSpPr>
            <a:spLocks noChangeArrowheads="1"/>
          </p:cNvSpPr>
          <p:nvPr/>
        </p:nvSpPr>
        <p:spPr bwMode="auto">
          <a:xfrm>
            <a:off x="1619250" y="476250"/>
            <a:ext cx="4106863"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body" idx="1"/>
          </p:nvPr>
        </p:nvSpPr>
        <p:spPr>
          <a:xfrm>
            <a:off x="395288" y="2017713"/>
            <a:ext cx="5040312" cy="4114800"/>
          </a:xfrm>
        </p:spPr>
        <p:txBody>
          <a:bodyPr/>
          <a:lstStyle/>
          <a:p>
            <a:pPr marL="0" indent="0" defTabSz="284480" eaLnBrk="1" hangingPunct="1">
              <a:buFont typeface="Wingdings" panose="05000000000000000000" pitchFamily="2" charset="2"/>
              <a:buNone/>
              <a:tabLst>
                <a:tab pos="450850" algn="l"/>
              </a:tabLst>
            </a:pPr>
            <a:r>
              <a:rPr lang="en-US" altLang="zh-CN" sz="2400" b="1" smtClean="0"/>
              <a:t>1)</a:t>
            </a:r>
            <a:r>
              <a:rPr lang="zh-CN" altLang="en-US" sz="2400" b="1" smtClean="0"/>
              <a:t>自顶向下的增量方式</a:t>
            </a:r>
            <a:endParaRPr lang="zh-CN" altLang="en-US" sz="2400" b="1" smtClean="0"/>
          </a:p>
          <a:p>
            <a:pPr marL="0" indent="0" defTabSz="284480" eaLnBrk="1" hangingPunct="1">
              <a:buFont typeface="Wingdings" panose="05000000000000000000" pitchFamily="2" charset="2"/>
              <a:buNone/>
              <a:tabLst>
                <a:tab pos="450850" algn="l"/>
              </a:tabLst>
            </a:pPr>
            <a:r>
              <a:rPr lang="zh-CN" altLang="en-US" sz="2400" b="1" smtClean="0"/>
              <a:t>模块按程序的控制结构，从上到下的组合方式。再增加测试模块时有先深度后宽度和先宽度后深度两种次序。如图所示的自顶向下组合示例中，先深度后宽度的方法是把程序结构中的一条主路径上的模块相组合。</a:t>
            </a:r>
            <a:endParaRPr lang="zh-CN" altLang="en-US" sz="2400" b="1" smtClean="0"/>
          </a:p>
        </p:txBody>
      </p:sp>
      <p:sp>
        <p:nvSpPr>
          <p:cNvPr id="82947" name="AutoShape 3">
            <a:hlinkClick r:id="" action="ppaction://noaction" highlightClick="1"/>
          </p:cNvPr>
          <p:cNvSpPr>
            <a:spLocks noChangeArrowheads="1"/>
          </p:cNvSpPr>
          <p:nvPr/>
        </p:nvSpPr>
        <p:spPr bwMode="auto">
          <a:xfrm>
            <a:off x="1331913" y="836613"/>
            <a:ext cx="5400675"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pic>
        <p:nvPicPr>
          <p:cNvPr id="82948" name="Picture 4" descr="自底向上"/>
          <p:cNvPicPr>
            <a:picLocks noChangeAspect="1" noChangeArrowheads="1"/>
          </p:cNvPicPr>
          <p:nvPr/>
        </p:nvPicPr>
        <p:blipFill>
          <a:blip r:embed="rId1" cstate="print"/>
          <a:srcRect/>
          <a:stretch>
            <a:fillRect/>
          </a:stretch>
        </p:blipFill>
        <p:spPr bwMode="auto">
          <a:xfrm>
            <a:off x="5292725" y="1773238"/>
            <a:ext cx="3608388" cy="2813050"/>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body" idx="1"/>
          </p:nvPr>
        </p:nvSpPr>
        <p:spPr>
          <a:xfrm>
            <a:off x="395288" y="2017713"/>
            <a:ext cx="8208962" cy="4114800"/>
          </a:xfrm>
        </p:spPr>
        <p:txBody>
          <a:bodyPr/>
          <a:lstStyle/>
          <a:p>
            <a:pPr marL="0" indent="0" defTabSz="284480" eaLnBrk="1" hangingPunct="1">
              <a:buFont typeface="Wingdings" panose="05000000000000000000" pitchFamily="2" charset="2"/>
              <a:buNone/>
              <a:tabLst>
                <a:tab pos="450850" algn="l"/>
              </a:tabLst>
            </a:pPr>
            <a:r>
              <a:rPr lang="en-US" altLang="zh-CN" sz="2400" smtClean="0"/>
              <a:t>1) </a:t>
            </a:r>
            <a:r>
              <a:rPr lang="zh-CN" altLang="en-US" sz="2400" b="1" smtClean="0"/>
              <a:t>自顶向下的增量方式</a:t>
            </a:r>
            <a:endParaRPr lang="zh-CN" altLang="en-US" sz="2400" b="1" smtClean="0"/>
          </a:p>
          <a:p>
            <a:pPr marL="0" indent="0" defTabSz="284480" eaLnBrk="1" hangingPunct="1">
              <a:tabLst>
                <a:tab pos="450850" algn="l"/>
              </a:tabLst>
            </a:pPr>
            <a:r>
              <a:rPr lang="zh-CN" altLang="en-US" sz="2400" b="1" smtClean="0"/>
              <a:t>测试顺序可以是</a:t>
            </a:r>
            <a:r>
              <a:rPr lang="en-US" altLang="zh-CN" sz="2400" b="1" smtClean="0"/>
              <a:t>M1→M2→M5→M6→M3→M7→M4</a:t>
            </a:r>
            <a:r>
              <a:rPr lang="zh-CN" altLang="en-US" sz="2400" b="1" smtClean="0"/>
              <a:t>。先宽度后深度的方法是把模块按层次进行组合，测试顺序是</a:t>
            </a:r>
            <a:r>
              <a:rPr lang="en-US" altLang="zh-CN" sz="2400" b="1" smtClean="0"/>
              <a:t>M1→M2→M3→M4→M5→M6→M7</a:t>
            </a:r>
            <a:r>
              <a:rPr lang="zh-CN" altLang="en-US" sz="2400" b="1" smtClean="0"/>
              <a:t>。</a:t>
            </a:r>
            <a:endParaRPr lang="zh-CN" altLang="en-US" sz="2400" b="1" smtClean="0"/>
          </a:p>
          <a:p>
            <a:pPr marL="0" indent="0" defTabSz="284480" eaLnBrk="1" hangingPunct="1">
              <a:tabLst>
                <a:tab pos="450850" algn="l"/>
              </a:tabLst>
            </a:pPr>
            <a:r>
              <a:rPr lang="zh-CN" altLang="en-US" sz="2400" b="1" smtClean="0"/>
              <a:t>自顶向下的增量方式可以较早地验证控制和判定点，如果出现问题能够及时纠正。在测试时不需要编写驱动模块，但需要桩模块。另外，如果高层，模块依赖性很大，需要返回大量信息，在用桩模块代替时，桩模块的编写就复杂，必然会增加开销。这时可以用下面的自底向上的增量方式</a:t>
            </a:r>
            <a:r>
              <a:rPr lang="zh-CN" altLang="en-US" smtClean="0"/>
              <a:t>。 </a:t>
            </a:r>
            <a:endParaRPr lang="zh-CN" altLang="en-US" smtClean="0"/>
          </a:p>
        </p:txBody>
      </p:sp>
      <p:sp>
        <p:nvSpPr>
          <p:cNvPr id="83971" name="AutoShape 3">
            <a:hlinkClick r:id="" action="ppaction://noaction" highlightClick="1"/>
          </p:cNvPr>
          <p:cNvSpPr>
            <a:spLocks noChangeArrowheads="1"/>
          </p:cNvSpPr>
          <p:nvPr/>
        </p:nvSpPr>
        <p:spPr bwMode="auto">
          <a:xfrm>
            <a:off x="1331913" y="836613"/>
            <a:ext cx="4106862"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body" idx="1"/>
          </p:nvPr>
        </p:nvSpPr>
        <p:spPr>
          <a:xfrm>
            <a:off x="395288" y="2017713"/>
            <a:ext cx="8280400" cy="4114800"/>
          </a:xfrm>
        </p:spPr>
        <p:txBody>
          <a:bodyPr/>
          <a:lstStyle/>
          <a:p>
            <a:pPr marL="0" indent="0" defTabSz="284480" eaLnBrk="1" hangingPunct="1">
              <a:buFont typeface="Wingdings" panose="05000000000000000000" pitchFamily="2" charset="2"/>
              <a:buNone/>
              <a:tabLst>
                <a:tab pos="450850" algn="l"/>
              </a:tabLst>
            </a:pPr>
            <a:r>
              <a:rPr lang="en-US" altLang="zh-CN" sz="2800" smtClean="0"/>
              <a:t>2) </a:t>
            </a:r>
            <a:r>
              <a:rPr lang="zh-CN" altLang="en-US" sz="2800" b="1" smtClean="0"/>
              <a:t>自底向上的增量方式</a:t>
            </a:r>
            <a:endParaRPr lang="zh-CN" altLang="en-US" sz="2800" b="1" smtClean="0"/>
          </a:p>
          <a:p>
            <a:pPr marL="0" indent="0" defTabSz="284480" eaLnBrk="1" hangingPunct="1">
              <a:tabLst>
                <a:tab pos="450850" algn="l"/>
              </a:tabLst>
            </a:pPr>
            <a:r>
              <a:rPr lang="zh-CN" altLang="en-US" sz="2400" b="1" smtClean="0"/>
              <a:t>自底向上的增量方式是从最底层的功能模块开始，边组合边测试，从下向上地完成整个程序结构的测试。例如，在图</a:t>
            </a:r>
            <a:r>
              <a:rPr lang="en-US" altLang="zh-CN" sz="2400" b="1" smtClean="0"/>
              <a:t>7.4</a:t>
            </a:r>
            <a:r>
              <a:rPr lang="zh-CN" altLang="en-US" sz="2400" b="1" smtClean="0"/>
              <a:t>所示的</a:t>
            </a:r>
            <a:r>
              <a:rPr lang="zh-CN" altLang="en-US" sz="2400" b="1" smtClean="0">
                <a:latin typeface="Arial" panose="020B0604020202020204" pitchFamily="34" charset="0"/>
              </a:rPr>
              <a:t>“</a:t>
            </a:r>
            <a:r>
              <a:rPr lang="zh-CN" altLang="en-US" sz="2400" b="1" smtClean="0"/>
              <a:t>新生基本信息管理</a:t>
            </a:r>
            <a:r>
              <a:rPr lang="zh-CN" altLang="en-US" sz="2400" b="1" smtClean="0">
                <a:latin typeface="Arial" panose="020B0604020202020204" pitchFamily="34" charset="0"/>
              </a:rPr>
              <a:t>”</a:t>
            </a:r>
            <a:r>
              <a:rPr lang="zh-CN" altLang="en-US" sz="2400" b="1" smtClean="0"/>
              <a:t>系统中，在单元测试的基础上，从最底层模块开始，按功能组合模块，从下到上的进行测试。这样的测试方式可以较早地发现底层关键性模块出现的错误。在测试时不需要编写桩模块，但需要驱动模块。另外，对程序中的主要控制错误发现较晚。 </a:t>
            </a:r>
            <a:endParaRPr lang="zh-CN" altLang="en-US" sz="2400" b="1" smtClean="0"/>
          </a:p>
        </p:txBody>
      </p:sp>
      <p:sp>
        <p:nvSpPr>
          <p:cNvPr id="84995" name="AutoShape 3">
            <a:hlinkClick r:id="" action="ppaction://noaction" highlightClick="1"/>
          </p:cNvPr>
          <p:cNvSpPr>
            <a:spLocks noChangeArrowheads="1"/>
          </p:cNvSpPr>
          <p:nvPr/>
        </p:nvSpPr>
        <p:spPr bwMode="auto">
          <a:xfrm>
            <a:off x="1331913" y="836613"/>
            <a:ext cx="4106862"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CN" altLang="en-US" smtClean="0">
                <a:solidFill>
                  <a:schemeClr val="bg1"/>
                </a:solidFill>
              </a:rPr>
              <a:t>集成测试</a:t>
            </a:r>
            <a:endParaRPr lang="zh-CN" altLang="en-US" smtClean="0">
              <a:solidFill>
                <a:schemeClr val="bg1"/>
              </a:solidFill>
            </a:endParaRPr>
          </a:p>
        </p:txBody>
      </p:sp>
      <p:sp>
        <p:nvSpPr>
          <p:cNvPr id="86019" name="Rectangle 3"/>
          <p:cNvSpPr>
            <a:spLocks noGrp="1" noChangeArrowheads="1"/>
          </p:cNvSpPr>
          <p:nvPr>
            <p:ph type="body" idx="1"/>
          </p:nvPr>
        </p:nvSpPr>
        <p:spPr>
          <a:xfrm>
            <a:off x="1042988" y="1628775"/>
            <a:ext cx="7772400" cy="4114800"/>
          </a:xfrm>
        </p:spPr>
        <p:txBody>
          <a:bodyPr/>
          <a:lstStyle/>
          <a:p>
            <a:pPr eaLnBrk="1" hangingPunct="1">
              <a:buClr>
                <a:schemeClr val="bg1"/>
              </a:buClr>
              <a:buFont typeface="Wingdings" panose="05000000000000000000" pitchFamily="2" charset="2"/>
              <a:buChar char="Ø"/>
            </a:pPr>
            <a:r>
              <a:rPr lang="en-US" altLang="zh-CN" smtClean="0">
                <a:solidFill>
                  <a:schemeClr val="tx1"/>
                </a:solidFill>
              </a:rPr>
              <a:t>  </a:t>
            </a:r>
            <a:r>
              <a:rPr lang="zh-CN" altLang="en-US" sz="2400" b="1" smtClean="0">
                <a:solidFill>
                  <a:schemeClr val="tx1"/>
                </a:solidFill>
                <a:ea typeface="隶书" pitchFamily="49" charset="-122"/>
              </a:rPr>
              <a:t>两种方法的比较</a:t>
            </a:r>
            <a:endParaRPr lang="zh-CN" altLang="en-US" sz="2400" b="1" smtClean="0">
              <a:solidFill>
                <a:schemeClr val="tx1"/>
              </a:solidFill>
              <a:ea typeface="隶书" pitchFamily="49" charset="-122"/>
            </a:endParaRPr>
          </a:p>
          <a:p>
            <a:pPr eaLnBrk="1" hangingPunct="1">
              <a:buClr>
                <a:schemeClr val="bg1"/>
              </a:buClr>
              <a:buFont typeface="Wingdings" panose="05000000000000000000" pitchFamily="2" charset="2"/>
              <a:buNone/>
            </a:pPr>
            <a:endParaRPr lang="en-US" altLang="zh-CN" sz="2400" smtClean="0">
              <a:solidFill>
                <a:schemeClr val="bg1"/>
              </a:solidFill>
              <a:ea typeface="隶书" pitchFamily="49" charset="-122"/>
            </a:endParaRPr>
          </a:p>
        </p:txBody>
      </p:sp>
      <p:sp>
        <p:nvSpPr>
          <p:cNvPr id="1734660" name="Rectangle 4"/>
          <p:cNvSpPr>
            <a:spLocks noChangeArrowheads="1"/>
          </p:cNvSpPr>
          <p:nvPr/>
        </p:nvSpPr>
        <p:spPr bwMode="auto">
          <a:xfrm>
            <a:off x="0" y="2708275"/>
            <a:ext cx="3940175" cy="3271838"/>
          </a:xfrm>
          <a:prstGeom prst="rect">
            <a:avLst/>
          </a:prstGeom>
          <a:noFill/>
          <a:ln w="6350">
            <a:noFill/>
            <a:miter lim="800000"/>
          </a:ln>
        </p:spPr>
        <p:txBody>
          <a:bodyPr lIns="0" tIns="0" rIns="0" bIns="0">
            <a:spAutoFit/>
          </a:bodyPr>
          <a:lstStyle/>
          <a:p>
            <a:pPr marL="190500" lvl="1" indent="266700">
              <a:spcBef>
                <a:spcPct val="20000"/>
              </a:spcBef>
              <a:buClr>
                <a:schemeClr val="hlink"/>
              </a:buClr>
              <a:buSzPct val="55000"/>
              <a:buFont typeface="Wingdings" panose="05000000000000000000" pitchFamily="2" charset="2"/>
              <a:buNone/>
              <a:tabLst>
                <a:tab pos="8521700" algn="r"/>
              </a:tabLst>
            </a:pPr>
            <a:endParaRPr lang="zh-CN" altLang="de-DE" sz="1800" b="1">
              <a:solidFill>
                <a:schemeClr val="bg1"/>
              </a:solidFill>
            </a:endParaRPr>
          </a:p>
          <a:p>
            <a:pPr marL="190500" lvl="1" indent="266700">
              <a:spcBef>
                <a:spcPct val="20000"/>
              </a:spcBef>
              <a:buClr>
                <a:schemeClr val="hlink"/>
              </a:buClr>
              <a:buSzPct val="55000"/>
              <a:buFont typeface="Wingdings" panose="05000000000000000000" pitchFamily="2" charset="2"/>
              <a:buNone/>
              <a:tabLst>
                <a:tab pos="8521700" algn="r"/>
              </a:tabLst>
            </a:pPr>
            <a:endParaRPr lang="zh-CN" altLang="de-DE" sz="1800" b="1">
              <a:solidFill>
                <a:schemeClr val="bg1"/>
              </a:solidFill>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de-DE" b="1">
                <a:latin typeface="隶书" pitchFamily="49" charset="-122"/>
                <a:ea typeface="隶书" pitchFamily="49" charset="-122"/>
              </a:rPr>
              <a:t>缺点：</a:t>
            </a:r>
            <a:endParaRPr lang="zh-CN" altLang="de-DE"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de-DE" altLang="zh-CN" b="1">
                <a:latin typeface="隶书" pitchFamily="49" charset="-122"/>
                <a:ea typeface="隶书" pitchFamily="49" charset="-122"/>
              </a:rPr>
              <a:t>1.</a:t>
            </a:r>
            <a:r>
              <a:rPr lang="zh-CN" altLang="en-US" b="1">
                <a:latin typeface="隶书" pitchFamily="49" charset="-122"/>
                <a:ea typeface="隶书" pitchFamily="49" charset="-122"/>
              </a:rPr>
              <a:t>需要驱动程序</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en-US" altLang="zh-CN" b="1">
                <a:latin typeface="隶书" pitchFamily="49" charset="-122"/>
                <a:ea typeface="隶书" pitchFamily="49" charset="-122"/>
              </a:rPr>
              <a:t>2.</a:t>
            </a:r>
            <a:r>
              <a:rPr lang="zh-CN" altLang="en-US" b="1">
                <a:latin typeface="隶书" pitchFamily="49" charset="-122"/>
                <a:ea typeface="隶书" pitchFamily="49" charset="-122"/>
              </a:rPr>
              <a:t>要在功能测试前进行大  </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  量测试</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sz="1800" b="1">
                <a:solidFill>
                  <a:srgbClr val="0A0A0E"/>
                </a:solidFill>
              </a:rPr>
              <a:t>              </a:t>
            </a:r>
            <a:r>
              <a:rPr lang="zh-CN" altLang="en-US" sz="3200">
                <a:solidFill>
                  <a:srgbClr val="0A0A0E"/>
                </a:solidFill>
              </a:rPr>
              <a:t> </a:t>
            </a:r>
            <a:endParaRPr lang="zh-CN" altLang="en-US" sz="1800" b="1">
              <a:solidFill>
                <a:srgbClr val="0A0A0E"/>
              </a:solidFill>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sz="1800">
                <a:solidFill>
                  <a:schemeClr val="bg1"/>
                </a:solidFill>
              </a:rPr>
              <a:t> </a:t>
            </a:r>
            <a:r>
              <a:rPr lang="de-DE" altLang="zh-CN" sz="1800">
                <a:solidFill>
                  <a:schemeClr val="bg1"/>
                </a:solidFill>
              </a:rPr>
              <a:t> </a:t>
            </a:r>
            <a:endParaRPr lang="de-DE" altLang="zh-CN" sz="1800">
              <a:solidFill>
                <a:schemeClr val="bg1"/>
              </a:solidFill>
            </a:endParaRPr>
          </a:p>
        </p:txBody>
      </p:sp>
      <p:sp>
        <p:nvSpPr>
          <p:cNvPr id="1734661" name="Rectangle 5"/>
          <p:cNvSpPr>
            <a:spLocks noChangeArrowheads="1"/>
          </p:cNvSpPr>
          <p:nvPr/>
        </p:nvSpPr>
        <p:spPr bwMode="auto">
          <a:xfrm>
            <a:off x="342900" y="2363788"/>
            <a:ext cx="3673475" cy="438150"/>
          </a:xfrm>
          <a:prstGeom prst="rect">
            <a:avLst/>
          </a:prstGeom>
          <a:solidFill>
            <a:schemeClr val="accent2"/>
          </a:solidFill>
          <a:ln w="6350">
            <a:noFill/>
            <a:miter lim="800000"/>
          </a:ln>
          <a:effectLst>
            <a:outerShdw dist="35921" dir="2700000" algn="ctr" rotWithShape="0">
              <a:schemeClr val="hlink"/>
            </a:outerShdw>
          </a:effectLst>
        </p:spPr>
        <p:txBody>
          <a:bodyPr lIns="0" tIns="0" rIns="0" bIns="0" anchor="ctr">
            <a:spAutoFit/>
          </a:bodyPr>
          <a:lstStyle/>
          <a:p>
            <a:pPr>
              <a:defRPr/>
            </a:pPr>
            <a:endParaRPr lang="zh-CN" altLang="en-US"/>
          </a:p>
        </p:txBody>
      </p:sp>
      <p:sp>
        <p:nvSpPr>
          <p:cNvPr id="86022" name="Text Box 6"/>
          <p:cNvSpPr txBox="1">
            <a:spLocks noChangeArrowheads="1"/>
          </p:cNvSpPr>
          <p:nvPr/>
        </p:nvSpPr>
        <p:spPr bwMode="auto">
          <a:xfrm>
            <a:off x="611188" y="2401888"/>
            <a:ext cx="3136900" cy="365125"/>
          </a:xfrm>
          <a:prstGeom prst="rect">
            <a:avLst/>
          </a:prstGeom>
          <a:noFill/>
          <a:ln w="6350">
            <a:noFill/>
            <a:miter lim="800000"/>
          </a:ln>
        </p:spPr>
        <p:txBody>
          <a:bodyPr lIns="0" tIns="0" rIns="0" bIns="0" anchor="ctr">
            <a:spAutoFit/>
          </a:bodyPr>
          <a:lstStyle/>
          <a:p>
            <a:pPr algn="ctr" eaLnBrk="0" hangingPunct="0"/>
            <a:r>
              <a:rPr lang="zh-CN" altLang="en-US" b="1">
                <a:latin typeface="Arial" panose="020B0604020202020204" pitchFamily="34" charset="0"/>
                <a:ea typeface="隶书" pitchFamily="49" charset="-122"/>
              </a:rPr>
              <a:t>自底向上测试</a:t>
            </a:r>
            <a:endParaRPr lang="zh-CN" altLang="en-US" b="1">
              <a:latin typeface="Arial" panose="020B0604020202020204" pitchFamily="34" charset="0"/>
              <a:ea typeface="隶书" pitchFamily="49" charset="-122"/>
            </a:endParaRPr>
          </a:p>
        </p:txBody>
      </p:sp>
      <p:sp>
        <p:nvSpPr>
          <p:cNvPr id="86023" name="Rectangle 7"/>
          <p:cNvSpPr>
            <a:spLocks noChangeArrowheads="1"/>
          </p:cNvSpPr>
          <p:nvPr/>
        </p:nvSpPr>
        <p:spPr bwMode="auto">
          <a:xfrm>
            <a:off x="342900" y="2900363"/>
            <a:ext cx="3673475" cy="3111500"/>
          </a:xfrm>
          <a:prstGeom prst="rect">
            <a:avLst/>
          </a:prstGeom>
          <a:noFill/>
          <a:ln w="6350">
            <a:solidFill>
              <a:schemeClr val="tx1"/>
            </a:solidFill>
            <a:miter lim="800000"/>
          </a:ln>
        </p:spPr>
        <p:txBody>
          <a:bodyPr lIns="0" tIns="0" rIns="0" bIns="0" anchor="ctr">
            <a:spAutoFit/>
          </a:bodyPr>
          <a:lstStyle/>
          <a:p>
            <a:endParaRPr lang="zh-CN" altLang="en-US"/>
          </a:p>
        </p:txBody>
      </p:sp>
      <p:sp>
        <p:nvSpPr>
          <p:cNvPr id="1734664" name="Rectangle 8"/>
          <p:cNvSpPr>
            <a:spLocks noChangeArrowheads="1"/>
          </p:cNvSpPr>
          <p:nvPr/>
        </p:nvSpPr>
        <p:spPr bwMode="auto">
          <a:xfrm>
            <a:off x="4859338" y="2276475"/>
            <a:ext cx="3937000" cy="3671888"/>
          </a:xfrm>
          <a:prstGeom prst="rect">
            <a:avLst/>
          </a:prstGeom>
          <a:noFill/>
          <a:ln w="6350">
            <a:noFill/>
            <a:miter lim="800000"/>
          </a:ln>
        </p:spPr>
        <p:txBody>
          <a:bodyPr lIns="0" tIns="0" rIns="0" bIns="0">
            <a:spAutoFit/>
          </a:bodyPr>
          <a:lstStyle/>
          <a:p>
            <a:pPr marL="190500" lvl="1" indent="266700">
              <a:spcBef>
                <a:spcPct val="20000"/>
              </a:spcBef>
              <a:buClr>
                <a:schemeClr val="hlink"/>
              </a:buClr>
              <a:buSzPct val="55000"/>
              <a:buFont typeface="Wingdings" panose="05000000000000000000" pitchFamily="2" charset="2"/>
              <a:buNone/>
              <a:tabLst>
                <a:tab pos="8521700" algn="r"/>
              </a:tabLst>
            </a:pPr>
            <a:endParaRPr lang="zh-CN" altLang="de-DE" sz="1800" b="1">
              <a:solidFill>
                <a:schemeClr val="bg1"/>
              </a:solidFill>
            </a:endParaRPr>
          </a:p>
          <a:p>
            <a:pPr marL="190500" lvl="1" indent="266700">
              <a:spcBef>
                <a:spcPct val="20000"/>
              </a:spcBef>
              <a:buClr>
                <a:schemeClr val="hlink"/>
              </a:buClr>
              <a:buSzPct val="55000"/>
              <a:buFont typeface="Wingdings" panose="05000000000000000000" pitchFamily="2" charset="2"/>
              <a:buNone/>
              <a:tabLst>
                <a:tab pos="8521700" algn="r"/>
              </a:tabLst>
            </a:pPr>
            <a:endParaRPr lang="zh-CN" altLang="de-DE" sz="1800" b="1">
              <a:solidFill>
                <a:schemeClr val="bg1"/>
              </a:solidFill>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de-DE" sz="1800" b="1">
                <a:solidFill>
                  <a:schemeClr val="bg1"/>
                </a:solidFill>
              </a:rPr>
              <a:t>     </a:t>
            </a:r>
            <a:r>
              <a:rPr lang="zh-CN" altLang="de-DE" b="1">
                <a:latin typeface="隶书" pitchFamily="49" charset="-122"/>
                <a:ea typeface="隶书" pitchFamily="49" charset="-122"/>
              </a:rPr>
              <a:t>缺点：</a:t>
            </a:r>
            <a:endParaRPr lang="zh-CN" altLang="de-DE"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de-DE" altLang="zh-CN" b="1">
                <a:latin typeface="隶书" pitchFamily="49" charset="-122"/>
                <a:ea typeface="隶书" pitchFamily="49" charset="-122"/>
              </a:rPr>
              <a:t>  1.</a:t>
            </a:r>
            <a:r>
              <a:rPr lang="zh-CN" altLang="de-DE" b="1">
                <a:latin typeface="隶书" pitchFamily="49" charset="-122"/>
                <a:ea typeface="隶书" pitchFamily="49" charset="-122"/>
              </a:rPr>
              <a:t>需</a:t>
            </a:r>
            <a:r>
              <a:rPr lang="zh-CN" altLang="en-US" b="1">
                <a:latin typeface="隶书" pitchFamily="49" charset="-122"/>
                <a:ea typeface="隶书" pitchFamily="49" charset="-122"/>
              </a:rPr>
              <a:t>专门编写程序模拟</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    模块</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  </a:t>
            </a:r>
            <a:r>
              <a:rPr lang="en-US" altLang="zh-CN" b="1">
                <a:latin typeface="隶书" pitchFamily="49" charset="-122"/>
                <a:ea typeface="隶书" pitchFamily="49" charset="-122"/>
              </a:rPr>
              <a:t>2.</a:t>
            </a:r>
            <a:r>
              <a:rPr lang="zh-CN" altLang="en-US" b="1">
                <a:latin typeface="隶书" pitchFamily="49" charset="-122"/>
                <a:ea typeface="隶书" pitchFamily="49" charset="-122"/>
              </a:rPr>
              <a:t>难以全面测试每个模</a:t>
            </a:r>
            <a:endParaRPr lang="zh-CN" altLang="en-US"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    块  </a:t>
            </a:r>
            <a:endParaRPr lang="zh-CN" altLang="de-DE"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de-DE" altLang="zh-CN" b="1">
                <a:latin typeface="隶书" pitchFamily="49" charset="-122"/>
                <a:ea typeface="隶书" pitchFamily="49" charset="-122"/>
              </a:rPr>
              <a:t>  3.</a:t>
            </a:r>
            <a:r>
              <a:rPr lang="zh-CN" altLang="de-DE" b="1">
                <a:latin typeface="隶书" pitchFamily="49" charset="-122"/>
                <a:ea typeface="隶书" pitchFamily="49" charset="-122"/>
              </a:rPr>
              <a:t>一些逻辑条件不能被</a:t>
            </a:r>
            <a:endParaRPr lang="zh-CN" altLang="de-DE" b="1">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de-DE" b="1">
                <a:latin typeface="隶书" pitchFamily="49" charset="-122"/>
                <a:ea typeface="隶书" pitchFamily="49" charset="-122"/>
              </a:rPr>
              <a:t>    测试</a:t>
            </a:r>
            <a:endParaRPr lang="de-DE" altLang="zh-CN" b="1">
              <a:latin typeface="隶书" pitchFamily="49" charset="-122"/>
              <a:ea typeface="隶书" pitchFamily="49" charset="-122"/>
            </a:endParaRPr>
          </a:p>
        </p:txBody>
      </p:sp>
      <p:sp>
        <p:nvSpPr>
          <p:cNvPr id="1734665" name="Rectangle 9"/>
          <p:cNvSpPr>
            <a:spLocks noChangeArrowheads="1"/>
          </p:cNvSpPr>
          <p:nvPr/>
        </p:nvSpPr>
        <p:spPr bwMode="auto">
          <a:xfrm>
            <a:off x="5200650" y="2363788"/>
            <a:ext cx="3673475" cy="438150"/>
          </a:xfrm>
          <a:prstGeom prst="rect">
            <a:avLst/>
          </a:prstGeom>
          <a:solidFill>
            <a:schemeClr val="accent2"/>
          </a:solidFill>
          <a:ln w="6350">
            <a:noFill/>
            <a:miter lim="800000"/>
          </a:ln>
          <a:effectLst>
            <a:outerShdw dist="35921" dir="2700000" algn="ctr" rotWithShape="0">
              <a:schemeClr val="hlink"/>
            </a:outerShdw>
          </a:effectLst>
        </p:spPr>
        <p:txBody>
          <a:bodyPr lIns="0" tIns="0" rIns="0" bIns="0" anchor="ctr">
            <a:spAutoFit/>
          </a:bodyPr>
          <a:lstStyle/>
          <a:p>
            <a:pPr>
              <a:defRPr/>
            </a:pPr>
            <a:endParaRPr lang="zh-CN" altLang="en-US"/>
          </a:p>
        </p:txBody>
      </p:sp>
      <p:sp>
        <p:nvSpPr>
          <p:cNvPr id="86026" name="Text Box 10"/>
          <p:cNvSpPr txBox="1">
            <a:spLocks noChangeArrowheads="1"/>
          </p:cNvSpPr>
          <p:nvPr/>
        </p:nvSpPr>
        <p:spPr bwMode="auto">
          <a:xfrm>
            <a:off x="5468938" y="2401888"/>
            <a:ext cx="3136900" cy="365125"/>
          </a:xfrm>
          <a:prstGeom prst="rect">
            <a:avLst/>
          </a:prstGeom>
          <a:noFill/>
          <a:ln w="6350">
            <a:noFill/>
            <a:miter lim="800000"/>
          </a:ln>
        </p:spPr>
        <p:txBody>
          <a:bodyPr lIns="0" tIns="0" rIns="0" bIns="0" anchor="ctr">
            <a:spAutoFit/>
          </a:bodyPr>
          <a:lstStyle/>
          <a:p>
            <a:pPr algn="ctr" eaLnBrk="0" hangingPunct="0"/>
            <a:r>
              <a:rPr lang="zh-CN" altLang="en-US" b="1">
                <a:latin typeface="Arial" panose="020B0604020202020204" pitchFamily="34" charset="0"/>
                <a:ea typeface="隶书" pitchFamily="49" charset="-122"/>
              </a:rPr>
              <a:t>自顶向上测试</a:t>
            </a:r>
            <a:endParaRPr lang="zh-CN" altLang="en-US" b="1">
              <a:latin typeface="Arial" panose="020B0604020202020204" pitchFamily="34" charset="0"/>
              <a:ea typeface="隶书" pitchFamily="49" charset="-122"/>
            </a:endParaRPr>
          </a:p>
        </p:txBody>
      </p:sp>
      <p:sp>
        <p:nvSpPr>
          <p:cNvPr id="86027" name="Rectangle 11"/>
          <p:cNvSpPr>
            <a:spLocks noChangeArrowheads="1"/>
          </p:cNvSpPr>
          <p:nvPr/>
        </p:nvSpPr>
        <p:spPr bwMode="auto">
          <a:xfrm>
            <a:off x="5200650" y="2900363"/>
            <a:ext cx="3673475" cy="3111500"/>
          </a:xfrm>
          <a:prstGeom prst="rect">
            <a:avLst/>
          </a:prstGeom>
          <a:noFill/>
          <a:ln w="6350">
            <a:solidFill>
              <a:schemeClr val="tx1"/>
            </a:solidFill>
            <a:miter lim="800000"/>
          </a:ln>
        </p:spPr>
        <p:txBody>
          <a:bodyPr lIns="0" tIns="0" rIns="0" bIns="0" anchor="ctr">
            <a:spAutoFit/>
          </a:bodyPr>
          <a:lstStyle/>
          <a:p>
            <a:endParaRPr lang="zh-CN" altLang="en-US"/>
          </a:p>
        </p:txBody>
      </p:sp>
      <p:sp>
        <p:nvSpPr>
          <p:cNvPr id="1734668" name="AutoShape 12"/>
          <p:cNvSpPr>
            <a:spLocks noChangeArrowheads="1"/>
          </p:cNvSpPr>
          <p:nvPr/>
        </p:nvSpPr>
        <p:spPr bwMode="auto">
          <a:xfrm>
            <a:off x="3635375" y="3573463"/>
            <a:ext cx="1841500" cy="749300"/>
          </a:xfrm>
          <a:prstGeom prst="homePlate">
            <a:avLst>
              <a:gd name="adj" fmla="val 12994"/>
            </a:avLst>
          </a:prstGeom>
          <a:solidFill>
            <a:schemeClr val="accent2"/>
          </a:solidFill>
          <a:ln w="6350">
            <a:noFill/>
            <a:miter lim="800000"/>
          </a:ln>
          <a:effectLst>
            <a:outerShdw dist="35921" dir="2700000" algn="ctr" rotWithShape="0">
              <a:schemeClr val="hlink"/>
            </a:outerShdw>
          </a:effectLst>
        </p:spPr>
        <p:txBody>
          <a:bodyPr lIns="0" tIns="0" rIns="0" bIns="0" anchor="ctr">
            <a:spAutoFit/>
          </a:bodyPr>
          <a:lstStyle/>
          <a:p>
            <a:pPr>
              <a:defRPr/>
            </a:pPr>
            <a:endParaRPr lang="zh-CN" altLang="en-US"/>
          </a:p>
        </p:txBody>
      </p:sp>
      <p:sp>
        <p:nvSpPr>
          <p:cNvPr id="1734669" name="AutoShape 13"/>
          <p:cNvSpPr>
            <a:spLocks noChangeArrowheads="1"/>
          </p:cNvSpPr>
          <p:nvPr/>
        </p:nvSpPr>
        <p:spPr bwMode="auto">
          <a:xfrm flipH="1">
            <a:off x="3638550" y="4584700"/>
            <a:ext cx="1841500" cy="749300"/>
          </a:xfrm>
          <a:prstGeom prst="homePlate">
            <a:avLst>
              <a:gd name="adj" fmla="val 12994"/>
            </a:avLst>
          </a:prstGeom>
          <a:solidFill>
            <a:schemeClr val="accent2"/>
          </a:solidFill>
          <a:ln w="6350">
            <a:noFill/>
            <a:miter lim="800000"/>
          </a:ln>
          <a:effectLst>
            <a:outerShdw dist="35921" dir="2700000" algn="ctr" rotWithShape="0">
              <a:schemeClr val="hlink"/>
            </a:outerShdw>
          </a:effectLst>
        </p:spPr>
        <p:txBody>
          <a:bodyPr lIns="0" tIns="0" rIns="0" bIns="0" anchor="ctr">
            <a:spAutoFit/>
          </a:bodyPr>
          <a:lstStyle/>
          <a:p>
            <a:pPr>
              <a:defRPr/>
            </a:pPr>
            <a:endParaRPr lang="zh-CN" altLang="en-US"/>
          </a:p>
        </p:txBody>
      </p:sp>
      <p:sp>
        <p:nvSpPr>
          <p:cNvPr id="86030" name="Text Box 14"/>
          <p:cNvSpPr txBox="1">
            <a:spLocks noChangeArrowheads="1"/>
          </p:cNvSpPr>
          <p:nvPr/>
        </p:nvSpPr>
        <p:spPr bwMode="auto">
          <a:xfrm>
            <a:off x="4213225" y="3851275"/>
            <a:ext cx="1577975" cy="365125"/>
          </a:xfrm>
          <a:prstGeom prst="rect">
            <a:avLst/>
          </a:prstGeom>
          <a:noFill/>
          <a:ln w="6350">
            <a:noFill/>
            <a:miter lim="800000"/>
          </a:ln>
        </p:spPr>
        <p:txBody>
          <a:bodyPr lIns="0" tIns="0" rIns="0" bIns="0" anchor="ctr">
            <a:spAutoFit/>
          </a:bodyPr>
          <a:lstStyle/>
          <a:p>
            <a:pPr eaLnBrk="0" hangingPunct="0"/>
            <a:r>
              <a:rPr kumimoji="1" lang="en-US" altLang="zh-CN" sz="1800" b="1">
                <a:solidFill>
                  <a:schemeClr val="bg1"/>
                </a:solidFill>
                <a:latin typeface="Arial" panose="020B0604020202020204" pitchFamily="34" charset="0"/>
              </a:rPr>
              <a:t>  </a:t>
            </a:r>
            <a:r>
              <a:rPr kumimoji="1" lang="zh-CN" altLang="en-US" b="1">
                <a:latin typeface="Arial" panose="020B0604020202020204" pitchFamily="34" charset="0"/>
                <a:ea typeface="隶书" pitchFamily="49" charset="-122"/>
              </a:rPr>
              <a:t>缺点</a:t>
            </a:r>
            <a:endParaRPr kumimoji="1" lang="zh-CN" altLang="en-US" b="1">
              <a:latin typeface="Arial" panose="020B0604020202020204" pitchFamily="34" charset="0"/>
              <a:ea typeface="隶书" pitchFamily="49" charset="-122"/>
            </a:endParaRPr>
          </a:p>
        </p:txBody>
      </p:sp>
      <p:sp>
        <p:nvSpPr>
          <p:cNvPr id="86031" name="Text Box 15"/>
          <p:cNvSpPr txBox="1">
            <a:spLocks noChangeArrowheads="1"/>
          </p:cNvSpPr>
          <p:nvPr/>
        </p:nvSpPr>
        <p:spPr bwMode="auto">
          <a:xfrm>
            <a:off x="3851275" y="4778375"/>
            <a:ext cx="1577975" cy="365125"/>
          </a:xfrm>
          <a:prstGeom prst="rect">
            <a:avLst/>
          </a:prstGeom>
          <a:noFill/>
          <a:ln w="6350">
            <a:noFill/>
            <a:miter lim="800000"/>
          </a:ln>
        </p:spPr>
        <p:txBody>
          <a:bodyPr lIns="0" tIns="0" rIns="0" bIns="0" anchor="ctr">
            <a:spAutoFit/>
          </a:bodyPr>
          <a:lstStyle/>
          <a:p>
            <a:pPr eaLnBrk="0" hangingPunct="0"/>
            <a:r>
              <a:rPr kumimoji="1" lang="en-US" altLang="zh-CN" sz="1200" b="1">
                <a:solidFill>
                  <a:srgbClr val="000000"/>
                </a:solidFill>
                <a:latin typeface="Arial" panose="020B0604020202020204" pitchFamily="34" charset="0"/>
              </a:rPr>
              <a:t>           </a:t>
            </a:r>
            <a:r>
              <a:rPr kumimoji="1" lang="zh-CN" altLang="en-US" b="1">
                <a:latin typeface="Arial" panose="020B0604020202020204" pitchFamily="34" charset="0"/>
                <a:ea typeface="隶书" pitchFamily="49" charset="-122"/>
              </a:rPr>
              <a:t>比较</a:t>
            </a:r>
            <a:endParaRPr kumimoji="1" lang="zh-CN" altLang="en-US" b="1">
              <a:latin typeface="Arial" panose="020B0604020202020204" pitchFamily="34" charset="0"/>
              <a:ea typeface="隶书" pitchFamily="49" charset="-122"/>
            </a:endParaRPr>
          </a:p>
        </p:txBody>
      </p:sp>
      <p:sp>
        <p:nvSpPr>
          <p:cNvPr id="86032" name="Text Box 16"/>
          <p:cNvSpPr txBox="1">
            <a:spLocks noChangeArrowheads="1"/>
          </p:cNvSpPr>
          <p:nvPr/>
        </p:nvSpPr>
        <p:spPr bwMode="auto">
          <a:xfrm>
            <a:off x="1835150" y="981075"/>
            <a:ext cx="4537075" cy="641350"/>
          </a:xfrm>
          <a:prstGeom prst="rect">
            <a:avLst/>
          </a:prstGeom>
          <a:noFill/>
          <a:ln w="9525" algn="ctr">
            <a:noFill/>
            <a:miter lim="800000"/>
          </a:ln>
        </p:spPr>
        <p:txBody>
          <a:bodyPr lIns="90000" tIns="46800" rIns="90000" bIns="46800">
            <a:spAutoFit/>
          </a:bodyPr>
          <a:lstStyle/>
          <a:p>
            <a:pPr>
              <a:spcBef>
                <a:spcPct val="50000"/>
              </a:spcBef>
            </a:pPr>
            <a:r>
              <a:rPr lang="zh-CN" altLang="en-US" sz="3600" b="1"/>
              <a:t>集成测试</a:t>
            </a:r>
            <a:endParaRPr lang="zh-CN" altLang="en-US" sz="3600" b="1"/>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34660">
                                            <p:txEl>
                                              <p:pRg st="3" end="3"/>
                                            </p:txEl>
                                          </p:spTgt>
                                        </p:tgtEl>
                                        <p:attrNameLst>
                                          <p:attrName>style.visibility</p:attrName>
                                        </p:attrNameLst>
                                      </p:cBhvr>
                                      <p:to>
                                        <p:strVal val="visible"/>
                                      </p:to>
                                    </p:set>
                                    <p:animEffect transition="in" filter="blinds(horizontal)">
                                      <p:cBhvr>
                                        <p:cTn id="7" dur="500"/>
                                        <p:tgtEl>
                                          <p:spTgt spid="1734660">
                                            <p:txEl>
                                              <p:pRg st="3" end="3"/>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34660">
                                            <p:txEl>
                                              <p:pRg st="4" end="4"/>
                                            </p:txEl>
                                          </p:spTgt>
                                        </p:tgtEl>
                                        <p:attrNameLst>
                                          <p:attrName>style.visibility</p:attrName>
                                        </p:attrNameLst>
                                      </p:cBhvr>
                                      <p:to>
                                        <p:strVal val="visible"/>
                                      </p:to>
                                    </p:set>
                                    <p:animEffect transition="in" filter="blinds(horizontal)">
                                      <p:cBhvr>
                                        <p:cTn id="11" dur="500"/>
                                        <p:tgtEl>
                                          <p:spTgt spid="1734660">
                                            <p:txEl>
                                              <p:pRg st="4" end="4"/>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34660">
                                            <p:txEl>
                                              <p:pRg st="5" end="5"/>
                                            </p:txEl>
                                          </p:spTgt>
                                        </p:tgtEl>
                                        <p:attrNameLst>
                                          <p:attrName>style.visibility</p:attrName>
                                        </p:attrNameLst>
                                      </p:cBhvr>
                                      <p:to>
                                        <p:strVal val="visible"/>
                                      </p:to>
                                    </p:set>
                                    <p:animEffect transition="in" filter="blinds(horizontal)">
                                      <p:cBhvr>
                                        <p:cTn id="15" dur="500"/>
                                        <p:tgtEl>
                                          <p:spTgt spid="1734660">
                                            <p:txEl>
                                              <p:pRg st="5" end="5"/>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34664">
                                            <p:txEl>
                                              <p:pRg st="3" end="3"/>
                                            </p:txEl>
                                          </p:spTgt>
                                        </p:tgtEl>
                                        <p:attrNameLst>
                                          <p:attrName>style.visibility</p:attrName>
                                        </p:attrNameLst>
                                      </p:cBhvr>
                                      <p:to>
                                        <p:strVal val="visible"/>
                                      </p:to>
                                    </p:set>
                                    <p:animEffect transition="in" filter="blinds(horizontal)">
                                      <p:cBhvr>
                                        <p:cTn id="19" dur="500"/>
                                        <p:tgtEl>
                                          <p:spTgt spid="1734664">
                                            <p:txEl>
                                              <p:pRg st="3" end="3"/>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734664">
                                            <p:txEl>
                                              <p:pRg st="4" end="4"/>
                                            </p:txEl>
                                          </p:spTgt>
                                        </p:tgtEl>
                                        <p:attrNameLst>
                                          <p:attrName>style.visibility</p:attrName>
                                        </p:attrNameLst>
                                      </p:cBhvr>
                                      <p:to>
                                        <p:strVal val="visible"/>
                                      </p:to>
                                    </p:set>
                                    <p:animEffect transition="in" filter="blinds(horizontal)">
                                      <p:cBhvr>
                                        <p:cTn id="23" dur="500"/>
                                        <p:tgtEl>
                                          <p:spTgt spid="1734664">
                                            <p:txEl>
                                              <p:pRg st="4" end="4"/>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734664">
                                            <p:txEl>
                                              <p:pRg st="5" end="5"/>
                                            </p:txEl>
                                          </p:spTgt>
                                        </p:tgtEl>
                                        <p:attrNameLst>
                                          <p:attrName>style.visibility</p:attrName>
                                        </p:attrNameLst>
                                      </p:cBhvr>
                                      <p:to>
                                        <p:strVal val="visible"/>
                                      </p:to>
                                    </p:set>
                                    <p:animEffect transition="in" filter="blinds(horizontal)">
                                      <p:cBhvr>
                                        <p:cTn id="27" dur="500"/>
                                        <p:tgtEl>
                                          <p:spTgt spid="1734664">
                                            <p:txEl>
                                              <p:pRg st="5" end="5"/>
                                            </p:txEl>
                                          </p:spTgt>
                                        </p:tgtEl>
                                      </p:cBhvr>
                                    </p:animEffect>
                                  </p:childTnLst>
                                </p:cTn>
                              </p:par>
                            </p:childTnLst>
                          </p:cTn>
                        </p:par>
                        <p:par>
                          <p:cTn id="28" fill="hold">
                            <p:stCondLst>
                              <p:cond delay="3000"/>
                            </p:stCondLst>
                            <p:childTnLst>
                              <p:par>
                                <p:cTn id="29" presetID="3" presetClass="entr" presetSubtype="10" fill="hold" nodeType="afterEffect">
                                  <p:stCondLst>
                                    <p:cond delay="0"/>
                                  </p:stCondLst>
                                  <p:childTnLst>
                                    <p:set>
                                      <p:cBhvr>
                                        <p:cTn id="30" dur="1" fill="hold">
                                          <p:stCondLst>
                                            <p:cond delay="0"/>
                                          </p:stCondLst>
                                        </p:cTn>
                                        <p:tgtEl>
                                          <p:spTgt spid="1734664">
                                            <p:txEl>
                                              <p:pRg st="6" end="6"/>
                                            </p:txEl>
                                          </p:spTgt>
                                        </p:tgtEl>
                                        <p:attrNameLst>
                                          <p:attrName>style.visibility</p:attrName>
                                        </p:attrNameLst>
                                      </p:cBhvr>
                                      <p:to>
                                        <p:strVal val="visible"/>
                                      </p:to>
                                    </p:set>
                                    <p:animEffect transition="in" filter="blinds(horizontal)">
                                      <p:cBhvr>
                                        <p:cTn id="31" dur="500"/>
                                        <p:tgtEl>
                                          <p:spTgt spid="1734664">
                                            <p:txEl>
                                              <p:pRg st="6" end="6"/>
                                            </p:txEl>
                                          </p:spTgt>
                                        </p:tgtEl>
                                      </p:cBhvr>
                                    </p:animEffect>
                                  </p:childTnLst>
                                </p:cTn>
                              </p:par>
                            </p:childTnLst>
                          </p:cTn>
                        </p:par>
                        <p:par>
                          <p:cTn id="32" fill="hold">
                            <p:stCondLst>
                              <p:cond delay="3500"/>
                            </p:stCondLst>
                            <p:childTnLst>
                              <p:par>
                                <p:cTn id="33" presetID="3" presetClass="entr" presetSubtype="10" fill="hold" nodeType="afterEffect">
                                  <p:stCondLst>
                                    <p:cond delay="0"/>
                                  </p:stCondLst>
                                  <p:childTnLst>
                                    <p:set>
                                      <p:cBhvr>
                                        <p:cTn id="34" dur="1" fill="hold">
                                          <p:stCondLst>
                                            <p:cond delay="0"/>
                                          </p:stCondLst>
                                        </p:cTn>
                                        <p:tgtEl>
                                          <p:spTgt spid="1734664">
                                            <p:txEl>
                                              <p:pRg st="7" end="7"/>
                                            </p:txEl>
                                          </p:spTgt>
                                        </p:tgtEl>
                                        <p:attrNameLst>
                                          <p:attrName>style.visibility</p:attrName>
                                        </p:attrNameLst>
                                      </p:cBhvr>
                                      <p:to>
                                        <p:strVal val="visible"/>
                                      </p:to>
                                    </p:set>
                                    <p:animEffect transition="in" filter="blinds(horizontal)">
                                      <p:cBhvr>
                                        <p:cTn id="35" dur="500"/>
                                        <p:tgtEl>
                                          <p:spTgt spid="1734664">
                                            <p:txEl>
                                              <p:pRg st="7" end="7"/>
                                            </p:txEl>
                                          </p:spTgt>
                                        </p:tgtEl>
                                      </p:cBhvr>
                                    </p:animEffect>
                                  </p:childTnLst>
                                </p:cTn>
                              </p:par>
                            </p:childTnLst>
                          </p:cTn>
                        </p:par>
                        <p:par>
                          <p:cTn id="36" fill="hold">
                            <p:stCondLst>
                              <p:cond delay="4000"/>
                            </p:stCondLst>
                            <p:childTnLst>
                              <p:par>
                                <p:cTn id="37" presetID="3" presetClass="entr" presetSubtype="10" fill="hold" nodeType="afterEffect">
                                  <p:stCondLst>
                                    <p:cond delay="0"/>
                                  </p:stCondLst>
                                  <p:childTnLst>
                                    <p:set>
                                      <p:cBhvr>
                                        <p:cTn id="38" dur="1" fill="hold">
                                          <p:stCondLst>
                                            <p:cond delay="0"/>
                                          </p:stCondLst>
                                        </p:cTn>
                                        <p:tgtEl>
                                          <p:spTgt spid="1734664">
                                            <p:txEl>
                                              <p:pRg st="8" end="8"/>
                                            </p:txEl>
                                          </p:spTgt>
                                        </p:tgtEl>
                                        <p:attrNameLst>
                                          <p:attrName>style.visibility</p:attrName>
                                        </p:attrNameLst>
                                      </p:cBhvr>
                                      <p:to>
                                        <p:strVal val="visible"/>
                                      </p:to>
                                    </p:set>
                                    <p:animEffect transition="in" filter="blinds(horizontal)">
                                      <p:cBhvr>
                                        <p:cTn id="39" dur="500"/>
                                        <p:tgtEl>
                                          <p:spTgt spid="173466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type="body" idx="1"/>
          </p:nvPr>
        </p:nvSpPr>
        <p:spPr>
          <a:xfrm>
            <a:off x="323850" y="1844675"/>
            <a:ext cx="8496300" cy="4287838"/>
          </a:xfrm>
        </p:spPr>
        <p:txBody>
          <a:bodyPr/>
          <a:lstStyle/>
          <a:p>
            <a:pPr marL="0" indent="0" algn="just" defTabSz="284480" eaLnBrk="1" hangingPunct="1">
              <a:buFont typeface="Wingdings" panose="05000000000000000000" pitchFamily="2" charset="2"/>
              <a:buNone/>
              <a:tabLst>
                <a:tab pos="450850" algn="l"/>
              </a:tabLst>
            </a:pPr>
            <a:r>
              <a:rPr lang="zh-CN" altLang="en-US" b="1" smtClean="0"/>
              <a:t>确认测试</a:t>
            </a:r>
            <a:endParaRPr lang="zh-CN" altLang="en-US" b="1" smtClean="0">
              <a:cs typeface="Times New Roman" panose="02020603050405020304" pitchFamily="18" charset="0"/>
            </a:endParaRPr>
          </a:p>
          <a:p>
            <a:pPr marL="274955" lvl="1" indent="0" algn="just" defTabSz="284480" eaLnBrk="1" hangingPunct="1">
              <a:spcBef>
                <a:spcPct val="25000"/>
              </a:spcBef>
              <a:buFont typeface="Wingdings" panose="05000000000000000000" pitchFamily="2" charset="2"/>
              <a:buNone/>
              <a:tabLst>
                <a:tab pos="450850" algn="l"/>
              </a:tabLst>
            </a:pPr>
            <a:r>
              <a:rPr lang="zh-CN" altLang="en-US" sz="2400" b="1" smtClean="0">
                <a:latin typeface="Times New Roman" panose="02020603050405020304" pitchFamily="18" charset="0"/>
              </a:rPr>
              <a:t>通过集成测试后，软件已完全组装起来，接口方面的错误也已排除，确认测试即可开始。确认测试应检查软件能否按合同要求进行工作，即是否满足系统说明书中的确认标准。首先要进行有效性测试以及软件配置评审，然后进行验收测试和安装测试，在通过了鉴定之后，才能成为可交付的软件。</a:t>
            </a:r>
            <a:endParaRPr lang="zh-CN" altLang="en-US" sz="2400" b="1" smtClean="0">
              <a:latin typeface="Times New Roman" panose="02020603050405020304" pitchFamily="18" charset="0"/>
            </a:endParaRPr>
          </a:p>
          <a:p>
            <a:pPr marL="274955" lvl="1" indent="0" algn="just" defTabSz="284480" eaLnBrk="1" hangingPunct="1">
              <a:spcBef>
                <a:spcPct val="25000"/>
              </a:spcBef>
              <a:buFont typeface="Wingdings" panose="05000000000000000000" pitchFamily="2" charset="2"/>
              <a:buNone/>
              <a:tabLst>
                <a:tab pos="450850" algn="l"/>
              </a:tabLst>
            </a:pPr>
            <a:r>
              <a:rPr lang="zh-CN" altLang="en-US" sz="2400" b="1" smtClean="0">
                <a:latin typeface="Times New Roman" panose="02020603050405020304" pitchFamily="18" charset="0"/>
              </a:rPr>
              <a:t>确认测试的步骤：</a:t>
            </a:r>
            <a:endParaRPr lang="zh-CN" altLang="en-US" sz="2400" b="1" smtClean="0">
              <a:latin typeface="Times New Roman" panose="02020603050405020304" pitchFamily="18" charset="0"/>
            </a:endParaRPr>
          </a:p>
        </p:txBody>
      </p:sp>
      <p:sp>
        <p:nvSpPr>
          <p:cNvPr id="87043" name="AutoShape 4">
            <a:hlinkClick r:id="" action="ppaction://noaction" highlightClick="1"/>
          </p:cNvPr>
          <p:cNvSpPr>
            <a:spLocks noChangeArrowheads="1"/>
          </p:cNvSpPr>
          <p:nvPr/>
        </p:nvSpPr>
        <p:spPr bwMode="auto">
          <a:xfrm>
            <a:off x="1331913" y="908050"/>
            <a:ext cx="4106862"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pic>
        <p:nvPicPr>
          <p:cNvPr id="1576966" name="Picture 6" descr="确认测试的步骤"/>
          <p:cNvPicPr>
            <a:picLocks noChangeAspect="1" noChangeArrowheads="1"/>
          </p:cNvPicPr>
          <p:nvPr/>
        </p:nvPicPr>
        <p:blipFill>
          <a:blip r:embed="rId1" cstate="print"/>
          <a:srcRect/>
          <a:stretch>
            <a:fillRect/>
          </a:stretch>
        </p:blipFill>
        <p:spPr bwMode="auto">
          <a:xfrm>
            <a:off x="468313" y="1916113"/>
            <a:ext cx="8353425" cy="3573462"/>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76966"/>
                                        </p:tgtEl>
                                        <p:attrNameLst>
                                          <p:attrName>style.visibility</p:attrName>
                                        </p:attrNameLst>
                                      </p:cBhvr>
                                      <p:to>
                                        <p:strVal val="visible"/>
                                      </p:to>
                                    </p:set>
                                    <p:anim calcmode="lin" valueType="num">
                                      <p:cBhvr additive="base">
                                        <p:cTn id="7" dur="500" fill="hold"/>
                                        <p:tgtEl>
                                          <p:spTgt spid="1576966"/>
                                        </p:tgtEl>
                                        <p:attrNameLst>
                                          <p:attrName>ppt_x</p:attrName>
                                        </p:attrNameLst>
                                      </p:cBhvr>
                                      <p:tavLst>
                                        <p:tav tm="0">
                                          <p:val>
                                            <p:strVal val="#ppt_x"/>
                                          </p:val>
                                        </p:tav>
                                        <p:tav tm="100000">
                                          <p:val>
                                            <p:strVal val="#ppt_x"/>
                                          </p:val>
                                        </p:tav>
                                      </p:tavLst>
                                    </p:anim>
                                    <p:anim calcmode="lin" valueType="num">
                                      <p:cBhvr additive="base">
                                        <p:cTn id="8" dur="500" fill="hold"/>
                                        <p:tgtEl>
                                          <p:spTgt spid="15769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p:cNvSpPr>
            <a:spLocks noGrp="1" noChangeArrowheads="1"/>
          </p:cNvSpPr>
          <p:nvPr>
            <p:ph type="body" idx="1"/>
          </p:nvPr>
        </p:nvSpPr>
        <p:spPr>
          <a:xfrm>
            <a:off x="323850" y="1773238"/>
            <a:ext cx="8820150" cy="4114800"/>
          </a:xfrm>
        </p:spPr>
        <p:txBody>
          <a:bodyPr/>
          <a:lstStyle/>
          <a:p>
            <a:pPr marL="0" indent="0" defTabSz="284480" eaLnBrk="1" hangingPunct="1">
              <a:buFont typeface="Wingdings" panose="05000000000000000000" pitchFamily="2" charset="2"/>
              <a:buNone/>
              <a:tabLst>
                <a:tab pos="450850" algn="l"/>
              </a:tabLst>
            </a:pPr>
            <a:r>
              <a:rPr lang="en-US" altLang="zh-CN" sz="2400" smtClean="0"/>
              <a:t>1</a:t>
            </a:r>
            <a:r>
              <a:rPr lang="en-US" altLang="zh-CN" sz="2400" b="1" smtClean="0"/>
              <a:t>) </a:t>
            </a:r>
            <a:r>
              <a:rPr lang="zh-CN" altLang="en-US" sz="2400" b="1" smtClean="0"/>
              <a:t>确认测试标准</a:t>
            </a:r>
            <a:endParaRPr lang="zh-CN" altLang="en-US" sz="2400" b="1" smtClean="0"/>
          </a:p>
          <a:p>
            <a:pPr marL="0" indent="0" defTabSz="284480" eaLnBrk="1" hangingPunct="1">
              <a:tabLst>
                <a:tab pos="450850" algn="l"/>
              </a:tabLst>
            </a:pPr>
            <a:r>
              <a:rPr lang="zh-CN" altLang="en-US" sz="2400" b="1" smtClean="0"/>
              <a:t>实现软件确认要通过一系列黑盒测试。确认测试同样需要制订测试计划和过程，测试计划应规定测试的种类和测试进度，测试过程则定义一些特殊的测试用例，旨在说明软件与需求是否一致。无论是计划还是过程，都应该着重考虑软件是否满足合同规定的所有功能和性能，文档资料是否完整、准确，人机界面和其他方面（例如，可移植性、兼容性、错误恢复能力和可维护性等）是否令用户满意。</a:t>
            </a:r>
            <a:endParaRPr lang="zh-CN" altLang="en-US" sz="2400" b="1" smtClean="0"/>
          </a:p>
          <a:p>
            <a:pPr marL="0" indent="0" defTabSz="284480" eaLnBrk="1" hangingPunct="1">
              <a:tabLst>
                <a:tab pos="450850" algn="l"/>
              </a:tabLst>
            </a:pPr>
            <a:r>
              <a:rPr lang="zh-CN" altLang="en-US" sz="2400" b="1" smtClean="0"/>
              <a:t>确认测试的结果有两种可能，一种是功能和性能指标满足软件需求说明的要求，用户可以接受；另一种是软件不满足软件需求说明的要求，用户无法接受。项目进行到这个阶段才发现严重错误和偏差一般很难在预定的工期内改正，因此必须与用户协商，寻求一个妥善解决问题的方法。</a:t>
            </a:r>
            <a:endParaRPr lang="zh-CN" altLang="en-US" sz="2400" b="1" smtClean="0"/>
          </a:p>
        </p:txBody>
      </p:sp>
      <p:sp>
        <p:nvSpPr>
          <p:cNvPr id="88067" name="AutoShape 4">
            <a:hlinkClick r:id="" action="ppaction://noaction" highlightClick="1"/>
          </p:cNvPr>
          <p:cNvSpPr>
            <a:spLocks noChangeArrowheads="1"/>
          </p:cNvSpPr>
          <p:nvPr/>
        </p:nvSpPr>
        <p:spPr bwMode="auto">
          <a:xfrm>
            <a:off x="1187450" y="908050"/>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en-US" altLang="zh-CN" sz="3600" b="1">
                <a:solidFill>
                  <a:srgbClr val="0A0A0E"/>
                </a:solidFill>
                <a:latin typeface="Times New Roman" panose="02020603050405020304" pitchFamily="18" charset="0"/>
              </a:rPr>
              <a:t>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body" idx="1"/>
          </p:nvPr>
        </p:nvSpPr>
        <p:spPr>
          <a:xfrm>
            <a:off x="539750" y="2133600"/>
            <a:ext cx="8208963" cy="4287838"/>
          </a:xfrm>
        </p:spPr>
        <p:txBody>
          <a:bodyPr/>
          <a:lstStyle/>
          <a:p>
            <a:pPr marL="0" indent="0" defTabSz="284480" eaLnBrk="1" hangingPunct="1">
              <a:buFont typeface="Wingdings" panose="05000000000000000000" pitchFamily="2" charset="2"/>
              <a:buNone/>
              <a:tabLst>
                <a:tab pos="450850" algn="l"/>
              </a:tabLst>
            </a:pPr>
            <a:r>
              <a:rPr lang="en-US" altLang="zh-CN" sz="2800" b="1" smtClean="0"/>
              <a:t>2) </a:t>
            </a:r>
            <a:r>
              <a:rPr lang="zh-CN" altLang="en-US" sz="2800" b="1" smtClean="0"/>
              <a:t>配置复审</a:t>
            </a:r>
            <a:endParaRPr lang="zh-CN" altLang="en-US" sz="2800" b="1" smtClean="0"/>
          </a:p>
          <a:p>
            <a:pPr marL="0" indent="0" defTabSz="284480" eaLnBrk="1" hangingPunct="1">
              <a:tabLst>
                <a:tab pos="450850" algn="l"/>
              </a:tabLst>
            </a:pPr>
            <a:r>
              <a:rPr lang="zh-CN" altLang="en-US" sz="2800" b="1" smtClean="0"/>
              <a:t>确认测试的另一个重要环节是配置复审。复审的目的在于保证软件配置齐全、分类有序，并且包括软件维护所必须的细节。</a:t>
            </a:r>
            <a:endParaRPr lang="zh-CN" altLang="en-US" sz="2800" b="1" smtClean="0"/>
          </a:p>
        </p:txBody>
      </p:sp>
      <p:sp>
        <p:nvSpPr>
          <p:cNvPr id="89091" name="AutoShape 3">
            <a:hlinkClick r:id="" action="ppaction://noaction" highlightClick="1"/>
          </p:cNvPr>
          <p:cNvSpPr>
            <a:spLocks noChangeArrowheads="1"/>
          </p:cNvSpPr>
          <p:nvPr/>
        </p:nvSpPr>
        <p:spPr bwMode="auto">
          <a:xfrm>
            <a:off x="1187450" y="908050"/>
            <a:ext cx="4106863"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US" altLang="zh-CN" sz="3600" b="1" smtClean="0">
                <a:solidFill>
                  <a:srgbClr val="0A0A0E"/>
                </a:solidFill>
                <a:latin typeface="宋体" panose="02010600030101010101" pitchFamily="2" charset="-122"/>
              </a:rPr>
              <a:t>3.</a:t>
            </a:r>
            <a:r>
              <a:rPr lang="zh-CN" altLang="en-US" sz="3600" b="1" smtClean="0">
                <a:solidFill>
                  <a:srgbClr val="0A0A0E"/>
                </a:solidFill>
                <a:latin typeface="宋体" panose="02010600030101010101" pitchFamily="2" charset="-122"/>
              </a:rPr>
              <a:t>软件测试步骤</a:t>
            </a:r>
            <a:endParaRPr lang="zh-CN" altLang="en-US" sz="3600" b="1" smtClean="0">
              <a:solidFill>
                <a:srgbClr val="0A0A0E"/>
              </a:solidFill>
              <a:latin typeface="宋体" panose="02010600030101010101" pitchFamily="2" charset="-122"/>
            </a:endParaRPr>
          </a:p>
        </p:txBody>
      </p:sp>
      <p:sp>
        <p:nvSpPr>
          <p:cNvPr id="190467" name="Rectangle 3"/>
          <p:cNvSpPr>
            <a:spLocks noGrp="1" noChangeArrowheads="1"/>
          </p:cNvSpPr>
          <p:nvPr>
            <p:ph type="body" idx="1"/>
          </p:nvPr>
        </p:nvSpPr>
        <p:spPr>
          <a:xfrm>
            <a:off x="468313" y="1989138"/>
            <a:ext cx="7988300" cy="4114800"/>
          </a:xfrm>
        </p:spPr>
        <p:txBody>
          <a:bodyPr/>
          <a:lstStyle/>
          <a:p>
            <a:pPr>
              <a:buClr>
                <a:srgbClr val="003366"/>
              </a:buClr>
            </a:pPr>
            <a:r>
              <a:rPr lang="zh-CN" altLang="en-US" b="1" smtClean="0">
                <a:sym typeface="Symbol" panose="05050102010706020507" pitchFamily="18" charset="2"/>
              </a:rPr>
              <a:t></a:t>
            </a:r>
            <a:r>
              <a:rPr lang="zh-CN" altLang="en-US" b="1" smtClean="0"/>
              <a:t>测试：由用户</a:t>
            </a:r>
            <a:r>
              <a:rPr lang="zh-CN" altLang="en-US" b="1" u="sng" smtClean="0">
                <a:solidFill>
                  <a:schemeClr val="hlink"/>
                </a:solidFill>
              </a:rPr>
              <a:t>在开发环境下模拟</a:t>
            </a:r>
            <a:r>
              <a:rPr lang="zh-CN" altLang="en-US" b="1" smtClean="0"/>
              <a:t>实际操作环境运行程序系统</a:t>
            </a:r>
            <a:endParaRPr lang="zh-CN" altLang="en-US" b="1" smtClean="0"/>
          </a:p>
          <a:p>
            <a:pPr lvl="1">
              <a:buClr>
                <a:srgbClr val="003366"/>
              </a:buClr>
            </a:pPr>
            <a:r>
              <a:rPr lang="zh-CN" altLang="en-US" b="1" smtClean="0">
                <a:solidFill>
                  <a:schemeClr val="hlink"/>
                </a:solidFill>
              </a:rPr>
              <a:t>目的</a:t>
            </a:r>
            <a:r>
              <a:rPr lang="zh-CN" altLang="en-US" b="1" smtClean="0"/>
              <a:t>是评价软件产品的功能、可用性、可靠性、性能和支持，系统的界面的特色</a:t>
            </a:r>
            <a:endParaRPr lang="zh-CN" altLang="en-US" b="1" smtClean="0"/>
          </a:p>
          <a:p>
            <a:pPr lvl="1">
              <a:buClr>
                <a:srgbClr val="003366"/>
              </a:buClr>
            </a:pPr>
            <a:r>
              <a:rPr lang="zh-CN" altLang="en-US" b="1" smtClean="0">
                <a:solidFill>
                  <a:schemeClr val="hlink"/>
                </a:solidFill>
              </a:rPr>
              <a:t>方法</a:t>
            </a:r>
            <a:r>
              <a:rPr lang="zh-CN" altLang="en-US" b="1" smtClean="0"/>
              <a:t>是由开发者在场记录系统出错情况及使用中存在的问题</a:t>
            </a:r>
            <a:endParaRPr lang="zh-CN" altLang="en-US" b="1" smtClean="0"/>
          </a:p>
        </p:txBody>
      </p:sp>
    </p:spTree>
  </p:cSld>
  <p:clrMapOvr>
    <a:masterClrMapping/>
  </p:clrMapOvr>
  <p:transition>
    <p:wipe dir="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r>
              <a:rPr lang="en-US" altLang="zh-CN" sz="3600" b="1" smtClean="0">
                <a:solidFill>
                  <a:srgbClr val="0A0A0E"/>
                </a:solidFill>
                <a:latin typeface="宋体" panose="02010600030101010101" pitchFamily="2" charset="-122"/>
              </a:rPr>
              <a:t>3.</a:t>
            </a:r>
            <a:r>
              <a:rPr lang="zh-CN" altLang="en-US" sz="3600" b="1" smtClean="0">
                <a:solidFill>
                  <a:srgbClr val="0A0A0E"/>
                </a:solidFill>
                <a:latin typeface="宋体" panose="02010600030101010101" pitchFamily="2" charset="-122"/>
              </a:rPr>
              <a:t>软件测试步骤</a:t>
            </a:r>
            <a:endParaRPr lang="zh-CN" altLang="en-US" sz="3600" b="1" smtClean="0">
              <a:solidFill>
                <a:srgbClr val="0A0A0E"/>
              </a:solidFill>
              <a:latin typeface="宋体" panose="02010600030101010101" pitchFamily="2" charset="-122"/>
            </a:endParaRPr>
          </a:p>
        </p:txBody>
      </p:sp>
      <p:sp>
        <p:nvSpPr>
          <p:cNvPr id="191491" name="Rectangle 3"/>
          <p:cNvSpPr>
            <a:spLocks noGrp="1" noChangeArrowheads="1"/>
          </p:cNvSpPr>
          <p:nvPr>
            <p:ph type="body" idx="1"/>
          </p:nvPr>
        </p:nvSpPr>
        <p:spPr>
          <a:xfrm>
            <a:off x="395288" y="2133600"/>
            <a:ext cx="8559800" cy="3998913"/>
          </a:xfrm>
        </p:spPr>
        <p:txBody>
          <a:bodyPr/>
          <a:lstStyle/>
          <a:p>
            <a:pPr>
              <a:spcBef>
                <a:spcPct val="15000"/>
              </a:spcBef>
              <a:buClr>
                <a:srgbClr val="003366"/>
              </a:buClr>
            </a:pPr>
            <a:r>
              <a:rPr lang="zh-CN" altLang="en-US" b="1" smtClean="0">
                <a:sym typeface="Symbol" panose="05050102010706020507" pitchFamily="18" charset="2"/>
              </a:rPr>
              <a:t></a:t>
            </a:r>
            <a:r>
              <a:rPr lang="zh-CN" altLang="en-US" b="1" smtClean="0"/>
              <a:t>测试：由系统一个或多个用户</a:t>
            </a:r>
            <a:r>
              <a:rPr lang="zh-CN" altLang="en-US" b="1" u="sng" smtClean="0">
                <a:solidFill>
                  <a:schemeClr val="hlink"/>
                </a:solidFill>
              </a:rPr>
              <a:t>在实际操作环境中</a:t>
            </a:r>
            <a:r>
              <a:rPr lang="zh-CN" altLang="en-US" b="1" smtClean="0"/>
              <a:t>运行系统</a:t>
            </a:r>
            <a:endParaRPr lang="zh-CN" altLang="en-US" b="1" smtClean="0"/>
          </a:p>
          <a:p>
            <a:pPr lvl="1">
              <a:spcBef>
                <a:spcPct val="15000"/>
              </a:spcBef>
              <a:buClr>
                <a:srgbClr val="003366"/>
              </a:buClr>
            </a:pPr>
            <a:r>
              <a:rPr lang="zh-CN" altLang="en-US" b="1" smtClean="0"/>
              <a:t>目的是评价系统的可支持性，包括文档的完整性、用户培训和支持、使用系统的能力和满意程度</a:t>
            </a:r>
            <a:endParaRPr lang="zh-CN" altLang="en-US" b="1" smtClean="0"/>
          </a:p>
          <a:p>
            <a:pPr lvl="1">
              <a:spcBef>
                <a:spcPct val="15000"/>
              </a:spcBef>
              <a:buClr>
                <a:srgbClr val="003366"/>
              </a:buClr>
            </a:pPr>
            <a:r>
              <a:rPr lang="zh-CN" altLang="en-US" b="1" smtClean="0"/>
              <a:t>方法是开发者不在测试现场，由用户记录的问题可能是系统存在的错误，也可能是用户的主观认定</a:t>
            </a:r>
            <a:endParaRPr lang="zh-CN" altLang="en-US" b="1" smtClean="0"/>
          </a:p>
        </p:txBody>
      </p:sp>
    </p:spTree>
  </p:cSld>
  <p:clrMapOvr>
    <a:masterClrMapping/>
  </p:clrMapOvr>
  <p:transition>
    <p:wipe dir="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body" idx="1"/>
          </p:nvPr>
        </p:nvSpPr>
        <p:spPr>
          <a:xfrm>
            <a:off x="250825" y="1773238"/>
            <a:ext cx="8893175" cy="4114800"/>
          </a:xfrm>
        </p:spPr>
        <p:txBody>
          <a:bodyPr/>
          <a:lstStyle/>
          <a:p>
            <a:pPr marL="0" indent="0" algn="just" defTabSz="284480" eaLnBrk="1" hangingPunct="1">
              <a:buFont typeface="Wingdings" panose="05000000000000000000" pitchFamily="2" charset="2"/>
              <a:buNone/>
              <a:tabLst>
                <a:tab pos="450850" algn="l"/>
              </a:tabLst>
            </a:pPr>
            <a:r>
              <a:rPr lang="zh-CN" altLang="en-US" sz="2800" b="1" smtClean="0"/>
              <a:t>系统测试</a:t>
            </a:r>
            <a:endParaRPr lang="zh-CN" altLang="en-US" sz="2800" b="1" smtClean="0">
              <a:cs typeface="Times New Roman" panose="02020603050405020304" pitchFamily="18" charset="0"/>
            </a:endParaRPr>
          </a:p>
          <a:p>
            <a:pPr marL="179705" lvl="1" indent="0" algn="just" defTabSz="284480" eaLnBrk="1" hangingPunct="1">
              <a:lnSpc>
                <a:spcPct val="105000"/>
              </a:lnSpc>
              <a:spcBef>
                <a:spcPct val="25000"/>
              </a:spcBef>
              <a:buFont typeface="Wingdings" panose="05000000000000000000" pitchFamily="2" charset="2"/>
              <a:buNone/>
              <a:tabLst>
                <a:tab pos="450850" algn="l"/>
              </a:tabLst>
            </a:pPr>
            <a:r>
              <a:rPr lang="zh-CN" altLang="en-US" sz="2400" b="1" smtClean="0">
                <a:latin typeface="Times New Roman" panose="02020603050405020304" pitchFamily="18" charset="0"/>
              </a:rPr>
              <a:t>系统测试是对整个系统进行总的功能、性能等方面的测试。将已经确认的软件、硬件等其他元素结合在一起，进行系统的各种集成测试和技术测试。其目的是通过与系统的需求相比较，发现所开发的系统与用户需求不符或矛盾的地方。</a:t>
            </a:r>
            <a:endParaRPr lang="zh-CN" altLang="en-US" sz="2400" b="1" smtClean="0">
              <a:latin typeface="Times New Roman" panose="02020603050405020304" pitchFamily="18" charset="0"/>
            </a:endParaRPr>
          </a:p>
          <a:p>
            <a:pPr marL="179705" lvl="1" indent="0" defTabSz="284480" eaLnBrk="1" hangingPunct="1">
              <a:buFont typeface="Wingdings" panose="05000000000000000000" pitchFamily="2" charset="2"/>
              <a:buNone/>
              <a:tabLst>
                <a:tab pos="450850" algn="l"/>
              </a:tabLst>
            </a:pPr>
            <a:r>
              <a:rPr lang="en-US" altLang="zh-CN" sz="2400" b="1" smtClean="0"/>
              <a:t>1) </a:t>
            </a:r>
            <a:r>
              <a:rPr lang="zh-CN" altLang="en-US" sz="2400" b="1" smtClean="0"/>
              <a:t>系统测试需求获取</a:t>
            </a:r>
            <a:endParaRPr lang="zh-CN" altLang="en-US" sz="2400" b="1" smtClean="0"/>
          </a:p>
          <a:p>
            <a:pPr marL="179705" lvl="1" indent="0" defTabSz="284480" eaLnBrk="1" hangingPunct="1">
              <a:tabLst>
                <a:tab pos="450850" algn="l"/>
              </a:tabLst>
            </a:pPr>
            <a:r>
              <a:rPr lang="zh-CN" altLang="en-US" sz="2400" b="1" smtClean="0"/>
              <a:t>系统测试需求所确定的是测试的内容，即测试的具体对象。系统测试需求主要来源于需求规格说明书。在分析测试需求时，可应用以下几条一般规则： </a:t>
            </a:r>
            <a:endParaRPr lang="zh-CN" altLang="en-US" sz="2400" b="1" smtClean="0"/>
          </a:p>
          <a:p>
            <a:pPr marL="179705" lvl="1" indent="0" defTabSz="284480" eaLnBrk="1" hangingPunct="1">
              <a:tabLst>
                <a:tab pos="450850" algn="l"/>
              </a:tabLst>
            </a:pPr>
            <a:r>
              <a:rPr lang="zh-CN" altLang="en-US" sz="2400" b="1" smtClean="0"/>
              <a:t>测试需求必须是可观测、可测评的行为。如果不能观测或测评的测试需求，就无法对其进行评估，以确定需求是否已经满足。</a:t>
            </a:r>
            <a:endParaRPr lang="zh-CN" altLang="en-US" sz="2400" b="1" smtClean="0"/>
          </a:p>
        </p:txBody>
      </p:sp>
      <p:sp>
        <p:nvSpPr>
          <p:cNvPr id="91139" name="AutoShape 3">
            <a:hlinkClick r:id="" action="ppaction://noaction" highlightClick="1"/>
          </p:cNvPr>
          <p:cNvSpPr>
            <a:spLocks noChangeArrowheads="1"/>
          </p:cNvSpPr>
          <p:nvPr/>
        </p:nvSpPr>
        <p:spPr bwMode="auto">
          <a:xfrm>
            <a:off x="1187450" y="908050"/>
            <a:ext cx="4106863"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en-US" altLang="zh-CN" sz="3600" b="1">
                <a:solidFill>
                  <a:srgbClr val="0A0A0E"/>
                </a:solidFill>
                <a:latin typeface="Times New Roman" panose="02020603050405020304" pitchFamily="18" charset="0"/>
              </a:rPr>
              <a:t>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body" idx="1"/>
          </p:nvPr>
        </p:nvSpPr>
        <p:spPr>
          <a:xfrm>
            <a:off x="250825" y="1989138"/>
            <a:ext cx="8642350" cy="4143375"/>
          </a:xfrm>
        </p:spPr>
        <p:txBody>
          <a:bodyPr/>
          <a:lstStyle/>
          <a:p>
            <a:pPr marL="179705" lvl="1" indent="0" defTabSz="284480" eaLnBrk="1" hangingPunct="1">
              <a:tabLst>
                <a:tab pos="450850" algn="l"/>
              </a:tabLst>
            </a:pPr>
            <a:r>
              <a:rPr lang="zh-CN" altLang="en-US" sz="2400" b="1" smtClean="0"/>
              <a:t>在每个用例或系统的补充需求与测试需求之间不存在一对一的关系。用例通常具有多个测试需求；有些补充需求将派生一个或多个测试需求，而其他补充需求（如市场需求或包装需求）将不派生任何测试需求。</a:t>
            </a:r>
            <a:endParaRPr lang="zh-CN" altLang="en-US" sz="2400" b="1" smtClean="0"/>
          </a:p>
          <a:p>
            <a:pPr marL="179705" lvl="1" indent="0" defTabSz="284480" eaLnBrk="1" hangingPunct="1">
              <a:tabLst>
                <a:tab pos="450850" algn="l"/>
              </a:tabLst>
            </a:pPr>
            <a:r>
              <a:rPr lang="zh-CN" altLang="en-US" sz="2400" b="1" smtClean="0"/>
              <a:t>在需求规格说明书中每一个功能描述将派生一个或多个测试需求，性能描述、安全性描述等也将派生出一个或多个测试需求。</a:t>
            </a:r>
            <a:endParaRPr lang="zh-CN" altLang="en-US" sz="2400" b="1" smtClean="0"/>
          </a:p>
          <a:p>
            <a:pPr marL="179705" lvl="1" indent="0" defTabSz="284480" eaLnBrk="1" hangingPunct="1">
              <a:buFont typeface="Wingdings" panose="05000000000000000000" pitchFamily="2" charset="2"/>
              <a:buNone/>
              <a:tabLst>
                <a:tab pos="450850" algn="l"/>
              </a:tabLst>
            </a:pPr>
            <a:r>
              <a:rPr lang="en-US" altLang="zh-CN" sz="2400" b="1" smtClean="0"/>
              <a:t>2) </a:t>
            </a:r>
            <a:r>
              <a:rPr lang="zh-CN" altLang="en-US" sz="2400" b="1" smtClean="0"/>
              <a:t>系统测试策略</a:t>
            </a:r>
            <a:endParaRPr lang="zh-CN" altLang="en-US" sz="2400" b="1" smtClean="0"/>
          </a:p>
          <a:p>
            <a:pPr marL="179705" lvl="1" indent="0" defTabSz="284480" eaLnBrk="1" hangingPunct="1">
              <a:tabLst>
                <a:tab pos="450850" algn="l"/>
              </a:tabLst>
            </a:pPr>
            <a:r>
              <a:rPr lang="zh-CN" altLang="en-US" sz="2400" b="1" smtClean="0"/>
              <a:t>测试策略用于说明某项特定测试工作的一般方法和目标。系统测试策略主要针对系统测试需求确定测试类型及如何实施测试的方法和技术。</a:t>
            </a:r>
            <a:endParaRPr lang="zh-CN" altLang="en-US" sz="2400" b="1" smtClean="0"/>
          </a:p>
        </p:txBody>
      </p:sp>
      <p:sp>
        <p:nvSpPr>
          <p:cNvPr id="92163" name="AutoShape 3">
            <a:hlinkClick r:id="" action="ppaction://noaction" highlightClick="1"/>
          </p:cNvPr>
          <p:cNvSpPr>
            <a:spLocks noChangeArrowheads="1"/>
          </p:cNvSpPr>
          <p:nvPr/>
        </p:nvSpPr>
        <p:spPr bwMode="auto">
          <a:xfrm>
            <a:off x="1187450" y="908050"/>
            <a:ext cx="4106863"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body" idx="1"/>
          </p:nvPr>
        </p:nvSpPr>
        <p:spPr>
          <a:xfrm>
            <a:off x="468313" y="1412875"/>
            <a:ext cx="8893175" cy="5256213"/>
          </a:xfrm>
        </p:spPr>
        <p:txBody>
          <a:bodyPr/>
          <a:lstStyle/>
          <a:p>
            <a:pPr marL="179705" lvl="1" indent="0" defTabSz="284480" eaLnBrk="1" hangingPunct="1">
              <a:buFont typeface="Wingdings" panose="05000000000000000000" pitchFamily="2" charset="2"/>
              <a:buNone/>
              <a:tabLst>
                <a:tab pos="450850" algn="l"/>
              </a:tabLst>
            </a:pPr>
            <a:r>
              <a:rPr lang="zh-CN" altLang="en-US" sz="2400" b="1" smtClean="0"/>
              <a:t>系统测试的测试类型一般包括：</a:t>
            </a:r>
            <a:endParaRPr lang="zh-CN" altLang="en-US" sz="2400" b="1" smtClean="0"/>
          </a:p>
          <a:p>
            <a:pPr marL="995680" lvl="2" indent="-92075" defTabSz="284480" eaLnBrk="1" hangingPunct="1">
              <a:tabLst>
                <a:tab pos="450850" algn="l"/>
              </a:tabLst>
            </a:pPr>
            <a:r>
              <a:rPr lang="zh-CN" altLang="en-US" sz="2000" b="1" smtClean="0"/>
              <a:t>功能测试（</a:t>
            </a:r>
            <a:r>
              <a:rPr lang="en-US" altLang="zh-CN" sz="2000" b="1" smtClean="0"/>
              <a:t>Functional Testing</a:t>
            </a:r>
            <a:r>
              <a:rPr lang="zh-CN" altLang="en-US" sz="2000" b="1" smtClean="0"/>
              <a:t>）</a:t>
            </a:r>
            <a:endParaRPr lang="zh-CN" altLang="en-US" sz="2000" b="1" smtClean="0"/>
          </a:p>
          <a:p>
            <a:pPr marL="995680" lvl="2" indent="-92075" defTabSz="284480" eaLnBrk="1" hangingPunct="1">
              <a:tabLst>
                <a:tab pos="450850" algn="l"/>
              </a:tabLst>
            </a:pPr>
            <a:r>
              <a:rPr lang="zh-CN" altLang="en-US" b="1" smtClean="0"/>
              <a:t>性能测试（</a:t>
            </a:r>
            <a:r>
              <a:rPr lang="en-US" altLang="zh-CN" b="1" smtClean="0"/>
              <a:t>Performance Testing</a:t>
            </a:r>
            <a:r>
              <a:rPr lang="zh-CN" altLang="en-US" b="1" smtClean="0"/>
              <a:t>）</a:t>
            </a:r>
            <a:endParaRPr lang="zh-CN" altLang="en-US" b="1" smtClean="0"/>
          </a:p>
          <a:p>
            <a:pPr marL="995680" lvl="2" indent="-92075" defTabSz="284480" eaLnBrk="1" hangingPunct="1">
              <a:tabLst>
                <a:tab pos="450850" algn="l"/>
              </a:tabLst>
            </a:pPr>
            <a:r>
              <a:rPr lang="zh-CN" altLang="en-US" b="1" smtClean="0"/>
              <a:t>负载测试（</a:t>
            </a:r>
            <a:r>
              <a:rPr lang="en-US" altLang="zh-CN" b="1" smtClean="0"/>
              <a:t>Load Testing</a:t>
            </a:r>
            <a:r>
              <a:rPr lang="zh-CN" altLang="en-US" b="1" smtClean="0"/>
              <a:t>）</a:t>
            </a:r>
            <a:endParaRPr lang="zh-CN" altLang="en-US" b="1" smtClean="0"/>
          </a:p>
          <a:p>
            <a:pPr marL="995680" lvl="2" indent="-92075" defTabSz="284480" eaLnBrk="1" hangingPunct="1">
              <a:tabLst>
                <a:tab pos="450850" algn="l"/>
              </a:tabLst>
            </a:pPr>
            <a:r>
              <a:rPr lang="zh-CN" altLang="en-US" b="1" smtClean="0"/>
              <a:t>强度测试（</a:t>
            </a:r>
            <a:r>
              <a:rPr lang="en-US" altLang="zh-CN" b="1" smtClean="0"/>
              <a:t>Stress Testing</a:t>
            </a:r>
            <a:r>
              <a:rPr lang="zh-CN" altLang="en-US" b="1" smtClean="0"/>
              <a:t>）</a:t>
            </a:r>
            <a:endParaRPr lang="zh-CN" altLang="en-US" b="1" smtClean="0"/>
          </a:p>
          <a:p>
            <a:pPr marL="995680" lvl="2" indent="-92075" defTabSz="284480" eaLnBrk="1" hangingPunct="1">
              <a:tabLst>
                <a:tab pos="450850" algn="l"/>
              </a:tabLst>
            </a:pPr>
            <a:r>
              <a:rPr lang="zh-CN" altLang="en-US" b="1" smtClean="0"/>
              <a:t>容量测试（</a:t>
            </a:r>
            <a:r>
              <a:rPr lang="en-US" altLang="zh-CN" b="1" smtClean="0"/>
              <a:t>Volume Testing</a:t>
            </a:r>
            <a:r>
              <a:rPr lang="zh-CN" altLang="en-US" b="1" smtClean="0"/>
              <a:t>）</a:t>
            </a:r>
            <a:endParaRPr lang="zh-CN" altLang="en-US" b="1" smtClean="0"/>
          </a:p>
          <a:p>
            <a:pPr marL="995680" lvl="2" indent="-92075" defTabSz="284480" eaLnBrk="1" hangingPunct="1">
              <a:tabLst>
                <a:tab pos="450850" algn="l"/>
              </a:tabLst>
            </a:pPr>
            <a:r>
              <a:rPr lang="zh-CN" altLang="en-US" b="1" smtClean="0"/>
              <a:t>安全性测试（</a:t>
            </a:r>
            <a:r>
              <a:rPr lang="en-US" altLang="zh-CN" b="1" smtClean="0"/>
              <a:t>Security Testing</a:t>
            </a:r>
            <a:r>
              <a:rPr lang="zh-CN" altLang="en-US" b="1" smtClean="0"/>
              <a:t>）</a:t>
            </a:r>
            <a:endParaRPr lang="zh-CN" altLang="en-US" b="1" smtClean="0"/>
          </a:p>
          <a:p>
            <a:pPr marL="995680" lvl="2" indent="-92075" defTabSz="284480" eaLnBrk="1" hangingPunct="1">
              <a:tabLst>
                <a:tab pos="450850" algn="l"/>
              </a:tabLst>
            </a:pPr>
            <a:r>
              <a:rPr lang="zh-CN" altLang="en-US" b="1" smtClean="0"/>
              <a:t>配置测试（</a:t>
            </a:r>
            <a:r>
              <a:rPr lang="en-US" altLang="zh-CN" b="1" smtClean="0"/>
              <a:t>Configuration Testing</a:t>
            </a:r>
            <a:r>
              <a:rPr lang="zh-CN" altLang="en-US" b="1" smtClean="0"/>
              <a:t>）</a:t>
            </a:r>
            <a:endParaRPr lang="zh-CN" altLang="en-US" b="1" smtClean="0"/>
          </a:p>
          <a:p>
            <a:pPr marL="995680" lvl="2" indent="-92075" defTabSz="284480" eaLnBrk="1" hangingPunct="1">
              <a:tabLst>
                <a:tab pos="450850" algn="l"/>
              </a:tabLst>
            </a:pPr>
            <a:r>
              <a:rPr lang="zh-CN" altLang="en-US" b="1" smtClean="0"/>
              <a:t>故障恢复测试（</a:t>
            </a:r>
            <a:r>
              <a:rPr lang="en-US" altLang="zh-CN" b="1" smtClean="0"/>
              <a:t>Recovery Testing</a:t>
            </a:r>
            <a:r>
              <a:rPr lang="zh-CN" altLang="en-US" b="1" smtClean="0"/>
              <a:t>）</a:t>
            </a:r>
            <a:endParaRPr lang="zh-CN" altLang="en-US" b="1" smtClean="0"/>
          </a:p>
          <a:p>
            <a:pPr marL="995680" lvl="2" indent="-92075" defTabSz="284480" eaLnBrk="1" hangingPunct="1">
              <a:tabLst>
                <a:tab pos="450850" algn="l"/>
              </a:tabLst>
            </a:pPr>
            <a:r>
              <a:rPr lang="zh-CN" altLang="en-US" b="1" smtClean="0"/>
              <a:t>安装测试（</a:t>
            </a:r>
            <a:r>
              <a:rPr lang="en-US" altLang="zh-CN" b="1" smtClean="0"/>
              <a:t>Installation Testing</a:t>
            </a:r>
            <a:r>
              <a:rPr lang="zh-CN" altLang="en-US" b="1" smtClean="0"/>
              <a:t>）</a:t>
            </a:r>
            <a:endParaRPr lang="zh-CN" altLang="en-US" b="1" smtClean="0"/>
          </a:p>
          <a:p>
            <a:pPr marL="995680" lvl="2" indent="-92075" defTabSz="284480" eaLnBrk="1" hangingPunct="1">
              <a:tabLst>
                <a:tab pos="450850" algn="l"/>
              </a:tabLst>
            </a:pPr>
            <a:r>
              <a:rPr lang="zh-CN" altLang="en-US" b="1" smtClean="0"/>
              <a:t>文档测试（</a:t>
            </a:r>
            <a:r>
              <a:rPr lang="en-US" altLang="zh-CN" b="1" smtClean="0"/>
              <a:t>Documentation Testing</a:t>
            </a:r>
            <a:r>
              <a:rPr lang="zh-CN" altLang="en-US" b="1" smtClean="0"/>
              <a:t>）</a:t>
            </a:r>
            <a:endParaRPr lang="zh-CN" altLang="en-US" b="1" smtClean="0"/>
          </a:p>
          <a:p>
            <a:pPr marL="995680" lvl="2" indent="-92075" defTabSz="284480" eaLnBrk="1" hangingPunct="1">
              <a:tabLst>
                <a:tab pos="450850" algn="l"/>
              </a:tabLst>
            </a:pPr>
            <a:r>
              <a:rPr lang="zh-CN" altLang="en-US" b="1" smtClean="0"/>
              <a:t>用户界面测试（</a:t>
            </a:r>
            <a:r>
              <a:rPr lang="en-US" altLang="zh-CN" b="1" smtClean="0"/>
              <a:t>GUI Testing</a:t>
            </a:r>
            <a:r>
              <a:rPr lang="zh-CN" altLang="en-US" smtClean="0"/>
              <a:t>）</a:t>
            </a:r>
            <a:endParaRPr lang="zh-CN" altLang="en-US" smtClean="0"/>
          </a:p>
        </p:txBody>
      </p:sp>
      <p:sp>
        <p:nvSpPr>
          <p:cNvPr id="93187" name="AutoShape 3">
            <a:hlinkClick r:id="" action="ppaction://noaction" highlightClick="1"/>
          </p:cNvPr>
          <p:cNvSpPr>
            <a:spLocks noChangeArrowheads="1"/>
          </p:cNvSpPr>
          <p:nvPr/>
        </p:nvSpPr>
        <p:spPr bwMode="auto">
          <a:xfrm>
            <a:off x="1258888" y="333375"/>
            <a:ext cx="4106862"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body" idx="1"/>
          </p:nvPr>
        </p:nvSpPr>
        <p:spPr>
          <a:xfrm>
            <a:off x="395288" y="1844675"/>
            <a:ext cx="8569325" cy="4186238"/>
          </a:xfrm>
        </p:spPr>
        <p:txBody>
          <a:bodyPr/>
          <a:lstStyle/>
          <a:p>
            <a:pPr marL="179705" lvl="1" indent="0" defTabSz="284480" eaLnBrk="1" hangingPunct="1">
              <a:buFont typeface="Wingdings" panose="05000000000000000000" pitchFamily="2" charset="2"/>
              <a:buNone/>
              <a:tabLst>
                <a:tab pos="450850" algn="l"/>
              </a:tabLst>
            </a:pPr>
            <a:r>
              <a:rPr lang="zh-CN" altLang="en-US" sz="2000" b="1" smtClean="0"/>
              <a:t>［功能测试］</a:t>
            </a:r>
            <a:endParaRPr lang="zh-CN" altLang="en-US" sz="2000" b="1" smtClean="0"/>
          </a:p>
          <a:p>
            <a:pPr marL="179705" lvl="1" indent="0" defTabSz="284480" eaLnBrk="1" hangingPunct="1">
              <a:buFont typeface="Wingdings" panose="05000000000000000000" pitchFamily="2" charset="2"/>
              <a:buNone/>
              <a:tabLst>
                <a:tab pos="450850" algn="l"/>
              </a:tabLst>
            </a:pPr>
            <a:r>
              <a:rPr lang="zh-CN" altLang="en-US" sz="2000" b="1" smtClean="0"/>
              <a:t>功能测试是系统测试中最基本的测试，它不管软件内部的实现逻辑，主要根据软件需求规格说明和测试需求列表，验证产品的功能实现是否符合需求规格。</a:t>
            </a:r>
            <a:endParaRPr lang="zh-CN" altLang="en-US" sz="2000" b="1" smtClean="0"/>
          </a:p>
          <a:p>
            <a:pPr marL="179705" lvl="1" indent="0" defTabSz="284480" eaLnBrk="1" hangingPunct="1">
              <a:buFont typeface="Wingdings" panose="05000000000000000000" pitchFamily="2" charset="2"/>
              <a:buNone/>
              <a:tabLst>
                <a:tab pos="450850" algn="l"/>
              </a:tabLst>
            </a:pPr>
            <a:r>
              <a:rPr lang="zh-CN" altLang="en-US" sz="2000" b="1" smtClean="0"/>
              <a:t>功能测试主要发现以下错误：</a:t>
            </a:r>
            <a:endParaRPr lang="zh-CN" altLang="en-US" sz="2000" b="1" smtClean="0"/>
          </a:p>
          <a:p>
            <a:pPr marL="179705" lvl="1" indent="0" defTabSz="284480" eaLnBrk="1" hangingPunct="1">
              <a:tabLst>
                <a:tab pos="450850" algn="l"/>
              </a:tabLst>
            </a:pPr>
            <a:r>
              <a:rPr lang="zh-CN" altLang="en-US" sz="2000" b="1" smtClean="0"/>
              <a:t>是否有不正确或遗漏的功能？</a:t>
            </a:r>
            <a:endParaRPr lang="zh-CN" altLang="en-US" sz="2000" b="1" smtClean="0"/>
          </a:p>
          <a:p>
            <a:pPr marL="179705" lvl="1" indent="0" defTabSz="284480" eaLnBrk="1" hangingPunct="1">
              <a:tabLst>
                <a:tab pos="450850" algn="l"/>
              </a:tabLst>
            </a:pPr>
            <a:r>
              <a:rPr lang="zh-CN" altLang="en-US" sz="2000" b="1" smtClean="0"/>
              <a:t>功能实现是否满足用户需求和系统设计的隐藏需求？</a:t>
            </a:r>
            <a:endParaRPr lang="zh-CN" altLang="en-US" sz="2000" b="1" smtClean="0"/>
          </a:p>
          <a:p>
            <a:pPr marL="179705" lvl="1" indent="0" defTabSz="284480" eaLnBrk="1" hangingPunct="1">
              <a:tabLst>
                <a:tab pos="450850" algn="l"/>
              </a:tabLst>
            </a:pPr>
            <a:r>
              <a:rPr lang="zh-CN" altLang="en-US" sz="2000" b="1" smtClean="0"/>
              <a:t>能否正确地接受输入？能否正确地输出结果？</a:t>
            </a:r>
            <a:endParaRPr lang="zh-CN" altLang="en-US" sz="2000" b="1" smtClean="0"/>
          </a:p>
          <a:p>
            <a:pPr marL="179705" lvl="1" indent="0" defTabSz="284480" eaLnBrk="1" hangingPunct="1">
              <a:buFont typeface="Wingdings" panose="05000000000000000000" pitchFamily="2" charset="2"/>
              <a:buNone/>
              <a:tabLst>
                <a:tab pos="450850" algn="l"/>
              </a:tabLst>
            </a:pPr>
            <a:r>
              <a:rPr lang="zh-CN" altLang="en-US" sz="2000" b="1" smtClean="0"/>
              <a:t>［性能测试］</a:t>
            </a:r>
            <a:endParaRPr lang="zh-CN" altLang="en-US" sz="2000" b="1" smtClean="0"/>
          </a:p>
          <a:p>
            <a:pPr marL="179705" lvl="1" indent="0" defTabSz="284480" eaLnBrk="1" hangingPunct="1">
              <a:buFont typeface="Wingdings" panose="05000000000000000000" pitchFamily="2" charset="2"/>
              <a:buNone/>
              <a:tabLst>
                <a:tab pos="450850" algn="l"/>
              </a:tabLst>
            </a:pPr>
            <a:r>
              <a:rPr lang="zh-CN" altLang="en-US" sz="2000" b="1" smtClean="0"/>
              <a:t>对于那些实时和嵌入式系统，软件部分即使满足功能要求，也未必能够满足性能要求，虽然从单元测试起，每一测试步骤都包含性能测试，但只有当系统真正集成之后，在真实环境中才能全面、可靠地测试运行性能系统性能测试是为了完成这一任务。性能测试有时与强度测试相结合，经常需要其他软硬件的配套支持。</a:t>
            </a:r>
            <a:endParaRPr lang="zh-CN" altLang="en-US" sz="2000" b="1" smtClean="0"/>
          </a:p>
        </p:txBody>
      </p:sp>
      <p:sp>
        <p:nvSpPr>
          <p:cNvPr id="94211" name="AutoShape 3">
            <a:hlinkClick r:id="" action="ppaction://noaction" highlightClick="1"/>
          </p:cNvPr>
          <p:cNvSpPr>
            <a:spLocks noChangeArrowheads="1"/>
          </p:cNvSpPr>
          <p:nvPr/>
        </p:nvSpPr>
        <p:spPr bwMode="auto">
          <a:xfrm>
            <a:off x="1187450" y="908050"/>
            <a:ext cx="4106863"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body" idx="1"/>
          </p:nvPr>
        </p:nvSpPr>
        <p:spPr>
          <a:xfrm>
            <a:off x="468313" y="1916113"/>
            <a:ext cx="8496300" cy="4941887"/>
          </a:xfrm>
        </p:spPr>
        <p:txBody>
          <a:bodyPr/>
          <a:lstStyle/>
          <a:p>
            <a:pPr marL="179705" lvl="1" indent="0" defTabSz="284480" eaLnBrk="1" hangingPunct="1">
              <a:buFont typeface="Wingdings" panose="05000000000000000000" pitchFamily="2" charset="2"/>
              <a:buNone/>
              <a:tabLst>
                <a:tab pos="450850" algn="l"/>
              </a:tabLst>
            </a:pPr>
            <a:r>
              <a:rPr lang="zh-CN" altLang="en-US" sz="2400" b="1" smtClean="0"/>
              <a:t>［安全性测试］</a:t>
            </a:r>
            <a:endParaRPr lang="zh-CN" altLang="en-US" sz="2400" b="1" smtClean="0"/>
          </a:p>
          <a:p>
            <a:pPr marL="179705" lvl="1" indent="0" defTabSz="284480" eaLnBrk="1" hangingPunct="1">
              <a:buFont typeface="Wingdings" panose="05000000000000000000" pitchFamily="2" charset="2"/>
              <a:buNone/>
              <a:tabLst>
                <a:tab pos="450850" algn="l"/>
              </a:tabLst>
            </a:pPr>
            <a:r>
              <a:rPr lang="zh-CN" altLang="en-US" sz="2400" b="1" smtClean="0"/>
              <a:t>安全测试检查系统对非法侵入的防范能力。安全测试期间，测试人员假扮非法入侵者，采用各种办法试图突破防线。下面列举一些安全性测试的例子：</a:t>
            </a:r>
            <a:endParaRPr lang="zh-CN" altLang="en-US" sz="2400" b="1" smtClean="0"/>
          </a:p>
          <a:p>
            <a:pPr marL="179705" lvl="1" indent="0" defTabSz="284480" eaLnBrk="1" hangingPunct="1">
              <a:tabLst>
                <a:tab pos="450850" algn="l"/>
              </a:tabLst>
            </a:pPr>
            <a:r>
              <a:rPr lang="zh-CN" altLang="en-US" sz="2400" b="1" smtClean="0"/>
              <a:t>想方设法截取或破译口令；</a:t>
            </a:r>
            <a:endParaRPr lang="zh-CN" altLang="en-US" sz="2400" b="1" smtClean="0"/>
          </a:p>
          <a:p>
            <a:pPr marL="179705" lvl="1" indent="0" defTabSz="284480" eaLnBrk="1" hangingPunct="1">
              <a:tabLst>
                <a:tab pos="450850" algn="l"/>
              </a:tabLst>
            </a:pPr>
            <a:r>
              <a:rPr lang="zh-CN" altLang="en-US" sz="2400" b="1" smtClean="0"/>
              <a:t>专门定做软件破坏系统的保护机制；</a:t>
            </a:r>
            <a:endParaRPr lang="zh-CN" altLang="en-US" sz="2400" b="1" smtClean="0"/>
          </a:p>
          <a:p>
            <a:pPr marL="179705" lvl="1" indent="0" defTabSz="284480" eaLnBrk="1" hangingPunct="1">
              <a:tabLst>
                <a:tab pos="450850" algn="l"/>
              </a:tabLst>
            </a:pPr>
            <a:r>
              <a:rPr lang="zh-CN" altLang="en-US" sz="2400" b="1" smtClean="0"/>
              <a:t>故意导致系统失败，企图趁恢复之机非法进入；</a:t>
            </a:r>
            <a:endParaRPr lang="zh-CN" altLang="en-US" sz="2400" b="1" smtClean="0"/>
          </a:p>
          <a:p>
            <a:pPr marL="179705" lvl="1" indent="0" defTabSz="284480" eaLnBrk="1" hangingPunct="1">
              <a:tabLst>
                <a:tab pos="450850" algn="l"/>
              </a:tabLst>
            </a:pPr>
            <a:r>
              <a:rPr lang="zh-CN" altLang="en-US" sz="2400" b="1" smtClean="0"/>
              <a:t>试图通过浏览非保密数据，推导所需信息。</a:t>
            </a:r>
            <a:endParaRPr lang="zh-CN" altLang="en-US" sz="2400" b="1" smtClean="0"/>
          </a:p>
        </p:txBody>
      </p:sp>
      <p:sp>
        <p:nvSpPr>
          <p:cNvPr id="95235" name="AutoShape 3">
            <a:hlinkClick r:id="" action="ppaction://noaction" highlightClick="1"/>
          </p:cNvPr>
          <p:cNvSpPr>
            <a:spLocks noChangeArrowheads="1"/>
          </p:cNvSpPr>
          <p:nvPr/>
        </p:nvSpPr>
        <p:spPr bwMode="auto">
          <a:xfrm>
            <a:off x="1619250" y="620713"/>
            <a:ext cx="4106863"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body" idx="1"/>
          </p:nvPr>
        </p:nvSpPr>
        <p:spPr>
          <a:xfrm>
            <a:off x="395288" y="1844675"/>
            <a:ext cx="8281987" cy="3600450"/>
          </a:xfrm>
        </p:spPr>
        <p:txBody>
          <a:bodyPr/>
          <a:lstStyle/>
          <a:p>
            <a:pPr marL="179705" lvl="1" indent="0" defTabSz="284480" eaLnBrk="1" hangingPunct="1">
              <a:buFont typeface="Wingdings" panose="05000000000000000000" pitchFamily="2" charset="2"/>
              <a:buNone/>
              <a:tabLst>
                <a:tab pos="450850" algn="l"/>
              </a:tabLst>
            </a:pPr>
            <a:r>
              <a:rPr lang="zh-CN" altLang="en-US" sz="2400" b="1" smtClean="0"/>
              <a:t>［恢复测试］</a:t>
            </a:r>
            <a:endParaRPr lang="zh-CN" altLang="en-US" sz="2400" b="1" smtClean="0"/>
          </a:p>
          <a:p>
            <a:pPr marL="179705" lvl="1" indent="0" defTabSz="284480" eaLnBrk="1" hangingPunct="1">
              <a:buFont typeface="Wingdings" panose="05000000000000000000" pitchFamily="2" charset="2"/>
              <a:buNone/>
              <a:tabLst>
                <a:tab pos="450850" algn="l"/>
              </a:tabLst>
            </a:pPr>
            <a:r>
              <a:rPr lang="zh-CN" altLang="en-US" sz="2400" b="1" smtClean="0"/>
              <a:t>恢复测试是检验系统从软件或者硬件失败中恢复的能力，即采用各种人工干预方式使软件出错，而不能正常工作，从而检验系统的恢复能力。</a:t>
            </a:r>
            <a:endParaRPr lang="zh-CN" altLang="en-US" sz="2400" b="1" smtClean="0"/>
          </a:p>
          <a:p>
            <a:pPr marL="179705" lvl="1" indent="0" defTabSz="284480" eaLnBrk="1" hangingPunct="1">
              <a:buFont typeface="Wingdings" panose="05000000000000000000" pitchFamily="2" charset="2"/>
              <a:buNone/>
              <a:tabLst>
                <a:tab pos="450850" algn="l"/>
              </a:tabLst>
            </a:pPr>
            <a:r>
              <a:rPr lang="zh-CN" altLang="en-US" sz="2400" b="1" smtClean="0"/>
              <a:t>下面列举一些恢复测试的例子：</a:t>
            </a:r>
            <a:endParaRPr lang="zh-CN" altLang="en-US" sz="2400" b="1" smtClean="0"/>
          </a:p>
          <a:p>
            <a:pPr marL="179705" lvl="1" indent="0" defTabSz="284480" eaLnBrk="1" hangingPunct="1">
              <a:tabLst>
                <a:tab pos="450850" algn="l"/>
              </a:tabLst>
            </a:pPr>
            <a:r>
              <a:rPr lang="zh-CN" altLang="en-US" sz="2400" b="1" smtClean="0"/>
              <a:t>当供电出现问题时的恢复</a:t>
            </a:r>
            <a:endParaRPr lang="zh-CN" altLang="en-US" sz="2400" b="1" smtClean="0"/>
          </a:p>
          <a:p>
            <a:pPr marL="179705" lvl="1" indent="0" defTabSz="284480" eaLnBrk="1" hangingPunct="1">
              <a:tabLst>
                <a:tab pos="450850" algn="l"/>
              </a:tabLst>
            </a:pPr>
            <a:r>
              <a:rPr lang="zh-CN" altLang="en-US" sz="2400" b="1" smtClean="0"/>
              <a:t>恢复程序的执行</a:t>
            </a:r>
            <a:endParaRPr lang="zh-CN" altLang="en-US" sz="2400" b="1" smtClean="0"/>
          </a:p>
          <a:p>
            <a:pPr marL="179705" lvl="1" indent="0" defTabSz="284480" eaLnBrk="1" hangingPunct="1">
              <a:tabLst>
                <a:tab pos="450850" algn="l"/>
              </a:tabLst>
            </a:pPr>
            <a:r>
              <a:rPr lang="zh-CN" altLang="en-US" sz="2400" b="1" smtClean="0"/>
              <a:t>对选择的文件和数据进行恢复</a:t>
            </a:r>
            <a:endParaRPr lang="zh-CN" altLang="en-US" sz="2400" b="1" smtClean="0"/>
          </a:p>
          <a:p>
            <a:pPr marL="179705" lvl="1" indent="0" defTabSz="284480" eaLnBrk="1" hangingPunct="1">
              <a:tabLst>
                <a:tab pos="450850" algn="l"/>
              </a:tabLst>
            </a:pPr>
            <a:r>
              <a:rPr lang="zh-CN" altLang="en-US" sz="2400" b="1" smtClean="0"/>
              <a:t>恢复处理日志方面的能力</a:t>
            </a:r>
            <a:endParaRPr lang="zh-CN" altLang="en-US" sz="2400" b="1" smtClean="0"/>
          </a:p>
          <a:p>
            <a:pPr marL="179705" lvl="1" indent="0" defTabSz="284480" eaLnBrk="1" hangingPunct="1">
              <a:tabLst>
                <a:tab pos="450850" algn="l"/>
              </a:tabLst>
            </a:pPr>
            <a:r>
              <a:rPr lang="zh-CN" altLang="en-US" sz="2400" b="1" smtClean="0"/>
              <a:t>通过切换到一个并行系统来进行恢复</a:t>
            </a:r>
            <a:endParaRPr lang="zh-CN" altLang="en-US" sz="2400" b="1" smtClean="0"/>
          </a:p>
        </p:txBody>
      </p:sp>
      <p:sp>
        <p:nvSpPr>
          <p:cNvPr id="96259" name="AutoShape 3">
            <a:hlinkClick r:id="" action="ppaction://noaction" highlightClick="1"/>
          </p:cNvPr>
          <p:cNvSpPr>
            <a:spLocks noChangeArrowheads="1"/>
          </p:cNvSpPr>
          <p:nvPr/>
        </p:nvSpPr>
        <p:spPr bwMode="auto">
          <a:xfrm>
            <a:off x="1763713" y="765175"/>
            <a:ext cx="4106862"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body" idx="1"/>
          </p:nvPr>
        </p:nvSpPr>
        <p:spPr>
          <a:xfrm>
            <a:off x="323850" y="1773238"/>
            <a:ext cx="8820150" cy="5256212"/>
          </a:xfrm>
        </p:spPr>
        <p:txBody>
          <a:bodyPr/>
          <a:lstStyle/>
          <a:p>
            <a:pPr marL="179705" lvl="1" indent="0" defTabSz="284480" eaLnBrk="1" hangingPunct="1">
              <a:buFont typeface="Wingdings" panose="05000000000000000000" pitchFamily="2" charset="2"/>
              <a:buNone/>
              <a:tabLst>
                <a:tab pos="450850" algn="l"/>
              </a:tabLst>
            </a:pPr>
            <a:r>
              <a:rPr lang="zh-CN" altLang="en-US" sz="2400" b="1" smtClean="0"/>
              <a:t>［安装测试］</a:t>
            </a:r>
            <a:endParaRPr lang="zh-CN" altLang="en-US" sz="2400" b="1" smtClean="0"/>
          </a:p>
          <a:p>
            <a:pPr marL="179705" lvl="1" indent="0" defTabSz="284480" eaLnBrk="1" hangingPunct="1">
              <a:buFont typeface="Wingdings" panose="05000000000000000000" pitchFamily="2" charset="2"/>
              <a:buNone/>
              <a:tabLst>
                <a:tab pos="450850" algn="l"/>
              </a:tabLst>
            </a:pPr>
            <a:r>
              <a:rPr lang="zh-CN" altLang="en-US" sz="2400" b="1" smtClean="0"/>
              <a:t>系统验收之后，需要在目标环境中进行安装。安装测试的目的是保证应用程序能够被成功地安装，它重点考虑以下方面：</a:t>
            </a:r>
            <a:endParaRPr lang="zh-CN" altLang="en-US" sz="2400" b="1" smtClean="0"/>
          </a:p>
          <a:p>
            <a:pPr marL="179705" lvl="1" indent="0" defTabSz="284480" eaLnBrk="1" hangingPunct="1">
              <a:tabLst>
                <a:tab pos="450850" algn="l"/>
              </a:tabLst>
            </a:pPr>
            <a:r>
              <a:rPr lang="zh-CN" altLang="en-US" sz="2400" b="1" smtClean="0"/>
              <a:t>应用程序是否可以成功地安装在以前从未安装过的环境中？</a:t>
            </a:r>
            <a:endParaRPr lang="zh-CN" altLang="en-US" sz="2400" b="1" smtClean="0"/>
          </a:p>
          <a:p>
            <a:pPr marL="179705" lvl="1" indent="0" defTabSz="284480" eaLnBrk="1" hangingPunct="1">
              <a:tabLst>
                <a:tab pos="450850" algn="l"/>
              </a:tabLst>
            </a:pPr>
            <a:r>
              <a:rPr lang="zh-CN" altLang="en-US" sz="2400" b="1" smtClean="0"/>
              <a:t>应用程序是否可以成功地安装在以前已有的环境中？</a:t>
            </a:r>
            <a:endParaRPr lang="zh-CN" altLang="en-US" sz="2400" b="1" smtClean="0"/>
          </a:p>
          <a:p>
            <a:pPr marL="179705" lvl="1" indent="0" defTabSz="284480" eaLnBrk="1" hangingPunct="1">
              <a:tabLst>
                <a:tab pos="450850" algn="l"/>
              </a:tabLst>
            </a:pPr>
            <a:r>
              <a:rPr lang="zh-CN" altLang="en-US" sz="2400" b="1" smtClean="0"/>
              <a:t>配置信息定义正确吗？</a:t>
            </a:r>
            <a:endParaRPr lang="zh-CN" altLang="en-US" sz="2400" b="1" smtClean="0"/>
          </a:p>
          <a:p>
            <a:pPr marL="179705" lvl="1" indent="0" defTabSz="284480" eaLnBrk="1" hangingPunct="1">
              <a:tabLst>
                <a:tab pos="450850" algn="l"/>
              </a:tabLst>
            </a:pPr>
            <a:r>
              <a:rPr lang="zh-CN" altLang="en-US" sz="2400" b="1" smtClean="0"/>
              <a:t>考虑到以前的配置信息吗？</a:t>
            </a:r>
            <a:endParaRPr lang="zh-CN" altLang="en-US" sz="2400" b="1" smtClean="0"/>
          </a:p>
          <a:p>
            <a:pPr marL="179705" lvl="1" indent="0" defTabSz="284480" eaLnBrk="1" hangingPunct="1">
              <a:tabLst>
                <a:tab pos="450850" algn="l"/>
              </a:tabLst>
            </a:pPr>
            <a:r>
              <a:rPr lang="zh-CN" altLang="en-US" sz="2400" b="1" smtClean="0"/>
              <a:t>在线文档安装正确吗？</a:t>
            </a:r>
            <a:endParaRPr lang="zh-CN" altLang="en-US" sz="2400" b="1" smtClean="0"/>
          </a:p>
          <a:p>
            <a:pPr marL="179705" lvl="1" indent="0" defTabSz="284480" eaLnBrk="1" hangingPunct="1">
              <a:tabLst>
                <a:tab pos="450850" algn="l"/>
              </a:tabLst>
            </a:pPr>
            <a:r>
              <a:rPr lang="zh-CN" altLang="en-US" sz="2400" b="1" smtClean="0"/>
              <a:t>安装应用程序是否会影响其他的应用程序吗？</a:t>
            </a:r>
            <a:endParaRPr lang="zh-CN" altLang="en-US" sz="2400" b="1" smtClean="0"/>
          </a:p>
          <a:p>
            <a:pPr marL="179705" lvl="1" indent="0" defTabSz="284480" eaLnBrk="1" hangingPunct="1">
              <a:tabLst>
                <a:tab pos="450850" algn="l"/>
              </a:tabLst>
            </a:pPr>
            <a:r>
              <a:rPr lang="zh-CN" altLang="en-US" sz="2400" b="1" smtClean="0"/>
              <a:t>对于该应用程序来说，计算机资源是否充足？安装程序是否可以检测到资源的情况并做出适当的反应？ </a:t>
            </a:r>
            <a:endParaRPr lang="zh-CN" altLang="en-US" sz="2400" b="1" smtClean="0"/>
          </a:p>
        </p:txBody>
      </p:sp>
      <p:sp>
        <p:nvSpPr>
          <p:cNvPr id="97283" name="AutoShape 3">
            <a:hlinkClick r:id="" action="ppaction://noaction" highlightClick="1"/>
          </p:cNvPr>
          <p:cNvSpPr>
            <a:spLocks noChangeArrowheads="1"/>
          </p:cNvSpPr>
          <p:nvPr/>
        </p:nvSpPr>
        <p:spPr bwMode="auto">
          <a:xfrm>
            <a:off x="1547813" y="836613"/>
            <a:ext cx="4106862"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 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body" idx="1"/>
          </p:nvPr>
        </p:nvSpPr>
        <p:spPr>
          <a:xfrm>
            <a:off x="0" y="1844675"/>
            <a:ext cx="8893175" cy="5013325"/>
          </a:xfrm>
        </p:spPr>
        <p:txBody>
          <a:bodyPr/>
          <a:lstStyle/>
          <a:p>
            <a:pPr marL="713105" lvl="1" indent="-533400" defTabSz="284480" eaLnBrk="1" hangingPunct="1">
              <a:buFont typeface="Wingdings" panose="05000000000000000000" pitchFamily="2" charset="2"/>
              <a:buNone/>
              <a:tabLst>
                <a:tab pos="450850" algn="l"/>
              </a:tabLst>
            </a:pPr>
            <a:r>
              <a:rPr lang="en-US" altLang="zh-CN" sz="2400" smtClean="0"/>
              <a:t>       </a:t>
            </a:r>
            <a:r>
              <a:rPr lang="zh-CN" altLang="en-US" sz="2400" b="1" smtClean="0"/>
              <a:t>编写测试文档，该文档应该描述要执行的软件测试及测试的结果，主要包括以下部分：</a:t>
            </a:r>
            <a:endParaRPr lang="zh-CN" altLang="en-US" sz="2400" b="1" smtClean="0"/>
          </a:p>
          <a:p>
            <a:pPr marL="713105" lvl="1" indent="-533400" defTabSz="284480" eaLnBrk="1" hangingPunct="1">
              <a:tabLst>
                <a:tab pos="450850" algn="l"/>
              </a:tabLst>
            </a:pPr>
            <a:r>
              <a:rPr lang="zh-CN" altLang="en-US" sz="2400" b="1" smtClean="0"/>
              <a:t>测试计划：测试计划是测试工作的指导性文档，它规定测试活动的范围、方法、资源和进度，明确正在测试的项目、要测试的特性、要执行的测试任务、每个任务的负责人，以及与计划相关的风险。其主要内容包括测试目标、测试方法、测试范围、测试资源、测试环境和工具、测试体系结构、测试进度表等。</a:t>
            </a:r>
            <a:endParaRPr lang="zh-CN" altLang="en-US" sz="2400" b="1" smtClean="0"/>
          </a:p>
        </p:txBody>
      </p:sp>
      <p:sp>
        <p:nvSpPr>
          <p:cNvPr id="98307" name="AutoShape 3">
            <a:hlinkClick r:id="" action="ppaction://noaction" highlightClick="1"/>
          </p:cNvPr>
          <p:cNvSpPr>
            <a:spLocks noChangeArrowheads="1"/>
          </p:cNvSpPr>
          <p:nvPr/>
        </p:nvSpPr>
        <p:spPr bwMode="auto">
          <a:xfrm>
            <a:off x="1979613" y="476250"/>
            <a:ext cx="4106862"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en-US" altLang="zh-CN" sz="3600" b="1">
                <a:solidFill>
                  <a:srgbClr val="0A0A0E"/>
                </a:solidFill>
                <a:latin typeface="Times New Roman" panose="02020603050405020304" pitchFamily="18" charset="0"/>
              </a:rPr>
              <a:t>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CN" altLang="en-US" smtClean="0">
                <a:solidFill>
                  <a:schemeClr val="bg1"/>
                </a:solidFill>
              </a:rPr>
              <a:t>测试计划</a:t>
            </a:r>
            <a:endParaRPr lang="zh-CN" altLang="en-US" smtClean="0">
              <a:solidFill>
                <a:schemeClr val="bg1"/>
              </a:solidFill>
            </a:endParaRPr>
          </a:p>
        </p:txBody>
      </p:sp>
      <p:sp>
        <p:nvSpPr>
          <p:cNvPr id="99331" name="Rectangle 3"/>
          <p:cNvSpPr>
            <a:spLocks noGrp="1" noChangeArrowheads="1"/>
          </p:cNvSpPr>
          <p:nvPr>
            <p:ph type="body" idx="1"/>
          </p:nvPr>
        </p:nvSpPr>
        <p:spPr>
          <a:xfrm>
            <a:off x="1116013" y="692150"/>
            <a:ext cx="7772400" cy="4114800"/>
          </a:xfrm>
        </p:spPr>
        <p:txBody>
          <a:bodyPr/>
          <a:lstStyle/>
          <a:p>
            <a:pPr eaLnBrk="1" hangingPunct="1">
              <a:buClr>
                <a:schemeClr val="bg1"/>
              </a:buClr>
              <a:buFont typeface="Wingdings" panose="05000000000000000000" pitchFamily="2" charset="2"/>
              <a:buChar char="Ø"/>
            </a:pPr>
            <a:r>
              <a:rPr lang="en-US" altLang="zh-CN" b="1" smtClean="0">
                <a:solidFill>
                  <a:schemeClr val="bg1"/>
                </a:solidFill>
              </a:rPr>
              <a:t> </a:t>
            </a:r>
            <a:r>
              <a:rPr lang="zh-CN" altLang="en-US" sz="3600" b="1" smtClean="0">
                <a:solidFill>
                  <a:schemeClr val="tx1"/>
                </a:solidFill>
                <a:ea typeface="隶书" pitchFamily="49" charset="-122"/>
              </a:rPr>
              <a:t>测试计划的内容</a:t>
            </a:r>
            <a:endParaRPr lang="zh-CN" altLang="en-US" sz="3600" b="1" smtClean="0">
              <a:solidFill>
                <a:schemeClr val="tx1"/>
              </a:solidFill>
              <a:ea typeface="隶书" pitchFamily="49" charset="-122"/>
            </a:endParaRPr>
          </a:p>
          <a:p>
            <a:pPr eaLnBrk="1" hangingPunct="1">
              <a:buClr>
                <a:schemeClr val="bg1"/>
              </a:buClr>
              <a:buFont typeface="Wingdings" panose="05000000000000000000" pitchFamily="2" charset="2"/>
              <a:buNone/>
            </a:pPr>
            <a:endParaRPr lang="en-US" altLang="zh-CN" sz="3600" b="1" smtClean="0">
              <a:solidFill>
                <a:schemeClr val="tx1"/>
              </a:solidFill>
            </a:endParaRPr>
          </a:p>
        </p:txBody>
      </p:sp>
      <p:sp>
        <p:nvSpPr>
          <p:cNvPr id="1735684" name="AutoShape 4"/>
          <p:cNvSpPr>
            <a:spLocks noChangeArrowheads="1"/>
          </p:cNvSpPr>
          <p:nvPr/>
        </p:nvSpPr>
        <p:spPr bwMode="auto">
          <a:xfrm>
            <a:off x="395288" y="5410200"/>
            <a:ext cx="1263650" cy="658813"/>
          </a:xfrm>
          <a:prstGeom prst="homePlate">
            <a:avLst>
              <a:gd name="adj" fmla="val 25095"/>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99333" name="Text Box 5"/>
          <p:cNvSpPr txBox="1">
            <a:spLocks noChangeArrowheads="1"/>
          </p:cNvSpPr>
          <p:nvPr/>
        </p:nvSpPr>
        <p:spPr bwMode="auto">
          <a:xfrm>
            <a:off x="534988" y="5557838"/>
            <a:ext cx="982662" cy="365125"/>
          </a:xfrm>
          <a:prstGeom prst="rect">
            <a:avLst/>
          </a:prstGeom>
          <a:noFill/>
          <a:ln w="6350">
            <a:noFill/>
            <a:miter lim="800000"/>
          </a:ln>
        </p:spPr>
        <p:txBody>
          <a:bodyPr lIns="0" tIns="0" rIns="0" bIns="0" anchor="ctr">
            <a:spAutoFit/>
          </a:bodyPr>
          <a:lstStyle/>
          <a:p>
            <a:pPr eaLnBrk="0" hangingPunct="0"/>
            <a:r>
              <a:rPr lang="en-US" altLang="zh-CN" b="1">
                <a:solidFill>
                  <a:schemeClr val="bg1"/>
                </a:solidFill>
                <a:latin typeface="Arial" panose="020B0604020202020204" pitchFamily="34" charset="0"/>
              </a:rPr>
              <a:t>   </a:t>
            </a:r>
            <a:r>
              <a:rPr lang="zh-CN" altLang="en-US" b="1">
                <a:solidFill>
                  <a:schemeClr val="bg1"/>
                </a:solidFill>
                <a:latin typeface="Arial" panose="020B0604020202020204" pitchFamily="34" charset="0"/>
                <a:ea typeface="隶书" pitchFamily="49" charset="-122"/>
              </a:rPr>
              <a:t>五</a:t>
            </a:r>
            <a:endParaRPr lang="zh-CN" altLang="en-US" b="1">
              <a:solidFill>
                <a:schemeClr val="bg1"/>
              </a:solidFill>
              <a:latin typeface="Arial" panose="020B0604020202020204" pitchFamily="34" charset="0"/>
              <a:ea typeface="隶书" pitchFamily="49" charset="-122"/>
            </a:endParaRPr>
          </a:p>
        </p:txBody>
      </p:sp>
      <p:sp>
        <p:nvSpPr>
          <p:cNvPr id="99334" name="Freeform 6"/>
          <p:cNvSpPr/>
          <p:nvPr/>
        </p:nvSpPr>
        <p:spPr bwMode="auto">
          <a:xfrm>
            <a:off x="1598613" y="5410200"/>
            <a:ext cx="7204075" cy="658813"/>
          </a:xfrm>
          <a:custGeom>
            <a:avLst/>
            <a:gdLst>
              <a:gd name="T0" fmla="*/ 4538 w 4538"/>
              <a:gd name="T1" fmla="*/ 0 h 1080"/>
              <a:gd name="T2" fmla="*/ 0 w 4538"/>
              <a:gd name="T3" fmla="*/ 0 h 1080"/>
              <a:gd name="T4" fmla="*/ 105 w 4538"/>
              <a:gd name="T5" fmla="*/ 541 h 1080"/>
              <a:gd name="T6" fmla="*/ 0 w 4538"/>
              <a:gd name="T7" fmla="*/ 1080 h 1080"/>
              <a:gd name="T8" fmla="*/ 4538 w 4538"/>
              <a:gd name="T9" fmla="*/ 1080 h 1080"/>
              <a:gd name="T10" fmla="*/ 4538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noFill/>
          <a:ln w="6350" cmpd="sng">
            <a:solidFill>
              <a:srgbClr val="000000"/>
            </a:solidFill>
            <a:prstDash val="solid"/>
            <a:round/>
          </a:ln>
        </p:spPr>
        <p:txBody>
          <a:bodyPr/>
          <a:lstStyle/>
          <a:p>
            <a:endParaRPr lang="zh-CN" altLang="en-US"/>
          </a:p>
        </p:txBody>
      </p:sp>
      <p:sp>
        <p:nvSpPr>
          <p:cNvPr id="1735687" name="Rectangle 7"/>
          <p:cNvSpPr>
            <a:spLocks noChangeArrowheads="1"/>
          </p:cNvSpPr>
          <p:nvPr/>
        </p:nvSpPr>
        <p:spPr bwMode="auto">
          <a:xfrm>
            <a:off x="1924050" y="5557838"/>
            <a:ext cx="6724650" cy="365125"/>
          </a:xfrm>
          <a:prstGeom prst="rect">
            <a:avLst/>
          </a:prstGeom>
          <a:noFill/>
          <a:ln w="6350">
            <a:noFill/>
            <a:miter lim="800000"/>
          </a:ln>
        </p:spPr>
        <p:txBody>
          <a:bodyPr lIns="0" tIns="0" rIns="0" bIns="0" anchor="ctr">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ea typeface="隶书" pitchFamily="49" charset="-122"/>
              </a:rPr>
              <a:t>制定衡量测试成功与完成的准则。</a:t>
            </a:r>
            <a:endParaRPr lang="zh-CN" altLang="de-DE" b="1">
              <a:ea typeface="隶书" pitchFamily="49" charset="-122"/>
            </a:endParaRPr>
          </a:p>
        </p:txBody>
      </p:sp>
      <p:sp>
        <p:nvSpPr>
          <p:cNvPr id="1735688" name="AutoShape 8"/>
          <p:cNvSpPr>
            <a:spLocks noChangeArrowheads="1"/>
          </p:cNvSpPr>
          <p:nvPr/>
        </p:nvSpPr>
        <p:spPr bwMode="auto">
          <a:xfrm>
            <a:off x="395288" y="4662488"/>
            <a:ext cx="1263650" cy="658812"/>
          </a:xfrm>
          <a:prstGeom prst="homePlate">
            <a:avLst>
              <a:gd name="adj" fmla="val 25095"/>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99337" name="Text Box 9"/>
          <p:cNvSpPr txBox="1">
            <a:spLocks noChangeArrowheads="1"/>
          </p:cNvSpPr>
          <p:nvPr/>
        </p:nvSpPr>
        <p:spPr bwMode="auto">
          <a:xfrm>
            <a:off x="534988" y="4810125"/>
            <a:ext cx="982662" cy="365125"/>
          </a:xfrm>
          <a:prstGeom prst="rect">
            <a:avLst/>
          </a:prstGeom>
          <a:noFill/>
          <a:ln w="6350">
            <a:noFill/>
            <a:miter lim="800000"/>
          </a:ln>
        </p:spPr>
        <p:txBody>
          <a:bodyPr lIns="0" tIns="0" rIns="0" bIns="0" anchor="ctr">
            <a:spAutoFit/>
          </a:bodyPr>
          <a:lstStyle/>
          <a:p>
            <a:pPr eaLnBrk="0" hangingPunct="0"/>
            <a:r>
              <a:rPr lang="en-US" altLang="zh-CN" b="1">
                <a:solidFill>
                  <a:schemeClr val="bg1"/>
                </a:solidFill>
                <a:latin typeface="Arial" panose="020B0604020202020204" pitchFamily="34" charset="0"/>
              </a:rPr>
              <a:t>   </a:t>
            </a:r>
            <a:r>
              <a:rPr lang="zh-CN" altLang="en-US" b="1">
                <a:solidFill>
                  <a:schemeClr val="bg1"/>
                </a:solidFill>
                <a:latin typeface="Arial" panose="020B0604020202020204" pitchFamily="34" charset="0"/>
                <a:ea typeface="隶书" pitchFamily="49" charset="-122"/>
              </a:rPr>
              <a:t>四</a:t>
            </a:r>
            <a:endParaRPr lang="zh-CN" altLang="en-US" b="1">
              <a:solidFill>
                <a:schemeClr val="bg1"/>
              </a:solidFill>
              <a:latin typeface="Arial" panose="020B0604020202020204" pitchFamily="34" charset="0"/>
              <a:ea typeface="隶书" pitchFamily="49" charset="-122"/>
            </a:endParaRPr>
          </a:p>
        </p:txBody>
      </p:sp>
      <p:sp>
        <p:nvSpPr>
          <p:cNvPr id="99338" name="Freeform 10"/>
          <p:cNvSpPr/>
          <p:nvPr/>
        </p:nvSpPr>
        <p:spPr bwMode="auto">
          <a:xfrm>
            <a:off x="1598613" y="4662488"/>
            <a:ext cx="7204075" cy="658812"/>
          </a:xfrm>
          <a:custGeom>
            <a:avLst/>
            <a:gdLst>
              <a:gd name="T0" fmla="*/ 4538 w 4538"/>
              <a:gd name="T1" fmla="*/ 0 h 1080"/>
              <a:gd name="T2" fmla="*/ 0 w 4538"/>
              <a:gd name="T3" fmla="*/ 0 h 1080"/>
              <a:gd name="T4" fmla="*/ 105 w 4538"/>
              <a:gd name="T5" fmla="*/ 541 h 1080"/>
              <a:gd name="T6" fmla="*/ 0 w 4538"/>
              <a:gd name="T7" fmla="*/ 1080 h 1080"/>
              <a:gd name="T8" fmla="*/ 4538 w 4538"/>
              <a:gd name="T9" fmla="*/ 1080 h 1080"/>
              <a:gd name="T10" fmla="*/ 4538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noFill/>
          <a:ln w="6350" cmpd="sng">
            <a:solidFill>
              <a:srgbClr val="000000"/>
            </a:solidFill>
            <a:prstDash val="solid"/>
            <a:round/>
          </a:ln>
        </p:spPr>
        <p:txBody>
          <a:bodyPr/>
          <a:lstStyle/>
          <a:p>
            <a:endParaRPr lang="zh-CN" altLang="en-US"/>
          </a:p>
        </p:txBody>
      </p:sp>
      <p:sp>
        <p:nvSpPr>
          <p:cNvPr id="1735691" name="Rectangle 11"/>
          <p:cNvSpPr>
            <a:spLocks noChangeArrowheads="1"/>
          </p:cNvSpPr>
          <p:nvPr/>
        </p:nvSpPr>
        <p:spPr bwMode="auto">
          <a:xfrm>
            <a:off x="1924050" y="4591050"/>
            <a:ext cx="6724650" cy="803275"/>
          </a:xfrm>
          <a:prstGeom prst="rect">
            <a:avLst/>
          </a:prstGeom>
          <a:noFill/>
          <a:ln w="6350">
            <a:noFill/>
            <a:miter lim="800000"/>
          </a:ln>
        </p:spPr>
        <p:txBody>
          <a:bodyPr lIns="0" tIns="0" rIns="0" bIns="0" anchor="ctr">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ea typeface="隶书" pitchFamily="49" charset="-122"/>
              </a:rPr>
              <a:t>建立用于计划和进行测试以及报告测试</a:t>
            </a:r>
            <a:endParaRPr lang="zh-CN" altLang="en-US" b="1">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ea typeface="隶书" pitchFamily="49" charset="-122"/>
              </a:rPr>
              <a:t>结果的规程和标准；</a:t>
            </a:r>
            <a:endParaRPr lang="zh-CN" altLang="de-DE" b="1">
              <a:ea typeface="隶书" pitchFamily="49" charset="-122"/>
            </a:endParaRPr>
          </a:p>
        </p:txBody>
      </p:sp>
      <p:sp>
        <p:nvSpPr>
          <p:cNvPr id="1735692" name="AutoShape 12"/>
          <p:cNvSpPr>
            <a:spLocks noChangeArrowheads="1"/>
          </p:cNvSpPr>
          <p:nvPr/>
        </p:nvSpPr>
        <p:spPr bwMode="auto">
          <a:xfrm>
            <a:off x="395288" y="3914775"/>
            <a:ext cx="1263650" cy="658813"/>
          </a:xfrm>
          <a:prstGeom prst="homePlate">
            <a:avLst>
              <a:gd name="adj" fmla="val 25095"/>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99341" name="Text Box 13"/>
          <p:cNvSpPr txBox="1">
            <a:spLocks noChangeArrowheads="1"/>
          </p:cNvSpPr>
          <p:nvPr/>
        </p:nvSpPr>
        <p:spPr bwMode="auto">
          <a:xfrm>
            <a:off x="534988" y="4062413"/>
            <a:ext cx="982662" cy="365125"/>
          </a:xfrm>
          <a:prstGeom prst="rect">
            <a:avLst/>
          </a:prstGeom>
          <a:noFill/>
          <a:ln w="6350">
            <a:noFill/>
            <a:miter lim="800000"/>
          </a:ln>
        </p:spPr>
        <p:txBody>
          <a:bodyPr lIns="0" tIns="0" rIns="0" bIns="0" anchor="ctr">
            <a:spAutoFit/>
          </a:bodyPr>
          <a:lstStyle/>
          <a:p>
            <a:pPr eaLnBrk="0" hangingPunct="0"/>
            <a:r>
              <a:rPr lang="en-US" altLang="zh-CN" b="1">
                <a:solidFill>
                  <a:schemeClr val="bg1"/>
                </a:solidFill>
                <a:latin typeface="Arial" panose="020B0604020202020204" pitchFamily="34" charset="0"/>
              </a:rPr>
              <a:t>   </a:t>
            </a:r>
            <a:r>
              <a:rPr lang="zh-CN" altLang="en-US" b="1">
                <a:solidFill>
                  <a:schemeClr val="bg1"/>
                </a:solidFill>
                <a:latin typeface="Arial" panose="020B0604020202020204" pitchFamily="34" charset="0"/>
                <a:ea typeface="隶书" pitchFamily="49" charset="-122"/>
              </a:rPr>
              <a:t>三</a:t>
            </a:r>
            <a:endParaRPr lang="zh-CN" altLang="en-US" b="1">
              <a:solidFill>
                <a:schemeClr val="bg1"/>
              </a:solidFill>
              <a:latin typeface="Arial" panose="020B0604020202020204" pitchFamily="34" charset="0"/>
              <a:ea typeface="隶书" pitchFamily="49" charset="-122"/>
            </a:endParaRPr>
          </a:p>
        </p:txBody>
      </p:sp>
      <p:sp>
        <p:nvSpPr>
          <p:cNvPr id="99342" name="Freeform 14"/>
          <p:cNvSpPr/>
          <p:nvPr/>
        </p:nvSpPr>
        <p:spPr bwMode="auto">
          <a:xfrm>
            <a:off x="1598613" y="3914775"/>
            <a:ext cx="7204075" cy="658813"/>
          </a:xfrm>
          <a:custGeom>
            <a:avLst/>
            <a:gdLst>
              <a:gd name="T0" fmla="*/ 4538 w 4538"/>
              <a:gd name="T1" fmla="*/ 0 h 1080"/>
              <a:gd name="T2" fmla="*/ 0 w 4538"/>
              <a:gd name="T3" fmla="*/ 0 h 1080"/>
              <a:gd name="T4" fmla="*/ 105 w 4538"/>
              <a:gd name="T5" fmla="*/ 541 h 1080"/>
              <a:gd name="T6" fmla="*/ 0 w 4538"/>
              <a:gd name="T7" fmla="*/ 1080 h 1080"/>
              <a:gd name="T8" fmla="*/ 4538 w 4538"/>
              <a:gd name="T9" fmla="*/ 1080 h 1080"/>
              <a:gd name="T10" fmla="*/ 4538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noFill/>
          <a:ln w="6350" cmpd="sng">
            <a:solidFill>
              <a:srgbClr val="000000"/>
            </a:solidFill>
            <a:prstDash val="solid"/>
            <a:round/>
          </a:ln>
        </p:spPr>
        <p:txBody>
          <a:bodyPr/>
          <a:lstStyle/>
          <a:p>
            <a:endParaRPr lang="zh-CN" altLang="en-US"/>
          </a:p>
        </p:txBody>
      </p:sp>
      <p:sp>
        <p:nvSpPr>
          <p:cNvPr id="1735695" name="Rectangle 15"/>
          <p:cNvSpPr>
            <a:spLocks noChangeArrowheads="1"/>
          </p:cNvSpPr>
          <p:nvPr/>
        </p:nvSpPr>
        <p:spPr bwMode="auto">
          <a:xfrm>
            <a:off x="1924050" y="4062413"/>
            <a:ext cx="6724650" cy="365125"/>
          </a:xfrm>
          <a:prstGeom prst="rect">
            <a:avLst/>
          </a:prstGeom>
          <a:noFill/>
          <a:ln w="6350">
            <a:noFill/>
            <a:miter lim="800000"/>
          </a:ln>
        </p:spPr>
        <p:txBody>
          <a:bodyPr lIns="0" tIns="0" rIns="0" bIns="0" anchor="ctr">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ea typeface="隶书" pitchFamily="49" charset="-122"/>
              </a:rPr>
              <a:t>确定工具、设施和测试库的可用性；</a:t>
            </a:r>
            <a:endParaRPr lang="zh-CN" altLang="de-DE" b="1">
              <a:ea typeface="隶书" pitchFamily="49" charset="-122"/>
            </a:endParaRPr>
          </a:p>
        </p:txBody>
      </p:sp>
      <p:sp>
        <p:nvSpPr>
          <p:cNvPr id="1735696" name="AutoShape 16"/>
          <p:cNvSpPr>
            <a:spLocks noChangeArrowheads="1"/>
          </p:cNvSpPr>
          <p:nvPr/>
        </p:nvSpPr>
        <p:spPr bwMode="auto">
          <a:xfrm>
            <a:off x="395288" y="3167063"/>
            <a:ext cx="1263650" cy="658812"/>
          </a:xfrm>
          <a:prstGeom prst="homePlate">
            <a:avLst>
              <a:gd name="adj" fmla="val 25095"/>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99345" name="Text Box 17"/>
          <p:cNvSpPr txBox="1">
            <a:spLocks noChangeArrowheads="1"/>
          </p:cNvSpPr>
          <p:nvPr/>
        </p:nvSpPr>
        <p:spPr bwMode="auto">
          <a:xfrm>
            <a:off x="534988" y="3314700"/>
            <a:ext cx="982662" cy="365125"/>
          </a:xfrm>
          <a:prstGeom prst="rect">
            <a:avLst/>
          </a:prstGeom>
          <a:noFill/>
          <a:ln w="6350">
            <a:noFill/>
            <a:miter lim="800000"/>
          </a:ln>
        </p:spPr>
        <p:txBody>
          <a:bodyPr lIns="0" tIns="0" rIns="0" bIns="0" anchor="ctr">
            <a:spAutoFit/>
          </a:bodyPr>
          <a:lstStyle/>
          <a:p>
            <a:pPr eaLnBrk="0" hangingPunct="0"/>
            <a:r>
              <a:rPr lang="en-US" altLang="zh-CN" b="1">
                <a:solidFill>
                  <a:schemeClr val="bg1"/>
                </a:solidFill>
                <a:latin typeface="Arial" panose="020B0604020202020204" pitchFamily="34" charset="0"/>
              </a:rPr>
              <a:t>   </a:t>
            </a:r>
            <a:r>
              <a:rPr lang="zh-CN" altLang="en-US" b="1">
                <a:solidFill>
                  <a:schemeClr val="bg1"/>
                </a:solidFill>
                <a:latin typeface="Arial" panose="020B0604020202020204" pitchFamily="34" charset="0"/>
                <a:ea typeface="隶书" pitchFamily="49" charset="-122"/>
              </a:rPr>
              <a:t>二</a:t>
            </a:r>
            <a:endParaRPr lang="zh-CN" altLang="en-US" b="1">
              <a:solidFill>
                <a:schemeClr val="bg1"/>
              </a:solidFill>
              <a:latin typeface="Arial" panose="020B0604020202020204" pitchFamily="34" charset="0"/>
              <a:ea typeface="隶书" pitchFamily="49" charset="-122"/>
            </a:endParaRPr>
          </a:p>
        </p:txBody>
      </p:sp>
      <p:sp>
        <p:nvSpPr>
          <p:cNvPr id="99346" name="Freeform 18"/>
          <p:cNvSpPr/>
          <p:nvPr/>
        </p:nvSpPr>
        <p:spPr bwMode="auto">
          <a:xfrm>
            <a:off x="1598613" y="3167063"/>
            <a:ext cx="7204075" cy="658812"/>
          </a:xfrm>
          <a:custGeom>
            <a:avLst/>
            <a:gdLst>
              <a:gd name="T0" fmla="*/ 4538 w 4538"/>
              <a:gd name="T1" fmla="*/ 0 h 1080"/>
              <a:gd name="T2" fmla="*/ 0 w 4538"/>
              <a:gd name="T3" fmla="*/ 0 h 1080"/>
              <a:gd name="T4" fmla="*/ 105 w 4538"/>
              <a:gd name="T5" fmla="*/ 541 h 1080"/>
              <a:gd name="T6" fmla="*/ 0 w 4538"/>
              <a:gd name="T7" fmla="*/ 1080 h 1080"/>
              <a:gd name="T8" fmla="*/ 4538 w 4538"/>
              <a:gd name="T9" fmla="*/ 1080 h 1080"/>
              <a:gd name="T10" fmla="*/ 4538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noFill/>
          <a:ln w="6350" cmpd="sng">
            <a:solidFill>
              <a:srgbClr val="000000"/>
            </a:solidFill>
            <a:prstDash val="solid"/>
            <a:round/>
          </a:ln>
        </p:spPr>
        <p:txBody>
          <a:bodyPr/>
          <a:lstStyle/>
          <a:p>
            <a:endParaRPr lang="zh-CN" altLang="en-US"/>
          </a:p>
        </p:txBody>
      </p:sp>
      <p:sp>
        <p:nvSpPr>
          <p:cNvPr id="1735699" name="Rectangle 19"/>
          <p:cNvSpPr>
            <a:spLocks noChangeArrowheads="1"/>
          </p:cNvSpPr>
          <p:nvPr/>
        </p:nvSpPr>
        <p:spPr bwMode="auto">
          <a:xfrm>
            <a:off x="1924050" y="3314700"/>
            <a:ext cx="6724650" cy="365125"/>
          </a:xfrm>
          <a:prstGeom prst="rect">
            <a:avLst/>
          </a:prstGeom>
          <a:noFill/>
          <a:ln w="6350">
            <a:noFill/>
            <a:miter lim="800000"/>
          </a:ln>
        </p:spPr>
        <p:txBody>
          <a:bodyPr lIns="0" tIns="0" rIns="0" bIns="0" anchor="ctr">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ea typeface="隶书" pitchFamily="49" charset="-122"/>
              </a:rPr>
              <a:t>确定每项测试活动的进度和职责；</a:t>
            </a:r>
            <a:endParaRPr lang="zh-CN" altLang="de-DE" b="1">
              <a:ea typeface="隶书" pitchFamily="49" charset="-122"/>
            </a:endParaRPr>
          </a:p>
        </p:txBody>
      </p:sp>
      <p:sp>
        <p:nvSpPr>
          <p:cNvPr id="1735700" name="AutoShape 20"/>
          <p:cNvSpPr>
            <a:spLocks noChangeArrowheads="1"/>
          </p:cNvSpPr>
          <p:nvPr/>
        </p:nvSpPr>
        <p:spPr bwMode="auto">
          <a:xfrm>
            <a:off x="395288" y="2420938"/>
            <a:ext cx="1263650" cy="658812"/>
          </a:xfrm>
          <a:prstGeom prst="homePlate">
            <a:avLst>
              <a:gd name="adj" fmla="val 25095"/>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99349" name="Text Box 21"/>
          <p:cNvSpPr txBox="1">
            <a:spLocks noChangeArrowheads="1"/>
          </p:cNvSpPr>
          <p:nvPr/>
        </p:nvSpPr>
        <p:spPr bwMode="auto">
          <a:xfrm>
            <a:off x="534988" y="2568575"/>
            <a:ext cx="982662" cy="365125"/>
          </a:xfrm>
          <a:prstGeom prst="rect">
            <a:avLst/>
          </a:prstGeom>
          <a:noFill/>
          <a:ln w="6350">
            <a:noFill/>
            <a:miter lim="800000"/>
          </a:ln>
        </p:spPr>
        <p:txBody>
          <a:bodyPr lIns="0" tIns="0" rIns="0" bIns="0" anchor="ctr">
            <a:spAutoFit/>
          </a:bodyPr>
          <a:lstStyle/>
          <a:p>
            <a:pPr eaLnBrk="0" hangingPunct="0"/>
            <a:r>
              <a:rPr lang="en-US" altLang="zh-CN" b="1">
                <a:solidFill>
                  <a:schemeClr val="bg1"/>
                </a:solidFill>
                <a:latin typeface="Arial" panose="020B0604020202020204" pitchFamily="34" charset="0"/>
              </a:rPr>
              <a:t>   </a:t>
            </a:r>
            <a:r>
              <a:rPr lang="zh-CN" altLang="en-US" b="1">
                <a:solidFill>
                  <a:schemeClr val="bg1"/>
                </a:solidFill>
                <a:latin typeface="Arial" panose="020B0604020202020204" pitchFamily="34" charset="0"/>
                <a:ea typeface="隶书" pitchFamily="49" charset="-122"/>
              </a:rPr>
              <a:t>一</a:t>
            </a:r>
            <a:endParaRPr lang="zh-CN" altLang="en-US" b="1">
              <a:solidFill>
                <a:schemeClr val="bg1"/>
              </a:solidFill>
              <a:latin typeface="Arial" panose="020B0604020202020204" pitchFamily="34" charset="0"/>
              <a:ea typeface="隶书" pitchFamily="49" charset="-122"/>
            </a:endParaRPr>
          </a:p>
        </p:txBody>
      </p:sp>
      <p:sp>
        <p:nvSpPr>
          <p:cNvPr id="99350" name="Freeform 22"/>
          <p:cNvSpPr/>
          <p:nvPr/>
        </p:nvSpPr>
        <p:spPr bwMode="auto">
          <a:xfrm>
            <a:off x="1598613" y="2420938"/>
            <a:ext cx="7204075" cy="658812"/>
          </a:xfrm>
          <a:custGeom>
            <a:avLst/>
            <a:gdLst>
              <a:gd name="T0" fmla="*/ 4538 w 4538"/>
              <a:gd name="T1" fmla="*/ 0 h 1080"/>
              <a:gd name="T2" fmla="*/ 0 w 4538"/>
              <a:gd name="T3" fmla="*/ 0 h 1080"/>
              <a:gd name="T4" fmla="*/ 105 w 4538"/>
              <a:gd name="T5" fmla="*/ 541 h 1080"/>
              <a:gd name="T6" fmla="*/ 0 w 4538"/>
              <a:gd name="T7" fmla="*/ 1080 h 1080"/>
              <a:gd name="T8" fmla="*/ 4538 w 4538"/>
              <a:gd name="T9" fmla="*/ 1080 h 1080"/>
              <a:gd name="T10" fmla="*/ 4538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noFill/>
          <a:ln w="6350" cmpd="sng">
            <a:solidFill>
              <a:srgbClr val="000000"/>
            </a:solidFill>
            <a:prstDash val="solid"/>
            <a:round/>
          </a:ln>
        </p:spPr>
        <p:txBody>
          <a:bodyPr/>
          <a:lstStyle/>
          <a:p>
            <a:endParaRPr lang="zh-CN" altLang="en-US"/>
          </a:p>
        </p:txBody>
      </p:sp>
      <p:sp>
        <p:nvSpPr>
          <p:cNvPr id="1735703" name="Rectangle 23"/>
          <p:cNvSpPr>
            <a:spLocks noChangeArrowheads="1"/>
          </p:cNvSpPr>
          <p:nvPr/>
        </p:nvSpPr>
        <p:spPr bwMode="auto">
          <a:xfrm>
            <a:off x="1924050" y="2568575"/>
            <a:ext cx="6724650" cy="365125"/>
          </a:xfrm>
          <a:prstGeom prst="rect">
            <a:avLst/>
          </a:prstGeom>
          <a:noFill/>
          <a:ln w="6350">
            <a:noFill/>
            <a:miter lim="800000"/>
          </a:ln>
        </p:spPr>
        <p:txBody>
          <a:bodyPr lIns="0" tIns="0" rIns="0" bIns="0" anchor="ctr">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ea typeface="隶书" pitchFamily="49" charset="-122"/>
              </a:rPr>
              <a:t>建立每个测试阶段的目标；</a:t>
            </a:r>
            <a:endParaRPr lang="zh-CN" altLang="de-DE" b="1">
              <a:ea typeface="隶书"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35703">
                                            <p:txEl>
                                              <p:pRg st="0" end="0"/>
                                            </p:txEl>
                                          </p:spTgt>
                                        </p:tgtEl>
                                        <p:attrNameLst>
                                          <p:attrName>style.visibility</p:attrName>
                                        </p:attrNameLst>
                                      </p:cBhvr>
                                      <p:to>
                                        <p:strVal val="visible"/>
                                      </p:to>
                                    </p:set>
                                    <p:animEffect transition="in" filter="blinds(horizontal)">
                                      <p:cBhvr>
                                        <p:cTn id="7" dur="500"/>
                                        <p:tgtEl>
                                          <p:spTgt spid="1735703">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35699">
                                            <p:txEl>
                                              <p:pRg st="0" end="0"/>
                                            </p:txEl>
                                          </p:spTgt>
                                        </p:tgtEl>
                                        <p:attrNameLst>
                                          <p:attrName>style.visibility</p:attrName>
                                        </p:attrNameLst>
                                      </p:cBhvr>
                                      <p:to>
                                        <p:strVal val="visible"/>
                                      </p:to>
                                    </p:set>
                                    <p:animEffect transition="in" filter="blinds(horizontal)">
                                      <p:cBhvr>
                                        <p:cTn id="11" dur="500"/>
                                        <p:tgtEl>
                                          <p:spTgt spid="1735699">
                                            <p:txEl>
                                              <p:pRg st="0" end="0"/>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35695">
                                            <p:txEl>
                                              <p:pRg st="0" end="0"/>
                                            </p:txEl>
                                          </p:spTgt>
                                        </p:tgtEl>
                                        <p:attrNameLst>
                                          <p:attrName>style.visibility</p:attrName>
                                        </p:attrNameLst>
                                      </p:cBhvr>
                                      <p:to>
                                        <p:strVal val="visible"/>
                                      </p:to>
                                    </p:set>
                                    <p:animEffect transition="in" filter="blinds(horizontal)">
                                      <p:cBhvr>
                                        <p:cTn id="15" dur="500"/>
                                        <p:tgtEl>
                                          <p:spTgt spid="1735695">
                                            <p:txEl>
                                              <p:pRg st="0" end="0"/>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35691">
                                            <p:txEl>
                                              <p:pRg st="0" end="0"/>
                                            </p:txEl>
                                          </p:spTgt>
                                        </p:tgtEl>
                                        <p:attrNameLst>
                                          <p:attrName>style.visibility</p:attrName>
                                        </p:attrNameLst>
                                      </p:cBhvr>
                                      <p:to>
                                        <p:strVal val="visible"/>
                                      </p:to>
                                    </p:set>
                                    <p:animEffect transition="in" filter="blinds(horizontal)">
                                      <p:cBhvr>
                                        <p:cTn id="19" dur="500"/>
                                        <p:tgtEl>
                                          <p:spTgt spid="1735691">
                                            <p:txEl>
                                              <p:pRg st="0" end="0"/>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735691">
                                            <p:txEl>
                                              <p:pRg st="1" end="1"/>
                                            </p:txEl>
                                          </p:spTgt>
                                        </p:tgtEl>
                                        <p:attrNameLst>
                                          <p:attrName>style.visibility</p:attrName>
                                        </p:attrNameLst>
                                      </p:cBhvr>
                                      <p:to>
                                        <p:strVal val="visible"/>
                                      </p:to>
                                    </p:set>
                                    <p:animEffect transition="in" filter="blinds(horizontal)">
                                      <p:cBhvr>
                                        <p:cTn id="23" dur="500"/>
                                        <p:tgtEl>
                                          <p:spTgt spid="1735691">
                                            <p:txEl>
                                              <p:pRg st="1" end="1"/>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735687">
                                            <p:txEl>
                                              <p:pRg st="0" end="0"/>
                                            </p:txEl>
                                          </p:spTgt>
                                        </p:tgtEl>
                                        <p:attrNameLst>
                                          <p:attrName>style.visibility</p:attrName>
                                        </p:attrNameLst>
                                      </p:cBhvr>
                                      <p:to>
                                        <p:strVal val="visible"/>
                                      </p:to>
                                    </p:set>
                                    <p:animEffect transition="in" filter="blinds(horizontal)">
                                      <p:cBhvr>
                                        <p:cTn id="27" dur="500"/>
                                        <p:tgtEl>
                                          <p:spTgt spid="17356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body" idx="1"/>
          </p:nvPr>
        </p:nvSpPr>
        <p:spPr>
          <a:xfrm>
            <a:off x="0" y="1844675"/>
            <a:ext cx="8893175" cy="5013325"/>
          </a:xfrm>
        </p:spPr>
        <p:txBody>
          <a:bodyPr/>
          <a:lstStyle/>
          <a:p>
            <a:pPr marL="713105" lvl="1" indent="-533400" defTabSz="284480" eaLnBrk="1" hangingPunct="1">
              <a:buFont typeface="Wingdings" panose="05000000000000000000" pitchFamily="2" charset="2"/>
              <a:buNone/>
              <a:tabLst>
                <a:tab pos="450850" algn="l"/>
              </a:tabLst>
            </a:pPr>
            <a:r>
              <a:rPr lang="en-US" altLang="zh-CN" sz="2400" smtClean="0"/>
              <a:t>       </a:t>
            </a:r>
            <a:r>
              <a:rPr lang="zh-CN" altLang="en-US" sz="2400" b="1" smtClean="0"/>
              <a:t>编写测试文档，该文档应该描述要执行的软件测试及测试的结果，主要包括以下部分：</a:t>
            </a:r>
            <a:endParaRPr lang="zh-CN" altLang="en-US" sz="2400" b="1" smtClean="0"/>
          </a:p>
          <a:p>
            <a:pPr marL="713105" lvl="1" indent="-533400" defTabSz="284480" eaLnBrk="1" hangingPunct="1">
              <a:buFont typeface="Wingdings" panose="05000000000000000000" pitchFamily="2" charset="2"/>
              <a:buNone/>
              <a:tabLst>
                <a:tab pos="450850" algn="l"/>
              </a:tabLst>
            </a:pPr>
            <a:endParaRPr lang="zh-CN" altLang="en-US" sz="2400" b="1" smtClean="0"/>
          </a:p>
          <a:p>
            <a:pPr marL="713105" lvl="1" indent="-533400" defTabSz="284480" eaLnBrk="1" hangingPunct="1">
              <a:tabLst>
                <a:tab pos="450850" algn="l"/>
              </a:tabLst>
            </a:pPr>
            <a:r>
              <a:rPr lang="zh-CN" altLang="en-US" sz="2400" b="1" smtClean="0"/>
              <a:t>测试用例：测试用例是数据输入和期望结果组成的对，其中</a:t>
            </a:r>
            <a:r>
              <a:rPr lang="zh-CN" altLang="en-US" sz="2400" b="1" smtClean="0">
                <a:latin typeface="Arial" panose="020B0604020202020204" pitchFamily="34" charset="0"/>
              </a:rPr>
              <a:t>“</a:t>
            </a:r>
            <a:r>
              <a:rPr lang="zh-CN" altLang="en-US" sz="2400" b="1" smtClean="0"/>
              <a:t>输入</a:t>
            </a:r>
            <a:r>
              <a:rPr lang="zh-CN" altLang="en-US" sz="2400" b="1" smtClean="0">
                <a:latin typeface="Arial" panose="020B0604020202020204" pitchFamily="34" charset="0"/>
              </a:rPr>
              <a:t>”</a:t>
            </a:r>
            <a:r>
              <a:rPr lang="zh-CN" altLang="en-US" sz="2400" b="1" smtClean="0"/>
              <a:t>是对被测软件接收外界数据的描述，</a:t>
            </a:r>
            <a:r>
              <a:rPr lang="zh-CN" altLang="en-US" sz="2400" b="1" smtClean="0">
                <a:latin typeface="Arial" panose="020B0604020202020204" pitchFamily="34" charset="0"/>
              </a:rPr>
              <a:t>“</a:t>
            </a:r>
            <a:r>
              <a:rPr lang="zh-CN" altLang="en-US" sz="2400" b="1" smtClean="0"/>
              <a:t>期望结果</a:t>
            </a:r>
            <a:r>
              <a:rPr lang="zh-CN" altLang="en-US" sz="2400" b="1" smtClean="0">
                <a:latin typeface="Arial" panose="020B0604020202020204" pitchFamily="34" charset="0"/>
              </a:rPr>
              <a:t>”</a:t>
            </a:r>
            <a:r>
              <a:rPr lang="zh-CN" altLang="en-US" sz="2400" b="1" smtClean="0"/>
              <a:t>是对于相应输入软件应该出现的输出结果的描述，测试用例还应明确指出使用具体测试案例产生的测试程序的任何限制。测试用例可以被组织成一个测试系列，即为实现某个特定的测试目的而设计的一组测试用例。</a:t>
            </a:r>
            <a:endParaRPr lang="zh-CN" altLang="en-US" sz="2400" b="1" smtClean="0"/>
          </a:p>
        </p:txBody>
      </p:sp>
      <p:sp>
        <p:nvSpPr>
          <p:cNvPr id="100355" name="AutoShape 3">
            <a:hlinkClick r:id="" action="ppaction://noaction" highlightClick="1"/>
          </p:cNvPr>
          <p:cNvSpPr>
            <a:spLocks noChangeArrowheads="1"/>
          </p:cNvSpPr>
          <p:nvPr/>
        </p:nvSpPr>
        <p:spPr bwMode="auto">
          <a:xfrm>
            <a:off x="1979613" y="476250"/>
            <a:ext cx="4106862"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en-US" altLang="zh-CN" sz="3600" b="1">
                <a:solidFill>
                  <a:srgbClr val="0A0A0E"/>
                </a:solidFill>
                <a:latin typeface="Times New Roman" panose="02020603050405020304" pitchFamily="18" charset="0"/>
              </a:rPr>
              <a:t>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body" idx="1"/>
          </p:nvPr>
        </p:nvSpPr>
        <p:spPr>
          <a:xfrm>
            <a:off x="0" y="1557338"/>
            <a:ext cx="8893175" cy="5013325"/>
          </a:xfrm>
        </p:spPr>
        <p:txBody>
          <a:bodyPr/>
          <a:lstStyle/>
          <a:p>
            <a:pPr marL="713105" lvl="1" indent="-533400" defTabSz="284480" eaLnBrk="1" hangingPunct="1">
              <a:buFont typeface="Wingdings" panose="05000000000000000000" pitchFamily="2" charset="2"/>
              <a:buNone/>
              <a:tabLst>
                <a:tab pos="450850" algn="l"/>
              </a:tabLst>
            </a:pPr>
            <a:endParaRPr lang="en-US" altLang="zh-CN" sz="1800" b="1" smtClean="0"/>
          </a:p>
          <a:p>
            <a:pPr marL="713105" lvl="1" indent="-533400" defTabSz="284480" eaLnBrk="1" hangingPunct="1">
              <a:tabLst>
                <a:tab pos="450850" algn="l"/>
              </a:tabLst>
            </a:pPr>
            <a:r>
              <a:rPr lang="zh-CN" altLang="en-US" sz="2400" b="1" smtClean="0"/>
              <a:t>缺陷报告：缺陷报告是编写在需要调查研究的测试过程期间发生的任何事件，即记录软件缺陷。其主要内容包括缺陷编号、题目、状态、提出、解决、所属项目、测试环境、缺限报告执行步骤、期待结果、附件等。在报告缺陷时，一般要讲明缺限的严重性和优先级。其中严重性表示软件的恶劣程度，反映其对产品和用户的影响；优先级表示修复缺陷的重要程度和应该何时修复。</a:t>
            </a:r>
            <a:endParaRPr lang="zh-CN" altLang="en-US" sz="2400" b="1" smtClean="0"/>
          </a:p>
          <a:p>
            <a:pPr marL="713105" lvl="1" indent="-533400" defTabSz="284480" eaLnBrk="1" hangingPunct="1">
              <a:tabLst>
                <a:tab pos="450850" algn="l"/>
              </a:tabLst>
            </a:pPr>
            <a:r>
              <a:rPr lang="zh-CN" altLang="en-US" sz="2400" b="1" smtClean="0"/>
              <a:t>测试总结报告：该文档列出测试中发现的和需要调查的所有失败情况。从测试总结报告中，开发人员对每次失效进行分析并区分优先次序，进而为系统和模型中的变化进行设计。 </a:t>
            </a:r>
            <a:endParaRPr lang="zh-CN" altLang="en-US" sz="2400" b="1" smtClean="0"/>
          </a:p>
        </p:txBody>
      </p:sp>
      <p:sp>
        <p:nvSpPr>
          <p:cNvPr id="101379" name="AutoShape 3">
            <a:hlinkClick r:id="" action="ppaction://noaction" highlightClick="1"/>
          </p:cNvPr>
          <p:cNvSpPr>
            <a:spLocks noChangeArrowheads="1"/>
          </p:cNvSpPr>
          <p:nvPr/>
        </p:nvSpPr>
        <p:spPr bwMode="auto">
          <a:xfrm>
            <a:off x="1979613" y="620713"/>
            <a:ext cx="4106862" cy="914400"/>
          </a:xfrm>
          <a:prstGeom prst="actionButtonBlank">
            <a:avLst/>
          </a:prstGeom>
          <a:noFill/>
          <a:ln w="9525">
            <a:noFill/>
            <a:miter lim="800000"/>
          </a:ln>
        </p:spPr>
        <p:txBody>
          <a:bodyPr anchor="ctr"/>
          <a:lstStyle/>
          <a:p>
            <a:r>
              <a:rPr lang="en-US" altLang="zh-CN" sz="3200" b="1">
                <a:solidFill>
                  <a:srgbClr val="0A0A0E"/>
                </a:solidFill>
                <a:latin typeface="Times New Roman" panose="02020603050405020304" pitchFamily="18" charset="0"/>
              </a:rPr>
              <a:t> </a:t>
            </a:r>
            <a:r>
              <a:rPr lang="en-US" altLang="zh-CN" sz="3600" b="1">
                <a:solidFill>
                  <a:srgbClr val="0A0A0E"/>
                </a:solidFill>
                <a:latin typeface="Times New Roman" panose="02020603050405020304" pitchFamily="18" charset="0"/>
              </a:rPr>
              <a:t>3. </a:t>
            </a:r>
            <a:r>
              <a:rPr lang="zh-CN" altLang="en-US" sz="3600" b="1">
                <a:solidFill>
                  <a:srgbClr val="0A0A0E"/>
                </a:solidFill>
                <a:latin typeface="Times New Roman" panose="02020603050405020304" pitchFamily="18" charset="0"/>
              </a:rPr>
              <a:t>软件测试步骤</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ctrTitle"/>
          </p:nvPr>
        </p:nvSpPr>
        <p:spPr/>
        <p:txBody>
          <a:bodyPr/>
          <a:lstStyle/>
          <a:p>
            <a:pPr eaLnBrk="1" hangingPunct="1"/>
            <a:r>
              <a:rPr lang="en-US" altLang="zh-CN" sz="6000" b="1" smtClean="0">
                <a:solidFill>
                  <a:schemeClr val="tx1"/>
                </a:solidFill>
              </a:rPr>
              <a:t>       </a:t>
            </a:r>
            <a:r>
              <a:rPr lang="zh-CN" altLang="en-US" sz="6000" b="1" smtClean="0">
                <a:solidFill>
                  <a:schemeClr val="tx1"/>
                </a:solidFill>
              </a:rPr>
              <a:t>案例研究</a:t>
            </a:r>
            <a:endParaRPr lang="zh-CN" altLang="en-US" sz="6000" b="1" smtClean="0">
              <a:solidFill>
                <a:schemeClr val="tx1"/>
              </a:solidFill>
            </a:endParaRPr>
          </a:p>
        </p:txBody>
      </p:sp>
      <p:sp>
        <p:nvSpPr>
          <p:cNvPr id="102403" name="Rectangle 3"/>
          <p:cNvSpPr>
            <a:spLocks noGrp="1" noChangeArrowheads="1"/>
          </p:cNvSpPr>
          <p:nvPr>
            <p:ph type="subTitle" idx="1"/>
          </p:nvPr>
        </p:nvSpPr>
        <p:spPr/>
        <p:txBody>
          <a:bodyPr/>
          <a:lstStyle/>
          <a:p>
            <a:pPr eaLnBrk="1" hangingPunct="1"/>
            <a:r>
              <a:rPr lang="zh-CN" altLang="en-US" sz="4000" b="1" smtClean="0">
                <a:solidFill>
                  <a:srgbClr val="FF0000"/>
                </a:solidFill>
              </a:rPr>
              <a:t>微软的测试工作</a:t>
            </a:r>
            <a:endParaRPr lang="zh-CN" altLang="en-US" sz="4000" b="1" smtClean="0">
              <a:solidFill>
                <a:srgbClr val="FF0000"/>
              </a:solidFill>
            </a:endParaRPr>
          </a:p>
        </p:txBody>
      </p:sp>
    </p:spTree>
  </p:cSld>
  <p:clrMapOvr>
    <a:masterClrMapping/>
  </p:clrMapOvr>
  <p:transition>
    <p:wipe dir="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zh-CN" altLang="en-US" sz="3600" b="1" smtClean="0">
                <a:solidFill>
                  <a:schemeClr val="tx1"/>
                </a:solidFill>
              </a:rPr>
              <a:t>微软的测试工作</a:t>
            </a:r>
            <a:endParaRPr lang="zh-CN" altLang="en-US" sz="3600" b="1" smtClean="0">
              <a:solidFill>
                <a:schemeClr val="tx1"/>
              </a:solidFill>
            </a:endParaRPr>
          </a:p>
        </p:txBody>
      </p:sp>
      <p:sp>
        <p:nvSpPr>
          <p:cNvPr id="1738755" name="Rectangle 3"/>
          <p:cNvSpPr>
            <a:spLocks noGrp="1" noChangeArrowheads="1"/>
          </p:cNvSpPr>
          <p:nvPr>
            <p:ph type="body" idx="1"/>
          </p:nvPr>
        </p:nvSpPr>
        <p:spPr>
          <a:xfrm>
            <a:off x="539750" y="1989138"/>
            <a:ext cx="7772400" cy="4114800"/>
          </a:xfrm>
        </p:spPr>
        <p:txBody>
          <a:bodyPr/>
          <a:lstStyle/>
          <a:p>
            <a:pPr eaLnBrk="1" hangingPunct="1">
              <a:lnSpc>
                <a:spcPct val="80000"/>
              </a:lnSpc>
              <a:buClr>
                <a:schemeClr val="bg1"/>
              </a:buClr>
              <a:buFont typeface="Wingdings" panose="05000000000000000000" pitchFamily="2" charset="2"/>
              <a:buChar char="Ø"/>
            </a:pPr>
            <a:r>
              <a:rPr lang="en-US" altLang="zh-CN" b="1" smtClean="0">
                <a:solidFill>
                  <a:schemeClr val="bg1"/>
                </a:solidFill>
              </a:rPr>
              <a:t>  </a:t>
            </a:r>
            <a:r>
              <a:rPr lang="zh-CN" altLang="en-US" sz="2800" b="1" smtClean="0">
                <a:solidFill>
                  <a:schemeClr val="tx1"/>
                </a:solidFill>
                <a:latin typeface="隶书" pitchFamily="49" charset="-122"/>
                <a:ea typeface="隶书" pitchFamily="49" charset="-122"/>
              </a:rPr>
              <a:t>基本情况</a:t>
            </a:r>
            <a:endParaRPr lang="zh-CN" altLang="en-US" sz="2800" b="1" smtClean="0">
              <a:solidFill>
                <a:schemeClr val="tx1"/>
              </a:solidFill>
              <a:latin typeface="隶书" pitchFamily="49" charset="-122"/>
              <a:ea typeface="隶书" pitchFamily="49" charset="-122"/>
            </a:endParaRPr>
          </a:p>
          <a:p>
            <a:pPr eaLnBrk="1" hangingPunct="1">
              <a:lnSpc>
                <a:spcPct val="80000"/>
              </a:lnSpc>
              <a:buClr>
                <a:schemeClr val="bg1"/>
              </a:buClr>
              <a:buFont typeface="Wingdings" panose="05000000000000000000" pitchFamily="2" charset="2"/>
              <a:buNone/>
            </a:pPr>
            <a:r>
              <a:rPr lang="zh-CN" altLang="en-US" sz="2800" b="1" smtClean="0">
                <a:solidFill>
                  <a:schemeClr val="tx1"/>
                </a:solidFill>
                <a:latin typeface="隶书" pitchFamily="49" charset="-122"/>
                <a:ea typeface="隶书" pitchFamily="49" charset="-122"/>
              </a:rPr>
              <a:t>     测试在微软公司是一项非常重要的工作，微软公司在此方面的投入是非常巨大的。</a:t>
            </a:r>
            <a:endParaRPr lang="zh-CN" altLang="en-US" sz="2800" b="1" smtClean="0">
              <a:solidFill>
                <a:schemeClr val="tx1"/>
              </a:solidFill>
              <a:latin typeface="隶书" pitchFamily="49" charset="-122"/>
              <a:ea typeface="隶书" pitchFamily="49" charset="-122"/>
            </a:endParaRPr>
          </a:p>
          <a:p>
            <a:pPr eaLnBrk="1" hangingPunct="1">
              <a:lnSpc>
                <a:spcPct val="80000"/>
              </a:lnSpc>
              <a:buClr>
                <a:schemeClr val="bg1"/>
              </a:buClr>
              <a:buFont typeface="Wingdings" panose="05000000000000000000" pitchFamily="2" charset="2"/>
              <a:buNone/>
            </a:pPr>
            <a:r>
              <a:rPr lang="zh-CN" altLang="en-US" sz="2800" b="1" smtClean="0">
                <a:solidFill>
                  <a:schemeClr val="tx1"/>
                </a:solidFill>
                <a:latin typeface="隶书" pitchFamily="49" charset="-122"/>
                <a:ea typeface="隶书" pitchFamily="49" charset="-122"/>
              </a:rPr>
              <a:t>     微软对测试的重视表现在工程开发队伍的人员构成上，微软的项目经理、软件开发人员和测试人员的比例基本是</a:t>
            </a:r>
            <a:r>
              <a:rPr lang="en-US" altLang="zh-CN" sz="2800" b="1" smtClean="0">
                <a:solidFill>
                  <a:schemeClr val="tx1"/>
                </a:solidFill>
                <a:latin typeface="隶书" pitchFamily="49" charset="-122"/>
                <a:ea typeface="隶书" pitchFamily="49" charset="-122"/>
              </a:rPr>
              <a:t>1</a:t>
            </a:r>
            <a:r>
              <a:rPr lang="zh-CN" altLang="en-US" sz="2800" b="1" smtClean="0">
                <a:solidFill>
                  <a:schemeClr val="tx1"/>
                </a:solidFill>
                <a:latin typeface="隶书" pitchFamily="49" charset="-122"/>
                <a:ea typeface="隶书" pitchFamily="49" charset="-122"/>
              </a:rPr>
              <a:t>：</a:t>
            </a:r>
            <a:r>
              <a:rPr lang="en-US" altLang="zh-CN" sz="2800" b="1" smtClean="0">
                <a:solidFill>
                  <a:schemeClr val="tx1"/>
                </a:solidFill>
                <a:latin typeface="隶书" pitchFamily="49" charset="-122"/>
                <a:ea typeface="隶书" pitchFamily="49" charset="-122"/>
              </a:rPr>
              <a:t>3</a:t>
            </a:r>
            <a:r>
              <a:rPr lang="zh-CN" altLang="en-US" sz="2800" b="1" smtClean="0">
                <a:solidFill>
                  <a:schemeClr val="tx1"/>
                </a:solidFill>
                <a:latin typeface="隶书" pitchFamily="49" charset="-122"/>
                <a:ea typeface="隶书" pitchFamily="49" charset="-122"/>
              </a:rPr>
              <a:t>：</a:t>
            </a:r>
            <a:r>
              <a:rPr lang="en-US" altLang="zh-CN" sz="2800" b="1" smtClean="0">
                <a:solidFill>
                  <a:schemeClr val="tx1"/>
                </a:solidFill>
                <a:latin typeface="隶书" pitchFamily="49" charset="-122"/>
                <a:ea typeface="隶书" pitchFamily="49" charset="-122"/>
              </a:rPr>
              <a:t>3</a:t>
            </a:r>
            <a:r>
              <a:rPr lang="zh-CN" altLang="en-US" sz="2800" b="1" smtClean="0">
                <a:solidFill>
                  <a:schemeClr val="tx1"/>
                </a:solidFill>
                <a:latin typeface="隶书" pitchFamily="49" charset="-122"/>
                <a:ea typeface="隶书" pitchFamily="49" charset="-122"/>
              </a:rPr>
              <a:t>。对于测试的重视还表现在最后产品要发布的时候，此产品的所有相关部门都必须签字，而测试人员则具有绝对的否决权。</a:t>
            </a:r>
            <a:r>
              <a:rPr lang="zh-CN" altLang="en-US" sz="2800" b="1" smtClean="0">
                <a:solidFill>
                  <a:schemeClr val="bg1"/>
                </a:solidFill>
                <a:latin typeface="隶书" pitchFamily="49" charset="-122"/>
                <a:ea typeface="隶书" pitchFamily="49" charset="-122"/>
              </a:rPr>
              <a:t> </a:t>
            </a:r>
            <a:endParaRPr lang="zh-CN" altLang="en-US" sz="2800" b="1" smtClean="0">
              <a:solidFill>
                <a:schemeClr val="bg1"/>
              </a:solidFill>
              <a:latin typeface="隶书" pitchFamily="49" charset="-122"/>
              <a:ea typeface="隶书" pitchFamily="49" charset="-122"/>
            </a:endParaRPr>
          </a:p>
          <a:p>
            <a:pPr eaLnBrk="1" hangingPunct="1">
              <a:lnSpc>
                <a:spcPct val="80000"/>
              </a:lnSpc>
              <a:buClr>
                <a:schemeClr val="bg1"/>
              </a:buClr>
              <a:buFont typeface="Wingdings" panose="05000000000000000000" pitchFamily="2" charset="2"/>
              <a:buNone/>
            </a:pPr>
            <a:r>
              <a:rPr lang="zh-CN" altLang="en-US" sz="2400" smtClean="0">
                <a:solidFill>
                  <a:schemeClr val="tx1"/>
                </a:solidFill>
                <a:latin typeface="隶书" pitchFamily="49" charset="-122"/>
                <a:ea typeface="隶书" pitchFamily="49" charset="-122"/>
              </a:rPr>
              <a:t> </a:t>
            </a:r>
            <a:endParaRPr lang="zh-CN" altLang="en-US" sz="2400" smtClean="0">
              <a:solidFill>
                <a:schemeClr val="tx1"/>
              </a:solidFill>
              <a:latin typeface="隶书" pitchFamily="49" charset="-122"/>
              <a:ea typeface="隶书" pitchFamily="49" charset="-122"/>
            </a:endParaRPr>
          </a:p>
        </p:txBody>
      </p:sp>
      <p:pic>
        <p:nvPicPr>
          <p:cNvPr id="103428" name="Picture 4" descr="j0222015"/>
          <p:cNvPicPr>
            <a:picLocks noChangeAspect="1" noChangeArrowheads="1"/>
          </p:cNvPicPr>
          <p:nvPr/>
        </p:nvPicPr>
        <p:blipFill>
          <a:blip r:embed="rId1" cstate="print"/>
          <a:srcRect/>
          <a:stretch>
            <a:fillRect/>
          </a:stretch>
        </p:blipFill>
        <p:spPr bwMode="auto">
          <a:xfrm>
            <a:off x="7364413" y="5070475"/>
            <a:ext cx="1779587" cy="1787525"/>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38755">
                                            <p:txEl>
                                              <p:pRg st="1" end="1"/>
                                            </p:txEl>
                                          </p:spTgt>
                                        </p:tgtEl>
                                        <p:attrNameLst>
                                          <p:attrName>style.visibility</p:attrName>
                                        </p:attrNameLst>
                                      </p:cBhvr>
                                      <p:to>
                                        <p:strVal val="visible"/>
                                      </p:to>
                                    </p:set>
                                    <p:animEffect transition="in" filter="blinds(horizontal)">
                                      <p:cBhvr>
                                        <p:cTn id="7" dur="500"/>
                                        <p:tgtEl>
                                          <p:spTgt spid="1738755">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38755">
                                            <p:txEl>
                                              <p:pRg st="3" end="3"/>
                                            </p:txEl>
                                          </p:spTgt>
                                        </p:tgtEl>
                                        <p:attrNameLst>
                                          <p:attrName>style.visibility</p:attrName>
                                        </p:attrNameLst>
                                      </p:cBhvr>
                                      <p:to>
                                        <p:strVal val="visible"/>
                                      </p:to>
                                    </p:set>
                                    <p:animEffect transition="in" filter="blinds(horizontal)">
                                      <p:cBhvr>
                                        <p:cTn id="11" dur="500"/>
                                        <p:tgtEl>
                                          <p:spTgt spid="1738755">
                                            <p:txEl>
                                              <p:pRg st="3" end="3"/>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38755">
                                            <p:txEl>
                                              <p:pRg st="2" end="2"/>
                                            </p:txEl>
                                          </p:spTgt>
                                        </p:tgtEl>
                                        <p:attrNameLst>
                                          <p:attrName>style.visibility</p:attrName>
                                        </p:attrNameLst>
                                      </p:cBhvr>
                                      <p:to>
                                        <p:strVal val="visible"/>
                                      </p:to>
                                    </p:set>
                                    <p:animEffect transition="in" filter="blinds(horizontal)">
                                      <p:cBhvr>
                                        <p:cTn id="15" dur="500"/>
                                        <p:tgtEl>
                                          <p:spTgt spid="17387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zh-CN" altLang="en-US" sz="3600" b="1" smtClean="0">
                <a:solidFill>
                  <a:schemeClr val="tx1"/>
                </a:solidFill>
              </a:rPr>
              <a:t>微软的测试工作</a:t>
            </a:r>
            <a:endParaRPr lang="zh-CN" altLang="en-US" sz="3600" b="1" smtClean="0">
              <a:solidFill>
                <a:schemeClr val="tx1"/>
              </a:solidFill>
            </a:endParaRPr>
          </a:p>
        </p:txBody>
      </p:sp>
      <p:sp>
        <p:nvSpPr>
          <p:cNvPr id="1740803" name="Rectangle 3"/>
          <p:cNvSpPr>
            <a:spLocks noGrp="1" noChangeArrowheads="1"/>
          </p:cNvSpPr>
          <p:nvPr>
            <p:ph type="body" idx="1"/>
          </p:nvPr>
        </p:nvSpPr>
        <p:spPr>
          <a:xfrm>
            <a:off x="395288" y="2017713"/>
            <a:ext cx="8559800" cy="4114800"/>
          </a:xfrm>
        </p:spPr>
        <p:txBody>
          <a:bodyPr/>
          <a:lstStyle/>
          <a:p>
            <a:pPr eaLnBrk="1" hangingPunct="1">
              <a:buClr>
                <a:schemeClr val="bg1"/>
              </a:buClr>
              <a:buFont typeface="Wingdings" panose="05000000000000000000" pitchFamily="2" charset="2"/>
              <a:buChar char="Ø"/>
            </a:pPr>
            <a:r>
              <a:rPr lang="en-US" altLang="zh-CN" b="1" smtClean="0">
                <a:solidFill>
                  <a:schemeClr val="bg1"/>
                </a:solidFill>
              </a:rPr>
              <a:t>  </a:t>
            </a:r>
            <a:r>
              <a:rPr lang="zh-CN" altLang="en-US" sz="2800" b="1" smtClean="0">
                <a:solidFill>
                  <a:schemeClr val="tx1"/>
                </a:solidFill>
                <a:latin typeface="隶书" pitchFamily="49" charset="-122"/>
                <a:ea typeface="隶书" pitchFamily="49" charset="-122"/>
              </a:rPr>
              <a:t>测试计划</a:t>
            </a:r>
            <a:endParaRPr lang="zh-CN" altLang="en-US" sz="2800" b="1" smtClean="0">
              <a:solidFill>
                <a:schemeClr val="tx1"/>
              </a:solidFill>
              <a:latin typeface="隶书" pitchFamily="49" charset="-122"/>
              <a:ea typeface="隶书" pitchFamily="49" charset="-122"/>
            </a:endParaRPr>
          </a:p>
          <a:p>
            <a:pPr eaLnBrk="1" hangingPunct="1">
              <a:buClr>
                <a:schemeClr val="bg1"/>
              </a:buClr>
              <a:buFont typeface="Wingdings" panose="05000000000000000000" pitchFamily="2" charset="2"/>
              <a:buNone/>
            </a:pPr>
            <a:r>
              <a:rPr lang="zh-CN" altLang="en-US" sz="2800" b="1" smtClean="0">
                <a:solidFill>
                  <a:schemeClr val="tx1"/>
                </a:solidFill>
                <a:latin typeface="隶书" pitchFamily="49" charset="-122"/>
                <a:ea typeface="隶书" pitchFamily="49" charset="-122"/>
              </a:rPr>
              <a:t>    测试计划是测试人员管理测试项目，在软件中寻找</a:t>
            </a:r>
            <a:r>
              <a:rPr lang="en-US" altLang="zh-CN" sz="2800" b="1" smtClean="0">
                <a:solidFill>
                  <a:schemeClr val="tx1"/>
                </a:solidFill>
                <a:latin typeface="隶书" pitchFamily="49" charset="-122"/>
                <a:ea typeface="隶书" pitchFamily="49" charset="-122"/>
              </a:rPr>
              <a:t>Bug</a:t>
            </a:r>
            <a:r>
              <a:rPr lang="zh-CN" altLang="en-US" sz="2800" b="1" smtClean="0">
                <a:solidFill>
                  <a:schemeClr val="tx1"/>
                </a:solidFill>
                <a:latin typeface="隶书" pitchFamily="49" charset="-122"/>
                <a:ea typeface="隶书" pitchFamily="49" charset="-122"/>
              </a:rPr>
              <a:t>的一种有效的工具。测试计划主要有两个作用：</a:t>
            </a:r>
            <a:endParaRPr lang="zh-CN" altLang="en-US" sz="2800" b="1" smtClean="0">
              <a:solidFill>
                <a:schemeClr val="tx1"/>
              </a:solidFill>
              <a:latin typeface="隶书" pitchFamily="49" charset="-122"/>
              <a:ea typeface="隶书" pitchFamily="49" charset="-122"/>
            </a:endParaRPr>
          </a:p>
          <a:p>
            <a:pPr eaLnBrk="1" hangingPunct="1">
              <a:buClr>
                <a:schemeClr val="accent1"/>
              </a:buClr>
              <a:buFont typeface="Wingdings" panose="05000000000000000000" pitchFamily="2" charset="2"/>
              <a:buChar char="ü"/>
            </a:pPr>
            <a:r>
              <a:rPr lang="zh-CN" altLang="en-US" sz="2800" b="1" smtClean="0">
                <a:solidFill>
                  <a:schemeClr val="tx1"/>
                </a:solidFill>
                <a:latin typeface="隶书" pitchFamily="49" charset="-122"/>
                <a:ea typeface="隶书" pitchFamily="49" charset="-122"/>
              </a:rPr>
              <a:t>评判团队的测试覆盖率以及效率，让测试工作很有条理的逐步展开；</a:t>
            </a:r>
            <a:endParaRPr lang="zh-CN" altLang="en-US" sz="2800" b="1" smtClean="0">
              <a:solidFill>
                <a:schemeClr val="tx1"/>
              </a:solidFill>
              <a:latin typeface="隶书" pitchFamily="49" charset="-122"/>
              <a:ea typeface="隶书" pitchFamily="49" charset="-122"/>
            </a:endParaRPr>
          </a:p>
          <a:p>
            <a:pPr eaLnBrk="1" hangingPunct="1">
              <a:buClr>
                <a:schemeClr val="accent1"/>
              </a:buClr>
              <a:buFont typeface="Wingdings" panose="05000000000000000000" pitchFamily="2" charset="2"/>
              <a:buChar char="ü"/>
            </a:pPr>
            <a:r>
              <a:rPr lang="zh-CN" altLang="en-US" sz="2800" b="1" smtClean="0">
                <a:solidFill>
                  <a:schemeClr val="tx1"/>
                </a:solidFill>
                <a:latin typeface="隶书" pitchFamily="49" charset="-122"/>
                <a:ea typeface="隶书" pitchFamily="49" charset="-122"/>
              </a:rPr>
              <a:t>有利于与项目经理、开发人员进行沟通。</a:t>
            </a:r>
            <a:r>
              <a:rPr lang="zh-CN" altLang="en-US" b="1" smtClean="0">
                <a:solidFill>
                  <a:schemeClr val="tx1"/>
                </a:solidFill>
              </a:rPr>
              <a:t>  </a:t>
            </a:r>
            <a:endParaRPr lang="zh-CN" altLang="en-US" b="1" smtClean="0">
              <a:solidFill>
                <a:schemeClr val="tx1"/>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40803">
                                            <p:txEl>
                                              <p:pRg st="1" end="1"/>
                                            </p:txEl>
                                          </p:spTgt>
                                        </p:tgtEl>
                                        <p:attrNameLst>
                                          <p:attrName>style.visibility</p:attrName>
                                        </p:attrNameLst>
                                      </p:cBhvr>
                                      <p:to>
                                        <p:strVal val="visible"/>
                                      </p:to>
                                    </p:set>
                                    <p:animEffect transition="in" filter="blinds(horizontal)">
                                      <p:cBhvr>
                                        <p:cTn id="7" dur="500"/>
                                        <p:tgtEl>
                                          <p:spTgt spid="1740803">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40803">
                                            <p:txEl>
                                              <p:pRg st="2" end="2"/>
                                            </p:txEl>
                                          </p:spTgt>
                                        </p:tgtEl>
                                        <p:attrNameLst>
                                          <p:attrName>style.visibility</p:attrName>
                                        </p:attrNameLst>
                                      </p:cBhvr>
                                      <p:to>
                                        <p:strVal val="visible"/>
                                      </p:to>
                                    </p:set>
                                    <p:animEffect transition="in" filter="blinds(horizontal)">
                                      <p:cBhvr>
                                        <p:cTn id="11" dur="500"/>
                                        <p:tgtEl>
                                          <p:spTgt spid="1740803">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40803">
                                            <p:txEl>
                                              <p:pRg st="3" end="3"/>
                                            </p:txEl>
                                          </p:spTgt>
                                        </p:tgtEl>
                                        <p:attrNameLst>
                                          <p:attrName>style.visibility</p:attrName>
                                        </p:attrNameLst>
                                      </p:cBhvr>
                                      <p:to>
                                        <p:strVal val="visible"/>
                                      </p:to>
                                    </p:set>
                                    <p:animEffect transition="in" filter="blinds(horizontal)">
                                      <p:cBhvr>
                                        <p:cTn id="15" dur="500"/>
                                        <p:tgtEl>
                                          <p:spTgt spid="17408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sz="3600" b="1" smtClean="0">
                <a:solidFill>
                  <a:schemeClr val="tx1"/>
                </a:solidFill>
              </a:rPr>
              <a:t>测试计划</a:t>
            </a:r>
            <a:endParaRPr lang="zh-CN" altLang="en-US" sz="3600" b="1" smtClean="0">
              <a:solidFill>
                <a:schemeClr val="tx1"/>
              </a:solidFill>
            </a:endParaRPr>
          </a:p>
        </p:txBody>
      </p:sp>
      <p:sp>
        <p:nvSpPr>
          <p:cNvPr id="1741827" name="Rectangle 3"/>
          <p:cNvSpPr>
            <a:spLocks noGrp="1" noChangeArrowheads="1"/>
          </p:cNvSpPr>
          <p:nvPr>
            <p:ph type="body" idx="1"/>
          </p:nvPr>
        </p:nvSpPr>
        <p:spPr>
          <a:xfrm>
            <a:off x="539750" y="2017713"/>
            <a:ext cx="8415338" cy="4114800"/>
          </a:xfrm>
        </p:spPr>
        <p:txBody>
          <a:bodyPr/>
          <a:lstStyle/>
          <a:p>
            <a:pPr eaLnBrk="1" hangingPunct="1">
              <a:buClr>
                <a:schemeClr val="bg1"/>
              </a:buClr>
              <a:buFont typeface="Wingdings" panose="05000000000000000000" pitchFamily="2" charset="2"/>
              <a:buChar char="Ø"/>
            </a:pPr>
            <a:r>
              <a:rPr lang="en-US" altLang="zh-CN" sz="2800" b="1" smtClean="0">
                <a:solidFill>
                  <a:schemeClr val="bg1"/>
                </a:solidFill>
              </a:rPr>
              <a:t>  </a:t>
            </a:r>
            <a:r>
              <a:rPr lang="zh-CN" altLang="en-US" sz="2800" b="1" smtClean="0">
                <a:solidFill>
                  <a:schemeClr val="tx1"/>
                </a:solidFill>
                <a:latin typeface="隶书" pitchFamily="49" charset="-122"/>
                <a:ea typeface="隶书" pitchFamily="49" charset="-122"/>
              </a:rPr>
              <a:t>测试文档</a:t>
            </a:r>
            <a:endParaRPr lang="zh-CN" altLang="en-US" sz="2800" b="1" smtClean="0">
              <a:solidFill>
                <a:schemeClr val="tx1"/>
              </a:solidFill>
              <a:latin typeface="隶书" pitchFamily="49" charset="-122"/>
              <a:ea typeface="隶书" pitchFamily="49" charset="-122"/>
            </a:endParaRPr>
          </a:p>
          <a:p>
            <a:pPr eaLnBrk="1" hangingPunct="1">
              <a:buFont typeface="Wingdings" panose="05000000000000000000" pitchFamily="2" charset="2"/>
              <a:buNone/>
            </a:pPr>
            <a:r>
              <a:rPr lang="zh-CN" altLang="en-US" sz="2800" b="1" smtClean="0">
                <a:solidFill>
                  <a:schemeClr val="tx1"/>
                </a:solidFill>
                <a:latin typeface="隶书" pitchFamily="49" charset="-122"/>
                <a:ea typeface="隶书" pitchFamily="49" charset="-122"/>
              </a:rPr>
              <a:t>    测试人员在编写测试计划之前，应获得以下文档：</a:t>
            </a:r>
            <a:endParaRPr lang="zh-CN" altLang="en-US" sz="2800" b="1" smtClean="0">
              <a:solidFill>
                <a:schemeClr val="tx1"/>
              </a:solidFill>
              <a:latin typeface="隶书" pitchFamily="49" charset="-122"/>
              <a:ea typeface="隶书" pitchFamily="49" charset="-122"/>
            </a:endParaRPr>
          </a:p>
          <a:p>
            <a:pPr eaLnBrk="1" hangingPunct="1">
              <a:buClr>
                <a:schemeClr val="bg1"/>
              </a:buClr>
              <a:buFont typeface="Wingdings" panose="05000000000000000000" pitchFamily="2" charset="2"/>
              <a:buChar char="Ü"/>
            </a:pPr>
            <a:r>
              <a:rPr lang="zh-CN" altLang="en-US" sz="2800" b="1" smtClean="0">
                <a:solidFill>
                  <a:schemeClr val="tx1"/>
                </a:solidFill>
                <a:latin typeface="隶书" pitchFamily="49" charset="-122"/>
                <a:ea typeface="隶书" pitchFamily="49" charset="-122"/>
              </a:rPr>
              <a:t> 程序经理编写的产品功能说明书或产品开发计划；</a:t>
            </a:r>
            <a:endParaRPr lang="zh-CN" altLang="en-US" sz="2800" b="1" smtClean="0">
              <a:solidFill>
                <a:schemeClr val="tx1"/>
              </a:solidFill>
              <a:latin typeface="隶书" pitchFamily="49" charset="-122"/>
              <a:ea typeface="隶书" pitchFamily="49" charset="-122"/>
            </a:endParaRPr>
          </a:p>
          <a:p>
            <a:pPr eaLnBrk="1" hangingPunct="1">
              <a:buClr>
                <a:schemeClr val="bg1"/>
              </a:buClr>
              <a:buFont typeface="Wingdings" panose="05000000000000000000" pitchFamily="2" charset="2"/>
              <a:buChar char="Ü"/>
            </a:pPr>
            <a:r>
              <a:rPr lang="zh-CN" altLang="en-US" sz="2800" b="1" smtClean="0">
                <a:solidFill>
                  <a:schemeClr val="tx1"/>
                </a:solidFill>
                <a:latin typeface="隶书" pitchFamily="49" charset="-122"/>
                <a:ea typeface="隶书" pitchFamily="49" charset="-122"/>
              </a:rPr>
              <a:t> 程序经理或开发人员提供的开发进度表。</a:t>
            </a:r>
            <a:endParaRPr lang="zh-CN" altLang="en-US" sz="2800" b="1" smtClean="0">
              <a:solidFill>
                <a:schemeClr val="tx1"/>
              </a:solidFill>
              <a:latin typeface="隶书" pitchFamily="49" charset="-122"/>
              <a:ea typeface="隶书"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41827">
                                            <p:txEl>
                                              <p:pRg st="1" end="1"/>
                                            </p:txEl>
                                          </p:spTgt>
                                        </p:tgtEl>
                                        <p:attrNameLst>
                                          <p:attrName>style.visibility</p:attrName>
                                        </p:attrNameLst>
                                      </p:cBhvr>
                                      <p:to>
                                        <p:strVal val="visible"/>
                                      </p:to>
                                    </p:set>
                                    <p:animEffect transition="in" filter="blinds(horizontal)">
                                      <p:cBhvr>
                                        <p:cTn id="7" dur="500"/>
                                        <p:tgtEl>
                                          <p:spTgt spid="1741827">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41827">
                                            <p:txEl>
                                              <p:pRg st="2" end="2"/>
                                            </p:txEl>
                                          </p:spTgt>
                                        </p:tgtEl>
                                        <p:attrNameLst>
                                          <p:attrName>style.visibility</p:attrName>
                                        </p:attrNameLst>
                                      </p:cBhvr>
                                      <p:to>
                                        <p:strVal val="visible"/>
                                      </p:to>
                                    </p:set>
                                    <p:animEffect transition="in" filter="blinds(horizontal)">
                                      <p:cBhvr>
                                        <p:cTn id="11" dur="500"/>
                                        <p:tgtEl>
                                          <p:spTgt spid="1741827">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41827">
                                            <p:txEl>
                                              <p:pRg st="3" end="3"/>
                                            </p:txEl>
                                          </p:spTgt>
                                        </p:tgtEl>
                                        <p:attrNameLst>
                                          <p:attrName>style.visibility</p:attrName>
                                        </p:attrNameLst>
                                      </p:cBhvr>
                                      <p:to>
                                        <p:strVal val="visible"/>
                                      </p:to>
                                    </p:set>
                                    <p:animEffect transition="in" filter="blinds(horizontal)">
                                      <p:cBhvr>
                                        <p:cTn id="15" dur="500"/>
                                        <p:tgtEl>
                                          <p:spTgt spid="17418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zh-CN" altLang="en-US" sz="3600" b="1" smtClean="0">
                <a:solidFill>
                  <a:schemeClr val="tx1"/>
                </a:solidFill>
              </a:rPr>
              <a:t>测试计划</a:t>
            </a:r>
            <a:endParaRPr lang="zh-CN" altLang="en-US" sz="3600" b="1" smtClean="0">
              <a:solidFill>
                <a:schemeClr val="tx1"/>
              </a:solidFill>
            </a:endParaRPr>
          </a:p>
        </p:txBody>
      </p:sp>
      <p:sp>
        <p:nvSpPr>
          <p:cNvPr id="1742851" name="Rectangle 3"/>
          <p:cNvSpPr>
            <a:spLocks noGrp="1" noChangeArrowheads="1"/>
          </p:cNvSpPr>
          <p:nvPr>
            <p:ph type="body" idx="1"/>
          </p:nvPr>
        </p:nvSpPr>
        <p:spPr>
          <a:xfrm>
            <a:off x="684213" y="2017713"/>
            <a:ext cx="8270875" cy="4114800"/>
          </a:xfrm>
        </p:spPr>
        <p:txBody>
          <a:bodyPr/>
          <a:lstStyle/>
          <a:p>
            <a:pPr marL="812800" indent="-812800" eaLnBrk="1" hangingPunct="1">
              <a:buClr>
                <a:schemeClr val="bg1"/>
              </a:buClr>
              <a:buFont typeface="Wingdings" panose="05000000000000000000" pitchFamily="2" charset="2"/>
              <a:buChar char="Ø"/>
            </a:pPr>
            <a:r>
              <a:rPr lang="en-US" altLang="zh-CN" b="1" smtClean="0">
                <a:solidFill>
                  <a:schemeClr val="bg1"/>
                </a:solidFill>
              </a:rPr>
              <a:t> </a:t>
            </a:r>
            <a:r>
              <a:rPr lang="zh-CN" altLang="en-US" sz="2800" b="1" smtClean="0">
                <a:solidFill>
                  <a:schemeClr val="tx1"/>
                </a:solidFill>
                <a:latin typeface="隶书" pitchFamily="49" charset="-122"/>
                <a:ea typeface="隶书" pitchFamily="49" charset="-122"/>
              </a:rPr>
              <a:t>测试计划的内容</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tx1"/>
              </a:buClr>
              <a:buFont typeface="Wingdings" panose="05000000000000000000" pitchFamily="2" charset="2"/>
              <a:buAutoNum type="arabicPeriod"/>
            </a:pPr>
            <a:r>
              <a:rPr lang="zh-CN" altLang="en-US" sz="2800" b="1" smtClean="0">
                <a:solidFill>
                  <a:schemeClr val="tx1"/>
                </a:solidFill>
                <a:latin typeface="隶书" pitchFamily="49" charset="-122"/>
                <a:ea typeface="隶书" pitchFamily="49" charset="-122"/>
              </a:rPr>
              <a:t> 测试目标和发布条件</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tx1"/>
              </a:buClr>
              <a:buFont typeface="Wingdings" panose="05000000000000000000" pitchFamily="2" charset="2"/>
              <a:buChar char="ð"/>
            </a:pPr>
            <a:r>
              <a:rPr lang="zh-CN" altLang="en-US" sz="2800" b="1" smtClean="0">
                <a:solidFill>
                  <a:schemeClr val="tx1"/>
                </a:solidFill>
                <a:latin typeface="隶书" pitchFamily="49" charset="-122"/>
                <a:ea typeface="隶书" pitchFamily="49" charset="-122"/>
              </a:rPr>
              <a:t> 给出清晰的测试目标描述 </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tx1"/>
              </a:buClr>
              <a:buFont typeface="Wingdings" panose="05000000000000000000" pitchFamily="2" charset="2"/>
              <a:buChar char="ð"/>
            </a:pPr>
            <a:r>
              <a:rPr lang="zh-CN" altLang="en-US" sz="2800" b="1" smtClean="0">
                <a:solidFill>
                  <a:schemeClr val="tx1"/>
                </a:solidFill>
                <a:latin typeface="隶书" pitchFamily="49" charset="-122"/>
                <a:ea typeface="隶书" pitchFamily="49" charset="-122"/>
              </a:rPr>
              <a:t> 定义产品的发布条件 </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tx1"/>
              </a:buClr>
              <a:buFont typeface="Wingdings" panose="05000000000000000000" pitchFamily="2" charset="2"/>
              <a:buAutoNum type="arabicPeriod" startAt="2"/>
            </a:pPr>
            <a:r>
              <a:rPr lang="zh-CN" altLang="en-US" sz="2800" b="1" smtClean="0">
                <a:solidFill>
                  <a:schemeClr val="tx1"/>
                </a:solidFill>
                <a:latin typeface="隶书" pitchFamily="49" charset="-122"/>
                <a:ea typeface="隶书" pitchFamily="49" charset="-122"/>
              </a:rPr>
              <a:t> 待测产品范围 </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tx1"/>
              </a:buClr>
              <a:buFont typeface="Wingdings" panose="05000000000000000000" pitchFamily="2" charset="2"/>
              <a:buChar char="ð"/>
            </a:pPr>
            <a:r>
              <a:rPr lang="zh-CN" altLang="en-US" sz="2800" b="1" smtClean="0">
                <a:solidFill>
                  <a:schemeClr val="tx1"/>
                </a:solidFill>
                <a:latin typeface="隶书" pitchFamily="49" charset="-122"/>
                <a:ea typeface="隶书" pitchFamily="49" charset="-122"/>
              </a:rPr>
              <a:t> 软件主要特性</a:t>
            </a:r>
            <a:r>
              <a:rPr lang="en-US" altLang="zh-CN" sz="2800" b="1" smtClean="0">
                <a:solidFill>
                  <a:schemeClr val="tx1"/>
                </a:solidFill>
                <a:latin typeface="隶书" pitchFamily="49" charset="-122"/>
                <a:ea typeface="隶书" pitchFamily="49" charset="-122"/>
              </a:rPr>
              <a:t>/</a:t>
            </a:r>
            <a:r>
              <a:rPr lang="zh-CN" altLang="en-US" sz="2800" b="1" smtClean="0">
                <a:solidFill>
                  <a:schemeClr val="tx1"/>
                </a:solidFill>
                <a:latin typeface="隶书" pitchFamily="49" charset="-122"/>
                <a:ea typeface="隶书" pitchFamily="49" charset="-122"/>
              </a:rPr>
              <a:t>功能说明 </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tx1"/>
              </a:buClr>
              <a:buFont typeface="Wingdings" panose="05000000000000000000" pitchFamily="2" charset="2"/>
              <a:buChar char="ð"/>
            </a:pPr>
            <a:r>
              <a:rPr lang="zh-CN" altLang="en-US" sz="2800" b="1" smtClean="0">
                <a:solidFill>
                  <a:schemeClr val="tx1"/>
                </a:solidFill>
                <a:latin typeface="隶书" pitchFamily="49" charset="-122"/>
                <a:ea typeface="隶书" pitchFamily="49" charset="-122"/>
              </a:rPr>
              <a:t> 特性</a:t>
            </a:r>
            <a:r>
              <a:rPr lang="en-US" altLang="zh-CN" sz="2800" b="1" smtClean="0">
                <a:solidFill>
                  <a:schemeClr val="tx1"/>
                </a:solidFill>
                <a:latin typeface="隶书" pitchFamily="49" charset="-122"/>
                <a:ea typeface="隶书" pitchFamily="49" charset="-122"/>
              </a:rPr>
              <a:t>/</a:t>
            </a:r>
            <a:r>
              <a:rPr lang="zh-CN" altLang="en-US" sz="2800" b="1" smtClean="0">
                <a:solidFill>
                  <a:schemeClr val="tx1"/>
                </a:solidFill>
                <a:latin typeface="隶书" pitchFamily="49" charset="-122"/>
                <a:ea typeface="隶书" pitchFamily="49" charset="-122"/>
              </a:rPr>
              <a:t>功能测试一览 </a:t>
            </a:r>
            <a:endParaRPr lang="zh-CN" altLang="en-US" sz="2800" b="1" smtClean="0">
              <a:solidFill>
                <a:schemeClr val="tx1"/>
              </a:solidFill>
              <a:latin typeface="隶书" pitchFamily="49" charset="-122"/>
              <a:ea typeface="隶书"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42851">
                                            <p:txEl>
                                              <p:pRg st="1" end="1"/>
                                            </p:txEl>
                                          </p:spTgt>
                                        </p:tgtEl>
                                        <p:attrNameLst>
                                          <p:attrName>style.visibility</p:attrName>
                                        </p:attrNameLst>
                                      </p:cBhvr>
                                      <p:to>
                                        <p:strVal val="visible"/>
                                      </p:to>
                                    </p:set>
                                    <p:animEffect transition="in" filter="blinds(horizontal)">
                                      <p:cBhvr>
                                        <p:cTn id="7" dur="500"/>
                                        <p:tgtEl>
                                          <p:spTgt spid="1742851">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42851">
                                            <p:txEl>
                                              <p:pRg st="2" end="2"/>
                                            </p:txEl>
                                          </p:spTgt>
                                        </p:tgtEl>
                                        <p:attrNameLst>
                                          <p:attrName>style.visibility</p:attrName>
                                        </p:attrNameLst>
                                      </p:cBhvr>
                                      <p:to>
                                        <p:strVal val="visible"/>
                                      </p:to>
                                    </p:set>
                                    <p:animEffect transition="in" filter="blinds(horizontal)">
                                      <p:cBhvr>
                                        <p:cTn id="11" dur="500"/>
                                        <p:tgtEl>
                                          <p:spTgt spid="1742851">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42851">
                                            <p:txEl>
                                              <p:pRg st="3" end="3"/>
                                            </p:txEl>
                                          </p:spTgt>
                                        </p:tgtEl>
                                        <p:attrNameLst>
                                          <p:attrName>style.visibility</p:attrName>
                                        </p:attrNameLst>
                                      </p:cBhvr>
                                      <p:to>
                                        <p:strVal val="visible"/>
                                      </p:to>
                                    </p:set>
                                    <p:animEffect transition="in" filter="blinds(horizontal)">
                                      <p:cBhvr>
                                        <p:cTn id="15" dur="500"/>
                                        <p:tgtEl>
                                          <p:spTgt spid="1742851">
                                            <p:txEl>
                                              <p:pRg st="3" end="3"/>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42851">
                                            <p:txEl>
                                              <p:pRg st="4" end="4"/>
                                            </p:txEl>
                                          </p:spTgt>
                                        </p:tgtEl>
                                        <p:attrNameLst>
                                          <p:attrName>style.visibility</p:attrName>
                                        </p:attrNameLst>
                                      </p:cBhvr>
                                      <p:to>
                                        <p:strVal val="visible"/>
                                      </p:to>
                                    </p:set>
                                    <p:animEffect transition="in" filter="blinds(horizontal)">
                                      <p:cBhvr>
                                        <p:cTn id="19" dur="500"/>
                                        <p:tgtEl>
                                          <p:spTgt spid="1742851">
                                            <p:txEl>
                                              <p:pRg st="4" end="4"/>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742851">
                                            <p:txEl>
                                              <p:pRg st="5" end="5"/>
                                            </p:txEl>
                                          </p:spTgt>
                                        </p:tgtEl>
                                        <p:attrNameLst>
                                          <p:attrName>style.visibility</p:attrName>
                                        </p:attrNameLst>
                                      </p:cBhvr>
                                      <p:to>
                                        <p:strVal val="visible"/>
                                      </p:to>
                                    </p:set>
                                    <p:animEffect transition="in" filter="blinds(horizontal)">
                                      <p:cBhvr>
                                        <p:cTn id="23" dur="500"/>
                                        <p:tgtEl>
                                          <p:spTgt spid="1742851">
                                            <p:txEl>
                                              <p:pRg st="5" end="5"/>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742851">
                                            <p:txEl>
                                              <p:pRg st="6" end="6"/>
                                            </p:txEl>
                                          </p:spTgt>
                                        </p:tgtEl>
                                        <p:attrNameLst>
                                          <p:attrName>style.visibility</p:attrName>
                                        </p:attrNameLst>
                                      </p:cBhvr>
                                      <p:to>
                                        <p:strVal val="visible"/>
                                      </p:to>
                                    </p:set>
                                    <p:animEffect transition="in" filter="blinds(horizontal)">
                                      <p:cBhvr>
                                        <p:cTn id="27" dur="500"/>
                                        <p:tgtEl>
                                          <p:spTgt spid="17428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zh-CN" altLang="en-US" sz="3600" b="1" smtClean="0">
                <a:solidFill>
                  <a:schemeClr val="tx1"/>
                </a:solidFill>
              </a:rPr>
              <a:t>测试计划</a:t>
            </a:r>
            <a:endParaRPr lang="zh-CN" altLang="en-US" sz="3600" b="1" smtClean="0">
              <a:solidFill>
                <a:schemeClr val="tx1"/>
              </a:solidFill>
            </a:endParaRPr>
          </a:p>
        </p:txBody>
      </p:sp>
      <p:sp>
        <p:nvSpPr>
          <p:cNvPr id="1743875" name="Rectangle 3"/>
          <p:cNvSpPr>
            <a:spLocks noGrp="1" noChangeArrowheads="1"/>
          </p:cNvSpPr>
          <p:nvPr>
            <p:ph type="body" idx="1"/>
          </p:nvPr>
        </p:nvSpPr>
        <p:spPr>
          <a:xfrm>
            <a:off x="468313" y="2017713"/>
            <a:ext cx="8486775" cy="4114800"/>
          </a:xfrm>
        </p:spPr>
        <p:txBody>
          <a:bodyPr/>
          <a:lstStyle/>
          <a:p>
            <a:pPr marL="812800" indent="-812800" eaLnBrk="1" hangingPunct="1">
              <a:buClr>
                <a:schemeClr val="bg1"/>
              </a:buClr>
              <a:buFont typeface="Wingdings" panose="05000000000000000000" pitchFamily="2" charset="2"/>
              <a:buChar char="Ø"/>
            </a:pPr>
            <a:r>
              <a:rPr lang="en-US" altLang="zh-CN" b="1" smtClean="0">
                <a:solidFill>
                  <a:schemeClr val="tx1"/>
                </a:solidFill>
              </a:rPr>
              <a:t> </a:t>
            </a:r>
            <a:r>
              <a:rPr lang="zh-CN" altLang="en-US" sz="2800" b="1" smtClean="0">
                <a:solidFill>
                  <a:schemeClr val="tx1"/>
                </a:solidFill>
                <a:latin typeface="隶书" pitchFamily="49" charset="-122"/>
                <a:ea typeface="隶书" pitchFamily="49" charset="-122"/>
              </a:rPr>
              <a:t>测试计划的内容</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tx1"/>
              </a:buClr>
              <a:buFont typeface="Wingdings" panose="05000000000000000000" pitchFamily="2" charset="2"/>
              <a:buAutoNum type="arabicPeriod" startAt="3"/>
            </a:pPr>
            <a:r>
              <a:rPr lang="zh-CN" altLang="en-US" sz="2800" b="1" smtClean="0">
                <a:solidFill>
                  <a:schemeClr val="tx1"/>
                </a:solidFill>
                <a:latin typeface="隶书" pitchFamily="49" charset="-122"/>
                <a:ea typeface="隶书" pitchFamily="49" charset="-122"/>
              </a:rPr>
              <a:t> 测试方法描述</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bg1"/>
              </a:buClr>
              <a:buFont typeface="Wingdings" panose="05000000000000000000" pitchFamily="2" charset="2"/>
              <a:buChar char="ð"/>
            </a:pPr>
            <a:r>
              <a:rPr lang="zh-CN" altLang="en-US" sz="2800" b="1" smtClean="0">
                <a:solidFill>
                  <a:schemeClr val="tx1"/>
                </a:solidFill>
                <a:latin typeface="隶书" pitchFamily="49" charset="-122"/>
                <a:ea typeface="隶书" pitchFamily="49" charset="-122"/>
              </a:rPr>
              <a:t> 定义测试软件产品时使用的测试方法；</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bg1"/>
              </a:buClr>
              <a:buFont typeface="Wingdings" panose="05000000000000000000" pitchFamily="2" charset="2"/>
              <a:buChar char="ð"/>
            </a:pPr>
            <a:r>
              <a:rPr lang="zh-CN" altLang="en-US" sz="2800" b="1" smtClean="0">
                <a:solidFill>
                  <a:schemeClr val="tx1"/>
                </a:solidFill>
                <a:latin typeface="隶书" pitchFamily="49" charset="-122"/>
                <a:ea typeface="隶书" pitchFamily="49" charset="-122"/>
              </a:rPr>
              <a:t> 描述每一种特定的测试方法可以覆盖哪些测试范围。</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tx1"/>
              </a:buClr>
              <a:buFont typeface="Wingdings" panose="05000000000000000000" pitchFamily="2" charset="2"/>
              <a:buAutoNum type="arabicPeriod" startAt="4"/>
            </a:pPr>
            <a:r>
              <a:rPr lang="zh-CN" altLang="en-US" sz="2800" b="1" smtClean="0">
                <a:solidFill>
                  <a:schemeClr val="tx1"/>
                </a:solidFill>
                <a:latin typeface="隶书" pitchFamily="49" charset="-122"/>
                <a:ea typeface="隶书" pitchFamily="49" charset="-122"/>
              </a:rPr>
              <a:t> 测试进度表</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bg1"/>
              </a:buClr>
              <a:buFont typeface="Wingdings" panose="05000000000000000000" pitchFamily="2" charset="2"/>
              <a:buChar char="ð"/>
            </a:pPr>
            <a:r>
              <a:rPr lang="zh-CN" altLang="en-US" sz="2800" b="1" smtClean="0">
                <a:solidFill>
                  <a:schemeClr val="tx1"/>
                </a:solidFill>
                <a:latin typeface="隶书" pitchFamily="49" charset="-122"/>
                <a:ea typeface="隶书" pitchFamily="49" charset="-122"/>
              </a:rPr>
              <a:t> 定义测试里程碑；</a:t>
            </a:r>
            <a:endParaRPr lang="zh-CN" altLang="en-US" sz="2800" b="1" smtClean="0">
              <a:solidFill>
                <a:schemeClr val="tx1"/>
              </a:solidFill>
              <a:latin typeface="隶书" pitchFamily="49" charset="-122"/>
              <a:ea typeface="隶书" pitchFamily="49" charset="-122"/>
            </a:endParaRPr>
          </a:p>
          <a:p>
            <a:pPr marL="812800" indent="-812800" eaLnBrk="1" hangingPunct="1">
              <a:buClr>
                <a:schemeClr val="bg1"/>
              </a:buClr>
              <a:buFont typeface="Wingdings" panose="05000000000000000000" pitchFamily="2" charset="2"/>
              <a:buChar char="ð"/>
            </a:pPr>
            <a:r>
              <a:rPr lang="zh-CN" altLang="en-US" sz="2800" b="1" smtClean="0">
                <a:solidFill>
                  <a:schemeClr val="tx1"/>
                </a:solidFill>
                <a:latin typeface="隶书" pitchFamily="49" charset="-122"/>
                <a:ea typeface="隶书" pitchFamily="49" charset="-122"/>
              </a:rPr>
              <a:t> 定义当前里程碑的详细测试进度。</a:t>
            </a:r>
            <a:endParaRPr lang="zh-CN" altLang="en-US" sz="2800" b="1" smtClean="0">
              <a:solidFill>
                <a:schemeClr val="tx1"/>
              </a:solidFill>
              <a:latin typeface="隶书" pitchFamily="49" charset="-122"/>
              <a:ea typeface="隶书"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43875">
                                            <p:txEl>
                                              <p:pRg st="1" end="1"/>
                                            </p:txEl>
                                          </p:spTgt>
                                        </p:tgtEl>
                                        <p:attrNameLst>
                                          <p:attrName>style.visibility</p:attrName>
                                        </p:attrNameLst>
                                      </p:cBhvr>
                                      <p:to>
                                        <p:strVal val="visible"/>
                                      </p:to>
                                    </p:set>
                                    <p:animEffect transition="in" filter="blinds(horizontal)">
                                      <p:cBhvr>
                                        <p:cTn id="7" dur="500"/>
                                        <p:tgtEl>
                                          <p:spTgt spid="1743875">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43875">
                                            <p:txEl>
                                              <p:pRg st="2" end="2"/>
                                            </p:txEl>
                                          </p:spTgt>
                                        </p:tgtEl>
                                        <p:attrNameLst>
                                          <p:attrName>style.visibility</p:attrName>
                                        </p:attrNameLst>
                                      </p:cBhvr>
                                      <p:to>
                                        <p:strVal val="visible"/>
                                      </p:to>
                                    </p:set>
                                    <p:animEffect transition="in" filter="blinds(horizontal)">
                                      <p:cBhvr>
                                        <p:cTn id="11" dur="500"/>
                                        <p:tgtEl>
                                          <p:spTgt spid="1743875">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43875">
                                            <p:txEl>
                                              <p:pRg st="3" end="3"/>
                                            </p:txEl>
                                          </p:spTgt>
                                        </p:tgtEl>
                                        <p:attrNameLst>
                                          <p:attrName>style.visibility</p:attrName>
                                        </p:attrNameLst>
                                      </p:cBhvr>
                                      <p:to>
                                        <p:strVal val="visible"/>
                                      </p:to>
                                    </p:set>
                                    <p:animEffect transition="in" filter="blinds(horizontal)">
                                      <p:cBhvr>
                                        <p:cTn id="15" dur="500"/>
                                        <p:tgtEl>
                                          <p:spTgt spid="1743875">
                                            <p:txEl>
                                              <p:pRg st="3" end="3"/>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43875">
                                            <p:txEl>
                                              <p:pRg st="4" end="4"/>
                                            </p:txEl>
                                          </p:spTgt>
                                        </p:tgtEl>
                                        <p:attrNameLst>
                                          <p:attrName>style.visibility</p:attrName>
                                        </p:attrNameLst>
                                      </p:cBhvr>
                                      <p:to>
                                        <p:strVal val="visible"/>
                                      </p:to>
                                    </p:set>
                                    <p:animEffect transition="in" filter="blinds(horizontal)">
                                      <p:cBhvr>
                                        <p:cTn id="19" dur="500"/>
                                        <p:tgtEl>
                                          <p:spTgt spid="1743875">
                                            <p:txEl>
                                              <p:pRg st="4" end="4"/>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743875">
                                            <p:txEl>
                                              <p:pRg st="5" end="5"/>
                                            </p:txEl>
                                          </p:spTgt>
                                        </p:tgtEl>
                                        <p:attrNameLst>
                                          <p:attrName>style.visibility</p:attrName>
                                        </p:attrNameLst>
                                      </p:cBhvr>
                                      <p:to>
                                        <p:strVal val="visible"/>
                                      </p:to>
                                    </p:set>
                                    <p:animEffect transition="in" filter="blinds(horizontal)">
                                      <p:cBhvr>
                                        <p:cTn id="23" dur="500"/>
                                        <p:tgtEl>
                                          <p:spTgt spid="1743875">
                                            <p:txEl>
                                              <p:pRg st="5" end="5"/>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743875">
                                            <p:txEl>
                                              <p:pRg st="6" end="6"/>
                                            </p:txEl>
                                          </p:spTgt>
                                        </p:tgtEl>
                                        <p:attrNameLst>
                                          <p:attrName>style.visibility</p:attrName>
                                        </p:attrNameLst>
                                      </p:cBhvr>
                                      <p:to>
                                        <p:strVal val="visible"/>
                                      </p:to>
                                    </p:set>
                                    <p:animEffect transition="in" filter="blinds(horizontal)">
                                      <p:cBhvr>
                                        <p:cTn id="27" dur="500"/>
                                        <p:tgtEl>
                                          <p:spTgt spid="17438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zh-CN" altLang="en-US" sz="3600" b="1" smtClean="0">
                <a:solidFill>
                  <a:schemeClr val="tx1"/>
                </a:solidFill>
              </a:rPr>
              <a:t>测试计划</a:t>
            </a:r>
            <a:endParaRPr lang="zh-CN" altLang="en-US" sz="3600" b="1" smtClean="0">
              <a:solidFill>
                <a:schemeClr val="tx1"/>
              </a:solidFill>
            </a:endParaRPr>
          </a:p>
        </p:txBody>
      </p:sp>
      <p:sp>
        <p:nvSpPr>
          <p:cNvPr id="1744899" name="Rectangle 3"/>
          <p:cNvSpPr>
            <a:spLocks noGrp="1" noChangeArrowheads="1"/>
          </p:cNvSpPr>
          <p:nvPr>
            <p:ph type="body" idx="1"/>
          </p:nvPr>
        </p:nvSpPr>
        <p:spPr>
          <a:xfrm>
            <a:off x="323850" y="1773238"/>
            <a:ext cx="8275638" cy="4114800"/>
          </a:xfrm>
        </p:spPr>
        <p:txBody>
          <a:bodyPr/>
          <a:lstStyle/>
          <a:p>
            <a:pPr marL="609600" indent="-609600" eaLnBrk="1" hangingPunct="1">
              <a:buClr>
                <a:schemeClr val="bg1"/>
              </a:buClr>
              <a:buFont typeface="Wingdings" panose="05000000000000000000" pitchFamily="2" charset="2"/>
              <a:buChar char="Ø"/>
            </a:pPr>
            <a:r>
              <a:rPr lang="en-US" altLang="zh-CN" sz="3600" b="1" smtClean="0">
                <a:solidFill>
                  <a:schemeClr val="tx1"/>
                </a:solidFill>
              </a:rPr>
              <a:t> </a:t>
            </a:r>
            <a:r>
              <a:rPr lang="zh-CN" altLang="en-US" sz="2400" b="1" smtClean="0">
                <a:solidFill>
                  <a:schemeClr val="tx1"/>
                </a:solidFill>
                <a:latin typeface="隶书" pitchFamily="49" charset="-122"/>
                <a:ea typeface="隶书" pitchFamily="49" charset="-122"/>
              </a:rPr>
              <a:t>测试计划的内容</a:t>
            </a:r>
            <a:endParaRPr lang="zh-CN" altLang="en-US" sz="2400" b="1" smtClean="0">
              <a:solidFill>
                <a:schemeClr val="tx1"/>
              </a:solidFill>
              <a:latin typeface="隶书" pitchFamily="49" charset="-122"/>
              <a:ea typeface="隶书" pitchFamily="49" charset="-122"/>
            </a:endParaRPr>
          </a:p>
          <a:p>
            <a:pPr marL="609600" indent="-609600" eaLnBrk="1" hangingPunct="1">
              <a:buClr>
                <a:schemeClr val="tx1"/>
              </a:buClr>
              <a:buFont typeface="Wingdings" panose="05000000000000000000" pitchFamily="2" charset="2"/>
              <a:buAutoNum type="arabicPeriod" startAt="5"/>
            </a:pPr>
            <a:r>
              <a:rPr lang="zh-CN" altLang="en-US" sz="2400" b="1" smtClean="0">
                <a:solidFill>
                  <a:schemeClr val="tx1"/>
                </a:solidFill>
                <a:latin typeface="隶书" pitchFamily="49" charset="-122"/>
                <a:ea typeface="隶书" pitchFamily="49" charset="-122"/>
              </a:rPr>
              <a:t> 测试资源和相关的程序经理</a:t>
            </a:r>
            <a:r>
              <a:rPr lang="en-US" altLang="zh-CN" sz="2400" b="1" smtClean="0">
                <a:solidFill>
                  <a:schemeClr val="tx1"/>
                </a:solidFill>
                <a:latin typeface="隶书" pitchFamily="49" charset="-122"/>
                <a:ea typeface="隶书" pitchFamily="49" charset="-122"/>
              </a:rPr>
              <a:t>/</a:t>
            </a:r>
            <a:r>
              <a:rPr lang="zh-CN" altLang="en-US" sz="2400" b="1" smtClean="0">
                <a:solidFill>
                  <a:schemeClr val="tx1"/>
                </a:solidFill>
                <a:latin typeface="隶书" pitchFamily="49" charset="-122"/>
                <a:ea typeface="隶书" pitchFamily="49" charset="-122"/>
              </a:rPr>
              <a:t>开发工程师</a:t>
            </a:r>
            <a:endParaRPr lang="zh-CN" altLang="en-US" sz="2400" b="1" smtClean="0">
              <a:solidFill>
                <a:schemeClr val="tx1"/>
              </a:solidFill>
              <a:latin typeface="隶书" pitchFamily="49" charset="-122"/>
              <a:ea typeface="隶书" pitchFamily="49" charset="-122"/>
            </a:endParaRPr>
          </a:p>
          <a:p>
            <a:pPr marL="609600" indent="-609600" eaLnBrk="1" hangingPunct="1">
              <a:buClr>
                <a:schemeClr val="bg1"/>
              </a:buClr>
              <a:buFont typeface="Wingdings" panose="05000000000000000000" pitchFamily="2" charset="2"/>
              <a:buChar char="ð"/>
            </a:pPr>
            <a:r>
              <a:rPr lang="zh-CN" altLang="en-US" sz="2400" b="1" smtClean="0">
                <a:solidFill>
                  <a:schemeClr val="tx1"/>
                </a:solidFill>
                <a:latin typeface="隶书" pitchFamily="49" charset="-122"/>
                <a:ea typeface="隶书" pitchFamily="49" charset="-122"/>
              </a:rPr>
              <a:t> 定义参与测试的人员；</a:t>
            </a:r>
            <a:endParaRPr lang="zh-CN" altLang="en-US" sz="2400" b="1" smtClean="0">
              <a:solidFill>
                <a:schemeClr val="tx1"/>
              </a:solidFill>
              <a:latin typeface="隶书" pitchFamily="49" charset="-122"/>
              <a:ea typeface="隶书" pitchFamily="49" charset="-122"/>
            </a:endParaRPr>
          </a:p>
          <a:p>
            <a:pPr marL="609600" indent="-609600" eaLnBrk="1" hangingPunct="1">
              <a:buClr>
                <a:schemeClr val="bg1"/>
              </a:buClr>
              <a:buFont typeface="Wingdings" panose="05000000000000000000" pitchFamily="2" charset="2"/>
              <a:buChar char="ð"/>
            </a:pPr>
            <a:r>
              <a:rPr lang="zh-CN" altLang="en-US" sz="2400" b="1" smtClean="0">
                <a:solidFill>
                  <a:schemeClr val="tx1"/>
                </a:solidFill>
                <a:latin typeface="隶书" pitchFamily="49" charset="-122"/>
                <a:ea typeface="隶书" pitchFamily="49" charset="-122"/>
              </a:rPr>
              <a:t> 描述每位测试人员的职责范围；</a:t>
            </a:r>
            <a:endParaRPr lang="zh-CN" altLang="en-US" sz="2400" b="1" smtClean="0">
              <a:solidFill>
                <a:schemeClr val="tx1"/>
              </a:solidFill>
              <a:latin typeface="隶书" pitchFamily="49" charset="-122"/>
              <a:ea typeface="隶书" pitchFamily="49" charset="-122"/>
            </a:endParaRPr>
          </a:p>
          <a:p>
            <a:pPr marL="609600" indent="-609600" eaLnBrk="1" hangingPunct="1">
              <a:buClr>
                <a:schemeClr val="bg1"/>
              </a:buClr>
              <a:buFont typeface="Wingdings" panose="05000000000000000000" pitchFamily="2" charset="2"/>
              <a:buChar char="ð"/>
            </a:pPr>
            <a:r>
              <a:rPr lang="zh-CN" altLang="en-US" sz="2400" b="1" smtClean="0">
                <a:solidFill>
                  <a:schemeClr val="tx1"/>
                </a:solidFill>
                <a:latin typeface="隶书" pitchFamily="49" charset="-122"/>
                <a:ea typeface="隶书" pitchFamily="49" charset="-122"/>
              </a:rPr>
              <a:t> 给出与测试有关的程序经理</a:t>
            </a:r>
            <a:r>
              <a:rPr lang="en-US" altLang="zh-CN" sz="2400" b="1" smtClean="0">
                <a:solidFill>
                  <a:schemeClr val="tx1"/>
                </a:solidFill>
                <a:latin typeface="隶书" pitchFamily="49" charset="-122"/>
                <a:ea typeface="隶书" pitchFamily="49" charset="-122"/>
              </a:rPr>
              <a:t>/</a:t>
            </a:r>
            <a:r>
              <a:rPr lang="zh-CN" altLang="en-US" sz="2400" b="1" smtClean="0">
                <a:solidFill>
                  <a:schemeClr val="tx1"/>
                </a:solidFill>
                <a:latin typeface="隶书" pitchFamily="49" charset="-122"/>
                <a:ea typeface="隶书" pitchFamily="49" charset="-122"/>
              </a:rPr>
              <a:t>开发工程师的相关信息。</a:t>
            </a:r>
            <a:endParaRPr lang="zh-CN" altLang="en-US" sz="2400" b="1" smtClean="0">
              <a:solidFill>
                <a:schemeClr val="tx1"/>
              </a:solidFill>
              <a:latin typeface="隶书" pitchFamily="49" charset="-122"/>
              <a:ea typeface="隶书" pitchFamily="49" charset="-122"/>
            </a:endParaRPr>
          </a:p>
          <a:p>
            <a:pPr marL="609600" indent="-609600" eaLnBrk="1" hangingPunct="1">
              <a:buClr>
                <a:schemeClr val="tx1"/>
              </a:buClr>
              <a:buFont typeface="Wingdings" panose="05000000000000000000" pitchFamily="2" charset="2"/>
              <a:buAutoNum type="arabicPeriod" startAt="6"/>
            </a:pPr>
            <a:r>
              <a:rPr lang="zh-CN" altLang="en-US" sz="2400" b="1" smtClean="0">
                <a:solidFill>
                  <a:schemeClr val="tx1"/>
                </a:solidFill>
                <a:latin typeface="隶书" pitchFamily="49" charset="-122"/>
                <a:ea typeface="隶书" pitchFamily="49" charset="-122"/>
              </a:rPr>
              <a:t> 配置范围和测试工具 </a:t>
            </a:r>
            <a:endParaRPr lang="zh-CN" altLang="en-US" sz="2400" b="1" smtClean="0">
              <a:solidFill>
                <a:schemeClr val="tx1"/>
              </a:solidFill>
              <a:latin typeface="隶书" pitchFamily="49" charset="-122"/>
              <a:ea typeface="隶书" pitchFamily="49" charset="-122"/>
            </a:endParaRPr>
          </a:p>
          <a:p>
            <a:pPr marL="609600" indent="-609600" eaLnBrk="1" hangingPunct="1">
              <a:buClr>
                <a:schemeClr val="bg1"/>
              </a:buClr>
              <a:buFont typeface="Wingdings" panose="05000000000000000000" pitchFamily="2" charset="2"/>
              <a:buChar char="ð"/>
            </a:pPr>
            <a:r>
              <a:rPr lang="zh-CN" altLang="en-US" sz="2400" b="1" smtClean="0">
                <a:solidFill>
                  <a:schemeClr val="tx1"/>
                </a:solidFill>
                <a:latin typeface="隶书" pitchFamily="49" charset="-122"/>
                <a:ea typeface="隶书" pitchFamily="49" charset="-122"/>
              </a:rPr>
              <a:t> 给出测试时使用的所有计算机平台列表；</a:t>
            </a:r>
            <a:endParaRPr lang="zh-CN" altLang="en-US" sz="2400" b="1" smtClean="0">
              <a:solidFill>
                <a:schemeClr val="tx1"/>
              </a:solidFill>
              <a:latin typeface="隶书" pitchFamily="49" charset="-122"/>
              <a:ea typeface="隶书" pitchFamily="49" charset="-122"/>
            </a:endParaRPr>
          </a:p>
          <a:p>
            <a:pPr marL="609600" indent="-609600" eaLnBrk="1" hangingPunct="1">
              <a:buClr>
                <a:schemeClr val="bg1"/>
              </a:buClr>
              <a:buFont typeface="Wingdings" panose="05000000000000000000" pitchFamily="2" charset="2"/>
              <a:buChar char="ð"/>
            </a:pPr>
            <a:r>
              <a:rPr lang="zh-CN" altLang="en-US" sz="2400" b="1" smtClean="0">
                <a:solidFill>
                  <a:schemeClr val="tx1"/>
                </a:solidFill>
                <a:latin typeface="隶书" pitchFamily="49" charset="-122"/>
                <a:ea typeface="隶书" pitchFamily="49" charset="-122"/>
              </a:rPr>
              <a:t> 描述测试覆盖了哪些硬件设备；</a:t>
            </a:r>
            <a:endParaRPr lang="zh-CN" altLang="en-US" sz="2400" b="1" smtClean="0">
              <a:solidFill>
                <a:schemeClr val="tx1"/>
              </a:solidFill>
              <a:latin typeface="隶书" pitchFamily="49" charset="-122"/>
              <a:ea typeface="隶书" pitchFamily="49" charset="-122"/>
            </a:endParaRPr>
          </a:p>
          <a:p>
            <a:pPr marL="609600" indent="-609600" eaLnBrk="1" hangingPunct="1">
              <a:buClr>
                <a:schemeClr val="bg1"/>
              </a:buClr>
              <a:buFont typeface="Wingdings" panose="05000000000000000000" pitchFamily="2" charset="2"/>
              <a:buChar char="ð"/>
            </a:pPr>
            <a:r>
              <a:rPr lang="zh-CN" altLang="en-US" sz="2400" b="1" smtClean="0">
                <a:solidFill>
                  <a:schemeClr val="tx1"/>
                </a:solidFill>
                <a:latin typeface="隶书" pitchFamily="49" charset="-122"/>
                <a:ea typeface="隶书" pitchFamily="49" charset="-122"/>
              </a:rPr>
              <a:t> 测试时使用的主要测试工具。   </a:t>
            </a:r>
            <a:endParaRPr lang="zh-CN" altLang="en-US" sz="2400" b="1" smtClean="0">
              <a:solidFill>
                <a:schemeClr val="tx1"/>
              </a:solidFill>
              <a:latin typeface="隶书" pitchFamily="49" charset="-122"/>
              <a:ea typeface="隶书"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44899">
                                            <p:txEl>
                                              <p:pRg st="1" end="1"/>
                                            </p:txEl>
                                          </p:spTgt>
                                        </p:tgtEl>
                                        <p:attrNameLst>
                                          <p:attrName>style.visibility</p:attrName>
                                        </p:attrNameLst>
                                      </p:cBhvr>
                                      <p:to>
                                        <p:strVal val="visible"/>
                                      </p:to>
                                    </p:set>
                                    <p:animEffect transition="in" filter="blinds(horizontal)">
                                      <p:cBhvr>
                                        <p:cTn id="7" dur="500"/>
                                        <p:tgtEl>
                                          <p:spTgt spid="1744899">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44899">
                                            <p:txEl>
                                              <p:pRg st="2" end="2"/>
                                            </p:txEl>
                                          </p:spTgt>
                                        </p:tgtEl>
                                        <p:attrNameLst>
                                          <p:attrName>style.visibility</p:attrName>
                                        </p:attrNameLst>
                                      </p:cBhvr>
                                      <p:to>
                                        <p:strVal val="visible"/>
                                      </p:to>
                                    </p:set>
                                    <p:animEffect transition="in" filter="blinds(horizontal)">
                                      <p:cBhvr>
                                        <p:cTn id="11" dur="500"/>
                                        <p:tgtEl>
                                          <p:spTgt spid="1744899">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44899">
                                            <p:txEl>
                                              <p:pRg st="3" end="3"/>
                                            </p:txEl>
                                          </p:spTgt>
                                        </p:tgtEl>
                                        <p:attrNameLst>
                                          <p:attrName>style.visibility</p:attrName>
                                        </p:attrNameLst>
                                      </p:cBhvr>
                                      <p:to>
                                        <p:strVal val="visible"/>
                                      </p:to>
                                    </p:set>
                                    <p:animEffect transition="in" filter="blinds(horizontal)">
                                      <p:cBhvr>
                                        <p:cTn id="15" dur="500"/>
                                        <p:tgtEl>
                                          <p:spTgt spid="1744899">
                                            <p:txEl>
                                              <p:pRg st="3" end="3"/>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44899">
                                            <p:txEl>
                                              <p:pRg st="4" end="4"/>
                                            </p:txEl>
                                          </p:spTgt>
                                        </p:tgtEl>
                                        <p:attrNameLst>
                                          <p:attrName>style.visibility</p:attrName>
                                        </p:attrNameLst>
                                      </p:cBhvr>
                                      <p:to>
                                        <p:strVal val="visible"/>
                                      </p:to>
                                    </p:set>
                                    <p:animEffect transition="in" filter="blinds(horizontal)">
                                      <p:cBhvr>
                                        <p:cTn id="19" dur="500"/>
                                        <p:tgtEl>
                                          <p:spTgt spid="1744899">
                                            <p:txEl>
                                              <p:pRg st="4" end="4"/>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744899">
                                            <p:txEl>
                                              <p:pRg st="5" end="5"/>
                                            </p:txEl>
                                          </p:spTgt>
                                        </p:tgtEl>
                                        <p:attrNameLst>
                                          <p:attrName>style.visibility</p:attrName>
                                        </p:attrNameLst>
                                      </p:cBhvr>
                                      <p:to>
                                        <p:strVal val="visible"/>
                                      </p:to>
                                    </p:set>
                                    <p:animEffect transition="in" filter="blinds(horizontal)">
                                      <p:cBhvr>
                                        <p:cTn id="23" dur="500"/>
                                        <p:tgtEl>
                                          <p:spTgt spid="1744899">
                                            <p:txEl>
                                              <p:pRg st="5" end="5"/>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744899">
                                            <p:txEl>
                                              <p:pRg st="6" end="6"/>
                                            </p:txEl>
                                          </p:spTgt>
                                        </p:tgtEl>
                                        <p:attrNameLst>
                                          <p:attrName>style.visibility</p:attrName>
                                        </p:attrNameLst>
                                      </p:cBhvr>
                                      <p:to>
                                        <p:strVal val="visible"/>
                                      </p:to>
                                    </p:set>
                                    <p:animEffect transition="in" filter="blinds(horizontal)">
                                      <p:cBhvr>
                                        <p:cTn id="27" dur="500"/>
                                        <p:tgtEl>
                                          <p:spTgt spid="1744899">
                                            <p:txEl>
                                              <p:pRg st="6" end="6"/>
                                            </p:txEl>
                                          </p:spTgt>
                                        </p:tgtEl>
                                      </p:cBhvr>
                                    </p:animEffect>
                                  </p:childTnLst>
                                </p:cTn>
                              </p:par>
                            </p:childTnLst>
                          </p:cTn>
                        </p:par>
                        <p:par>
                          <p:cTn id="28" fill="hold">
                            <p:stCondLst>
                              <p:cond delay="3000"/>
                            </p:stCondLst>
                            <p:childTnLst>
                              <p:par>
                                <p:cTn id="29" presetID="3" presetClass="entr" presetSubtype="10" fill="hold" nodeType="afterEffect">
                                  <p:stCondLst>
                                    <p:cond delay="0"/>
                                  </p:stCondLst>
                                  <p:childTnLst>
                                    <p:set>
                                      <p:cBhvr>
                                        <p:cTn id="30" dur="1" fill="hold">
                                          <p:stCondLst>
                                            <p:cond delay="0"/>
                                          </p:stCondLst>
                                        </p:cTn>
                                        <p:tgtEl>
                                          <p:spTgt spid="1744899">
                                            <p:txEl>
                                              <p:pRg st="7" end="7"/>
                                            </p:txEl>
                                          </p:spTgt>
                                        </p:tgtEl>
                                        <p:attrNameLst>
                                          <p:attrName>style.visibility</p:attrName>
                                        </p:attrNameLst>
                                      </p:cBhvr>
                                      <p:to>
                                        <p:strVal val="visible"/>
                                      </p:to>
                                    </p:set>
                                    <p:animEffect transition="in" filter="blinds(horizontal)">
                                      <p:cBhvr>
                                        <p:cTn id="31" dur="500"/>
                                        <p:tgtEl>
                                          <p:spTgt spid="1744899">
                                            <p:txEl>
                                              <p:pRg st="7" end="7"/>
                                            </p:txEl>
                                          </p:spTgt>
                                        </p:tgtEl>
                                      </p:cBhvr>
                                    </p:animEffect>
                                  </p:childTnLst>
                                </p:cTn>
                              </p:par>
                            </p:childTnLst>
                          </p:cTn>
                        </p:par>
                        <p:par>
                          <p:cTn id="32" fill="hold">
                            <p:stCondLst>
                              <p:cond delay="3500"/>
                            </p:stCondLst>
                            <p:childTnLst>
                              <p:par>
                                <p:cTn id="33" presetID="3" presetClass="entr" presetSubtype="10" fill="hold" nodeType="afterEffect">
                                  <p:stCondLst>
                                    <p:cond delay="0"/>
                                  </p:stCondLst>
                                  <p:childTnLst>
                                    <p:set>
                                      <p:cBhvr>
                                        <p:cTn id="34" dur="1" fill="hold">
                                          <p:stCondLst>
                                            <p:cond delay="0"/>
                                          </p:stCondLst>
                                        </p:cTn>
                                        <p:tgtEl>
                                          <p:spTgt spid="1744899">
                                            <p:txEl>
                                              <p:pRg st="8" end="8"/>
                                            </p:txEl>
                                          </p:spTgt>
                                        </p:tgtEl>
                                        <p:attrNameLst>
                                          <p:attrName>style.visibility</p:attrName>
                                        </p:attrNameLst>
                                      </p:cBhvr>
                                      <p:to>
                                        <p:strVal val="visible"/>
                                      </p:to>
                                    </p:set>
                                    <p:animEffect transition="in" filter="blinds(horizontal)">
                                      <p:cBhvr>
                                        <p:cTn id="35" dur="500"/>
                                        <p:tgtEl>
                                          <p:spTgt spid="17448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CN" altLang="en-US" sz="3600" b="1" smtClean="0">
                <a:solidFill>
                  <a:schemeClr val="tx1"/>
                </a:solidFill>
              </a:rPr>
              <a:t>微软的测试工作</a:t>
            </a:r>
            <a:endParaRPr lang="zh-CN" altLang="en-US" sz="3600" b="1" smtClean="0">
              <a:solidFill>
                <a:schemeClr val="tx1"/>
              </a:solidFill>
            </a:endParaRPr>
          </a:p>
        </p:txBody>
      </p:sp>
      <p:sp>
        <p:nvSpPr>
          <p:cNvPr id="1745923" name="Rectangle 3"/>
          <p:cNvSpPr>
            <a:spLocks noGrp="1" noChangeArrowheads="1"/>
          </p:cNvSpPr>
          <p:nvPr>
            <p:ph type="body" idx="1"/>
          </p:nvPr>
        </p:nvSpPr>
        <p:spPr>
          <a:xfrm>
            <a:off x="539750" y="2017713"/>
            <a:ext cx="8415338" cy="4114800"/>
          </a:xfrm>
        </p:spPr>
        <p:txBody>
          <a:bodyPr/>
          <a:lstStyle/>
          <a:p>
            <a:pPr eaLnBrk="1" hangingPunct="1">
              <a:buClr>
                <a:schemeClr val="bg1"/>
              </a:buClr>
              <a:buFont typeface="Wingdings" panose="05000000000000000000" pitchFamily="2" charset="2"/>
              <a:buChar char="Ø"/>
            </a:pPr>
            <a:r>
              <a:rPr lang="en-US" altLang="zh-CN" b="1" smtClean="0">
                <a:solidFill>
                  <a:schemeClr val="bg1"/>
                </a:solidFill>
              </a:rPr>
              <a:t>  </a:t>
            </a:r>
            <a:r>
              <a:rPr lang="zh-CN" altLang="en-US" sz="2800" b="1" smtClean="0">
                <a:solidFill>
                  <a:schemeClr val="tx1"/>
                </a:solidFill>
                <a:latin typeface="隶书" pitchFamily="49" charset="-122"/>
                <a:ea typeface="隶书" pitchFamily="49" charset="-122"/>
              </a:rPr>
              <a:t>测试用例开发</a:t>
            </a:r>
            <a:r>
              <a:rPr lang="zh-CN" altLang="en-US" sz="2800" smtClean="0">
                <a:solidFill>
                  <a:schemeClr val="tx1"/>
                </a:solidFill>
                <a:latin typeface="隶书" pitchFamily="49" charset="-122"/>
                <a:ea typeface="隶书" pitchFamily="49" charset="-122"/>
              </a:rPr>
              <a:t> </a:t>
            </a:r>
            <a:endParaRPr lang="zh-CN" altLang="en-US" sz="2800" smtClean="0">
              <a:solidFill>
                <a:schemeClr val="tx1"/>
              </a:solidFill>
              <a:latin typeface="隶书" pitchFamily="49" charset="-122"/>
              <a:ea typeface="隶书" pitchFamily="49" charset="-122"/>
            </a:endParaRPr>
          </a:p>
          <a:p>
            <a:pPr eaLnBrk="1" hangingPunct="1">
              <a:buClr>
                <a:schemeClr val="bg1"/>
              </a:buClr>
              <a:buFont typeface="Wingdings" panose="05000000000000000000" pitchFamily="2" charset="2"/>
              <a:buNone/>
            </a:pPr>
            <a:r>
              <a:rPr lang="zh-CN" altLang="en-US" sz="2800" b="1" smtClean="0">
                <a:solidFill>
                  <a:schemeClr val="tx1"/>
                </a:solidFill>
                <a:latin typeface="隶书" pitchFamily="49" charset="-122"/>
                <a:ea typeface="隶书" pitchFamily="49" charset="-122"/>
              </a:rPr>
              <a:t>    一个好的测试用例就是有一个合理的概率来找到</a:t>
            </a:r>
            <a:r>
              <a:rPr lang="en-US" altLang="zh-CN" sz="2800" b="1" smtClean="0">
                <a:solidFill>
                  <a:schemeClr val="tx1"/>
                </a:solidFill>
                <a:latin typeface="隶书" pitchFamily="49" charset="-122"/>
                <a:ea typeface="隶书" pitchFamily="49" charset="-122"/>
              </a:rPr>
              <a:t>Bug</a:t>
            </a:r>
            <a:r>
              <a:rPr lang="zh-CN" altLang="en-US" sz="2800" b="1" smtClean="0">
                <a:solidFill>
                  <a:schemeClr val="tx1"/>
                </a:solidFill>
                <a:latin typeface="隶书" pitchFamily="49" charset="-122"/>
                <a:ea typeface="隶书" pitchFamily="49" charset="-122"/>
              </a:rPr>
              <a:t>，不要冗余，要有针对性，一个测试只针对一件事情。</a:t>
            </a:r>
            <a:endParaRPr lang="zh-CN" altLang="en-US" sz="2800" b="1" smtClean="0">
              <a:solidFill>
                <a:schemeClr val="tx1"/>
              </a:solidFill>
              <a:latin typeface="隶书" pitchFamily="49" charset="-122"/>
              <a:ea typeface="隶书" pitchFamily="49" charset="-122"/>
            </a:endParaRPr>
          </a:p>
          <a:p>
            <a:pPr eaLnBrk="1" hangingPunct="1">
              <a:buClr>
                <a:schemeClr val="bg1"/>
              </a:buClr>
              <a:buFont typeface="Wingdings" panose="05000000000000000000" pitchFamily="2" charset="2"/>
              <a:buNone/>
            </a:pPr>
            <a:r>
              <a:rPr lang="zh-CN" altLang="en-US" sz="2800" b="1" smtClean="0">
                <a:solidFill>
                  <a:schemeClr val="tx1"/>
                </a:solidFill>
                <a:latin typeface="隶书" pitchFamily="49" charset="-122"/>
                <a:ea typeface="隶书" pitchFamily="49" charset="-122"/>
              </a:rPr>
              <a:t>    测试用例开发中主要使用的技术有等价类划分，边界值的分析，</a:t>
            </a:r>
            <a:r>
              <a:rPr lang="en-US" altLang="zh-CN" sz="2800" b="1" smtClean="0">
                <a:solidFill>
                  <a:schemeClr val="tx1"/>
                </a:solidFill>
                <a:latin typeface="隶书" pitchFamily="49" charset="-122"/>
                <a:ea typeface="隶书" pitchFamily="49" charset="-122"/>
              </a:rPr>
              <a:t>Error Guessing Testing</a:t>
            </a:r>
            <a:r>
              <a:rPr lang="zh-CN" altLang="en-US" sz="2800" b="1" smtClean="0">
                <a:solidFill>
                  <a:schemeClr val="tx1"/>
                </a:solidFill>
                <a:latin typeface="隶书" pitchFamily="49" charset="-122"/>
                <a:ea typeface="隶书" pitchFamily="49" charset="-122"/>
              </a:rPr>
              <a:t>。</a:t>
            </a:r>
            <a:r>
              <a:rPr lang="zh-CN" altLang="en-US" sz="2800" b="1" smtClean="0">
                <a:solidFill>
                  <a:schemeClr val="bg1"/>
                </a:solidFill>
                <a:latin typeface="隶书" pitchFamily="49" charset="-122"/>
                <a:ea typeface="隶书" pitchFamily="49" charset="-122"/>
              </a:rPr>
              <a:t>  </a:t>
            </a:r>
            <a:endParaRPr lang="zh-CN" altLang="en-US" sz="2800" b="1" smtClean="0">
              <a:solidFill>
                <a:schemeClr val="bg1"/>
              </a:solidFill>
              <a:latin typeface="隶书" pitchFamily="49" charset="-122"/>
              <a:ea typeface="隶书"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45923">
                                            <p:txEl>
                                              <p:pRg st="1" end="1"/>
                                            </p:txEl>
                                          </p:spTgt>
                                        </p:tgtEl>
                                        <p:attrNameLst>
                                          <p:attrName>style.visibility</p:attrName>
                                        </p:attrNameLst>
                                      </p:cBhvr>
                                      <p:to>
                                        <p:strVal val="visible"/>
                                      </p:to>
                                    </p:set>
                                    <p:animEffect transition="in" filter="blinds(horizontal)">
                                      <p:cBhvr>
                                        <p:cTn id="7" dur="500"/>
                                        <p:tgtEl>
                                          <p:spTgt spid="1745923">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45923">
                                            <p:txEl>
                                              <p:pRg st="2" end="2"/>
                                            </p:txEl>
                                          </p:spTgt>
                                        </p:tgtEl>
                                        <p:attrNameLst>
                                          <p:attrName>style.visibility</p:attrName>
                                        </p:attrNameLst>
                                      </p:cBhvr>
                                      <p:to>
                                        <p:strVal val="visible"/>
                                      </p:to>
                                    </p:set>
                                    <p:animEffect transition="in" filter="blinds(horizontal)">
                                      <p:cBhvr>
                                        <p:cTn id="11" dur="500"/>
                                        <p:tgtEl>
                                          <p:spTgt spid="17459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1116013" y="188913"/>
            <a:ext cx="7793037" cy="1462087"/>
          </a:xfrm>
        </p:spPr>
        <p:txBody>
          <a:bodyPr/>
          <a:lstStyle/>
          <a:p>
            <a:pPr eaLnBrk="1" hangingPunct="1"/>
            <a:r>
              <a:rPr lang="zh-CN" altLang="en-US" sz="3600" b="1" smtClean="0">
                <a:solidFill>
                  <a:schemeClr val="tx1"/>
                </a:solidFill>
              </a:rPr>
              <a:t>微软的测试工作</a:t>
            </a:r>
            <a:endParaRPr lang="zh-CN" altLang="en-US" sz="3600" b="1" smtClean="0">
              <a:solidFill>
                <a:schemeClr val="tx1"/>
              </a:solidFill>
            </a:endParaRPr>
          </a:p>
        </p:txBody>
      </p:sp>
      <p:sp>
        <p:nvSpPr>
          <p:cNvPr id="114691" name="Rectangle 3"/>
          <p:cNvSpPr>
            <a:spLocks noGrp="1" noChangeArrowheads="1"/>
          </p:cNvSpPr>
          <p:nvPr>
            <p:ph type="body" idx="1"/>
          </p:nvPr>
        </p:nvSpPr>
        <p:spPr/>
        <p:txBody>
          <a:bodyPr/>
          <a:lstStyle/>
          <a:p>
            <a:pPr eaLnBrk="1" hangingPunct="1">
              <a:buClr>
                <a:schemeClr val="bg1"/>
              </a:buClr>
              <a:buFont typeface="Wingdings" panose="05000000000000000000" pitchFamily="2" charset="2"/>
              <a:buChar char="Ø"/>
            </a:pPr>
            <a:r>
              <a:rPr lang="en-US" altLang="zh-CN" b="1" smtClean="0">
                <a:solidFill>
                  <a:schemeClr val="tx1"/>
                </a:solidFill>
              </a:rPr>
              <a:t> </a:t>
            </a:r>
            <a:r>
              <a:rPr lang="en-US" altLang="zh-CN" sz="2400" b="1" smtClean="0">
                <a:solidFill>
                  <a:schemeClr val="tx1"/>
                </a:solidFill>
                <a:latin typeface="隶书" pitchFamily="49" charset="-122"/>
                <a:ea typeface="隶书" pitchFamily="49" charset="-122"/>
              </a:rPr>
              <a:t>Bug</a:t>
            </a:r>
            <a:r>
              <a:rPr lang="zh-CN" altLang="en-US" sz="2400" b="1" smtClean="0">
                <a:solidFill>
                  <a:schemeClr val="tx1"/>
                </a:solidFill>
                <a:latin typeface="隶书" pitchFamily="49" charset="-122"/>
                <a:ea typeface="隶书" pitchFamily="49" charset="-122"/>
              </a:rPr>
              <a:t>跟踪过程</a:t>
            </a:r>
            <a:r>
              <a:rPr lang="zh-CN" altLang="en-US" smtClean="0"/>
              <a:t> </a:t>
            </a:r>
            <a:endParaRPr lang="zh-CN" altLang="en-US" smtClean="0"/>
          </a:p>
          <a:p>
            <a:pPr eaLnBrk="1" hangingPunct="1">
              <a:buClr>
                <a:schemeClr val="bg1"/>
              </a:buClr>
              <a:buFont typeface="Wingdings" panose="05000000000000000000" pitchFamily="2" charset="2"/>
              <a:buNone/>
            </a:pPr>
            <a:endParaRPr lang="en-US" altLang="zh-CN" smtClean="0"/>
          </a:p>
        </p:txBody>
      </p:sp>
      <p:grpSp>
        <p:nvGrpSpPr>
          <p:cNvPr id="2" name="Group 4"/>
          <p:cNvGrpSpPr/>
          <p:nvPr/>
        </p:nvGrpSpPr>
        <p:grpSpPr bwMode="auto">
          <a:xfrm>
            <a:off x="3563938" y="2636838"/>
            <a:ext cx="4106862" cy="823912"/>
            <a:chOff x="2254" y="1557"/>
            <a:chExt cx="2587" cy="519"/>
          </a:xfrm>
        </p:grpSpPr>
        <p:sp>
          <p:nvSpPr>
            <p:cNvPr id="1752069" name="Rectangle 5"/>
            <p:cNvSpPr>
              <a:spLocks noChangeArrowheads="1"/>
            </p:cNvSpPr>
            <p:nvPr/>
          </p:nvSpPr>
          <p:spPr bwMode="auto">
            <a:xfrm>
              <a:off x="2254" y="1567"/>
              <a:ext cx="2587" cy="496"/>
            </a:xfrm>
            <a:prstGeom prst="rect">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114711" name="Text Box 6"/>
            <p:cNvSpPr txBox="1">
              <a:spLocks noChangeArrowheads="1"/>
            </p:cNvSpPr>
            <p:nvPr/>
          </p:nvSpPr>
          <p:spPr bwMode="auto">
            <a:xfrm>
              <a:off x="2366" y="1557"/>
              <a:ext cx="2362" cy="519"/>
            </a:xfrm>
            <a:prstGeom prst="rect">
              <a:avLst/>
            </a:prstGeom>
            <a:noFill/>
            <a:ln w="6350">
              <a:noFill/>
              <a:miter lim="800000"/>
            </a:ln>
          </p:spPr>
          <p:txBody>
            <a:bodyPr lIns="0" tIns="0" rIns="0" bIns="0" anchor="ctr">
              <a:spAutoFit/>
            </a:bodyPr>
            <a:lstStyle/>
            <a:p>
              <a:pPr algn="ctr" eaLnBrk="0" hangingPunct="0"/>
              <a:r>
                <a:rPr kumimoji="1" lang="zh-CN" altLang="en-US" sz="1800" b="1">
                  <a:latin typeface="隶书" pitchFamily="49" charset="-122"/>
                  <a:ea typeface="隶书" pitchFamily="49" charset="-122"/>
                </a:rPr>
                <a:t>测试工程师向项目组报告该</a:t>
              </a:r>
              <a:r>
                <a:rPr kumimoji="1" lang="en-US" altLang="zh-CN" sz="1800" b="1">
                  <a:latin typeface="隶书" pitchFamily="49" charset="-122"/>
                  <a:ea typeface="隶书" pitchFamily="49" charset="-122"/>
                </a:rPr>
                <a:t>Bug</a:t>
              </a:r>
              <a:r>
                <a:rPr kumimoji="1" lang="zh-CN" altLang="en-US" sz="1800" b="1">
                  <a:latin typeface="隶书" pitchFamily="49" charset="-122"/>
                  <a:ea typeface="隶书" pitchFamily="49" charset="-122"/>
                </a:rPr>
                <a:t>的位置、表现、当前状态等信息，项目组在</a:t>
              </a:r>
              <a:r>
                <a:rPr kumimoji="1" lang="en-US" altLang="zh-CN" sz="1800" b="1">
                  <a:latin typeface="隶书" pitchFamily="49" charset="-122"/>
                  <a:ea typeface="隶书" pitchFamily="49" charset="-122"/>
                </a:rPr>
                <a:t>Bug</a:t>
              </a:r>
              <a:r>
                <a:rPr kumimoji="1" lang="zh-CN" altLang="en-US" sz="1800" b="1">
                  <a:latin typeface="隶书" pitchFamily="49" charset="-122"/>
                  <a:ea typeface="隶书" pitchFamily="49" charset="-122"/>
                </a:rPr>
                <a:t>数据库中添加该</a:t>
              </a:r>
              <a:r>
                <a:rPr kumimoji="1" lang="en-US" altLang="zh-CN" sz="1800" b="1">
                  <a:latin typeface="隶书" pitchFamily="49" charset="-122"/>
                  <a:ea typeface="隶书" pitchFamily="49" charset="-122"/>
                </a:rPr>
                <a:t>Bug</a:t>
              </a:r>
              <a:r>
                <a:rPr kumimoji="1" lang="zh-CN" altLang="en-US" sz="1800" b="1">
                  <a:latin typeface="隶书" pitchFamily="49" charset="-122"/>
                  <a:ea typeface="隶书" pitchFamily="49" charset="-122"/>
                </a:rPr>
                <a:t>的记录</a:t>
              </a:r>
              <a:r>
                <a:rPr kumimoji="1" lang="zh-CN" altLang="en-US" sz="1800">
                  <a:latin typeface="隶书" pitchFamily="49" charset="-122"/>
                  <a:ea typeface="隶书" pitchFamily="49" charset="-122"/>
                </a:rPr>
                <a:t> </a:t>
              </a:r>
              <a:endParaRPr kumimoji="1" lang="zh-CN" altLang="en-US" sz="1800">
                <a:latin typeface="隶书" pitchFamily="49" charset="-122"/>
                <a:ea typeface="隶书" pitchFamily="49" charset="-122"/>
              </a:endParaRPr>
            </a:p>
          </p:txBody>
        </p:sp>
      </p:grpSp>
      <p:grpSp>
        <p:nvGrpSpPr>
          <p:cNvPr id="3" name="Group 7"/>
          <p:cNvGrpSpPr/>
          <p:nvPr/>
        </p:nvGrpSpPr>
        <p:grpSpPr bwMode="auto">
          <a:xfrm>
            <a:off x="3900488" y="3595688"/>
            <a:ext cx="4106862" cy="823912"/>
            <a:chOff x="2865" y="2303"/>
            <a:chExt cx="2587" cy="519"/>
          </a:xfrm>
        </p:grpSpPr>
        <p:sp>
          <p:nvSpPr>
            <p:cNvPr id="1752072" name="Rectangle 8"/>
            <p:cNvSpPr>
              <a:spLocks noChangeArrowheads="1"/>
            </p:cNvSpPr>
            <p:nvPr/>
          </p:nvSpPr>
          <p:spPr bwMode="auto">
            <a:xfrm>
              <a:off x="2865" y="2314"/>
              <a:ext cx="2587" cy="496"/>
            </a:xfrm>
            <a:prstGeom prst="rect">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114709" name="Text Box 9"/>
            <p:cNvSpPr txBox="1">
              <a:spLocks noChangeArrowheads="1"/>
            </p:cNvSpPr>
            <p:nvPr/>
          </p:nvSpPr>
          <p:spPr bwMode="auto">
            <a:xfrm>
              <a:off x="2978" y="2303"/>
              <a:ext cx="2362" cy="519"/>
            </a:xfrm>
            <a:prstGeom prst="rect">
              <a:avLst/>
            </a:prstGeom>
            <a:noFill/>
            <a:ln w="6350">
              <a:noFill/>
              <a:miter lim="800000"/>
            </a:ln>
          </p:spPr>
          <p:txBody>
            <a:bodyPr lIns="0" tIns="0" rIns="0" bIns="0" anchor="ctr">
              <a:spAutoFit/>
            </a:bodyPr>
            <a:lstStyle/>
            <a:p>
              <a:pPr algn="ctr" eaLnBrk="0" hangingPunct="0"/>
              <a:r>
                <a:rPr kumimoji="1" lang="zh-CN" altLang="en-US" sz="1800" b="1">
                  <a:latin typeface="隶书" pitchFamily="49" charset="-122"/>
                  <a:ea typeface="隶书" pitchFamily="49" charset="-122"/>
                </a:rPr>
                <a:t>开发经理对已发现的</a:t>
              </a:r>
              <a:r>
                <a:rPr kumimoji="1" lang="en-US" altLang="zh-CN" sz="1800" b="1">
                  <a:latin typeface="隶书" pitchFamily="49" charset="-122"/>
                  <a:ea typeface="隶书" pitchFamily="49" charset="-122"/>
                </a:rPr>
                <a:t>Bug</a:t>
              </a:r>
              <a:r>
                <a:rPr kumimoji="1" lang="zh-CN" altLang="en-US" sz="1800" b="1">
                  <a:latin typeface="隶书" pitchFamily="49" charset="-122"/>
                  <a:ea typeface="隶书" pitchFamily="49" charset="-122"/>
                </a:rPr>
                <a:t>进行集中讨论，根据</a:t>
              </a:r>
              <a:r>
                <a:rPr kumimoji="1" lang="en-US" altLang="zh-CN" sz="1800" b="1">
                  <a:latin typeface="隶书" pitchFamily="49" charset="-122"/>
                  <a:ea typeface="隶书" pitchFamily="49" charset="-122"/>
                </a:rPr>
                <a:t>Bug</a:t>
              </a:r>
              <a:r>
                <a:rPr kumimoji="1" lang="zh-CN" altLang="en-US" sz="1800" b="1">
                  <a:latin typeface="隶书" pitchFamily="49" charset="-122"/>
                  <a:ea typeface="隶书" pitchFamily="49" charset="-122"/>
                </a:rPr>
                <a:t>对产品的影响来评估其</a:t>
              </a:r>
              <a:endParaRPr kumimoji="1" lang="zh-CN" altLang="en-US" sz="1800" b="1">
                <a:latin typeface="隶书" pitchFamily="49" charset="-122"/>
                <a:ea typeface="隶书" pitchFamily="49" charset="-122"/>
              </a:endParaRPr>
            </a:p>
            <a:p>
              <a:pPr algn="ctr" eaLnBrk="0" hangingPunct="0"/>
              <a:r>
                <a:rPr kumimoji="1" lang="zh-CN" altLang="en-US" sz="1800" b="1">
                  <a:latin typeface="隶书" pitchFamily="49" charset="-122"/>
                  <a:ea typeface="隶书" pitchFamily="49" charset="-122"/>
                </a:rPr>
                <a:t>优先级，制定</a:t>
              </a:r>
              <a:r>
                <a:rPr kumimoji="1" lang="en-US" altLang="zh-CN" sz="1800" b="1">
                  <a:latin typeface="隶书" pitchFamily="49" charset="-122"/>
                  <a:ea typeface="隶书" pitchFamily="49" charset="-122"/>
                </a:rPr>
                <a:t>Bug</a:t>
              </a:r>
              <a:r>
                <a:rPr kumimoji="1" lang="zh-CN" altLang="en-US" sz="1800" b="1">
                  <a:latin typeface="隶书" pitchFamily="49" charset="-122"/>
                  <a:ea typeface="隶书" pitchFamily="49" charset="-122"/>
                </a:rPr>
                <a:t>的修正策略</a:t>
              </a:r>
              <a:r>
                <a:rPr kumimoji="1" lang="zh-CN" altLang="en-US" sz="1800">
                  <a:solidFill>
                    <a:schemeClr val="bg1"/>
                  </a:solidFill>
                  <a:latin typeface="隶书" pitchFamily="49" charset="-122"/>
                  <a:ea typeface="隶书" pitchFamily="49" charset="-122"/>
                </a:rPr>
                <a:t> </a:t>
              </a:r>
              <a:endParaRPr kumimoji="1" lang="zh-CN" altLang="en-US" sz="1800">
                <a:solidFill>
                  <a:schemeClr val="bg1"/>
                </a:solidFill>
                <a:latin typeface="隶书" pitchFamily="49" charset="-122"/>
                <a:ea typeface="隶书" pitchFamily="49" charset="-122"/>
              </a:endParaRPr>
            </a:p>
          </p:txBody>
        </p:sp>
      </p:grpSp>
      <p:grpSp>
        <p:nvGrpSpPr>
          <p:cNvPr id="4" name="Group 10"/>
          <p:cNvGrpSpPr/>
          <p:nvPr/>
        </p:nvGrpSpPr>
        <p:grpSpPr bwMode="auto">
          <a:xfrm>
            <a:off x="4208463" y="4548188"/>
            <a:ext cx="4106862" cy="823912"/>
            <a:chOff x="3219" y="3298"/>
            <a:chExt cx="2587" cy="519"/>
          </a:xfrm>
        </p:grpSpPr>
        <p:sp>
          <p:nvSpPr>
            <p:cNvPr id="1752075" name="Rectangle 11"/>
            <p:cNvSpPr>
              <a:spLocks noChangeArrowheads="1"/>
            </p:cNvSpPr>
            <p:nvPr/>
          </p:nvSpPr>
          <p:spPr bwMode="auto">
            <a:xfrm>
              <a:off x="3219" y="3309"/>
              <a:ext cx="2587" cy="496"/>
            </a:xfrm>
            <a:prstGeom prst="rect">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114707" name="Text Box 12"/>
            <p:cNvSpPr txBox="1">
              <a:spLocks noChangeArrowheads="1"/>
            </p:cNvSpPr>
            <p:nvPr/>
          </p:nvSpPr>
          <p:spPr bwMode="auto">
            <a:xfrm>
              <a:off x="3332" y="3298"/>
              <a:ext cx="2362" cy="519"/>
            </a:xfrm>
            <a:prstGeom prst="rect">
              <a:avLst/>
            </a:prstGeom>
            <a:noFill/>
            <a:ln w="6350">
              <a:noFill/>
              <a:miter lim="800000"/>
            </a:ln>
          </p:spPr>
          <p:txBody>
            <a:bodyPr lIns="0" tIns="0" rIns="0" bIns="0" anchor="ctr">
              <a:spAutoFit/>
            </a:bodyPr>
            <a:lstStyle/>
            <a:p>
              <a:pPr algn="ctr" eaLnBrk="0" hangingPunct="0"/>
              <a:r>
                <a:rPr kumimoji="1" lang="zh-CN" altLang="en-US" sz="1800" b="1">
                  <a:latin typeface="隶书" pitchFamily="49" charset="-122"/>
                  <a:ea typeface="隶书" pitchFamily="49" charset="-122"/>
                </a:rPr>
                <a:t>开发工程师对特定的</a:t>
              </a:r>
              <a:r>
                <a:rPr kumimoji="1" lang="en-US" altLang="zh-CN" sz="1800" b="1">
                  <a:latin typeface="隶书" pitchFamily="49" charset="-122"/>
                  <a:ea typeface="隶书" pitchFamily="49" charset="-122"/>
                </a:rPr>
                <a:t>Bug</a:t>
              </a:r>
              <a:r>
                <a:rPr kumimoji="1" lang="zh-CN" altLang="en-US" sz="1800" b="1">
                  <a:latin typeface="隶书" pitchFamily="49" charset="-122"/>
                  <a:ea typeface="隶书" pitchFamily="49" charset="-122"/>
                </a:rPr>
                <a:t>进行处理，找出代码中的错误原因，修改代码，</a:t>
              </a:r>
              <a:endParaRPr kumimoji="1" lang="zh-CN" altLang="en-US" sz="1800" b="1">
                <a:latin typeface="隶书" pitchFamily="49" charset="-122"/>
                <a:ea typeface="隶书" pitchFamily="49" charset="-122"/>
              </a:endParaRPr>
            </a:p>
            <a:p>
              <a:pPr algn="ctr" eaLnBrk="0" hangingPunct="0"/>
              <a:r>
                <a:rPr kumimoji="1" lang="zh-CN" altLang="en-US" sz="1800" b="1">
                  <a:latin typeface="隶书" pitchFamily="49" charset="-122"/>
                  <a:ea typeface="隶书" pitchFamily="49" charset="-122"/>
                </a:rPr>
                <a:t>重新生成产品版本</a:t>
              </a:r>
              <a:r>
                <a:rPr kumimoji="1" lang="zh-CN" altLang="en-US" sz="1800">
                  <a:latin typeface="隶书" pitchFamily="49" charset="-122"/>
                  <a:ea typeface="隶书" pitchFamily="49" charset="-122"/>
                </a:rPr>
                <a:t> </a:t>
              </a:r>
              <a:endParaRPr kumimoji="1" lang="zh-CN" altLang="en-US" sz="1800">
                <a:latin typeface="隶书" pitchFamily="49" charset="-122"/>
                <a:ea typeface="隶书" pitchFamily="49" charset="-122"/>
              </a:endParaRPr>
            </a:p>
          </p:txBody>
        </p:sp>
      </p:grpSp>
      <p:grpSp>
        <p:nvGrpSpPr>
          <p:cNvPr id="5" name="Group 13"/>
          <p:cNvGrpSpPr/>
          <p:nvPr/>
        </p:nvGrpSpPr>
        <p:grpSpPr bwMode="auto">
          <a:xfrm>
            <a:off x="4516438" y="5527675"/>
            <a:ext cx="4106862" cy="892175"/>
            <a:chOff x="3219" y="3309"/>
            <a:chExt cx="2587" cy="496"/>
          </a:xfrm>
        </p:grpSpPr>
        <p:sp>
          <p:nvSpPr>
            <p:cNvPr id="1752078" name="Rectangle 14"/>
            <p:cNvSpPr>
              <a:spLocks noChangeArrowheads="1"/>
            </p:cNvSpPr>
            <p:nvPr/>
          </p:nvSpPr>
          <p:spPr bwMode="auto">
            <a:xfrm>
              <a:off x="3219" y="3309"/>
              <a:ext cx="2587" cy="496"/>
            </a:xfrm>
            <a:prstGeom prst="rect">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114705" name="Text Box 15"/>
            <p:cNvSpPr txBox="1">
              <a:spLocks noChangeArrowheads="1"/>
            </p:cNvSpPr>
            <p:nvPr/>
          </p:nvSpPr>
          <p:spPr bwMode="auto">
            <a:xfrm>
              <a:off x="3332" y="3329"/>
              <a:ext cx="2362" cy="457"/>
            </a:xfrm>
            <a:prstGeom prst="rect">
              <a:avLst/>
            </a:prstGeom>
            <a:noFill/>
            <a:ln w="6350">
              <a:noFill/>
              <a:miter lim="800000"/>
            </a:ln>
          </p:spPr>
          <p:txBody>
            <a:bodyPr lIns="0" tIns="0" rIns="0" bIns="0" anchor="ctr">
              <a:spAutoFit/>
            </a:bodyPr>
            <a:lstStyle/>
            <a:p>
              <a:pPr algn="ctr" eaLnBrk="0" hangingPunct="0"/>
              <a:r>
                <a:rPr kumimoji="1" lang="zh-CN" altLang="en-US" sz="1800" b="1">
                  <a:latin typeface="隶书" pitchFamily="49" charset="-122"/>
                  <a:ea typeface="隶书" pitchFamily="49" charset="-122"/>
                </a:rPr>
                <a:t>测试人员对处理后的结果进行测试，工程师验证</a:t>
              </a:r>
              <a:r>
                <a:rPr kumimoji="1" lang="en-US" altLang="zh-CN" sz="1800" b="1">
                  <a:latin typeface="隶书" pitchFamily="49" charset="-122"/>
                  <a:ea typeface="隶书" pitchFamily="49" charset="-122"/>
                </a:rPr>
                <a:t>Bug</a:t>
              </a:r>
              <a:r>
                <a:rPr kumimoji="1" lang="zh-CN" altLang="en-US" sz="1800" b="1">
                  <a:latin typeface="隶书" pitchFamily="49" charset="-122"/>
                  <a:ea typeface="隶书" pitchFamily="49" charset="-122"/>
                </a:rPr>
                <a:t>是否已被修正并确定开发人员有无在改代码时引入新</a:t>
              </a:r>
              <a:r>
                <a:rPr kumimoji="1" lang="en-US" altLang="zh-CN" sz="1800" b="1">
                  <a:latin typeface="隶书" pitchFamily="49" charset="-122"/>
                  <a:ea typeface="隶书" pitchFamily="49" charset="-122"/>
                </a:rPr>
                <a:t>Bug</a:t>
              </a:r>
              <a:endParaRPr kumimoji="1" lang="en-US" altLang="zh-CN" sz="1800">
                <a:latin typeface="隶书" pitchFamily="49" charset="-122"/>
                <a:ea typeface="隶书" pitchFamily="49" charset="-122"/>
              </a:endParaRPr>
            </a:p>
          </p:txBody>
        </p:sp>
      </p:grpSp>
      <p:sp>
        <p:nvSpPr>
          <p:cNvPr id="114696" name="Freeform 16"/>
          <p:cNvSpPr/>
          <p:nvPr/>
        </p:nvSpPr>
        <p:spPr bwMode="auto">
          <a:xfrm>
            <a:off x="2754313" y="2673350"/>
            <a:ext cx="1898650" cy="3522663"/>
          </a:xfrm>
          <a:custGeom>
            <a:avLst/>
            <a:gdLst>
              <a:gd name="T0" fmla="*/ 0 w 1196"/>
              <a:gd name="T1" fmla="*/ 0 h 2219"/>
              <a:gd name="T2" fmla="*/ 243 w 1196"/>
              <a:gd name="T3" fmla="*/ 0 h 2219"/>
              <a:gd name="T4" fmla="*/ 241 w 1196"/>
              <a:gd name="T5" fmla="*/ 1939 h 2219"/>
              <a:gd name="T6" fmla="*/ 1006 w 1196"/>
              <a:gd name="T7" fmla="*/ 1939 h 2219"/>
              <a:gd name="T8" fmla="*/ 1006 w 1196"/>
              <a:gd name="T9" fmla="*/ 1859 h 2219"/>
              <a:gd name="T10" fmla="*/ 1196 w 1196"/>
              <a:gd name="T11" fmla="*/ 2039 h 2219"/>
              <a:gd name="T12" fmla="*/ 1006 w 1196"/>
              <a:gd name="T13" fmla="*/ 2219 h 2219"/>
              <a:gd name="T14" fmla="*/ 1006 w 1196"/>
              <a:gd name="T15" fmla="*/ 2144 h 2219"/>
              <a:gd name="T16" fmla="*/ 1 w 1196"/>
              <a:gd name="T17" fmla="*/ 2144 h 2219"/>
              <a:gd name="T18" fmla="*/ 0 w 1196"/>
              <a:gd name="T19" fmla="*/ 0 h 22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6"/>
              <a:gd name="T31" fmla="*/ 0 h 2219"/>
              <a:gd name="T32" fmla="*/ 1196 w 1196"/>
              <a:gd name="T33" fmla="*/ 2219 h 22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6" h="2219">
                <a:moveTo>
                  <a:pt x="0" y="0"/>
                </a:moveTo>
                <a:lnTo>
                  <a:pt x="243" y="0"/>
                </a:lnTo>
                <a:lnTo>
                  <a:pt x="241" y="1939"/>
                </a:lnTo>
                <a:lnTo>
                  <a:pt x="1006" y="1939"/>
                </a:lnTo>
                <a:lnTo>
                  <a:pt x="1006" y="1859"/>
                </a:lnTo>
                <a:lnTo>
                  <a:pt x="1196" y="2039"/>
                </a:lnTo>
                <a:lnTo>
                  <a:pt x="1006" y="2219"/>
                </a:lnTo>
                <a:lnTo>
                  <a:pt x="1006" y="2144"/>
                </a:lnTo>
                <a:lnTo>
                  <a:pt x="1" y="2144"/>
                </a:lnTo>
                <a:lnTo>
                  <a:pt x="0" y="0"/>
                </a:lnTo>
                <a:close/>
              </a:path>
            </a:pathLst>
          </a:custGeom>
          <a:solidFill>
            <a:schemeClr val="accent1"/>
          </a:solidFill>
          <a:ln w="25400" cap="flat" cmpd="sng">
            <a:solidFill>
              <a:schemeClr val="tx1"/>
            </a:solidFill>
            <a:prstDash val="solid"/>
            <a:round/>
          </a:ln>
        </p:spPr>
        <p:txBody>
          <a:bodyPr wrap="none" lIns="0" tIns="0" rIns="0" bIns="0" anchor="ctr"/>
          <a:lstStyle/>
          <a:p>
            <a:endParaRPr lang="zh-CN" altLang="en-US"/>
          </a:p>
        </p:txBody>
      </p:sp>
      <p:sp>
        <p:nvSpPr>
          <p:cNvPr id="114697" name="Freeform 17"/>
          <p:cNvSpPr/>
          <p:nvPr/>
        </p:nvSpPr>
        <p:spPr bwMode="auto">
          <a:xfrm>
            <a:off x="2132013" y="2673350"/>
            <a:ext cx="2220912" cy="2566988"/>
          </a:xfrm>
          <a:custGeom>
            <a:avLst/>
            <a:gdLst>
              <a:gd name="T0" fmla="*/ 0 w 1399"/>
              <a:gd name="T1" fmla="*/ 0 h 1617"/>
              <a:gd name="T2" fmla="*/ 3 w 1399"/>
              <a:gd name="T3" fmla="*/ 1545 h 1617"/>
              <a:gd name="T4" fmla="*/ 1207 w 1399"/>
              <a:gd name="T5" fmla="*/ 1545 h 1617"/>
              <a:gd name="T6" fmla="*/ 1207 w 1399"/>
              <a:gd name="T7" fmla="*/ 1617 h 1617"/>
              <a:gd name="T8" fmla="*/ 1399 w 1399"/>
              <a:gd name="T9" fmla="*/ 1441 h 1617"/>
              <a:gd name="T10" fmla="*/ 1207 w 1399"/>
              <a:gd name="T11" fmla="*/ 1265 h 1617"/>
              <a:gd name="T12" fmla="*/ 1207 w 1399"/>
              <a:gd name="T13" fmla="*/ 1337 h 1617"/>
              <a:gd name="T14" fmla="*/ 239 w 1399"/>
              <a:gd name="T15" fmla="*/ 1337 h 1617"/>
              <a:gd name="T16" fmla="*/ 236 w 1399"/>
              <a:gd name="T17" fmla="*/ 1 h 1617"/>
              <a:gd name="T18" fmla="*/ 0 w 1399"/>
              <a:gd name="T19" fmla="*/ 0 h 16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99"/>
              <a:gd name="T31" fmla="*/ 0 h 1617"/>
              <a:gd name="T32" fmla="*/ 1399 w 1399"/>
              <a:gd name="T33" fmla="*/ 1617 h 16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99" h="1617">
                <a:moveTo>
                  <a:pt x="0" y="0"/>
                </a:moveTo>
                <a:lnTo>
                  <a:pt x="3" y="1545"/>
                </a:lnTo>
                <a:lnTo>
                  <a:pt x="1207" y="1545"/>
                </a:lnTo>
                <a:lnTo>
                  <a:pt x="1207" y="1617"/>
                </a:lnTo>
                <a:lnTo>
                  <a:pt x="1399" y="1441"/>
                </a:lnTo>
                <a:lnTo>
                  <a:pt x="1207" y="1265"/>
                </a:lnTo>
                <a:lnTo>
                  <a:pt x="1207" y="1337"/>
                </a:lnTo>
                <a:lnTo>
                  <a:pt x="239" y="1337"/>
                </a:lnTo>
                <a:lnTo>
                  <a:pt x="236" y="1"/>
                </a:lnTo>
                <a:lnTo>
                  <a:pt x="0" y="0"/>
                </a:lnTo>
                <a:close/>
              </a:path>
            </a:pathLst>
          </a:custGeom>
          <a:solidFill>
            <a:schemeClr val="accent1"/>
          </a:solidFill>
          <a:ln w="25400" cap="flat" cmpd="sng">
            <a:solidFill>
              <a:schemeClr val="tx1"/>
            </a:solidFill>
            <a:prstDash val="solid"/>
            <a:round/>
          </a:ln>
        </p:spPr>
        <p:txBody>
          <a:bodyPr wrap="none" lIns="0" tIns="0" rIns="0" bIns="0" anchor="ctr"/>
          <a:lstStyle/>
          <a:p>
            <a:endParaRPr lang="zh-CN" altLang="en-US"/>
          </a:p>
        </p:txBody>
      </p:sp>
      <p:sp>
        <p:nvSpPr>
          <p:cNvPr id="114698" name="Freeform 18"/>
          <p:cNvSpPr/>
          <p:nvPr/>
        </p:nvSpPr>
        <p:spPr bwMode="auto">
          <a:xfrm>
            <a:off x="1514475" y="2676525"/>
            <a:ext cx="2533650" cy="1619250"/>
          </a:xfrm>
          <a:custGeom>
            <a:avLst/>
            <a:gdLst>
              <a:gd name="T0" fmla="*/ 0 w 1596"/>
              <a:gd name="T1" fmla="*/ 0 h 1020"/>
              <a:gd name="T2" fmla="*/ 0 w 1596"/>
              <a:gd name="T3" fmla="*/ 944 h 1020"/>
              <a:gd name="T4" fmla="*/ 1408 w 1596"/>
              <a:gd name="T5" fmla="*/ 944 h 1020"/>
              <a:gd name="T6" fmla="*/ 1408 w 1596"/>
              <a:gd name="T7" fmla="*/ 1020 h 1020"/>
              <a:gd name="T8" fmla="*/ 1596 w 1596"/>
              <a:gd name="T9" fmla="*/ 840 h 1020"/>
              <a:gd name="T10" fmla="*/ 1408 w 1596"/>
              <a:gd name="T11" fmla="*/ 664 h 1020"/>
              <a:gd name="T12" fmla="*/ 1408 w 1596"/>
              <a:gd name="T13" fmla="*/ 736 h 1020"/>
              <a:gd name="T14" fmla="*/ 236 w 1596"/>
              <a:gd name="T15" fmla="*/ 736 h 1020"/>
              <a:gd name="T16" fmla="*/ 236 w 1596"/>
              <a:gd name="T17" fmla="*/ 0 h 1020"/>
              <a:gd name="T18" fmla="*/ 0 w 1596"/>
              <a:gd name="T19" fmla="*/ 0 h 10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96"/>
              <a:gd name="T31" fmla="*/ 0 h 1020"/>
              <a:gd name="T32" fmla="*/ 1596 w 1596"/>
              <a:gd name="T33" fmla="*/ 1020 h 102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96" h="1020">
                <a:moveTo>
                  <a:pt x="0" y="0"/>
                </a:moveTo>
                <a:lnTo>
                  <a:pt x="0" y="944"/>
                </a:lnTo>
                <a:lnTo>
                  <a:pt x="1408" y="944"/>
                </a:lnTo>
                <a:lnTo>
                  <a:pt x="1408" y="1020"/>
                </a:lnTo>
                <a:lnTo>
                  <a:pt x="1596" y="840"/>
                </a:lnTo>
                <a:lnTo>
                  <a:pt x="1408" y="664"/>
                </a:lnTo>
                <a:lnTo>
                  <a:pt x="1408" y="736"/>
                </a:lnTo>
                <a:lnTo>
                  <a:pt x="236" y="736"/>
                </a:lnTo>
                <a:lnTo>
                  <a:pt x="236" y="0"/>
                </a:lnTo>
                <a:lnTo>
                  <a:pt x="0" y="0"/>
                </a:lnTo>
                <a:close/>
              </a:path>
            </a:pathLst>
          </a:custGeom>
          <a:solidFill>
            <a:schemeClr val="accent1"/>
          </a:solidFill>
          <a:ln w="25400" cap="flat" cmpd="sng">
            <a:solidFill>
              <a:schemeClr val="tx1"/>
            </a:solidFill>
            <a:prstDash val="solid"/>
            <a:round/>
          </a:ln>
        </p:spPr>
        <p:txBody>
          <a:bodyPr wrap="none" lIns="0" tIns="0" rIns="0" bIns="0" anchor="ctr"/>
          <a:lstStyle/>
          <a:p>
            <a:endParaRPr lang="zh-CN" altLang="en-US"/>
          </a:p>
        </p:txBody>
      </p:sp>
      <p:sp>
        <p:nvSpPr>
          <p:cNvPr id="114699" name="Freeform 19"/>
          <p:cNvSpPr/>
          <p:nvPr/>
        </p:nvSpPr>
        <p:spPr bwMode="auto">
          <a:xfrm>
            <a:off x="892175" y="2673350"/>
            <a:ext cx="2851150" cy="669925"/>
          </a:xfrm>
          <a:custGeom>
            <a:avLst/>
            <a:gdLst>
              <a:gd name="T0" fmla="*/ 0 w 1796"/>
              <a:gd name="T1" fmla="*/ 0 h 422"/>
              <a:gd name="T2" fmla="*/ 0 w 1796"/>
              <a:gd name="T3" fmla="*/ 346 h 422"/>
              <a:gd name="T4" fmla="*/ 1616 w 1796"/>
              <a:gd name="T5" fmla="*/ 346 h 422"/>
              <a:gd name="T6" fmla="*/ 1616 w 1796"/>
              <a:gd name="T7" fmla="*/ 422 h 422"/>
              <a:gd name="T8" fmla="*/ 1796 w 1796"/>
              <a:gd name="T9" fmla="*/ 242 h 422"/>
              <a:gd name="T10" fmla="*/ 1616 w 1796"/>
              <a:gd name="T11" fmla="*/ 62 h 422"/>
              <a:gd name="T12" fmla="*/ 1616 w 1796"/>
              <a:gd name="T13" fmla="*/ 142 h 422"/>
              <a:gd name="T14" fmla="*/ 236 w 1796"/>
              <a:gd name="T15" fmla="*/ 142 h 422"/>
              <a:gd name="T16" fmla="*/ 237 w 1796"/>
              <a:gd name="T17" fmla="*/ 1 h 422"/>
              <a:gd name="T18" fmla="*/ 0 w 1796"/>
              <a:gd name="T19" fmla="*/ 0 h 4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96"/>
              <a:gd name="T31" fmla="*/ 0 h 422"/>
              <a:gd name="T32" fmla="*/ 1796 w 1796"/>
              <a:gd name="T33" fmla="*/ 422 h 4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96" h="422">
                <a:moveTo>
                  <a:pt x="0" y="0"/>
                </a:moveTo>
                <a:lnTo>
                  <a:pt x="0" y="346"/>
                </a:lnTo>
                <a:lnTo>
                  <a:pt x="1616" y="346"/>
                </a:lnTo>
                <a:lnTo>
                  <a:pt x="1616" y="422"/>
                </a:lnTo>
                <a:lnTo>
                  <a:pt x="1796" y="242"/>
                </a:lnTo>
                <a:lnTo>
                  <a:pt x="1616" y="62"/>
                </a:lnTo>
                <a:lnTo>
                  <a:pt x="1616" y="142"/>
                </a:lnTo>
                <a:lnTo>
                  <a:pt x="236" y="142"/>
                </a:lnTo>
                <a:lnTo>
                  <a:pt x="237" y="1"/>
                </a:lnTo>
                <a:lnTo>
                  <a:pt x="0" y="0"/>
                </a:lnTo>
                <a:close/>
              </a:path>
            </a:pathLst>
          </a:custGeom>
          <a:solidFill>
            <a:schemeClr val="accent1"/>
          </a:solidFill>
          <a:ln w="25400" cap="flat" cmpd="sng">
            <a:solidFill>
              <a:schemeClr val="tx1"/>
            </a:solidFill>
            <a:prstDash val="solid"/>
            <a:round/>
          </a:ln>
        </p:spPr>
        <p:txBody>
          <a:bodyPr wrap="none" lIns="0" tIns="0" rIns="0" bIns="0" anchor="ctr"/>
          <a:lstStyle/>
          <a:p>
            <a:endParaRPr lang="zh-CN" altLang="en-US"/>
          </a:p>
        </p:txBody>
      </p:sp>
      <p:sp>
        <p:nvSpPr>
          <p:cNvPr id="114700" name="Rectangle 20"/>
          <p:cNvSpPr>
            <a:spLocks noChangeArrowheads="1"/>
          </p:cNvSpPr>
          <p:nvPr/>
        </p:nvSpPr>
        <p:spPr bwMode="auto">
          <a:xfrm>
            <a:off x="971550" y="2565400"/>
            <a:ext cx="212725" cy="212725"/>
          </a:xfrm>
          <a:prstGeom prst="rect">
            <a:avLst/>
          </a:prstGeom>
          <a:solidFill>
            <a:schemeClr val="hlink"/>
          </a:solidFill>
          <a:ln w="6350">
            <a:noFill/>
            <a:miter lim="800000"/>
          </a:ln>
        </p:spPr>
        <p:txBody>
          <a:bodyPr lIns="0" tIns="0" rIns="0" bIns="0" anchor="ctr" anchorCtr="1"/>
          <a:lstStyle/>
          <a:p>
            <a:pPr algn="ctr" eaLnBrk="0" hangingPunct="0"/>
            <a:r>
              <a:rPr kumimoji="1" lang="en-US" altLang="zh-CN" sz="1200" b="1">
                <a:solidFill>
                  <a:schemeClr val="bg1"/>
                </a:solidFill>
                <a:latin typeface="Arial" panose="020B0604020202020204" pitchFamily="34" charset="0"/>
              </a:rPr>
              <a:t>1</a:t>
            </a:r>
            <a:endParaRPr kumimoji="1" lang="en-US" altLang="zh-CN" sz="1800" b="1">
              <a:solidFill>
                <a:srgbClr val="000000"/>
              </a:solidFill>
              <a:latin typeface="Arial" panose="020B0604020202020204" pitchFamily="34" charset="0"/>
            </a:endParaRPr>
          </a:p>
        </p:txBody>
      </p:sp>
      <p:sp>
        <p:nvSpPr>
          <p:cNvPr id="114701" name="Rectangle 21"/>
          <p:cNvSpPr>
            <a:spLocks noChangeArrowheads="1"/>
          </p:cNvSpPr>
          <p:nvPr/>
        </p:nvSpPr>
        <p:spPr bwMode="auto">
          <a:xfrm>
            <a:off x="1595438" y="2565400"/>
            <a:ext cx="212725" cy="212725"/>
          </a:xfrm>
          <a:prstGeom prst="rect">
            <a:avLst/>
          </a:prstGeom>
          <a:solidFill>
            <a:schemeClr val="hlink"/>
          </a:solidFill>
          <a:ln w="6350">
            <a:noFill/>
            <a:miter lim="800000"/>
          </a:ln>
        </p:spPr>
        <p:txBody>
          <a:bodyPr lIns="0" tIns="0" rIns="0" bIns="0" anchor="ctr" anchorCtr="1"/>
          <a:lstStyle/>
          <a:p>
            <a:pPr algn="ctr" eaLnBrk="0" hangingPunct="0"/>
            <a:r>
              <a:rPr kumimoji="1" lang="en-US" altLang="zh-CN" sz="1200" b="1">
                <a:solidFill>
                  <a:schemeClr val="bg1"/>
                </a:solidFill>
                <a:latin typeface="Arial" panose="020B0604020202020204" pitchFamily="34" charset="0"/>
              </a:rPr>
              <a:t>2</a:t>
            </a:r>
            <a:endParaRPr kumimoji="1" lang="en-US" altLang="zh-CN" sz="1800" b="1">
              <a:solidFill>
                <a:srgbClr val="000000"/>
              </a:solidFill>
              <a:latin typeface="Arial" panose="020B0604020202020204" pitchFamily="34" charset="0"/>
            </a:endParaRPr>
          </a:p>
        </p:txBody>
      </p:sp>
      <p:sp>
        <p:nvSpPr>
          <p:cNvPr id="114702" name="Rectangle 22"/>
          <p:cNvSpPr>
            <a:spLocks noChangeArrowheads="1"/>
          </p:cNvSpPr>
          <p:nvPr/>
        </p:nvSpPr>
        <p:spPr bwMode="auto">
          <a:xfrm>
            <a:off x="2217738" y="2565400"/>
            <a:ext cx="214312" cy="212725"/>
          </a:xfrm>
          <a:prstGeom prst="rect">
            <a:avLst/>
          </a:prstGeom>
          <a:solidFill>
            <a:schemeClr val="hlink"/>
          </a:solidFill>
          <a:ln w="6350">
            <a:noFill/>
            <a:miter lim="800000"/>
          </a:ln>
        </p:spPr>
        <p:txBody>
          <a:bodyPr lIns="0" tIns="0" rIns="0" bIns="0" anchor="ctr" anchorCtr="1"/>
          <a:lstStyle/>
          <a:p>
            <a:pPr algn="ctr" eaLnBrk="0" hangingPunct="0"/>
            <a:r>
              <a:rPr kumimoji="1" lang="en-US" altLang="zh-CN" sz="1200" b="1">
                <a:solidFill>
                  <a:schemeClr val="bg1"/>
                </a:solidFill>
                <a:latin typeface="Arial" panose="020B0604020202020204" pitchFamily="34" charset="0"/>
              </a:rPr>
              <a:t>3</a:t>
            </a:r>
            <a:endParaRPr kumimoji="1" lang="en-US" altLang="zh-CN" sz="1800" b="1">
              <a:solidFill>
                <a:srgbClr val="000000"/>
              </a:solidFill>
              <a:latin typeface="Arial" panose="020B0604020202020204" pitchFamily="34" charset="0"/>
            </a:endParaRPr>
          </a:p>
        </p:txBody>
      </p:sp>
      <p:sp>
        <p:nvSpPr>
          <p:cNvPr id="114703" name="Rectangle 23"/>
          <p:cNvSpPr>
            <a:spLocks noChangeArrowheads="1"/>
          </p:cNvSpPr>
          <p:nvPr/>
        </p:nvSpPr>
        <p:spPr bwMode="auto">
          <a:xfrm>
            <a:off x="2840038" y="2565400"/>
            <a:ext cx="212725" cy="212725"/>
          </a:xfrm>
          <a:prstGeom prst="rect">
            <a:avLst/>
          </a:prstGeom>
          <a:solidFill>
            <a:schemeClr val="hlink"/>
          </a:solidFill>
          <a:ln w="6350">
            <a:noFill/>
            <a:miter lim="800000"/>
          </a:ln>
        </p:spPr>
        <p:txBody>
          <a:bodyPr lIns="0" tIns="0" rIns="0" bIns="0" anchor="ctr" anchorCtr="1"/>
          <a:lstStyle/>
          <a:p>
            <a:pPr algn="ctr" eaLnBrk="0" hangingPunct="0"/>
            <a:r>
              <a:rPr kumimoji="1" lang="en-US" altLang="zh-CN" sz="1200" b="1">
                <a:solidFill>
                  <a:schemeClr val="bg1"/>
                </a:solidFill>
                <a:latin typeface="Arial" panose="020B0604020202020204" pitchFamily="34" charset="0"/>
              </a:rPr>
              <a:t>4</a:t>
            </a:r>
            <a:endParaRPr kumimoji="1" lang="en-US" altLang="zh-CN" sz="1800" b="1">
              <a:solidFill>
                <a:srgbClr val="000000"/>
              </a:solidFill>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r>
              <a:rPr lang="zh-CN" altLang="en-US" sz="3600" b="1" smtClean="0">
                <a:solidFill>
                  <a:schemeClr val="tx1"/>
                </a:solidFill>
              </a:rPr>
              <a:t>微软的测试工作</a:t>
            </a:r>
            <a:endParaRPr lang="zh-CN" altLang="en-US" sz="3600" b="1" smtClean="0">
              <a:solidFill>
                <a:schemeClr val="tx1"/>
              </a:solidFill>
            </a:endParaRPr>
          </a:p>
        </p:txBody>
      </p:sp>
      <p:sp>
        <p:nvSpPr>
          <p:cNvPr id="1753091" name="Rectangle 3"/>
          <p:cNvSpPr>
            <a:spLocks noGrp="1" noChangeArrowheads="1"/>
          </p:cNvSpPr>
          <p:nvPr>
            <p:ph type="body" idx="1"/>
          </p:nvPr>
        </p:nvSpPr>
        <p:spPr>
          <a:xfrm>
            <a:off x="539750" y="2133600"/>
            <a:ext cx="8135938" cy="4114800"/>
          </a:xfrm>
        </p:spPr>
        <p:txBody>
          <a:bodyPr/>
          <a:lstStyle/>
          <a:p>
            <a:pPr eaLnBrk="1" hangingPunct="1">
              <a:buClr>
                <a:schemeClr val="bg1"/>
              </a:buClr>
              <a:buFont typeface="Wingdings" panose="05000000000000000000" pitchFamily="2" charset="2"/>
              <a:buChar char="Ø"/>
            </a:pPr>
            <a:r>
              <a:rPr lang="en-US" altLang="zh-CN" b="1" smtClean="0">
                <a:solidFill>
                  <a:schemeClr val="tx1"/>
                </a:solidFill>
              </a:rPr>
              <a:t>   </a:t>
            </a:r>
            <a:r>
              <a:rPr lang="en-US" altLang="zh-CN" sz="2800" b="1" smtClean="0">
                <a:solidFill>
                  <a:schemeClr val="tx1"/>
                </a:solidFill>
                <a:latin typeface="隶书" pitchFamily="49" charset="-122"/>
                <a:ea typeface="隶书" pitchFamily="49" charset="-122"/>
              </a:rPr>
              <a:t>Bug</a:t>
            </a:r>
            <a:r>
              <a:rPr lang="zh-CN" altLang="en-US" sz="2800" b="1" smtClean="0">
                <a:solidFill>
                  <a:schemeClr val="tx1"/>
                </a:solidFill>
                <a:latin typeface="隶书" pitchFamily="49" charset="-122"/>
                <a:ea typeface="隶书" pitchFamily="49" charset="-122"/>
              </a:rPr>
              <a:t>的不同处理方式</a:t>
            </a:r>
            <a:r>
              <a:rPr lang="zh-CN" altLang="en-US" sz="2800" smtClean="0">
                <a:solidFill>
                  <a:schemeClr val="tx1"/>
                </a:solidFill>
                <a:latin typeface="隶书" pitchFamily="49" charset="-122"/>
                <a:ea typeface="隶书" pitchFamily="49" charset="-122"/>
              </a:rPr>
              <a:t> </a:t>
            </a:r>
            <a:endParaRPr lang="zh-CN" altLang="en-US" sz="2800" smtClean="0">
              <a:solidFill>
                <a:schemeClr val="tx1"/>
              </a:solidFill>
              <a:latin typeface="隶书" pitchFamily="49" charset="-122"/>
              <a:ea typeface="隶书" pitchFamily="49" charset="-122"/>
            </a:endParaRPr>
          </a:p>
          <a:p>
            <a:pPr eaLnBrk="1" hangingPunct="1">
              <a:buClr>
                <a:schemeClr val="bg1"/>
              </a:buClr>
              <a:buFont typeface="Wingdings" panose="05000000000000000000" pitchFamily="2" charset="2"/>
              <a:buNone/>
            </a:pPr>
            <a:r>
              <a:rPr lang="zh-CN" altLang="en-US" sz="2800" smtClean="0">
                <a:solidFill>
                  <a:schemeClr val="tx1"/>
                </a:solidFill>
                <a:latin typeface="隶书" pitchFamily="49" charset="-122"/>
                <a:ea typeface="隶书" pitchFamily="49" charset="-122"/>
              </a:rPr>
              <a:t>    </a:t>
            </a:r>
            <a:r>
              <a:rPr lang="zh-CN" altLang="en-US" sz="2800" b="1" smtClean="0">
                <a:solidFill>
                  <a:schemeClr val="tx1"/>
                </a:solidFill>
                <a:latin typeface="隶书" pitchFamily="49" charset="-122"/>
                <a:ea typeface="隶书" pitchFamily="49" charset="-122"/>
              </a:rPr>
              <a:t>在某些情况下，</a:t>
            </a:r>
            <a:r>
              <a:rPr lang="en-US" altLang="zh-CN" sz="2800" b="1" smtClean="0">
                <a:solidFill>
                  <a:schemeClr val="tx1"/>
                </a:solidFill>
                <a:latin typeface="隶书" pitchFamily="49" charset="-122"/>
                <a:ea typeface="隶书" pitchFamily="49" charset="-122"/>
              </a:rPr>
              <a:t>Bug</a:t>
            </a:r>
            <a:r>
              <a:rPr lang="zh-CN" altLang="en-US" sz="2800" b="1" smtClean="0">
                <a:solidFill>
                  <a:schemeClr val="tx1"/>
                </a:solidFill>
                <a:latin typeface="隶书" pitchFamily="49" charset="-122"/>
                <a:ea typeface="隶书" pitchFamily="49" charset="-122"/>
              </a:rPr>
              <a:t>已处理并不意味着</a:t>
            </a:r>
            <a:r>
              <a:rPr lang="en-US" altLang="zh-CN" sz="2800" b="1" smtClean="0">
                <a:solidFill>
                  <a:schemeClr val="tx1"/>
                </a:solidFill>
                <a:latin typeface="隶书" pitchFamily="49" charset="-122"/>
                <a:ea typeface="隶书" pitchFamily="49" charset="-122"/>
              </a:rPr>
              <a:t>Bug</a:t>
            </a:r>
            <a:r>
              <a:rPr lang="zh-CN" altLang="en-US" sz="2800" b="1" smtClean="0">
                <a:solidFill>
                  <a:schemeClr val="tx1"/>
                </a:solidFill>
                <a:latin typeface="隶书" pitchFamily="49" charset="-122"/>
                <a:ea typeface="隶书" pitchFamily="49" charset="-122"/>
              </a:rPr>
              <a:t>已经被修正。开发工程师可以推迟</a:t>
            </a:r>
            <a:r>
              <a:rPr lang="en-US" altLang="zh-CN" sz="2800" b="1" smtClean="0">
                <a:solidFill>
                  <a:schemeClr val="tx1"/>
                </a:solidFill>
                <a:latin typeface="隶书" pitchFamily="49" charset="-122"/>
                <a:ea typeface="隶书" pitchFamily="49" charset="-122"/>
              </a:rPr>
              <a:t>Bug</a:t>
            </a:r>
            <a:r>
              <a:rPr lang="zh-CN" altLang="en-US" sz="2800" b="1" smtClean="0">
                <a:solidFill>
                  <a:schemeClr val="tx1"/>
                </a:solidFill>
                <a:latin typeface="隶书" pitchFamily="49" charset="-122"/>
                <a:ea typeface="隶书" pitchFamily="49" charset="-122"/>
              </a:rPr>
              <a:t>的修正时间，也可以在分析之后告知测试工程师这实际上不是一个真正的</a:t>
            </a:r>
            <a:r>
              <a:rPr lang="en-US" altLang="zh-CN" sz="2800" b="1" smtClean="0">
                <a:solidFill>
                  <a:schemeClr val="tx1"/>
                </a:solidFill>
                <a:latin typeface="隶书" pitchFamily="49" charset="-122"/>
                <a:ea typeface="隶书" pitchFamily="49" charset="-122"/>
              </a:rPr>
              <a:t>Bug</a:t>
            </a:r>
            <a:r>
              <a:rPr lang="zh-CN" altLang="en-US" sz="2800" b="1" smtClean="0">
                <a:solidFill>
                  <a:schemeClr val="tx1"/>
                </a:solidFill>
                <a:latin typeface="隶书" pitchFamily="49" charset="-122"/>
                <a:ea typeface="隶书" pitchFamily="49" charset="-122"/>
              </a:rPr>
              <a:t>。</a:t>
            </a:r>
            <a:r>
              <a:rPr lang="zh-CN" altLang="en-US" b="1" smtClean="0">
                <a:solidFill>
                  <a:schemeClr val="tx1"/>
                </a:solidFill>
              </a:rPr>
              <a:t> </a:t>
            </a:r>
            <a:endParaRPr lang="zh-CN" altLang="en-US" b="1" smtClean="0">
              <a:solidFill>
                <a:schemeClr val="tx1"/>
              </a:solidFill>
            </a:endParaRPr>
          </a:p>
        </p:txBody>
      </p:sp>
      <p:pic>
        <p:nvPicPr>
          <p:cNvPr id="115716" name="Picture 4" descr="j0196164"/>
          <p:cNvPicPr>
            <a:picLocks noChangeAspect="1" noChangeArrowheads="1"/>
          </p:cNvPicPr>
          <p:nvPr/>
        </p:nvPicPr>
        <p:blipFill>
          <a:blip r:embed="rId1" cstate="print"/>
          <a:srcRect/>
          <a:stretch>
            <a:fillRect/>
          </a:stretch>
        </p:blipFill>
        <p:spPr bwMode="auto">
          <a:xfrm>
            <a:off x="6300788" y="4652963"/>
            <a:ext cx="1801812" cy="1689100"/>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53091">
                                            <p:txEl>
                                              <p:pRg st="1" end="1"/>
                                            </p:txEl>
                                          </p:spTgt>
                                        </p:tgtEl>
                                        <p:attrNameLst>
                                          <p:attrName>style.visibility</p:attrName>
                                        </p:attrNameLst>
                                      </p:cBhvr>
                                      <p:to>
                                        <p:strVal val="visible"/>
                                      </p:to>
                                    </p:set>
                                    <p:animEffect transition="in" filter="blinds(horizontal)">
                                      <p:cBhvr>
                                        <p:cTn id="7" dur="500"/>
                                        <p:tgtEl>
                                          <p:spTgt spid="17530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r>
              <a:rPr lang="en-US" altLang="zh-CN" sz="3600" b="1" smtClean="0">
                <a:solidFill>
                  <a:schemeClr val="tx1"/>
                </a:solidFill>
                <a:latin typeface="宋体" panose="02010600030101010101" pitchFamily="2" charset="-122"/>
              </a:rPr>
              <a:t>Bug</a:t>
            </a:r>
            <a:r>
              <a:rPr lang="zh-CN" altLang="en-US" sz="3600" b="1" smtClean="0">
                <a:solidFill>
                  <a:schemeClr val="tx1"/>
                </a:solidFill>
                <a:latin typeface="宋体" panose="02010600030101010101" pitchFamily="2" charset="-122"/>
              </a:rPr>
              <a:t>的不同处理方式</a:t>
            </a:r>
            <a:endParaRPr lang="zh-CN" altLang="en-US" sz="3600" b="1" smtClean="0">
              <a:solidFill>
                <a:schemeClr val="tx1"/>
              </a:solidFill>
              <a:latin typeface="宋体" panose="02010600030101010101" pitchFamily="2" charset="-122"/>
            </a:endParaRPr>
          </a:p>
        </p:txBody>
      </p:sp>
      <p:sp>
        <p:nvSpPr>
          <p:cNvPr id="116739" name="Rectangle 3"/>
          <p:cNvSpPr>
            <a:spLocks noGrp="1" noChangeArrowheads="1"/>
          </p:cNvSpPr>
          <p:nvPr>
            <p:ph type="body" idx="1"/>
          </p:nvPr>
        </p:nvSpPr>
        <p:spPr>
          <a:xfrm>
            <a:off x="827088" y="1773238"/>
            <a:ext cx="7772400" cy="4114800"/>
          </a:xfrm>
        </p:spPr>
        <p:txBody>
          <a:bodyPr/>
          <a:lstStyle/>
          <a:p>
            <a:pPr eaLnBrk="1" hangingPunct="1">
              <a:buClr>
                <a:schemeClr val="bg1"/>
              </a:buClr>
              <a:buFont typeface="Wingdings" panose="05000000000000000000" pitchFamily="2" charset="2"/>
              <a:buChar char="Ø"/>
            </a:pPr>
            <a:r>
              <a:rPr lang="en-US" altLang="zh-CN" b="1" smtClean="0">
                <a:solidFill>
                  <a:schemeClr val="tx1"/>
                </a:solidFill>
              </a:rPr>
              <a:t> </a:t>
            </a:r>
            <a:r>
              <a:rPr lang="en-US" altLang="zh-CN" sz="2400" b="1" smtClean="0">
                <a:solidFill>
                  <a:schemeClr val="tx1"/>
                </a:solidFill>
                <a:latin typeface="隶书" pitchFamily="49" charset="-122"/>
                <a:ea typeface="隶书" pitchFamily="49" charset="-122"/>
              </a:rPr>
              <a:t>Bug</a:t>
            </a:r>
            <a:r>
              <a:rPr lang="zh-CN" altLang="en-US" sz="2400" b="1" smtClean="0">
                <a:solidFill>
                  <a:schemeClr val="tx1"/>
                </a:solidFill>
                <a:latin typeface="隶书" pitchFamily="49" charset="-122"/>
                <a:ea typeface="隶书" pitchFamily="49" charset="-122"/>
              </a:rPr>
              <a:t>的状态</a:t>
            </a:r>
            <a:endParaRPr lang="zh-CN" altLang="en-US" sz="2400" b="1" smtClean="0">
              <a:solidFill>
                <a:schemeClr val="tx1"/>
              </a:solidFill>
              <a:latin typeface="隶书" pitchFamily="49" charset="-122"/>
              <a:ea typeface="隶书" pitchFamily="49" charset="-122"/>
            </a:endParaRPr>
          </a:p>
          <a:p>
            <a:pPr eaLnBrk="1" hangingPunct="1">
              <a:buClr>
                <a:schemeClr val="bg1"/>
              </a:buClr>
              <a:buFont typeface="Wingdings" panose="05000000000000000000" pitchFamily="2" charset="2"/>
              <a:buNone/>
            </a:pPr>
            <a:endParaRPr lang="en-US" altLang="zh-CN" b="1" smtClean="0">
              <a:solidFill>
                <a:schemeClr val="bg1"/>
              </a:solidFill>
            </a:endParaRPr>
          </a:p>
        </p:txBody>
      </p:sp>
      <p:sp>
        <p:nvSpPr>
          <p:cNvPr id="1754116" name="Rectangle 4"/>
          <p:cNvSpPr>
            <a:spLocks noChangeArrowheads="1"/>
          </p:cNvSpPr>
          <p:nvPr/>
        </p:nvSpPr>
        <p:spPr bwMode="auto">
          <a:xfrm>
            <a:off x="323850" y="2420938"/>
            <a:ext cx="1350963" cy="825500"/>
          </a:xfrm>
          <a:prstGeom prst="rect">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1754117" name="Rectangle 5"/>
          <p:cNvSpPr>
            <a:spLocks noChangeArrowheads="1"/>
          </p:cNvSpPr>
          <p:nvPr/>
        </p:nvSpPr>
        <p:spPr bwMode="auto">
          <a:xfrm>
            <a:off x="323850" y="3359150"/>
            <a:ext cx="1350963" cy="825500"/>
          </a:xfrm>
          <a:prstGeom prst="rect">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1754118" name="Rectangle 6"/>
          <p:cNvSpPr>
            <a:spLocks noChangeArrowheads="1"/>
          </p:cNvSpPr>
          <p:nvPr/>
        </p:nvSpPr>
        <p:spPr bwMode="auto">
          <a:xfrm>
            <a:off x="323850" y="4297363"/>
            <a:ext cx="1350963" cy="825500"/>
          </a:xfrm>
          <a:prstGeom prst="rect">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1754119" name="Rectangle 7"/>
          <p:cNvSpPr>
            <a:spLocks noChangeArrowheads="1"/>
          </p:cNvSpPr>
          <p:nvPr/>
        </p:nvSpPr>
        <p:spPr bwMode="auto">
          <a:xfrm>
            <a:off x="323850" y="5235575"/>
            <a:ext cx="1350963" cy="825500"/>
          </a:xfrm>
          <a:prstGeom prst="rect">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116744" name="Rectangle 8"/>
          <p:cNvSpPr>
            <a:spLocks noChangeArrowheads="1"/>
          </p:cNvSpPr>
          <p:nvPr/>
        </p:nvSpPr>
        <p:spPr bwMode="auto">
          <a:xfrm>
            <a:off x="1798638" y="2420938"/>
            <a:ext cx="7053262" cy="825500"/>
          </a:xfrm>
          <a:prstGeom prst="rect">
            <a:avLst/>
          </a:prstGeom>
          <a:noFill/>
          <a:ln w="6350">
            <a:solidFill>
              <a:schemeClr val="tx1"/>
            </a:solidFill>
            <a:miter lim="800000"/>
          </a:ln>
        </p:spPr>
        <p:txBody>
          <a:bodyPr lIns="0" tIns="0" rIns="0" bIns="0" anchor="ctr">
            <a:spAutoFit/>
          </a:bodyPr>
          <a:lstStyle/>
          <a:p>
            <a:endParaRPr lang="zh-CN" altLang="en-US"/>
          </a:p>
        </p:txBody>
      </p:sp>
      <p:sp>
        <p:nvSpPr>
          <p:cNvPr id="116745" name="Text Box 9"/>
          <p:cNvSpPr txBox="1">
            <a:spLocks noChangeArrowheads="1"/>
          </p:cNvSpPr>
          <p:nvPr/>
        </p:nvSpPr>
        <p:spPr bwMode="auto">
          <a:xfrm>
            <a:off x="457200" y="2652713"/>
            <a:ext cx="982663" cy="365125"/>
          </a:xfrm>
          <a:prstGeom prst="rect">
            <a:avLst/>
          </a:prstGeom>
          <a:noFill/>
          <a:ln w="6350">
            <a:noFill/>
            <a:miter lim="800000"/>
          </a:ln>
        </p:spPr>
        <p:txBody>
          <a:bodyPr lIns="0" tIns="0" rIns="0" bIns="0" anchor="ctr">
            <a:spAutoFit/>
          </a:bodyPr>
          <a:lstStyle/>
          <a:p>
            <a:pPr eaLnBrk="0" hangingPunct="0"/>
            <a:r>
              <a:rPr lang="zh-CN" altLang="en-US" b="1">
                <a:solidFill>
                  <a:schemeClr val="hlink"/>
                </a:solidFill>
                <a:latin typeface="Arial" panose="020B0604020202020204" pitchFamily="34" charset="0"/>
                <a:ea typeface="隶书" pitchFamily="49" charset="-122"/>
              </a:rPr>
              <a:t>已修正</a:t>
            </a:r>
            <a:r>
              <a:rPr lang="zh-CN" altLang="en-US" sz="1800">
                <a:solidFill>
                  <a:schemeClr val="bg1"/>
                </a:solidFill>
                <a:latin typeface="Arial" panose="020B0604020202020204" pitchFamily="34" charset="0"/>
              </a:rPr>
              <a:t> </a:t>
            </a:r>
            <a:endParaRPr lang="zh-CN" altLang="en-US" sz="1800">
              <a:solidFill>
                <a:schemeClr val="bg1"/>
              </a:solidFill>
              <a:latin typeface="Arial" panose="020B0604020202020204" pitchFamily="34" charset="0"/>
            </a:endParaRPr>
          </a:p>
        </p:txBody>
      </p:sp>
      <p:sp>
        <p:nvSpPr>
          <p:cNvPr id="1754122" name="Rectangle 10"/>
          <p:cNvSpPr>
            <a:spLocks noChangeArrowheads="1"/>
          </p:cNvSpPr>
          <p:nvPr/>
        </p:nvSpPr>
        <p:spPr bwMode="auto">
          <a:xfrm>
            <a:off x="1619250" y="2464435"/>
            <a:ext cx="7134225" cy="738505"/>
          </a:xfrm>
          <a:prstGeom prst="rect">
            <a:avLst/>
          </a:prstGeom>
          <a:noFill/>
          <a:ln w="6350">
            <a:noFill/>
            <a:miter lim="800000"/>
          </a:ln>
        </p:spPr>
        <p:txBody>
          <a:bodyPr lIns="0" tIns="0" rIns="0" bIns="0" anchor="ctr">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开发工程师已经修正了相应的程序代码，该</a:t>
            </a:r>
            <a:r>
              <a:rPr lang="en-US" altLang="zh-CN" b="1">
                <a:latin typeface="隶书" pitchFamily="49" charset="-122"/>
                <a:ea typeface="隶书" pitchFamily="49" charset="-122"/>
              </a:rPr>
              <a:t>Bug</a:t>
            </a:r>
            <a:r>
              <a:rPr lang="zh-CN" altLang="en-US" b="1">
                <a:latin typeface="隶书" pitchFamily="49" charset="-122"/>
                <a:ea typeface="隶书" pitchFamily="49" charset="-122"/>
              </a:rPr>
              <a:t>不会出现了。 </a:t>
            </a:r>
            <a:endParaRPr lang="zh-CN" altLang="de-DE" b="1">
              <a:latin typeface="隶书" pitchFamily="49" charset="-122"/>
              <a:ea typeface="隶书" pitchFamily="49" charset="-122"/>
            </a:endParaRPr>
          </a:p>
        </p:txBody>
      </p:sp>
      <p:sp>
        <p:nvSpPr>
          <p:cNvPr id="116747" name="Rectangle 11"/>
          <p:cNvSpPr>
            <a:spLocks noChangeArrowheads="1"/>
          </p:cNvSpPr>
          <p:nvPr/>
        </p:nvSpPr>
        <p:spPr bwMode="auto">
          <a:xfrm>
            <a:off x="1798638" y="3359150"/>
            <a:ext cx="7053262" cy="825500"/>
          </a:xfrm>
          <a:prstGeom prst="rect">
            <a:avLst/>
          </a:prstGeom>
          <a:noFill/>
          <a:ln w="6350">
            <a:solidFill>
              <a:schemeClr val="tx1"/>
            </a:solidFill>
            <a:miter lim="800000"/>
          </a:ln>
        </p:spPr>
        <p:txBody>
          <a:bodyPr lIns="0" tIns="0" rIns="0" bIns="0" anchor="ctr">
            <a:spAutoFit/>
          </a:bodyPr>
          <a:lstStyle/>
          <a:p>
            <a:endParaRPr lang="zh-CN" altLang="en-US"/>
          </a:p>
        </p:txBody>
      </p:sp>
      <p:sp>
        <p:nvSpPr>
          <p:cNvPr id="116748" name="Text Box 12"/>
          <p:cNvSpPr txBox="1">
            <a:spLocks noChangeArrowheads="1"/>
          </p:cNvSpPr>
          <p:nvPr/>
        </p:nvSpPr>
        <p:spPr bwMode="auto">
          <a:xfrm>
            <a:off x="457200" y="3590925"/>
            <a:ext cx="982663" cy="365125"/>
          </a:xfrm>
          <a:prstGeom prst="rect">
            <a:avLst/>
          </a:prstGeom>
          <a:noFill/>
          <a:ln w="6350">
            <a:noFill/>
            <a:miter lim="800000"/>
          </a:ln>
        </p:spPr>
        <p:txBody>
          <a:bodyPr lIns="0" tIns="0" rIns="0" bIns="0" anchor="ctr">
            <a:spAutoFit/>
          </a:bodyPr>
          <a:lstStyle/>
          <a:p>
            <a:pPr eaLnBrk="0" hangingPunct="0"/>
            <a:r>
              <a:rPr lang="zh-CN" altLang="en-US" b="1">
                <a:solidFill>
                  <a:schemeClr val="hlink"/>
                </a:solidFill>
                <a:latin typeface="Arial" panose="020B0604020202020204" pitchFamily="34" charset="0"/>
                <a:ea typeface="隶书" pitchFamily="49" charset="-122"/>
              </a:rPr>
              <a:t>可推迟</a:t>
            </a:r>
            <a:r>
              <a:rPr lang="zh-CN" altLang="en-US" sz="1800">
                <a:solidFill>
                  <a:schemeClr val="bg1"/>
                </a:solidFill>
                <a:latin typeface="Arial" panose="020B0604020202020204" pitchFamily="34" charset="0"/>
              </a:rPr>
              <a:t> </a:t>
            </a:r>
            <a:endParaRPr lang="zh-CN" altLang="en-US" sz="1800">
              <a:solidFill>
                <a:schemeClr val="bg1"/>
              </a:solidFill>
              <a:latin typeface="Arial" panose="020B0604020202020204" pitchFamily="34" charset="0"/>
            </a:endParaRPr>
          </a:p>
        </p:txBody>
      </p:sp>
      <p:sp>
        <p:nvSpPr>
          <p:cNvPr id="1754125" name="Rectangle 13"/>
          <p:cNvSpPr>
            <a:spLocks noChangeArrowheads="1"/>
          </p:cNvSpPr>
          <p:nvPr/>
        </p:nvSpPr>
        <p:spPr bwMode="auto">
          <a:xfrm>
            <a:off x="1619250" y="3326765"/>
            <a:ext cx="7134225" cy="861695"/>
          </a:xfrm>
          <a:prstGeom prst="rect">
            <a:avLst/>
          </a:prstGeom>
          <a:noFill/>
          <a:ln w="6350">
            <a:noFill/>
            <a:miter lim="800000"/>
          </a:ln>
        </p:spPr>
        <p:txBody>
          <a:bodyPr lIns="0" tIns="0" rIns="0" bIns="0" anchor="ctr">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该</a:t>
            </a:r>
            <a:r>
              <a:rPr lang="en-US" altLang="zh-CN" b="1">
                <a:latin typeface="隶书" pitchFamily="49" charset="-122"/>
                <a:ea typeface="隶书" pitchFamily="49" charset="-122"/>
              </a:rPr>
              <a:t>Bug</a:t>
            </a:r>
            <a:r>
              <a:rPr lang="zh-CN" altLang="en-US" b="1">
                <a:latin typeface="隶书" pitchFamily="49" charset="-122"/>
                <a:ea typeface="隶书" pitchFamily="49" charset="-122"/>
              </a:rPr>
              <a:t>的重要程度较低，不会影响当前应提交版本 的主要功能，可安排在下一版本中再行处理。</a:t>
            </a:r>
            <a:r>
              <a:rPr lang="zh-CN" altLang="en-US" sz="3200"/>
              <a:t> </a:t>
            </a:r>
            <a:endParaRPr lang="zh-CN" altLang="de-DE" sz="3200"/>
          </a:p>
        </p:txBody>
      </p:sp>
      <p:sp>
        <p:nvSpPr>
          <p:cNvPr id="116750" name="Rectangle 14"/>
          <p:cNvSpPr>
            <a:spLocks noChangeArrowheads="1"/>
          </p:cNvSpPr>
          <p:nvPr/>
        </p:nvSpPr>
        <p:spPr bwMode="auto">
          <a:xfrm>
            <a:off x="1798638" y="4297363"/>
            <a:ext cx="7053262" cy="825500"/>
          </a:xfrm>
          <a:prstGeom prst="rect">
            <a:avLst/>
          </a:prstGeom>
          <a:noFill/>
          <a:ln w="6350">
            <a:solidFill>
              <a:schemeClr val="tx1"/>
            </a:solidFill>
            <a:miter lim="800000"/>
          </a:ln>
        </p:spPr>
        <p:txBody>
          <a:bodyPr lIns="0" tIns="0" rIns="0" bIns="0" anchor="ctr">
            <a:spAutoFit/>
          </a:bodyPr>
          <a:lstStyle/>
          <a:p>
            <a:endParaRPr lang="zh-CN" altLang="en-US"/>
          </a:p>
        </p:txBody>
      </p:sp>
      <p:sp>
        <p:nvSpPr>
          <p:cNvPr id="116751" name="Text Box 15"/>
          <p:cNvSpPr txBox="1">
            <a:spLocks noChangeArrowheads="1"/>
          </p:cNvSpPr>
          <p:nvPr/>
        </p:nvSpPr>
        <p:spPr bwMode="auto">
          <a:xfrm>
            <a:off x="684213" y="4346575"/>
            <a:ext cx="755650" cy="730250"/>
          </a:xfrm>
          <a:prstGeom prst="rect">
            <a:avLst/>
          </a:prstGeom>
          <a:noFill/>
          <a:ln w="6350">
            <a:noFill/>
            <a:miter lim="800000"/>
          </a:ln>
        </p:spPr>
        <p:txBody>
          <a:bodyPr lIns="0" tIns="0" rIns="0" bIns="0" anchor="ctr">
            <a:spAutoFit/>
          </a:bodyPr>
          <a:lstStyle/>
          <a:p>
            <a:pPr eaLnBrk="0" hangingPunct="0"/>
            <a:r>
              <a:rPr lang="zh-CN" altLang="en-US" b="1">
                <a:solidFill>
                  <a:schemeClr val="hlink"/>
                </a:solidFill>
                <a:latin typeface="Arial" panose="020B0604020202020204" pitchFamily="34" charset="0"/>
                <a:ea typeface="隶书" pitchFamily="49" charset="-122"/>
              </a:rPr>
              <a:t>设计</a:t>
            </a:r>
            <a:endParaRPr lang="zh-CN" altLang="en-US" b="1">
              <a:solidFill>
                <a:schemeClr val="hlink"/>
              </a:solidFill>
              <a:latin typeface="Arial" panose="020B0604020202020204" pitchFamily="34" charset="0"/>
              <a:ea typeface="隶书" pitchFamily="49" charset="-122"/>
            </a:endParaRPr>
          </a:p>
          <a:p>
            <a:pPr eaLnBrk="0" hangingPunct="0"/>
            <a:r>
              <a:rPr lang="zh-CN" altLang="en-US" b="1">
                <a:solidFill>
                  <a:schemeClr val="hlink"/>
                </a:solidFill>
                <a:latin typeface="Arial" panose="020B0604020202020204" pitchFamily="34" charset="0"/>
                <a:ea typeface="隶书" pitchFamily="49" charset="-122"/>
              </a:rPr>
              <a:t>问题</a:t>
            </a:r>
            <a:r>
              <a:rPr lang="zh-CN" altLang="en-US" sz="1800">
                <a:solidFill>
                  <a:schemeClr val="bg1"/>
                </a:solidFill>
                <a:latin typeface="Arial" panose="020B0604020202020204" pitchFamily="34" charset="0"/>
              </a:rPr>
              <a:t> </a:t>
            </a:r>
            <a:endParaRPr lang="zh-CN" altLang="en-US" sz="1800">
              <a:solidFill>
                <a:schemeClr val="bg1"/>
              </a:solidFill>
              <a:latin typeface="Arial" panose="020B0604020202020204" pitchFamily="34" charset="0"/>
            </a:endParaRPr>
          </a:p>
        </p:txBody>
      </p:sp>
      <p:sp>
        <p:nvSpPr>
          <p:cNvPr id="1754128" name="Rectangle 16"/>
          <p:cNvSpPr>
            <a:spLocks noChangeArrowheads="1"/>
          </p:cNvSpPr>
          <p:nvPr/>
        </p:nvSpPr>
        <p:spPr bwMode="auto">
          <a:xfrm>
            <a:off x="1619250" y="4342448"/>
            <a:ext cx="7134225" cy="738505"/>
          </a:xfrm>
          <a:prstGeom prst="rect">
            <a:avLst/>
          </a:prstGeom>
          <a:noFill/>
          <a:ln w="6350">
            <a:noFill/>
            <a:miter lim="800000"/>
          </a:ln>
        </p:spPr>
        <p:txBody>
          <a:bodyPr lIns="0" tIns="0" rIns="0" bIns="0" anchor="ctr">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该</a:t>
            </a:r>
            <a:r>
              <a:rPr lang="en-US" altLang="zh-CN" b="1">
                <a:latin typeface="隶书" pitchFamily="49" charset="-122"/>
                <a:ea typeface="隶书" pitchFamily="49" charset="-122"/>
              </a:rPr>
              <a:t>Bug</a:t>
            </a:r>
            <a:r>
              <a:rPr lang="zh-CN" altLang="en-US" b="1">
                <a:latin typeface="隶书" pitchFamily="49" charset="-122"/>
                <a:ea typeface="隶书" pitchFamily="49" charset="-122"/>
              </a:rPr>
              <a:t>与程序实现无关，其所表现出来的行为完全符合设计要求，对此应提交给程序经理处理。</a:t>
            </a:r>
            <a:r>
              <a:rPr lang="zh-CN" altLang="en-US" sz="2000" b="1"/>
              <a:t> </a:t>
            </a:r>
            <a:endParaRPr lang="zh-CN" altLang="de-DE" sz="2000" b="1"/>
          </a:p>
        </p:txBody>
      </p:sp>
      <p:sp>
        <p:nvSpPr>
          <p:cNvPr id="116753" name="Rectangle 17"/>
          <p:cNvSpPr>
            <a:spLocks noChangeArrowheads="1"/>
          </p:cNvSpPr>
          <p:nvPr/>
        </p:nvSpPr>
        <p:spPr bwMode="auto">
          <a:xfrm>
            <a:off x="1798638" y="5235575"/>
            <a:ext cx="7053262" cy="825500"/>
          </a:xfrm>
          <a:prstGeom prst="rect">
            <a:avLst/>
          </a:prstGeom>
          <a:noFill/>
          <a:ln w="6350">
            <a:solidFill>
              <a:schemeClr val="tx1"/>
            </a:solidFill>
            <a:miter lim="800000"/>
          </a:ln>
        </p:spPr>
        <p:txBody>
          <a:bodyPr lIns="0" tIns="0" rIns="0" bIns="0" anchor="ctr">
            <a:spAutoFit/>
          </a:bodyPr>
          <a:lstStyle/>
          <a:p>
            <a:endParaRPr lang="zh-CN" altLang="en-US"/>
          </a:p>
        </p:txBody>
      </p:sp>
      <p:sp>
        <p:nvSpPr>
          <p:cNvPr id="116754" name="Text Box 18"/>
          <p:cNvSpPr txBox="1">
            <a:spLocks noChangeArrowheads="1"/>
          </p:cNvSpPr>
          <p:nvPr/>
        </p:nvSpPr>
        <p:spPr bwMode="auto">
          <a:xfrm>
            <a:off x="684213" y="5284788"/>
            <a:ext cx="755650" cy="730250"/>
          </a:xfrm>
          <a:prstGeom prst="rect">
            <a:avLst/>
          </a:prstGeom>
          <a:noFill/>
          <a:ln w="6350">
            <a:noFill/>
            <a:miter lim="800000"/>
          </a:ln>
        </p:spPr>
        <p:txBody>
          <a:bodyPr lIns="0" tIns="0" rIns="0" bIns="0" anchor="ctr">
            <a:spAutoFit/>
          </a:bodyPr>
          <a:lstStyle/>
          <a:p>
            <a:pPr eaLnBrk="0" hangingPunct="0"/>
            <a:r>
              <a:rPr lang="zh-CN" altLang="en-US" b="1">
                <a:solidFill>
                  <a:schemeClr val="hlink"/>
                </a:solidFill>
                <a:latin typeface="Arial" panose="020B0604020202020204" pitchFamily="34" charset="0"/>
                <a:ea typeface="隶书" pitchFamily="49" charset="-122"/>
              </a:rPr>
              <a:t>无需</a:t>
            </a:r>
            <a:endParaRPr lang="zh-CN" altLang="en-US" b="1">
              <a:solidFill>
                <a:schemeClr val="hlink"/>
              </a:solidFill>
              <a:latin typeface="Arial" panose="020B0604020202020204" pitchFamily="34" charset="0"/>
              <a:ea typeface="隶书" pitchFamily="49" charset="-122"/>
            </a:endParaRPr>
          </a:p>
          <a:p>
            <a:pPr eaLnBrk="0" hangingPunct="0"/>
            <a:r>
              <a:rPr lang="zh-CN" altLang="en-US" b="1">
                <a:solidFill>
                  <a:schemeClr val="hlink"/>
                </a:solidFill>
                <a:latin typeface="Arial" panose="020B0604020202020204" pitchFamily="34" charset="0"/>
                <a:ea typeface="隶书" pitchFamily="49" charset="-122"/>
              </a:rPr>
              <a:t>修正</a:t>
            </a:r>
            <a:r>
              <a:rPr lang="zh-CN" altLang="en-US" sz="1800">
                <a:solidFill>
                  <a:schemeClr val="bg1"/>
                </a:solidFill>
                <a:latin typeface="Arial" panose="020B0604020202020204" pitchFamily="34" charset="0"/>
              </a:rPr>
              <a:t> </a:t>
            </a:r>
            <a:endParaRPr lang="zh-CN" altLang="en-US" sz="1800">
              <a:solidFill>
                <a:schemeClr val="bg1"/>
              </a:solidFill>
              <a:latin typeface="Arial" panose="020B0604020202020204" pitchFamily="34" charset="0"/>
            </a:endParaRPr>
          </a:p>
        </p:txBody>
      </p:sp>
      <p:sp>
        <p:nvSpPr>
          <p:cNvPr id="1754131" name="Rectangle 19"/>
          <p:cNvSpPr>
            <a:spLocks noChangeArrowheads="1"/>
          </p:cNvSpPr>
          <p:nvPr/>
        </p:nvSpPr>
        <p:spPr bwMode="auto">
          <a:xfrm>
            <a:off x="1619250" y="5200015"/>
            <a:ext cx="7134225" cy="861695"/>
          </a:xfrm>
          <a:prstGeom prst="rect">
            <a:avLst/>
          </a:prstGeom>
          <a:noFill/>
          <a:ln w="6350">
            <a:noFill/>
            <a:miter lim="800000"/>
          </a:ln>
        </p:spPr>
        <p:txBody>
          <a:bodyPr lIns="0" tIns="0" rIns="0" bIns="0" anchor="ctr">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zh-CN" altLang="en-US" b="1">
                <a:latin typeface="隶书" pitchFamily="49" charset="-122"/>
                <a:ea typeface="隶书" pitchFamily="49" charset="-122"/>
              </a:rPr>
              <a:t>该</a:t>
            </a:r>
            <a:r>
              <a:rPr lang="en-US" altLang="zh-CN" b="1">
                <a:latin typeface="隶书" pitchFamily="49" charset="-122"/>
                <a:ea typeface="隶书" pitchFamily="49" charset="-122"/>
              </a:rPr>
              <a:t>Bug</a:t>
            </a:r>
            <a:r>
              <a:rPr lang="zh-CN" altLang="en-US" b="1">
                <a:latin typeface="隶书" pitchFamily="49" charset="-122"/>
                <a:ea typeface="隶书" pitchFamily="49" charset="-122"/>
              </a:rPr>
              <a:t>的重要程度非常低，根本不会影响程序的功能，项目组没有必要在这些</a:t>
            </a:r>
            <a:r>
              <a:rPr lang="en-US" altLang="zh-CN" b="1">
                <a:latin typeface="隶书" pitchFamily="49" charset="-122"/>
                <a:ea typeface="隶书" pitchFamily="49" charset="-122"/>
              </a:rPr>
              <a:t>Bug</a:t>
            </a:r>
            <a:r>
              <a:rPr lang="zh-CN" altLang="en-US" b="1">
                <a:latin typeface="隶书" pitchFamily="49" charset="-122"/>
                <a:ea typeface="隶书" pitchFamily="49" charset="-122"/>
              </a:rPr>
              <a:t>上浪费时间。</a:t>
            </a:r>
            <a:r>
              <a:rPr lang="zh-CN" altLang="en-US" sz="3200"/>
              <a:t> </a:t>
            </a:r>
            <a:endParaRPr lang="zh-CN" altLang="de-DE" sz="320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54122">
                                            <p:txEl>
                                              <p:pRg st="0" end="0"/>
                                            </p:txEl>
                                          </p:spTgt>
                                        </p:tgtEl>
                                        <p:attrNameLst>
                                          <p:attrName>style.visibility</p:attrName>
                                        </p:attrNameLst>
                                      </p:cBhvr>
                                      <p:to>
                                        <p:strVal val="visible"/>
                                      </p:to>
                                    </p:set>
                                    <p:animEffect transition="in" filter="blinds(horizontal)">
                                      <p:cBhvr>
                                        <p:cTn id="7" dur="500"/>
                                        <p:tgtEl>
                                          <p:spTgt spid="1754122">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54125">
                                            <p:txEl>
                                              <p:pRg st="0" end="0"/>
                                            </p:txEl>
                                          </p:spTgt>
                                        </p:tgtEl>
                                        <p:attrNameLst>
                                          <p:attrName>style.visibility</p:attrName>
                                        </p:attrNameLst>
                                      </p:cBhvr>
                                      <p:to>
                                        <p:strVal val="visible"/>
                                      </p:to>
                                    </p:set>
                                    <p:animEffect transition="in" filter="blinds(horizontal)">
                                      <p:cBhvr>
                                        <p:cTn id="11" dur="500"/>
                                        <p:tgtEl>
                                          <p:spTgt spid="1754125">
                                            <p:txEl>
                                              <p:pRg st="0" end="0"/>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54128">
                                            <p:txEl>
                                              <p:pRg st="0" end="0"/>
                                            </p:txEl>
                                          </p:spTgt>
                                        </p:tgtEl>
                                        <p:attrNameLst>
                                          <p:attrName>style.visibility</p:attrName>
                                        </p:attrNameLst>
                                      </p:cBhvr>
                                      <p:to>
                                        <p:strVal val="visible"/>
                                      </p:to>
                                    </p:set>
                                    <p:animEffect transition="in" filter="blinds(horizontal)">
                                      <p:cBhvr>
                                        <p:cTn id="15" dur="500"/>
                                        <p:tgtEl>
                                          <p:spTgt spid="1754128">
                                            <p:txEl>
                                              <p:pRg st="0" end="0"/>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54131">
                                            <p:txEl>
                                              <p:pRg st="0" end="0"/>
                                            </p:txEl>
                                          </p:spTgt>
                                        </p:tgtEl>
                                        <p:attrNameLst>
                                          <p:attrName>style.visibility</p:attrName>
                                        </p:attrNameLst>
                                      </p:cBhvr>
                                      <p:to>
                                        <p:strVal val="visible"/>
                                      </p:to>
                                    </p:set>
                                    <p:animEffect transition="in" filter="blinds(horizontal)">
                                      <p:cBhvr>
                                        <p:cTn id="19" dur="500"/>
                                        <p:tgtEl>
                                          <p:spTgt spid="17541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r>
              <a:rPr lang="zh-CN" altLang="en-US" smtClean="0">
                <a:solidFill>
                  <a:schemeClr val="bg1"/>
                </a:solidFill>
              </a:rPr>
              <a:t>帕雷托分析</a:t>
            </a:r>
            <a:endParaRPr lang="zh-CN" altLang="en-US" smtClean="0">
              <a:solidFill>
                <a:schemeClr val="bg1"/>
              </a:solidFill>
            </a:endParaRPr>
          </a:p>
        </p:txBody>
      </p:sp>
      <p:sp>
        <p:nvSpPr>
          <p:cNvPr id="117763" name="Rectangle 3"/>
          <p:cNvSpPr>
            <a:spLocks noGrp="1" noChangeArrowheads="1"/>
          </p:cNvSpPr>
          <p:nvPr>
            <p:ph type="body" idx="1"/>
          </p:nvPr>
        </p:nvSpPr>
        <p:spPr/>
        <p:txBody>
          <a:bodyPr/>
          <a:lstStyle/>
          <a:p>
            <a:pPr eaLnBrk="1" hangingPunct="1">
              <a:buClr>
                <a:schemeClr val="bg1"/>
              </a:buClr>
              <a:buFont typeface="Wingdings" panose="05000000000000000000" pitchFamily="2" charset="2"/>
              <a:buChar char="Ø"/>
            </a:pPr>
            <a:r>
              <a:rPr lang="en-US" altLang="zh-CN" b="1" smtClean="0">
                <a:solidFill>
                  <a:schemeClr val="bg1"/>
                </a:solidFill>
              </a:rPr>
              <a:t> </a:t>
            </a:r>
            <a:r>
              <a:rPr lang="zh-CN" altLang="en-US" b="1" smtClean="0">
                <a:solidFill>
                  <a:schemeClr val="bg1"/>
                </a:solidFill>
              </a:rPr>
              <a:t>你相信吗？</a:t>
            </a:r>
            <a:endParaRPr lang="zh-CN" altLang="en-US" b="1" smtClean="0">
              <a:solidFill>
                <a:schemeClr val="bg1"/>
              </a:solidFill>
            </a:endParaRPr>
          </a:p>
          <a:p>
            <a:pPr eaLnBrk="1" hangingPunct="1">
              <a:buClr>
                <a:schemeClr val="bg1"/>
              </a:buClr>
              <a:buFont typeface="Wingdings" panose="05000000000000000000" pitchFamily="2" charset="2"/>
              <a:buNone/>
            </a:pPr>
            <a:endParaRPr lang="en-US" altLang="zh-CN" b="1" smtClean="0">
              <a:solidFill>
                <a:schemeClr val="bg1"/>
              </a:solidFill>
            </a:endParaRPr>
          </a:p>
        </p:txBody>
      </p:sp>
      <p:sp>
        <p:nvSpPr>
          <p:cNvPr id="1766404" name="Rectangle 4"/>
          <p:cNvSpPr>
            <a:spLocks noChangeArrowheads="1"/>
          </p:cNvSpPr>
          <p:nvPr/>
        </p:nvSpPr>
        <p:spPr bwMode="auto">
          <a:xfrm>
            <a:off x="6719888" y="2563813"/>
            <a:ext cx="2065337" cy="3267075"/>
          </a:xfrm>
          <a:prstGeom prst="rect">
            <a:avLst/>
          </a:prstGeom>
          <a:solidFill>
            <a:schemeClr val="accent2"/>
          </a:solidFill>
          <a:ln w="6350">
            <a:noFill/>
            <a:miter lim="800000"/>
          </a:ln>
          <a:effectLst>
            <a:outerShdw dist="35921" dir="2700000" algn="ctr" rotWithShape="0">
              <a:schemeClr val="bg2"/>
            </a:outerShdw>
          </a:effectLst>
        </p:spPr>
        <p:txBody>
          <a:bodyPr lIns="0" tIns="0" rIns="0" bIns="0" anchor="ctr">
            <a:spAutoFit/>
          </a:bodyPr>
          <a:lstStyle/>
          <a:p>
            <a:pPr>
              <a:defRPr/>
            </a:pPr>
            <a:endParaRPr lang="zh-CN" altLang="en-US"/>
          </a:p>
        </p:txBody>
      </p:sp>
      <p:sp>
        <p:nvSpPr>
          <p:cNvPr id="117765" name="AutoShape 5"/>
          <p:cNvSpPr>
            <a:spLocks noChangeArrowheads="1"/>
          </p:cNvSpPr>
          <p:nvPr/>
        </p:nvSpPr>
        <p:spPr bwMode="auto">
          <a:xfrm>
            <a:off x="684213" y="2565400"/>
            <a:ext cx="6203950" cy="3263900"/>
          </a:xfrm>
          <a:prstGeom prst="homePlate">
            <a:avLst>
              <a:gd name="adj" fmla="val 15373"/>
            </a:avLst>
          </a:prstGeom>
          <a:solidFill>
            <a:schemeClr val="bg1"/>
          </a:solidFill>
          <a:ln w="6350">
            <a:solidFill>
              <a:schemeClr val="tx1"/>
            </a:solidFill>
            <a:miter lim="800000"/>
          </a:ln>
        </p:spPr>
        <p:txBody>
          <a:bodyPr wrap="none" lIns="0" tIns="0" rIns="0" bIns="0" anchor="ctr"/>
          <a:lstStyle/>
          <a:p>
            <a:endParaRPr lang="zh-CN" altLang="en-US"/>
          </a:p>
        </p:txBody>
      </p:sp>
      <p:sp>
        <p:nvSpPr>
          <p:cNvPr id="1766406" name="Rectangle 6"/>
          <p:cNvSpPr>
            <a:spLocks noChangeArrowheads="1"/>
          </p:cNvSpPr>
          <p:nvPr/>
        </p:nvSpPr>
        <p:spPr bwMode="auto">
          <a:xfrm>
            <a:off x="250825" y="290513"/>
            <a:ext cx="6286500" cy="7813675"/>
          </a:xfrm>
          <a:prstGeom prst="rect">
            <a:avLst/>
          </a:prstGeom>
          <a:noFill/>
          <a:ln w="6350">
            <a:noFill/>
            <a:miter lim="800000"/>
          </a:ln>
        </p:spPr>
        <p:txBody>
          <a:bodyPr lIns="0" tIns="0" rIns="0" bIns="0" anchor="ctr">
            <a:spAutoFit/>
          </a:bodyPr>
          <a:lstStyle/>
          <a:p>
            <a:pPr marL="190500" lvl="1" indent="266700">
              <a:spcBef>
                <a:spcPct val="20000"/>
              </a:spcBef>
              <a:buClr>
                <a:schemeClr val="hlink"/>
              </a:buClr>
              <a:buSzPct val="55000"/>
              <a:buFont typeface="Wingdings" panose="05000000000000000000" pitchFamily="2" charset="2"/>
              <a:buNone/>
              <a:tabLst>
                <a:tab pos="8521700" algn="r"/>
              </a:tabLst>
            </a:pPr>
            <a:r>
              <a:rPr lang="de-DE" altLang="zh-CN" b="1">
                <a:solidFill>
                  <a:srgbClr val="0A0A0E"/>
                </a:solidFill>
              </a:rPr>
              <a:t>   </a:t>
            </a:r>
            <a:endParaRPr lang="de-DE" altLang="zh-CN" b="1"/>
          </a:p>
          <a:p>
            <a:pPr marL="190500" lvl="1" indent="266700">
              <a:spcBef>
                <a:spcPct val="20000"/>
              </a:spcBef>
              <a:buClr>
                <a:schemeClr val="hlink"/>
              </a:buClr>
              <a:buSzPct val="55000"/>
              <a:buFont typeface="Wingdings" panose="05000000000000000000" pitchFamily="2" charset="2"/>
              <a:buNone/>
              <a:tabLst>
                <a:tab pos="8521700" algn="r"/>
              </a:tabLst>
            </a:pPr>
            <a:r>
              <a:rPr lang="de-DE" altLang="zh-CN" b="1"/>
              <a:t>   </a:t>
            </a:r>
            <a:endParaRPr lang="de-DE" altLang="zh-CN" b="1"/>
          </a:p>
          <a:p>
            <a:pPr marL="190500" lvl="1" indent="266700">
              <a:spcBef>
                <a:spcPct val="20000"/>
              </a:spcBef>
              <a:buClr>
                <a:schemeClr val="hlink"/>
              </a:buClr>
              <a:buSzPct val="55000"/>
              <a:buFont typeface="Wingdings" panose="05000000000000000000" pitchFamily="2" charset="2"/>
              <a:buNone/>
              <a:tabLst>
                <a:tab pos="8521700" algn="r"/>
              </a:tabLst>
            </a:pPr>
            <a:endParaRPr lang="de-DE" altLang="zh-CN" b="1"/>
          </a:p>
          <a:p>
            <a:pPr marL="190500" lvl="1" indent="266700">
              <a:spcBef>
                <a:spcPct val="20000"/>
              </a:spcBef>
              <a:buClr>
                <a:schemeClr val="hlink"/>
              </a:buClr>
              <a:buSzPct val="55000"/>
              <a:buFont typeface="Wingdings" panose="05000000000000000000" pitchFamily="2" charset="2"/>
              <a:buNone/>
              <a:tabLst>
                <a:tab pos="8521700" algn="r"/>
              </a:tabLst>
            </a:pPr>
            <a:r>
              <a:rPr lang="de-DE" altLang="zh-CN" b="1"/>
              <a:t>   </a:t>
            </a:r>
            <a:endParaRPr lang="de-DE" altLang="zh-CN" b="1">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de-DE" altLang="zh-CN" b="1"/>
              <a:t>   </a:t>
            </a:r>
            <a:endParaRPr lang="de-DE" altLang="zh-CN" b="1"/>
          </a:p>
          <a:p>
            <a:pPr marL="190500" lvl="1" indent="266700">
              <a:spcBef>
                <a:spcPct val="20000"/>
              </a:spcBef>
              <a:buClr>
                <a:schemeClr val="hlink"/>
              </a:buClr>
              <a:buSzPct val="55000"/>
              <a:buFont typeface="Wingdings" panose="05000000000000000000" pitchFamily="2" charset="2"/>
              <a:buNone/>
              <a:tabLst>
                <a:tab pos="8521700" algn="r"/>
              </a:tabLst>
            </a:pPr>
            <a:r>
              <a:rPr lang="de-DE" altLang="zh-CN" b="1"/>
              <a:t>   </a:t>
            </a:r>
            <a:endParaRPr lang="de-DE" altLang="zh-CN" b="1"/>
          </a:p>
          <a:p>
            <a:pPr marL="190500" lvl="1" indent="266700">
              <a:spcBef>
                <a:spcPct val="20000"/>
              </a:spcBef>
              <a:buClr>
                <a:schemeClr val="hlink"/>
              </a:buClr>
              <a:buSzPct val="55000"/>
              <a:buFont typeface="Wingdings" panose="05000000000000000000" pitchFamily="2" charset="2"/>
              <a:buNone/>
              <a:tabLst>
                <a:tab pos="8521700" algn="r"/>
              </a:tabLst>
            </a:pPr>
            <a:r>
              <a:rPr lang="de-DE" altLang="zh-CN" b="1">
                <a:solidFill>
                  <a:srgbClr val="0A0A0E"/>
                </a:solidFill>
              </a:rPr>
              <a:t>     </a:t>
            </a:r>
            <a:r>
              <a:rPr lang="de-DE" altLang="zh-CN" b="1">
                <a:solidFill>
                  <a:srgbClr val="0A0A0E"/>
                </a:solidFill>
                <a:latin typeface="隶书" pitchFamily="49" charset="-122"/>
                <a:ea typeface="隶书" pitchFamily="49" charset="-122"/>
              </a:rPr>
              <a:t>80%</a:t>
            </a:r>
            <a:r>
              <a:rPr lang="zh-CN" altLang="de-DE" b="1">
                <a:solidFill>
                  <a:srgbClr val="0A0A0E"/>
                </a:solidFill>
                <a:latin typeface="隶书" pitchFamily="49" charset="-122"/>
                <a:ea typeface="隶书" pitchFamily="49" charset="-122"/>
              </a:rPr>
              <a:t>的软件错误是由</a:t>
            </a:r>
            <a:r>
              <a:rPr lang="de-DE" altLang="zh-CN" b="1">
                <a:solidFill>
                  <a:srgbClr val="0A0A0E"/>
                </a:solidFill>
                <a:latin typeface="隶书" pitchFamily="49" charset="-122"/>
                <a:ea typeface="隶书" pitchFamily="49" charset="-122"/>
              </a:rPr>
              <a:t>20%</a:t>
            </a:r>
            <a:r>
              <a:rPr lang="zh-CN" altLang="de-DE" b="1">
                <a:solidFill>
                  <a:srgbClr val="0A0A0E"/>
                </a:solidFill>
                <a:latin typeface="隶书" pitchFamily="49" charset="-122"/>
                <a:ea typeface="隶书" pitchFamily="49" charset="-122"/>
              </a:rPr>
              <a:t>的代码引起的</a:t>
            </a:r>
            <a:endParaRPr lang="zh-CN" altLang="de-DE" b="1">
              <a:solidFill>
                <a:srgbClr val="0A0A0E"/>
              </a:solidFill>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de-DE" b="1">
                <a:solidFill>
                  <a:srgbClr val="0A0A0E"/>
                </a:solidFill>
                <a:latin typeface="隶书" pitchFamily="49" charset="-122"/>
                <a:ea typeface="隶书" pitchFamily="49" charset="-122"/>
              </a:rPr>
              <a:t>   </a:t>
            </a:r>
            <a:r>
              <a:rPr lang="de-DE" altLang="zh-CN" b="1">
                <a:solidFill>
                  <a:srgbClr val="0A0A0E"/>
                </a:solidFill>
                <a:latin typeface="隶书" pitchFamily="49" charset="-122"/>
                <a:ea typeface="隶书" pitchFamily="49" charset="-122"/>
              </a:rPr>
              <a:t>20</a:t>
            </a:r>
            <a:r>
              <a:rPr lang="zh-CN" altLang="de-DE" b="1">
                <a:solidFill>
                  <a:srgbClr val="0A0A0E"/>
                </a:solidFill>
                <a:latin typeface="隶书" pitchFamily="49" charset="-122"/>
                <a:ea typeface="隶书" pitchFamily="49" charset="-122"/>
              </a:rPr>
              <a:t>％的模块消耗</a:t>
            </a:r>
            <a:r>
              <a:rPr lang="de-DE" altLang="zh-CN" b="1">
                <a:solidFill>
                  <a:srgbClr val="0A0A0E"/>
                </a:solidFill>
                <a:latin typeface="隶书" pitchFamily="49" charset="-122"/>
                <a:ea typeface="隶书" pitchFamily="49" charset="-122"/>
              </a:rPr>
              <a:t>80</a:t>
            </a:r>
            <a:r>
              <a:rPr lang="zh-CN" altLang="de-DE" b="1">
                <a:solidFill>
                  <a:srgbClr val="0A0A0E"/>
                </a:solidFill>
                <a:latin typeface="隶书" pitchFamily="49" charset="-122"/>
                <a:ea typeface="隶书" pitchFamily="49" charset="-122"/>
              </a:rPr>
              <a:t>％的资源</a:t>
            </a:r>
            <a:endParaRPr lang="zh-CN" altLang="de-DE" b="1">
              <a:solidFill>
                <a:srgbClr val="0A0A0E"/>
              </a:solidFill>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de-DE" b="1">
                <a:solidFill>
                  <a:srgbClr val="0A0A0E"/>
                </a:solidFill>
                <a:latin typeface="隶书" pitchFamily="49" charset="-122"/>
                <a:ea typeface="隶书" pitchFamily="49" charset="-122"/>
              </a:rPr>
              <a:t>   </a:t>
            </a:r>
            <a:r>
              <a:rPr lang="de-DE" altLang="zh-CN" b="1">
                <a:solidFill>
                  <a:srgbClr val="0A0A0E"/>
                </a:solidFill>
                <a:latin typeface="隶书" pitchFamily="49" charset="-122"/>
                <a:ea typeface="隶书" pitchFamily="49" charset="-122"/>
              </a:rPr>
              <a:t>20</a:t>
            </a:r>
            <a:r>
              <a:rPr lang="zh-CN" altLang="de-DE" b="1">
                <a:solidFill>
                  <a:srgbClr val="0A0A0E"/>
                </a:solidFill>
                <a:latin typeface="隶书" pitchFamily="49" charset="-122"/>
                <a:ea typeface="隶书" pitchFamily="49" charset="-122"/>
              </a:rPr>
              <a:t>％的模块包含</a:t>
            </a:r>
            <a:r>
              <a:rPr lang="de-DE" altLang="zh-CN" b="1">
                <a:solidFill>
                  <a:srgbClr val="0A0A0E"/>
                </a:solidFill>
                <a:latin typeface="隶书" pitchFamily="49" charset="-122"/>
                <a:ea typeface="隶书" pitchFamily="49" charset="-122"/>
              </a:rPr>
              <a:t>80</a:t>
            </a:r>
            <a:r>
              <a:rPr lang="zh-CN" altLang="de-DE" b="1">
                <a:solidFill>
                  <a:srgbClr val="0A0A0E"/>
                </a:solidFill>
                <a:latin typeface="隶书" pitchFamily="49" charset="-122"/>
                <a:ea typeface="隶书" pitchFamily="49" charset="-122"/>
              </a:rPr>
              <a:t>％的错误</a:t>
            </a:r>
            <a:endParaRPr lang="zh-CN" altLang="de-DE" b="1">
              <a:solidFill>
                <a:srgbClr val="0A0A0E"/>
              </a:solidFill>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de-DE" b="1">
                <a:solidFill>
                  <a:srgbClr val="0A0A0E"/>
                </a:solidFill>
                <a:latin typeface="隶书" pitchFamily="49" charset="-122"/>
                <a:ea typeface="隶书" pitchFamily="49" charset="-122"/>
              </a:rPr>
              <a:t>   </a:t>
            </a:r>
            <a:r>
              <a:rPr lang="de-DE" altLang="zh-CN" b="1">
                <a:solidFill>
                  <a:srgbClr val="0A0A0E"/>
                </a:solidFill>
                <a:latin typeface="隶书" pitchFamily="49" charset="-122"/>
                <a:ea typeface="隶书" pitchFamily="49" charset="-122"/>
              </a:rPr>
              <a:t>20</a:t>
            </a:r>
            <a:r>
              <a:rPr lang="zh-CN" altLang="de-DE" b="1">
                <a:solidFill>
                  <a:srgbClr val="0A0A0E"/>
                </a:solidFill>
                <a:latin typeface="隶书" pitchFamily="49" charset="-122"/>
                <a:ea typeface="隶书" pitchFamily="49" charset="-122"/>
              </a:rPr>
              <a:t>％的错误消耗</a:t>
            </a:r>
            <a:r>
              <a:rPr lang="de-DE" altLang="zh-CN" b="1">
                <a:solidFill>
                  <a:srgbClr val="0A0A0E"/>
                </a:solidFill>
                <a:latin typeface="隶书" pitchFamily="49" charset="-122"/>
                <a:ea typeface="隶书" pitchFamily="49" charset="-122"/>
              </a:rPr>
              <a:t>80</a:t>
            </a:r>
            <a:r>
              <a:rPr lang="zh-CN" altLang="de-DE" b="1">
                <a:solidFill>
                  <a:srgbClr val="0A0A0E"/>
                </a:solidFill>
                <a:latin typeface="隶书" pitchFamily="49" charset="-122"/>
                <a:ea typeface="隶书" pitchFamily="49" charset="-122"/>
              </a:rPr>
              <a:t>％的修改成本</a:t>
            </a:r>
            <a:endParaRPr lang="zh-CN" altLang="de-DE" b="1">
              <a:solidFill>
                <a:srgbClr val="0A0A0E"/>
              </a:solidFill>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de-DE" b="1">
                <a:solidFill>
                  <a:srgbClr val="0A0A0E"/>
                </a:solidFill>
                <a:latin typeface="隶书" pitchFamily="49" charset="-122"/>
                <a:ea typeface="隶书" pitchFamily="49" charset="-122"/>
              </a:rPr>
              <a:t>   </a:t>
            </a:r>
            <a:r>
              <a:rPr lang="de-DE" altLang="zh-CN" b="1">
                <a:solidFill>
                  <a:srgbClr val="0A0A0E"/>
                </a:solidFill>
                <a:latin typeface="隶书" pitchFamily="49" charset="-122"/>
                <a:ea typeface="隶书" pitchFamily="49" charset="-122"/>
              </a:rPr>
              <a:t>20</a:t>
            </a:r>
            <a:r>
              <a:rPr lang="zh-CN" altLang="de-DE" b="1">
                <a:solidFill>
                  <a:srgbClr val="0A0A0E"/>
                </a:solidFill>
                <a:latin typeface="隶书" pitchFamily="49" charset="-122"/>
                <a:ea typeface="隶书" pitchFamily="49" charset="-122"/>
              </a:rPr>
              <a:t>％的模块占用了</a:t>
            </a:r>
            <a:r>
              <a:rPr lang="de-DE" altLang="zh-CN" b="1">
                <a:solidFill>
                  <a:srgbClr val="0A0A0E"/>
                </a:solidFill>
                <a:latin typeface="隶书" pitchFamily="49" charset="-122"/>
                <a:ea typeface="隶书" pitchFamily="49" charset="-122"/>
              </a:rPr>
              <a:t>80</a:t>
            </a:r>
            <a:r>
              <a:rPr lang="zh-CN" altLang="de-DE" b="1">
                <a:solidFill>
                  <a:srgbClr val="0A0A0E"/>
                </a:solidFill>
                <a:latin typeface="隶书" pitchFamily="49" charset="-122"/>
                <a:ea typeface="隶书" pitchFamily="49" charset="-122"/>
              </a:rPr>
              <a:t>％的执行时间</a:t>
            </a:r>
            <a:endParaRPr lang="zh-CN" altLang="de-DE" b="1">
              <a:solidFill>
                <a:srgbClr val="0A0A0E"/>
              </a:solidFill>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r>
              <a:rPr lang="zh-CN" altLang="de-DE" b="1">
                <a:solidFill>
                  <a:srgbClr val="0A0A0E"/>
                </a:solidFill>
                <a:latin typeface="隶书" pitchFamily="49" charset="-122"/>
                <a:ea typeface="隶书" pitchFamily="49" charset="-122"/>
              </a:rPr>
              <a:t>   </a:t>
            </a:r>
            <a:r>
              <a:rPr lang="de-DE" altLang="zh-CN" b="1">
                <a:solidFill>
                  <a:srgbClr val="0A0A0E"/>
                </a:solidFill>
                <a:latin typeface="隶书" pitchFamily="49" charset="-122"/>
                <a:ea typeface="隶书" pitchFamily="49" charset="-122"/>
              </a:rPr>
              <a:t>80%</a:t>
            </a:r>
            <a:r>
              <a:rPr lang="zh-CN" altLang="de-DE" b="1">
                <a:solidFill>
                  <a:srgbClr val="0A0A0E"/>
                </a:solidFill>
                <a:latin typeface="隶书" pitchFamily="49" charset="-122"/>
                <a:ea typeface="隶书" pitchFamily="49" charset="-122"/>
              </a:rPr>
              <a:t>的商业利润是由</a:t>
            </a:r>
            <a:r>
              <a:rPr lang="de-DE" altLang="zh-CN" b="1">
                <a:solidFill>
                  <a:srgbClr val="0A0A0E"/>
                </a:solidFill>
                <a:latin typeface="隶书" pitchFamily="49" charset="-122"/>
                <a:ea typeface="隶书" pitchFamily="49" charset="-122"/>
              </a:rPr>
              <a:t>20%</a:t>
            </a:r>
            <a:r>
              <a:rPr lang="zh-CN" altLang="de-DE" b="1">
                <a:solidFill>
                  <a:srgbClr val="0A0A0E"/>
                </a:solidFill>
                <a:latin typeface="隶书" pitchFamily="49" charset="-122"/>
                <a:ea typeface="隶书" pitchFamily="49" charset="-122"/>
              </a:rPr>
              <a:t>的客户带来的</a:t>
            </a:r>
            <a:endParaRPr lang="zh-CN" altLang="de-DE" b="1">
              <a:solidFill>
                <a:srgbClr val="0A0A0E"/>
              </a:solidFill>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endParaRPr lang="zh-CN" altLang="de-DE" b="1">
              <a:solidFill>
                <a:srgbClr val="0A0A0E"/>
              </a:solidFill>
              <a:latin typeface="隶书" pitchFamily="49" charset="-122"/>
              <a:ea typeface="隶书" pitchFamily="49" charset="-122"/>
            </a:endParaRPr>
          </a:p>
          <a:p>
            <a:pPr marL="190500" lvl="1" indent="266700">
              <a:spcBef>
                <a:spcPct val="20000"/>
              </a:spcBef>
              <a:buClr>
                <a:schemeClr val="hlink"/>
              </a:buClr>
              <a:buSzPct val="55000"/>
              <a:buFont typeface="Wingdings" panose="05000000000000000000" pitchFamily="2" charset="2"/>
              <a:buNone/>
              <a:tabLst>
                <a:tab pos="8521700" algn="r"/>
              </a:tabLst>
            </a:pPr>
            <a:endParaRPr lang="zh-CN" altLang="de-DE" b="1">
              <a:solidFill>
                <a:srgbClr val="0A0A0E"/>
              </a:solidFill>
            </a:endParaRPr>
          </a:p>
          <a:p>
            <a:pPr marL="190500" lvl="1" indent="266700">
              <a:spcBef>
                <a:spcPct val="20000"/>
              </a:spcBef>
              <a:buClr>
                <a:schemeClr val="hlink"/>
              </a:buClr>
              <a:buSzPct val="55000"/>
              <a:buFont typeface="Wingdings" panose="05000000000000000000" pitchFamily="2" charset="2"/>
              <a:buNone/>
              <a:tabLst>
                <a:tab pos="8521700" algn="r"/>
              </a:tabLst>
            </a:pPr>
            <a:endParaRPr lang="zh-CN" altLang="de-DE" b="1">
              <a:solidFill>
                <a:srgbClr val="0A0A0E"/>
              </a:solidFill>
            </a:endParaRPr>
          </a:p>
          <a:p>
            <a:pPr marL="190500" lvl="1" indent="266700">
              <a:spcBef>
                <a:spcPct val="20000"/>
              </a:spcBef>
              <a:buClr>
                <a:schemeClr val="hlink"/>
              </a:buClr>
              <a:buSzPct val="55000"/>
              <a:buFont typeface="Wingdings" panose="05000000000000000000" pitchFamily="2" charset="2"/>
              <a:buNone/>
              <a:tabLst>
                <a:tab pos="8521700" algn="r"/>
              </a:tabLst>
            </a:pPr>
            <a:endParaRPr lang="zh-CN" altLang="de-DE" b="1">
              <a:solidFill>
                <a:srgbClr val="0A0A0E"/>
              </a:solidFill>
            </a:endParaRPr>
          </a:p>
          <a:p>
            <a:pPr marL="190500" lvl="1" indent="266700">
              <a:spcBef>
                <a:spcPct val="20000"/>
              </a:spcBef>
              <a:buClr>
                <a:schemeClr val="hlink"/>
              </a:buClr>
              <a:buSzPct val="55000"/>
              <a:buFont typeface="Wingdings" panose="05000000000000000000" pitchFamily="2" charset="2"/>
              <a:buNone/>
              <a:tabLst>
                <a:tab pos="8521700" algn="r"/>
              </a:tabLst>
            </a:pPr>
            <a:endParaRPr lang="zh-CN" altLang="de-DE" b="1">
              <a:solidFill>
                <a:srgbClr val="0A0A0E"/>
              </a:solidFill>
            </a:endParaRPr>
          </a:p>
          <a:p>
            <a:pPr marL="190500" lvl="1" indent="266700">
              <a:spcBef>
                <a:spcPct val="20000"/>
              </a:spcBef>
              <a:buClr>
                <a:schemeClr val="hlink"/>
              </a:buClr>
              <a:buSzPct val="55000"/>
              <a:buFont typeface="Wingdings" panose="05000000000000000000" pitchFamily="2" charset="2"/>
              <a:buNone/>
              <a:tabLst>
                <a:tab pos="8521700" algn="r"/>
              </a:tabLst>
            </a:pPr>
            <a:endParaRPr lang="zh-CN" altLang="de-DE" b="1">
              <a:solidFill>
                <a:srgbClr val="0A0A0E"/>
              </a:solidFill>
            </a:endParaRPr>
          </a:p>
        </p:txBody>
      </p:sp>
      <p:pic>
        <p:nvPicPr>
          <p:cNvPr id="117767" name="Picture 7" descr="j0149407"/>
          <p:cNvPicPr>
            <a:picLocks noChangeAspect="1" noChangeArrowheads="1"/>
          </p:cNvPicPr>
          <p:nvPr/>
        </p:nvPicPr>
        <p:blipFill>
          <a:blip r:embed="rId1" cstate="print"/>
          <a:srcRect/>
          <a:stretch>
            <a:fillRect/>
          </a:stretch>
        </p:blipFill>
        <p:spPr bwMode="auto">
          <a:xfrm>
            <a:off x="6877050" y="3141663"/>
            <a:ext cx="1774825" cy="2112962"/>
          </a:xfrm>
          <a:prstGeom prst="rect">
            <a:avLst/>
          </a:prstGeom>
          <a:noFill/>
          <a:ln w="9525">
            <a:noFill/>
            <a:miter lim="800000"/>
            <a:headEnd/>
            <a:tailEnd/>
          </a:ln>
        </p:spPr>
      </p:pic>
      <p:sp>
        <p:nvSpPr>
          <p:cNvPr id="117769" name="Rectangle 2"/>
          <p:cNvSpPr>
            <a:spLocks noChangeArrowheads="1"/>
          </p:cNvSpPr>
          <p:nvPr/>
        </p:nvSpPr>
        <p:spPr bwMode="auto">
          <a:xfrm>
            <a:off x="1116013" y="188913"/>
            <a:ext cx="7793037" cy="1462087"/>
          </a:xfrm>
          <a:prstGeom prst="rect">
            <a:avLst/>
          </a:prstGeom>
          <a:noFill/>
          <a:ln w="9525">
            <a:noFill/>
            <a:miter lim="800000"/>
          </a:ln>
        </p:spPr>
        <p:txBody>
          <a:bodyPr anchor="b"/>
          <a:lstStyle/>
          <a:p>
            <a:r>
              <a:rPr lang="zh-CN" altLang="en-US" sz="3600" b="1"/>
              <a:t>微软的测试工作</a:t>
            </a:r>
            <a:endParaRPr lang="zh-CN" altLang="en-US" sz="3600" b="1"/>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66406">
                                            <p:txEl>
                                              <p:pRg st="6" end="6"/>
                                            </p:txEl>
                                          </p:spTgt>
                                        </p:tgtEl>
                                        <p:attrNameLst>
                                          <p:attrName>style.visibility</p:attrName>
                                        </p:attrNameLst>
                                      </p:cBhvr>
                                      <p:to>
                                        <p:strVal val="visible"/>
                                      </p:to>
                                    </p:set>
                                    <p:animEffect transition="in" filter="blinds(horizontal)">
                                      <p:cBhvr>
                                        <p:cTn id="7" dur="500"/>
                                        <p:tgtEl>
                                          <p:spTgt spid="1766406">
                                            <p:txEl>
                                              <p:pRg st="6" end="6"/>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66406">
                                            <p:txEl>
                                              <p:pRg st="7" end="7"/>
                                            </p:txEl>
                                          </p:spTgt>
                                        </p:tgtEl>
                                        <p:attrNameLst>
                                          <p:attrName>style.visibility</p:attrName>
                                        </p:attrNameLst>
                                      </p:cBhvr>
                                      <p:to>
                                        <p:strVal val="visible"/>
                                      </p:to>
                                    </p:set>
                                    <p:animEffect transition="in" filter="blinds(horizontal)">
                                      <p:cBhvr>
                                        <p:cTn id="11" dur="500"/>
                                        <p:tgtEl>
                                          <p:spTgt spid="1766406">
                                            <p:txEl>
                                              <p:pRg st="7" end="7"/>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66406">
                                            <p:txEl>
                                              <p:pRg st="8" end="8"/>
                                            </p:txEl>
                                          </p:spTgt>
                                        </p:tgtEl>
                                        <p:attrNameLst>
                                          <p:attrName>style.visibility</p:attrName>
                                        </p:attrNameLst>
                                      </p:cBhvr>
                                      <p:to>
                                        <p:strVal val="visible"/>
                                      </p:to>
                                    </p:set>
                                    <p:animEffect transition="in" filter="blinds(horizontal)">
                                      <p:cBhvr>
                                        <p:cTn id="15" dur="500"/>
                                        <p:tgtEl>
                                          <p:spTgt spid="1766406">
                                            <p:txEl>
                                              <p:pRg st="8" end="8"/>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66406">
                                            <p:txEl>
                                              <p:pRg st="9" end="9"/>
                                            </p:txEl>
                                          </p:spTgt>
                                        </p:tgtEl>
                                        <p:attrNameLst>
                                          <p:attrName>style.visibility</p:attrName>
                                        </p:attrNameLst>
                                      </p:cBhvr>
                                      <p:to>
                                        <p:strVal val="visible"/>
                                      </p:to>
                                    </p:set>
                                    <p:animEffect transition="in" filter="blinds(horizontal)">
                                      <p:cBhvr>
                                        <p:cTn id="19" dur="500"/>
                                        <p:tgtEl>
                                          <p:spTgt spid="1766406">
                                            <p:txEl>
                                              <p:pRg st="9" end="9"/>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766406">
                                            <p:txEl>
                                              <p:pRg st="10" end="10"/>
                                            </p:txEl>
                                          </p:spTgt>
                                        </p:tgtEl>
                                        <p:attrNameLst>
                                          <p:attrName>style.visibility</p:attrName>
                                        </p:attrNameLst>
                                      </p:cBhvr>
                                      <p:to>
                                        <p:strVal val="visible"/>
                                      </p:to>
                                    </p:set>
                                    <p:animEffect transition="in" filter="blinds(horizontal)">
                                      <p:cBhvr>
                                        <p:cTn id="23" dur="500"/>
                                        <p:tgtEl>
                                          <p:spTgt spid="1766406">
                                            <p:txEl>
                                              <p:pRg st="10" end="10"/>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766406">
                                            <p:txEl>
                                              <p:pRg st="11" end="11"/>
                                            </p:txEl>
                                          </p:spTgt>
                                        </p:tgtEl>
                                        <p:attrNameLst>
                                          <p:attrName>style.visibility</p:attrName>
                                        </p:attrNameLst>
                                      </p:cBhvr>
                                      <p:to>
                                        <p:strVal val="visible"/>
                                      </p:to>
                                    </p:set>
                                    <p:animEffect transition="in" filter="blinds(horizontal)">
                                      <p:cBhvr>
                                        <p:cTn id="27" dur="500"/>
                                        <p:tgtEl>
                                          <p:spTgt spid="176640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3"/>
          <p:cNvSpPr>
            <a:spLocks noGrp="1" noChangeArrowheads="1"/>
          </p:cNvSpPr>
          <p:nvPr>
            <p:ph type="body" idx="1"/>
          </p:nvPr>
        </p:nvSpPr>
        <p:spPr>
          <a:xfrm>
            <a:off x="685800" y="1981200"/>
            <a:ext cx="7772400" cy="4267200"/>
          </a:xfrm>
        </p:spPr>
        <p:txBody>
          <a:bodyPr/>
          <a:lstStyle/>
          <a:p>
            <a:pPr marL="0" indent="0" defTabSz="284480">
              <a:lnSpc>
                <a:spcPct val="110000"/>
              </a:lnSpc>
              <a:buClr>
                <a:schemeClr val="accent2"/>
              </a:buClr>
              <a:buFont typeface="Wingdings" panose="05000000000000000000" pitchFamily="2" charset="2"/>
              <a:buNone/>
              <a:tabLst>
                <a:tab pos="0" algn="l"/>
              </a:tabLst>
            </a:pPr>
            <a:r>
              <a:rPr lang="en-US" altLang="zh-CN" b="1" smtClean="0"/>
              <a:t>1.</a:t>
            </a:r>
            <a:r>
              <a:rPr lang="zh-CN" altLang="en-US" b="1" smtClean="0"/>
              <a:t>软件调试过程</a:t>
            </a:r>
            <a:endParaRPr lang="zh-CN" altLang="en-US" b="1" smtClean="0"/>
          </a:p>
          <a:p>
            <a:pPr marL="532130" lvl="1" indent="-338455" defTabSz="284480" eaLnBrk="1" hangingPunct="1">
              <a:lnSpc>
                <a:spcPct val="105000"/>
              </a:lnSpc>
              <a:tabLst>
                <a:tab pos="0" algn="l"/>
              </a:tabLst>
            </a:pPr>
            <a:endParaRPr lang="en-US" altLang="zh-CN" b="1" smtClean="0">
              <a:solidFill>
                <a:srgbClr val="FFFFFF"/>
              </a:solidFill>
              <a:latin typeface="Times New Roman" panose="02020603050405020304" pitchFamily="18" charset="0"/>
            </a:endParaRPr>
          </a:p>
        </p:txBody>
      </p:sp>
      <p:sp>
        <p:nvSpPr>
          <p:cNvPr id="118787" name="AutoShape 4">
            <a:hlinkClick r:id="" action="ppaction://noaction" highlightClick="1"/>
          </p:cNvPr>
          <p:cNvSpPr>
            <a:spLocks noChangeArrowheads="1"/>
          </p:cNvSpPr>
          <p:nvPr/>
        </p:nvSpPr>
        <p:spPr bwMode="auto">
          <a:xfrm>
            <a:off x="1692275" y="836613"/>
            <a:ext cx="3530600"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6.3.2 </a:t>
            </a:r>
            <a:r>
              <a:rPr lang="zh-CN" altLang="en-US" sz="3600" b="1">
                <a:solidFill>
                  <a:srgbClr val="0A0A0E"/>
                </a:solidFill>
                <a:latin typeface="Times New Roman" panose="02020603050405020304" pitchFamily="18" charset="0"/>
              </a:rPr>
              <a:t>软件调试</a:t>
            </a:r>
            <a:endParaRPr lang="zh-CN" altLang="en-US" sz="3600" b="1">
              <a:solidFill>
                <a:srgbClr val="0A0A0E"/>
              </a:solidFill>
              <a:latin typeface="Times New Roman" panose="02020603050405020304" pitchFamily="18" charset="0"/>
            </a:endParaRPr>
          </a:p>
        </p:txBody>
      </p:sp>
      <p:pic>
        <p:nvPicPr>
          <p:cNvPr id="118788" name="Picture 5" descr="6"/>
          <p:cNvPicPr>
            <a:picLocks noChangeAspect="1" noChangeArrowheads="1"/>
          </p:cNvPicPr>
          <p:nvPr/>
        </p:nvPicPr>
        <p:blipFill>
          <a:blip r:embed="rId1" cstate="print"/>
          <a:srcRect/>
          <a:stretch>
            <a:fillRect/>
          </a:stretch>
        </p:blipFill>
        <p:spPr bwMode="auto">
          <a:xfrm>
            <a:off x="827088" y="2708275"/>
            <a:ext cx="6096000" cy="2736850"/>
          </a:xfrm>
          <a:prstGeom prst="rect">
            <a:avLst/>
          </a:prstGeom>
          <a:noFill/>
          <a:ln w="76200">
            <a:pattFill prst="dkUpDiag">
              <a:fgClr>
                <a:srgbClr val="CC0000"/>
              </a:fgClr>
              <a:bgClr>
                <a:srgbClr val="FFFFFF"/>
              </a:bgClr>
            </a:pattFill>
            <a:miter lim="800000"/>
            <a:headEnd/>
            <a:tailEnd/>
          </a:ln>
        </p:spPr>
      </p:pic>
    </p:spTree>
  </p:cSld>
  <p:clrMapOvr>
    <a:masterClrMapping/>
  </p:clrMapOvr>
  <p:transition>
    <p:wipe dir="r"/>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noFill/>
        </p:spPr>
        <p:txBody>
          <a:bodyPr/>
          <a:lstStyle/>
          <a:p>
            <a:pPr eaLnBrk="1" hangingPunct="1"/>
            <a:r>
              <a:rPr lang="en-US" altLang="zh-CN" sz="800" smtClean="0">
                <a:solidFill>
                  <a:schemeClr val="bg1"/>
                </a:solidFill>
              </a:rPr>
              <a:t>1.5.4MIS</a:t>
            </a:r>
            <a:r>
              <a:rPr lang="zh-CN" altLang="en-US" sz="800" smtClean="0">
                <a:solidFill>
                  <a:schemeClr val="bg1"/>
                </a:solidFill>
              </a:rPr>
              <a:t>的结构</a:t>
            </a:r>
            <a:endParaRPr lang="zh-CN" altLang="en-US" sz="800" smtClean="0">
              <a:solidFill>
                <a:schemeClr val="bg1"/>
              </a:solidFill>
            </a:endParaRPr>
          </a:p>
        </p:txBody>
      </p:sp>
      <p:sp>
        <p:nvSpPr>
          <p:cNvPr id="119811" name="Rectangle 4"/>
          <p:cNvSpPr>
            <a:spLocks noGrp="1" noChangeArrowheads="1"/>
          </p:cNvSpPr>
          <p:nvPr>
            <p:ph type="body" idx="1"/>
          </p:nvPr>
        </p:nvSpPr>
        <p:spPr>
          <a:xfrm>
            <a:off x="323850" y="2017713"/>
            <a:ext cx="8631238" cy="4840287"/>
          </a:xfrm>
          <a:noFill/>
        </p:spPr>
        <p:txBody>
          <a:bodyPr/>
          <a:lstStyle/>
          <a:p>
            <a:pPr marL="0" indent="0" eaLnBrk="1" hangingPunct="1">
              <a:lnSpc>
                <a:spcPct val="150000"/>
              </a:lnSpc>
              <a:spcBef>
                <a:spcPct val="0"/>
              </a:spcBef>
              <a:buClr>
                <a:srgbClr val="66FF66"/>
              </a:buClr>
              <a:buFont typeface="Wingdings" panose="05000000000000000000" pitchFamily="2" charset="2"/>
              <a:buNone/>
            </a:pPr>
            <a:r>
              <a:rPr lang="zh-CN" altLang="en-US" sz="2400" b="1" smtClean="0">
                <a:latin typeface="Arial" panose="020B0604020202020204" pitchFamily="34" charset="0"/>
              </a:rPr>
              <a:t>从技术角度来看，查找错误的难度在于：</a:t>
            </a:r>
            <a:endParaRPr lang="zh-CN" altLang="en-US" sz="2400" b="1" smtClean="0">
              <a:latin typeface="Arial" panose="020B0604020202020204" pitchFamily="34" charset="0"/>
            </a:endParaRPr>
          </a:p>
          <a:p>
            <a:pPr marL="450850" lvl="1" indent="-271780" eaLnBrk="1" hangingPunct="1">
              <a:lnSpc>
                <a:spcPct val="150000"/>
              </a:lnSpc>
              <a:spcBef>
                <a:spcPct val="0"/>
              </a:spcBef>
              <a:buClr>
                <a:srgbClr val="66FF66"/>
              </a:buClr>
            </a:pPr>
            <a:r>
              <a:rPr lang="zh-CN" altLang="en-US" sz="2000" b="1" smtClean="0">
                <a:latin typeface="Arial" panose="020B0604020202020204" pitchFamily="34" charset="0"/>
              </a:rPr>
              <a:t>现象与原因所处的位置可能相距甚远。</a:t>
            </a:r>
            <a:endParaRPr lang="zh-CN" altLang="en-US" sz="2000" b="1" smtClean="0">
              <a:latin typeface="Arial" panose="020B0604020202020204" pitchFamily="34" charset="0"/>
            </a:endParaRPr>
          </a:p>
          <a:p>
            <a:pPr marL="450850" lvl="1" indent="-271780" eaLnBrk="1" hangingPunct="1">
              <a:lnSpc>
                <a:spcPct val="150000"/>
              </a:lnSpc>
              <a:spcBef>
                <a:spcPct val="0"/>
              </a:spcBef>
              <a:buClr>
                <a:srgbClr val="66FF66"/>
              </a:buClr>
            </a:pPr>
            <a:r>
              <a:rPr lang="zh-CN" altLang="en-US" sz="2000" b="1" smtClean="0">
                <a:latin typeface="Arial" panose="020B0604020202020204" pitchFamily="34" charset="0"/>
              </a:rPr>
              <a:t>当其它错误纠正时，此错误所表现的现象可能会暂时消失，但并未实际排除。</a:t>
            </a:r>
            <a:endParaRPr lang="zh-CN" altLang="en-US" sz="2000" b="1" smtClean="0">
              <a:latin typeface="Arial" panose="020B0604020202020204" pitchFamily="34" charset="0"/>
            </a:endParaRPr>
          </a:p>
          <a:p>
            <a:pPr marL="450850" lvl="1" indent="-271780" eaLnBrk="1" hangingPunct="1">
              <a:lnSpc>
                <a:spcPct val="150000"/>
              </a:lnSpc>
              <a:spcBef>
                <a:spcPct val="0"/>
              </a:spcBef>
              <a:buClr>
                <a:srgbClr val="66FF66"/>
              </a:buClr>
            </a:pPr>
            <a:r>
              <a:rPr lang="zh-CN" altLang="en-US" sz="2000" b="1" smtClean="0">
                <a:latin typeface="Arial" panose="020B0604020202020204" pitchFamily="34" charset="0"/>
              </a:rPr>
              <a:t>现象实际上是由一些非错误原因（如舍入不精确）引起的。</a:t>
            </a:r>
            <a:endParaRPr lang="zh-CN" altLang="en-US" sz="2000" b="1" smtClean="0">
              <a:latin typeface="Arial" panose="020B0604020202020204" pitchFamily="34" charset="0"/>
            </a:endParaRPr>
          </a:p>
          <a:p>
            <a:pPr marL="450850" lvl="1" indent="-271780" eaLnBrk="1" hangingPunct="1">
              <a:lnSpc>
                <a:spcPct val="150000"/>
              </a:lnSpc>
              <a:spcBef>
                <a:spcPct val="0"/>
              </a:spcBef>
              <a:buClr>
                <a:srgbClr val="00CC00"/>
              </a:buClr>
            </a:pPr>
            <a:r>
              <a:rPr lang="zh-CN" altLang="en-US" sz="2000" b="1" smtClean="0">
                <a:latin typeface="Arial" panose="020B0604020202020204" pitchFamily="34" charset="0"/>
              </a:rPr>
              <a:t>现象可能是由于一些不容易发现的人为错误引起的。</a:t>
            </a:r>
            <a:endParaRPr lang="zh-CN" altLang="en-US" sz="2000" b="1" smtClean="0">
              <a:latin typeface="Arial" panose="020B0604020202020204" pitchFamily="34" charset="0"/>
            </a:endParaRPr>
          </a:p>
          <a:p>
            <a:pPr marL="450850" lvl="1" indent="-271780" eaLnBrk="1" hangingPunct="1">
              <a:lnSpc>
                <a:spcPct val="150000"/>
              </a:lnSpc>
              <a:spcBef>
                <a:spcPct val="0"/>
              </a:spcBef>
              <a:buClr>
                <a:srgbClr val="00CC00"/>
              </a:buClr>
            </a:pPr>
            <a:r>
              <a:rPr lang="zh-CN" altLang="en-US" sz="2000" b="1" smtClean="0">
                <a:latin typeface="Arial" panose="020B0604020202020204" pitchFamily="34" charset="0"/>
              </a:rPr>
              <a:t>错误是由于时序问题引起的，与处理过程无关。</a:t>
            </a:r>
            <a:endParaRPr lang="zh-CN" altLang="en-US" sz="2000" b="1" smtClean="0">
              <a:latin typeface="Arial" panose="020B0604020202020204" pitchFamily="34" charset="0"/>
            </a:endParaRPr>
          </a:p>
          <a:p>
            <a:pPr marL="450850" lvl="1" indent="-271780" eaLnBrk="1" hangingPunct="1">
              <a:lnSpc>
                <a:spcPct val="150000"/>
              </a:lnSpc>
              <a:spcBef>
                <a:spcPct val="0"/>
              </a:spcBef>
              <a:buClr>
                <a:srgbClr val="00CC00"/>
              </a:buClr>
            </a:pPr>
            <a:r>
              <a:rPr lang="zh-CN" altLang="en-US" sz="2000" b="1" smtClean="0">
                <a:latin typeface="Arial" panose="020B0604020202020204" pitchFamily="34" charset="0"/>
              </a:rPr>
              <a:t>现象是由于难于精确再现的输入状态引起。</a:t>
            </a:r>
            <a:endParaRPr lang="zh-CN" altLang="en-US" sz="2000" b="1" smtClean="0">
              <a:latin typeface="Arial" panose="020B0604020202020204" pitchFamily="34" charset="0"/>
            </a:endParaRPr>
          </a:p>
          <a:p>
            <a:pPr marL="450850" lvl="1" indent="-271780" eaLnBrk="1" hangingPunct="1">
              <a:lnSpc>
                <a:spcPct val="150000"/>
              </a:lnSpc>
              <a:spcBef>
                <a:spcPct val="0"/>
              </a:spcBef>
              <a:buClr>
                <a:srgbClr val="00CC00"/>
              </a:buClr>
            </a:pPr>
            <a:r>
              <a:rPr lang="zh-CN" altLang="en-US" sz="2000" b="1" smtClean="0">
                <a:latin typeface="Arial" panose="020B0604020202020204" pitchFamily="34" charset="0"/>
              </a:rPr>
              <a:t>现象可能是周期出现的，在嵌入式系统中常常遇到。</a:t>
            </a:r>
            <a:endParaRPr lang="zh-CN" altLang="en-US" sz="2000" b="1" smtClean="0">
              <a:latin typeface="Times New Roman" panose="02020603050405020304" pitchFamily="18" charset="0"/>
            </a:endParaRPr>
          </a:p>
        </p:txBody>
      </p:sp>
      <p:sp>
        <p:nvSpPr>
          <p:cNvPr id="119812" name="AutoShape 5">
            <a:hlinkClick r:id="" action="ppaction://noaction" highlightClick="1"/>
          </p:cNvPr>
          <p:cNvSpPr>
            <a:spLocks noChangeArrowheads="1"/>
          </p:cNvSpPr>
          <p:nvPr/>
        </p:nvSpPr>
        <p:spPr bwMode="auto">
          <a:xfrm>
            <a:off x="1116013" y="981075"/>
            <a:ext cx="3530600"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6.3.2 </a:t>
            </a:r>
            <a:r>
              <a:rPr lang="zh-CN" altLang="en-US" sz="3600" b="1">
                <a:solidFill>
                  <a:srgbClr val="0A0A0E"/>
                </a:solidFill>
                <a:latin typeface="Times New Roman" panose="02020603050405020304" pitchFamily="18" charset="0"/>
              </a:rPr>
              <a:t>软件调试</a:t>
            </a:r>
            <a:endParaRPr lang="zh-CN" altLang="en-US" sz="3600" b="1">
              <a:solidFill>
                <a:srgbClr val="0A0A0E"/>
              </a:solidFill>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r>
              <a:rPr lang="en-US" altLang="zh-CN" sz="3600" b="1" smtClean="0">
                <a:solidFill>
                  <a:srgbClr val="0A0A0E"/>
                </a:solidFill>
                <a:latin typeface="Times New Roman" panose="02020603050405020304" pitchFamily="18" charset="0"/>
              </a:rPr>
              <a:t>6.3.2 </a:t>
            </a:r>
            <a:r>
              <a:rPr lang="zh-CN" altLang="en-US" sz="3600" b="1" smtClean="0">
                <a:solidFill>
                  <a:srgbClr val="0A0A0E"/>
                </a:solidFill>
                <a:latin typeface="Times New Roman" panose="02020603050405020304" pitchFamily="18" charset="0"/>
              </a:rPr>
              <a:t>软件调试</a:t>
            </a:r>
            <a:endParaRPr lang="zh-CN" altLang="en-US" sz="3600" b="1" smtClean="0">
              <a:solidFill>
                <a:srgbClr val="0A0A0E"/>
              </a:solidFill>
              <a:latin typeface="Times New Roman" panose="02020603050405020304" pitchFamily="18" charset="0"/>
            </a:endParaRPr>
          </a:p>
        </p:txBody>
      </p:sp>
      <p:sp>
        <p:nvSpPr>
          <p:cNvPr id="120835" name="Rectangle 3"/>
          <p:cNvSpPr>
            <a:spLocks noGrp="1" noChangeArrowheads="1"/>
          </p:cNvSpPr>
          <p:nvPr>
            <p:ph type="body" idx="1"/>
          </p:nvPr>
        </p:nvSpPr>
        <p:spPr>
          <a:xfrm>
            <a:off x="1331913" y="1989138"/>
            <a:ext cx="7623175" cy="4143375"/>
          </a:xfrm>
        </p:spPr>
        <p:txBody>
          <a:bodyPr/>
          <a:lstStyle/>
          <a:p>
            <a:pPr marL="685800" indent="-685800" eaLnBrk="1" hangingPunct="1">
              <a:buFont typeface="Wingdings" panose="05000000000000000000" pitchFamily="2" charset="2"/>
              <a:buNone/>
            </a:pPr>
            <a:r>
              <a:rPr lang="zh-CN" altLang="en-US" b="1" smtClean="0"/>
              <a:t>调试方法</a:t>
            </a:r>
            <a:endParaRPr lang="zh-CN" altLang="en-US" b="1" smtClean="0"/>
          </a:p>
          <a:p>
            <a:pPr marL="685800" indent="-685800" eaLnBrk="1" hangingPunct="1">
              <a:buClr>
                <a:schemeClr val="hlink"/>
              </a:buClr>
              <a:buFont typeface="Wingdings" panose="05000000000000000000" pitchFamily="2" charset="2"/>
              <a:buChar char="p"/>
            </a:pPr>
            <a:r>
              <a:rPr lang="zh-CN" altLang="en-US" b="1" smtClean="0"/>
              <a:t>试探法</a:t>
            </a:r>
            <a:endParaRPr lang="zh-CN" altLang="en-US" b="1" smtClean="0"/>
          </a:p>
        </p:txBody>
      </p:sp>
      <p:sp>
        <p:nvSpPr>
          <p:cNvPr id="1785860" name="Rectangle 4"/>
          <p:cNvSpPr>
            <a:spLocks noChangeArrowheads="1"/>
          </p:cNvSpPr>
          <p:nvPr/>
        </p:nvSpPr>
        <p:spPr bwMode="auto">
          <a:xfrm>
            <a:off x="5364163" y="1916113"/>
            <a:ext cx="3168650" cy="3960812"/>
          </a:xfrm>
          <a:prstGeom prst="rect">
            <a:avLst/>
          </a:prstGeom>
          <a:noFill/>
          <a:ln w="57150" cmpd="thickThin">
            <a:solidFill>
              <a:schemeClr val="accent2"/>
            </a:solidFill>
            <a:miter lim="800000"/>
          </a:ln>
        </p:spPr>
        <p:txBody>
          <a:bodyPr lIns="18000" rIns="18000" anchor="ctr"/>
          <a:lstStyle/>
          <a:p>
            <a:pPr marL="274955" indent="-274955"/>
            <a:r>
              <a:rPr lang="zh-CN" altLang="en-US" sz="2800" b="1">
                <a:latin typeface="Verdana" panose="020B0604030504040204" pitchFamily="34" charset="0"/>
              </a:rPr>
              <a:t>基本思路：</a:t>
            </a:r>
            <a:endParaRPr lang="zh-CN" altLang="en-US" sz="2800" b="1">
              <a:latin typeface="Verdana" panose="020B0604030504040204" pitchFamily="34" charset="0"/>
            </a:endParaRPr>
          </a:p>
          <a:p>
            <a:pPr marL="274955" indent="-274955">
              <a:buClr>
                <a:schemeClr val="accent2"/>
              </a:buClr>
              <a:buFont typeface="Wingdings" panose="05000000000000000000" pitchFamily="2" charset="2"/>
              <a:buChar char="Ø"/>
            </a:pPr>
            <a:r>
              <a:rPr lang="zh-CN" altLang="en-AU" b="1">
                <a:latin typeface="Verdana" panose="020B0604030504040204" pitchFamily="34" charset="0"/>
              </a:rPr>
              <a:t>先分析错误的表现形式，猜想程序故障的大致位置，然后使用一些简单、常用的纠错技术，获取可疑区域的有关信息，判断猜想是否正确。经过多次试探，找到错误根源 </a:t>
            </a:r>
            <a:endParaRPr lang="zh-CN" altLang="en-US" b="1">
              <a:latin typeface="Verdana" panose="020B0604030504040204" pitchFamily="34" charset="0"/>
            </a:endParaRPr>
          </a:p>
        </p:txBody>
      </p:sp>
      <p:sp>
        <p:nvSpPr>
          <p:cNvPr id="1785861" name="Rectangle 5"/>
          <p:cNvSpPr>
            <a:spLocks noChangeArrowheads="1"/>
          </p:cNvSpPr>
          <p:nvPr/>
        </p:nvSpPr>
        <p:spPr bwMode="auto">
          <a:xfrm>
            <a:off x="827088" y="3141663"/>
            <a:ext cx="8001000" cy="738187"/>
          </a:xfrm>
          <a:prstGeom prst="rect">
            <a:avLst/>
          </a:prstGeom>
          <a:noFill/>
          <a:ln w="9525">
            <a:noFill/>
            <a:miter lim="800000"/>
          </a:ln>
        </p:spPr>
        <p:txBody>
          <a:bodyPr/>
          <a:lstStyle/>
          <a:p>
            <a:pPr marL="1081405" lvl="1" indent="-609600">
              <a:spcBef>
                <a:spcPct val="20000"/>
              </a:spcBef>
              <a:buClr>
                <a:schemeClr val="hlink"/>
              </a:buClr>
              <a:buSzPct val="55000"/>
              <a:buFont typeface="Wingdings" panose="05000000000000000000" pitchFamily="2" charset="2"/>
              <a:buChar char="p"/>
            </a:pPr>
            <a:r>
              <a:rPr lang="zh-CN" altLang="en-US" sz="3200" b="1">
                <a:solidFill>
                  <a:srgbClr val="0A0A0E"/>
                </a:solidFill>
              </a:rPr>
              <a:t> 跟踪法</a:t>
            </a:r>
            <a:endParaRPr lang="zh-CN" altLang="en-US" sz="3200" b="1">
              <a:solidFill>
                <a:srgbClr val="0A0A0E"/>
              </a:solidFill>
            </a:endParaRPr>
          </a:p>
        </p:txBody>
      </p:sp>
      <p:sp>
        <p:nvSpPr>
          <p:cNvPr id="1785862" name="Rectangle 6"/>
          <p:cNvSpPr>
            <a:spLocks noChangeArrowheads="1"/>
          </p:cNvSpPr>
          <p:nvPr/>
        </p:nvSpPr>
        <p:spPr bwMode="auto">
          <a:xfrm>
            <a:off x="5364163" y="1916113"/>
            <a:ext cx="3168650" cy="3960812"/>
          </a:xfrm>
          <a:prstGeom prst="rect">
            <a:avLst/>
          </a:prstGeom>
          <a:noFill/>
          <a:ln w="57150" cmpd="thickThin">
            <a:solidFill>
              <a:schemeClr val="accent2"/>
            </a:solidFill>
            <a:miter lim="800000"/>
          </a:ln>
        </p:spPr>
        <p:txBody>
          <a:bodyPr lIns="18000" rIns="18000" anchor="ctr"/>
          <a:lstStyle/>
          <a:p>
            <a:pPr marL="274955" indent="-274955"/>
            <a:r>
              <a:rPr lang="zh-CN" altLang="en-US" sz="2800" b="1">
                <a:latin typeface="Verdana" panose="020B0604030504040204" pitchFamily="34" charset="0"/>
              </a:rPr>
              <a:t>基本思路：</a:t>
            </a:r>
            <a:endParaRPr lang="zh-CN" altLang="en-US" sz="2800" b="1">
              <a:latin typeface="Verdana" panose="020B0604030504040204" pitchFamily="34" charset="0"/>
            </a:endParaRPr>
          </a:p>
          <a:p>
            <a:pPr marL="274955" indent="-274955">
              <a:buClr>
                <a:schemeClr val="accent2"/>
              </a:buClr>
              <a:buFont typeface="Wingdings" panose="05000000000000000000" pitchFamily="2" charset="2"/>
              <a:buChar char="Ø"/>
            </a:pPr>
            <a:r>
              <a:rPr lang="zh-CN" altLang="en-AU" sz="2800" b="1">
                <a:latin typeface="Verdana" panose="020B0604030504040204" pitchFamily="34" charset="0"/>
              </a:rPr>
              <a:t>正向跟踪的思路是沿着程序的控制流，从头开始跟踪，逐步检查中间结果，找到最先出错的地方</a:t>
            </a:r>
            <a:endParaRPr lang="zh-CN" altLang="en-AU" sz="2800" b="1">
              <a:latin typeface="Verdana" panose="020B0604030504040204" pitchFamily="34" charset="0"/>
            </a:endParaRPr>
          </a:p>
          <a:p>
            <a:pPr marL="274955" indent="-274955">
              <a:buClr>
                <a:schemeClr val="accent2"/>
              </a:buClr>
              <a:buFont typeface="Wingdings" panose="05000000000000000000" pitchFamily="2" charset="2"/>
              <a:buChar char="Ø"/>
            </a:pPr>
            <a:endParaRPr lang="zh-CN" altLang="en-AU" sz="2800" b="1">
              <a:latin typeface="Verdana" panose="020B0604030504040204" pitchFamily="34" charset="0"/>
            </a:endParaRPr>
          </a:p>
          <a:p>
            <a:pPr marL="274955" indent="-274955">
              <a:buClr>
                <a:schemeClr val="accent2"/>
              </a:buClr>
              <a:buFont typeface="Wingdings" panose="05000000000000000000" pitchFamily="2" charset="2"/>
              <a:buNone/>
            </a:pPr>
            <a:r>
              <a:rPr lang="zh-CN" altLang="en-AU" sz="1800" b="1">
                <a:latin typeface="Verdana" panose="020B0604030504040204" pitchFamily="34" charset="0"/>
              </a:rPr>
              <a:t> </a:t>
            </a:r>
            <a:endParaRPr lang="zh-CN" altLang="en-US" sz="1800" b="1">
              <a:latin typeface="Verdana" panose="020B0604030504040204" pitchFamily="34" charset="0"/>
            </a:endParaRPr>
          </a:p>
        </p:txBody>
      </p:sp>
      <p:sp>
        <p:nvSpPr>
          <p:cNvPr id="1785863" name="Rectangle 7"/>
          <p:cNvSpPr>
            <a:spLocks noChangeArrowheads="1"/>
          </p:cNvSpPr>
          <p:nvPr/>
        </p:nvSpPr>
        <p:spPr bwMode="auto">
          <a:xfrm>
            <a:off x="5364163" y="1916113"/>
            <a:ext cx="3168650" cy="3960812"/>
          </a:xfrm>
          <a:prstGeom prst="rect">
            <a:avLst/>
          </a:prstGeom>
          <a:noFill/>
          <a:ln w="57150" cmpd="thickThin">
            <a:solidFill>
              <a:schemeClr val="accent2"/>
            </a:solidFill>
            <a:miter lim="800000"/>
          </a:ln>
        </p:spPr>
        <p:txBody>
          <a:bodyPr lIns="18000" rIns="18000" anchor="ctr"/>
          <a:lstStyle/>
          <a:p>
            <a:pPr marL="274955" indent="-274955"/>
            <a:r>
              <a:rPr lang="zh-CN" altLang="en-US" sz="2800" b="1">
                <a:latin typeface="Verdana" panose="020B0604030504040204" pitchFamily="34" charset="0"/>
              </a:rPr>
              <a:t>基本思路：</a:t>
            </a:r>
            <a:endParaRPr lang="zh-CN" altLang="en-US" sz="2800" b="1">
              <a:latin typeface="Verdana" panose="020B0604030504040204" pitchFamily="34" charset="0"/>
            </a:endParaRPr>
          </a:p>
          <a:p>
            <a:pPr marL="274955" indent="-274955">
              <a:buClr>
                <a:schemeClr val="accent2"/>
              </a:buClr>
              <a:buFont typeface="Wingdings" panose="05000000000000000000" pitchFamily="2" charset="2"/>
              <a:buChar char="Ø"/>
            </a:pPr>
            <a:r>
              <a:rPr lang="zh-CN" altLang="en-AU" sz="2600" b="1">
                <a:latin typeface="Verdana" panose="020B0604030504040204" pitchFamily="34" charset="0"/>
              </a:rPr>
              <a:t>反向跟踪的思路是从发现错误症状的地方开始回溯，即人工沿着程序的控制流往回追踪程序代码，一直到找出错误的位置或确定故障的范围为止。</a:t>
            </a:r>
            <a:r>
              <a:rPr lang="zh-CN" altLang="en-AU" sz="1800" b="1">
                <a:latin typeface="Verdana" panose="020B0604030504040204" pitchFamily="34" charset="0"/>
              </a:rPr>
              <a:t> </a:t>
            </a:r>
            <a:endParaRPr lang="zh-CN" altLang="en-US" sz="1800" b="1">
              <a:latin typeface="Verdana" panose="020B0604030504040204" pitchFamily="34" charset="0"/>
            </a:endParaRPr>
          </a:p>
        </p:txBody>
      </p:sp>
      <p:sp>
        <p:nvSpPr>
          <p:cNvPr id="1785864" name="Rectangle 8"/>
          <p:cNvSpPr>
            <a:spLocks noChangeArrowheads="1"/>
          </p:cNvSpPr>
          <p:nvPr/>
        </p:nvSpPr>
        <p:spPr bwMode="auto">
          <a:xfrm>
            <a:off x="827088" y="3789363"/>
            <a:ext cx="8001000" cy="738187"/>
          </a:xfrm>
          <a:prstGeom prst="rect">
            <a:avLst/>
          </a:prstGeom>
          <a:noFill/>
          <a:ln w="9525">
            <a:noFill/>
            <a:miter lim="800000"/>
          </a:ln>
        </p:spPr>
        <p:txBody>
          <a:bodyPr/>
          <a:lstStyle/>
          <a:p>
            <a:pPr marL="1081405" lvl="1" indent="-609600">
              <a:spcBef>
                <a:spcPct val="20000"/>
              </a:spcBef>
              <a:buClr>
                <a:schemeClr val="hlink"/>
              </a:buClr>
              <a:buSzPct val="55000"/>
              <a:buFont typeface="Wingdings" panose="05000000000000000000" pitchFamily="2" charset="2"/>
              <a:buChar char="p"/>
            </a:pPr>
            <a:r>
              <a:rPr lang="zh-CN" altLang="en-US" sz="3200" b="1">
                <a:solidFill>
                  <a:srgbClr val="0A0A0E"/>
                </a:solidFill>
              </a:rPr>
              <a:t> 对分查找法</a:t>
            </a:r>
            <a:endParaRPr lang="zh-CN" altLang="en-US" sz="3200" b="1">
              <a:solidFill>
                <a:srgbClr val="0A0A0E"/>
              </a:solidFill>
            </a:endParaRPr>
          </a:p>
        </p:txBody>
      </p:sp>
      <p:sp>
        <p:nvSpPr>
          <p:cNvPr id="1785865" name="Rectangle 9"/>
          <p:cNvSpPr>
            <a:spLocks noChangeArrowheads="1"/>
          </p:cNvSpPr>
          <p:nvPr/>
        </p:nvSpPr>
        <p:spPr bwMode="auto">
          <a:xfrm>
            <a:off x="5364163" y="1916113"/>
            <a:ext cx="3168650" cy="3960812"/>
          </a:xfrm>
          <a:prstGeom prst="rect">
            <a:avLst/>
          </a:prstGeom>
          <a:noFill/>
          <a:ln w="57150" cmpd="thickThin">
            <a:solidFill>
              <a:schemeClr val="accent2"/>
            </a:solidFill>
            <a:miter lim="800000"/>
          </a:ln>
        </p:spPr>
        <p:txBody>
          <a:bodyPr lIns="18000" rIns="18000" anchor="ctr"/>
          <a:lstStyle/>
          <a:p>
            <a:pPr marL="274955" indent="-274955"/>
            <a:r>
              <a:rPr lang="zh-CN" altLang="en-US" sz="2800" b="1">
                <a:latin typeface="Verdana" panose="020B0604030504040204" pitchFamily="34" charset="0"/>
              </a:rPr>
              <a:t>基本思路：</a:t>
            </a:r>
            <a:endParaRPr lang="zh-CN" altLang="en-US" sz="2800" b="1">
              <a:latin typeface="Verdana" panose="020B0604030504040204" pitchFamily="34" charset="0"/>
            </a:endParaRPr>
          </a:p>
          <a:p>
            <a:pPr marL="274955" indent="-274955">
              <a:buClr>
                <a:schemeClr val="accent2"/>
              </a:buClr>
              <a:buFont typeface="Wingdings" panose="05000000000000000000" pitchFamily="2" charset="2"/>
              <a:buChar char="Ø"/>
            </a:pPr>
            <a:r>
              <a:rPr lang="zh-CN" altLang="en-AU" b="1">
                <a:latin typeface="Verdana" panose="020B0604030504040204" pitchFamily="34" charset="0"/>
              </a:rPr>
              <a:t>若已知每个变量在程序内若干个关键点的正确值，则可以用赋值语句输入这些变量的正确值，然后检查程序的输出。若输出结果正确，则故障在程序前半部，否则故障在程序后半部。 </a:t>
            </a:r>
            <a:endParaRPr lang="zh-CN" altLang="en-US" b="1">
              <a:latin typeface="Verdana" panose="020B060403050404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5860"/>
                                        </p:tgtEl>
                                        <p:attrNameLst>
                                          <p:attrName>style.visibility</p:attrName>
                                        </p:attrNameLst>
                                      </p:cBhvr>
                                      <p:to>
                                        <p:strVal val="visible"/>
                                      </p:to>
                                    </p:set>
                                    <p:animEffect transition="in" filter="wipe(left)">
                                      <p:cBhvr>
                                        <p:cTn id="7" dur="500"/>
                                        <p:tgtEl>
                                          <p:spTgt spid="1785860"/>
                                        </p:tgtEl>
                                      </p:cBhvr>
                                    </p:animEffect>
                                  </p:childTnLst>
                                  <p:subTnLst>
                                    <p:set>
                                      <p:cBhvr override="childStyle">
                                        <p:cTn dur="1" fill="hold" display="0" masterRel="nextClick" afterEffect="1"/>
                                        <p:tgtEl>
                                          <p:spTgt spid="178586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85861"/>
                                        </p:tgtEl>
                                        <p:attrNameLst>
                                          <p:attrName>style.visibility</p:attrName>
                                        </p:attrNameLst>
                                      </p:cBhvr>
                                      <p:to>
                                        <p:strVal val="visible"/>
                                      </p:to>
                                    </p:set>
                                    <p:animEffect transition="in" filter="wipe(left)">
                                      <p:cBhvr>
                                        <p:cTn id="12" dur="1000"/>
                                        <p:tgtEl>
                                          <p:spTgt spid="17858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85862"/>
                                        </p:tgtEl>
                                        <p:attrNameLst>
                                          <p:attrName>style.visibility</p:attrName>
                                        </p:attrNameLst>
                                      </p:cBhvr>
                                      <p:to>
                                        <p:strVal val="visible"/>
                                      </p:to>
                                    </p:set>
                                    <p:animEffect transition="in" filter="wipe(left)">
                                      <p:cBhvr>
                                        <p:cTn id="17" dur="500"/>
                                        <p:tgtEl>
                                          <p:spTgt spid="1785862"/>
                                        </p:tgtEl>
                                      </p:cBhvr>
                                    </p:animEffect>
                                  </p:childTnLst>
                                  <p:subTnLst>
                                    <p:set>
                                      <p:cBhvr override="childStyle">
                                        <p:cTn dur="1" fill="hold" display="0" masterRel="nextClick" afterEffect="1"/>
                                        <p:tgtEl>
                                          <p:spTgt spid="1785862"/>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85863"/>
                                        </p:tgtEl>
                                        <p:attrNameLst>
                                          <p:attrName>style.visibility</p:attrName>
                                        </p:attrNameLst>
                                      </p:cBhvr>
                                      <p:to>
                                        <p:strVal val="visible"/>
                                      </p:to>
                                    </p:set>
                                    <p:animEffect transition="in" filter="wipe(left)">
                                      <p:cBhvr>
                                        <p:cTn id="22" dur="500"/>
                                        <p:tgtEl>
                                          <p:spTgt spid="1785863"/>
                                        </p:tgtEl>
                                      </p:cBhvr>
                                    </p:animEffect>
                                  </p:childTnLst>
                                  <p:subTnLst>
                                    <p:set>
                                      <p:cBhvr override="childStyle">
                                        <p:cTn dur="1" fill="hold" display="0" masterRel="nextClick" afterEffect="1"/>
                                        <p:tgtEl>
                                          <p:spTgt spid="178586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85864"/>
                                        </p:tgtEl>
                                        <p:attrNameLst>
                                          <p:attrName>style.visibility</p:attrName>
                                        </p:attrNameLst>
                                      </p:cBhvr>
                                      <p:to>
                                        <p:strVal val="visible"/>
                                      </p:to>
                                    </p:set>
                                    <p:animEffect transition="in" filter="wipe(left)">
                                      <p:cBhvr>
                                        <p:cTn id="27" dur="1000"/>
                                        <p:tgtEl>
                                          <p:spTgt spid="178586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85865"/>
                                        </p:tgtEl>
                                        <p:attrNameLst>
                                          <p:attrName>style.visibility</p:attrName>
                                        </p:attrNameLst>
                                      </p:cBhvr>
                                      <p:to>
                                        <p:strVal val="visible"/>
                                      </p:to>
                                    </p:set>
                                    <p:animEffect transition="in" filter="wipe(left)">
                                      <p:cBhvr>
                                        <p:cTn id="32" dur="500"/>
                                        <p:tgtEl>
                                          <p:spTgt spid="1785865"/>
                                        </p:tgtEl>
                                      </p:cBhvr>
                                    </p:animEffect>
                                  </p:childTnLst>
                                  <p:subTnLst>
                                    <p:set>
                                      <p:cBhvr override="childStyle">
                                        <p:cTn dur="1" fill="hold" display="0" masterRel="nextClick" afterEffect="1"/>
                                        <p:tgtEl>
                                          <p:spTgt spid="178586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5860" grpId="0" animBg="1"/>
      <p:bldP spid="1785861" grpId="0"/>
      <p:bldP spid="1785862" grpId="0" animBg="1"/>
      <p:bldP spid="1785863" grpId="0" animBg="1"/>
      <p:bldP spid="1785864" grpId="0"/>
      <p:bldP spid="1785865"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eaLnBrk="1" hangingPunct="1"/>
            <a:r>
              <a:rPr lang="en-US" altLang="zh-CN" sz="3600" b="1" smtClean="0">
                <a:solidFill>
                  <a:srgbClr val="0A0A0E"/>
                </a:solidFill>
                <a:latin typeface="Times New Roman" panose="02020603050405020304" pitchFamily="18" charset="0"/>
              </a:rPr>
              <a:t>6.3.2 </a:t>
            </a:r>
            <a:r>
              <a:rPr lang="zh-CN" altLang="en-US" sz="3600" b="1" smtClean="0">
                <a:solidFill>
                  <a:srgbClr val="0A0A0E"/>
                </a:solidFill>
                <a:latin typeface="Times New Roman" panose="02020603050405020304" pitchFamily="18" charset="0"/>
              </a:rPr>
              <a:t>软件调试</a:t>
            </a:r>
            <a:endParaRPr lang="zh-CN" altLang="en-US" sz="3600" b="1" smtClean="0">
              <a:solidFill>
                <a:srgbClr val="0A0A0E"/>
              </a:solidFill>
              <a:latin typeface="Times New Roman" panose="02020603050405020304" pitchFamily="18" charset="0"/>
            </a:endParaRPr>
          </a:p>
        </p:txBody>
      </p:sp>
      <p:sp>
        <p:nvSpPr>
          <p:cNvPr id="121859" name="Rectangle 3"/>
          <p:cNvSpPr>
            <a:spLocks noGrp="1" noChangeArrowheads="1"/>
          </p:cNvSpPr>
          <p:nvPr>
            <p:ph type="body" idx="1"/>
          </p:nvPr>
        </p:nvSpPr>
        <p:spPr>
          <a:xfrm>
            <a:off x="611188" y="2017713"/>
            <a:ext cx="8343900" cy="784225"/>
          </a:xfrm>
        </p:spPr>
        <p:txBody>
          <a:bodyPr/>
          <a:lstStyle/>
          <a:p>
            <a:pPr eaLnBrk="1" hangingPunct="1">
              <a:buClr>
                <a:schemeClr val="hlink"/>
              </a:buClr>
              <a:buFont typeface="Wingdings" panose="05000000000000000000" pitchFamily="2" charset="2"/>
              <a:buChar char="p"/>
            </a:pPr>
            <a:r>
              <a:rPr lang="zh-CN" altLang="en-US" b="1" smtClean="0"/>
              <a:t>归纳法</a:t>
            </a:r>
            <a:endParaRPr lang="zh-CN" altLang="en-US" b="1" smtClean="0"/>
          </a:p>
        </p:txBody>
      </p:sp>
      <p:sp>
        <p:nvSpPr>
          <p:cNvPr id="1786884" name="Rectangle 4"/>
          <p:cNvSpPr>
            <a:spLocks noChangeArrowheads="1"/>
          </p:cNvSpPr>
          <p:nvPr/>
        </p:nvSpPr>
        <p:spPr bwMode="auto">
          <a:xfrm>
            <a:off x="5364163" y="1916113"/>
            <a:ext cx="3168650" cy="3960812"/>
          </a:xfrm>
          <a:prstGeom prst="rect">
            <a:avLst/>
          </a:prstGeom>
          <a:noFill/>
          <a:ln w="57150" cmpd="thickThin">
            <a:solidFill>
              <a:schemeClr val="accent2"/>
            </a:solidFill>
            <a:miter lim="800000"/>
          </a:ln>
        </p:spPr>
        <p:txBody>
          <a:bodyPr lIns="18000" rIns="18000" anchor="ctr"/>
          <a:lstStyle/>
          <a:p>
            <a:pPr marL="274955" indent="-274955"/>
            <a:r>
              <a:rPr lang="zh-CN" altLang="en-US" sz="2800" b="1">
                <a:latin typeface="Verdana" panose="020B0604030504040204" pitchFamily="34" charset="0"/>
              </a:rPr>
              <a:t>基本思路：</a:t>
            </a:r>
            <a:endParaRPr lang="zh-CN" altLang="en-US" sz="2800" b="1">
              <a:latin typeface="Verdana" panose="020B0604030504040204" pitchFamily="34" charset="0"/>
            </a:endParaRPr>
          </a:p>
          <a:p>
            <a:pPr marL="274955" indent="-274955">
              <a:buClr>
                <a:schemeClr val="accent2"/>
              </a:buClr>
              <a:buFont typeface="Wingdings" panose="05000000000000000000" pitchFamily="2" charset="2"/>
              <a:buChar char="Ø"/>
            </a:pPr>
            <a:r>
              <a:rPr lang="zh-CN" altLang="en-AU" sz="2800" b="1">
                <a:latin typeface="Verdana" panose="020B0604030504040204" pitchFamily="34" charset="0"/>
              </a:rPr>
              <a:t>从错误征兆出发，通过分析这些征兆之间的关系而找出错误。</a:t>
            </a:r>
            <a:endParaRPr lang="zh-CN" altLang="en-AU" sz="2800" b="1">
              <a:latin typeface="Verdana" panose="020B0604030504040204" pitchFamily="34" charset="0"/>
            </a:endParaRPr>
          </a:p>
          <a:p>
            <a:pPr marL="274955" indent="-274955">
              <a:buClr>
                <a:schemeClr val="accent2"/>
              </a:buClr>
              <a:buFont typeface="Wingdings" panose="05000000000000000000" pitchFamily="2" charset="2"/>
              <a:buChar char="Ø"/>
            </a:pPr>
            <a:endParaRPr lang="zh-CN" altLang="en-AU" sz="2800" b="1">
              <a:latin typeface="Verdana" panose="020B0604030504040204" pitchFamily="34" charset="0"/>
            </a:endParaRPr>
          </a:p>
          <a:p>
            <a:pPr marL="274955" indent="-274955">
              <a:buClr>
                <a:schemeClr val="accent2"/>
              </a:buClr>
              <a:buFont typeface="Wingdings" panose="05000000000000000000" pitchFamily="2" charset="2"/>
              <a:buChar char="Ø"/>
            </a:pPr>
            <a:endParaRPr lang="zh-CN" altLang="en-AU" sz="2800" b="1">
              <a:latin typeface="Verdana" panose="020B0604030504040204" pitchFamily="34" charset="0"/>
            </a:endParaRPr>
          </a:p>
          <a:p>
            <a:pPr marL="274955" indent="-274955">
              <a:buClr>
                <a:schemeClr val="accent2"/>
              </a:buClr>
              <a:buFont typeface="Wingdings" panose="05000000000000000000" pitchFamily="2" charset="2"/>
              <a:buChar char="Ø"/>
            </a:pPr>
            <a:endParaRPr lang="zh-CN" altLang="en-AU" sz="2800" b="1">
              <a:latin typeface="Verdana" panose="020B0604030504040204" pitchFamily="34" charset="0"/>
            </a:endParaRPr>
          </a:p>
          <a:p>
            <a:pPr marL="274955" indent="-274955">
              <a:buClr>
                <a:schemeClr val="accent2"/>
              </a:buClr>
              <a:buFont typeface="Wingdings" panose="05000000000000000000" pitchFamily="2" charset="2"/>
              <a:buNone/>
            </a:pPr>
            <a:r>
              <a:rPr lang="zh-CN" altLang="en-AU" sz="2800" b="1">
                <a:latin typeface="Verdana" panose="020B0604030504040204" pitchFamily="34" charset="0"/>
              </a:rPr>
              <a:t> </a:t>
            </a:r>
            <a:endParaRPr lang="zh-CN" altLang="en-US" sz="2800" b="1">
              <a:latin typeface="Verdana" panose="020B0604030504040204" pitchFamily="34" charset="0"/>
            </a:endParaRPr>
          </a:p>
        </p:txBody>
      </p:sp>
      <p:pic>
        <p:nvPicPr>
          <p:cNvPr id="1786885" name="Picture 5" descr="6"/>
          <p:cNvPicPr>
            <a:picLocks noChangeAspect="1" noChangeArrowheads="1"/>
          </p:cNvPicPr>
          <p:nvPr/>
        </p:nvPicPr>
        <p:blipFill>
          <a:blip r:embed="rId1" cstate="print"/>
          <a:srcRect/>
          <a:stretch>
            <a:fillRect/>
          </a:stretch>
        </p:blipFill>
        <p:spPr bwMode="auto">
          <a:xfrm>
            <a:off x="684213" y="3500438"/>
            <a:ext cx="7127875" cy="2441575"/>
          </a:xfrm>
          <a:prstGeom prst="rect">
            <a:avLst/>
          </a:prstGeom>
          <a:noFill/>
          <a:ln w="9525">
            <a:noFill/>
            <a:miter lim="800000"/>
            <a:headEnd/>
            <a:tailEnd/>
          </a:ln>
        </p:spPr>
      </p:pic>
      <p:sp>
        <p:nvSpPr>
          <p:cNvPr id="1786886" name="Rectangle 6"/>
          <p:cNvSpPr>
            <a:spLocks noChangeArrowheads="1"/>
          </p:cNvSpPr>
          <p:nvPr/>
        </p:nvSpPr>
        <p:spPr bwMode="auto">
          <a:xfrm>
            <a:off x="568325" y="2544763"/>
            <a:ext cx="8001000" cy="812800"/>
          </a:xfrm>
          <a:prstGeom prst="rect">
            <a:avLst/>
          </a:prstGeom>
          <a:noFill/>
          <a:ln w="9525">
            <a:noFill/>
            <a:miter lim="800000"/>
          </a:ln>
        </p:spPr>
        <p:txBody>
          <a:bodyPr/>
          <a:lstStyle/>
          <a:p>
            <a:pPr marL="342900" indent="-342900">
              <a:spcBef>
                <a:spcPct val="20000"/>
              </a:spcBef>
              <a:buClr>
                <a:schemeClr val="hlink"/>
              </a:buClr>
              <a:buSzPct val="60000"/>
              <a:buFont typeface="Wingdings" panose="05000000000000000000" pitchFamily="2" charset="2"/>
              <a:buChar char="p"/>
            </a:pPr>
            <a:r>
              <a:rPr lang="zh-CN" altLang="en-US" sz="3200" b="1">
                <a:solidFill>
                  <a:srgbClr val="0A0A0E"/>
                </a:solidFill>
              </a:rPr>
              <a:t>演绎法</a:t>
            </a:r>
            <a:endParaRPr lang="zh-CN" altLang="en-US" sz="3200" b="1">
              <a:solidFill>
                <a:srgbClr val="0A0A0E"/>
              </a:solidFill>
            </a:endParaRPr>
          </a:p>
        </p:txBody>
      </p:sp>
      <p:sp>
        <p:nvSpPr>
          <p:cNvPr id="1786887" name="Rectangle 7"/>
          <p:cNvSpPr>
            <a:spLocks noChangeArrowheads="1"/>
          </p:cNvSpPr>
          <p:nvPr/>
        </p:nvSpPr>
        <p:spPr bwMode="auto">
          <a:xfrm>
            <a:off x="5364163" y="1916113"/>
            <a:ext cx="3168650" cy="3960812"/>
          </a:xfrm>
          <a:prstGeom prst="rect">
            <a:avLst/>
          </a:prstGeom>
          <a:noFill/>
          <a:ln w="57150" cmpd="thickThin">
            <a:solidFill>
              <a:schemeClr val="accent2"/>
            </a:solidFill>
            <a:miter lim="800000"/>
          </a:ln>
        </p:spPr>
        <p:txBody>
          <a:bodyPr lIns="18000" rIns="18000" anchor="ctr"/>
          <a:lstStyle/>
          <a:p>
            <a:pPr marL="274955" indent="-274955"/>
            <a:r>
              <a:rPr lang="zh-CN" altLang="en-US" sz="2800" b="1">
                <a:latin typeface="Verdana" panose="020B0604030504040204" pitchFamily="34" charset="0"/>
              </a:rPr>
              <a:t>基本思路：</a:t>
            </a:r>
            <a:endParaRPr lang="zh-CN" altLang="en-US" sz="2800" b="1">
              <a:latin typeface="Verdana" panose="020B0604030504040204" pitchFamily="34" charset="0"/>
            </a:endParaRPr>
          </a:p>
          <a:p>
            <a:pPr marL="274955" indent="-274955">
              <a:buClr>
                <a:schemeClr val="accent2"/>
              </a:buClr>
              <a:buFont typeface="Wingdings" panose="05000000000000000000" pitchFamily="2" charset="2"/>
              <a:buChar char="Ø"/>
            </a:pPr>
            <a:r>
              <a:rPr lang="zh-CN" altLang="en-AU" sz="2800" b="1">
                <a:latin typeface="Verdana" panose="020B0604030504040204" pitchFamily="34" charset="0"/>
              </a:rPr>
              <a:t>首先列出所有可能成立的原因或假设，然后一个一个地排除列出来的原因，最后证明剩下的原因确实是错误的根源。 </a:t>
            </a:r>
            <a:endParaRPr lang="zh-CN" altLang="en-US" sz="2800" b="1">
              <a:latin typeface="Verdana" panose="020B0604030504040204" pitchFamily="34" charset="0"/>
            </a:endParaRPr>
          </a:p>
        </p:txBody>
      </p:sp>
      <p:pic>
        <p:nvPicPr>
          <p:cNvPr id="1786888" name="Picture 8" descr="6"/>
          <p:cNvPicPr>
            <a:picLocks noChangeAspect="1" noChangeArrowheads="1"/>
          </p:cNvPicPr>
          <p:nvPr/>
        </p:nvPicPr>
        <p:blipFill>
          <a:blip r:embed="rId2" cstate="print"/>
          <a:srcRect/>
          <a:stretch>
            <a:fillRect/>
          </a:stretch>
        </p:blipFill>
        <p:spPr bwMode="auto">
          <a:xfrm>
            <a:off x="684213" y="3429000"/>
            <a:ext cx="6048375" cy="2582863"/>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6884"/>
                                        </p:tgtEl>
                                        <p:attrNameLst>
                                          <p:attrName>style.visibility</p:attrName>
                                        </p:attrNameLst>
                                      </p:cBhvr>
                                      <p:to>
                                        <p:strVal val="visible"/>
                                      </p:to>
                                    </p:set>
                                    <p:animEffect transition="in" filter="wipe(left)">
                                      <p:cBhvr>
                                        <p:cTn id="7" dur="1000"/>
                                        <p:tgtEl>
                                          <p:spTgt spid="1786884"/>
                                        </p:tgtEl>
                                      </p:cBhvr>
                                    </p:animEffect>
                                  </p:childTnLst>
                                  <p:subTnLst>
                                    <p:set>
                                      <p:cBhvr override="childStyle">
                                        <p:cTn dur="1" fill="hold" display="0" masterRel="nextClick" afterEffect="1"/>
                                        <p:tgtEl>
                                          <p:spTgt spid="178688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1786885"/>
                                        </p:tgtEl>
                                        <p:attrNameLst>
                                          <p:attrName>style.visibility</p:attrName>
                                        </p:attrNameLst>
                                      </p:cBhvr>
                                      <p:to>
                                        <p:strVal val="visible"/>
                                      </p:to>
                                    </p:set>
                                    <p:anim calcmode="lin" valueType="num">
                                      <p:cBhvr>
                                        <p:cTn id="12" dur="1000" fill="hold"/>
                                        <p:tgtEl>
                                          <p:spTgt spid="1786885"/>
                                        </p:tgtEl>
                                        <p:attrNameLst>
                                          <p:attrName>ppt_w</p:attrName>
                                        </p:attrNameLst>
                                      </p:cBhvr>
                                      <p:tavLst>
                                        <p:tav tm="0">
                                          <p:val>
                                            <p:strVal val="#ppt_w*0.70"/>
                                          </p:val>
                                        </p:tav>
                                        <p:tav tm="100000">
                                          <p:val>
                                            <p:strVal val="#ppt_w"/>
                                          </p:val>
                                        </p:tav>
                                      </p:tavLst>
                                    </p:anim>
                                    <p:anim calcmode="lin" valueType="num">
                                      <p:cBhvr>
                                        <p:cTn id="13" dur="1000" fill="hold"/>
                                        <p:tgtEl>
                                          <p:spTgt spid="1786885"/>
                                        </p:tgtEl>
                                        <p:attrNameLst>
                                          <p:attrName>ppt_h</p:attrName>
                                        </p:attrNameLst>
                                      </p:cBhvr>
                                      <p:tavLst>
                                        <p:tav tm="0">
                                          <p:val>
                                            <p:strVal val="#ppt_h"/>
                                          </p:val>
                                        </p:tav>
                                        <p:tav tm="100000">
                                          <p:val>
                                            <p:strVal val="#ppt_h"/>
                                          </p:val>
                                        </p:tav>
                                      </p:tavLst>
                                    </p:anim>
                                    <p:animEffect transition="in" filter="fade">
                                      <p:cBhvr>
                                        <p:cTn id="14" dur="1000"/>
                                        <p:tgtEl>
                                          <p:spTgt spid="1786885"/>
                                        </p:tgtEl>
                                      </p:cBhvr>
                                    </p:animEffect>
                                  </p:childTnLst>
                                  <p:subTnLst>
                                    <p:set>
                                      <p:cBhvr override="childStyle">
                                        <p:cTn dur="1" fill="hold" display="0" masterRel="nextClick" afterEffect="1"/>
                                        <p:tgtEl>
                                          <p:spTgt spid="1786885"/>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786886"/>
                                        </p:tgtEl>
                                        <p:attrNameLst>
                                          <p:attrName>style.visibility</p:attrName>
                                        </p:attrNameLst>
                                      </p:cBhvr>
                                      <p:to>
                                        <p:strVal val="visible"/>
                                      </p:to>
                                    </p:set>
                                    <p:animEffect transition="in" filter="wipe(left)">
                                      <p:cBhvr>
                                        <p:cTn id="19" dur="1000"/>
                                        <p:tgtEl>
                                          <p:spTgt spid="178688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786887"/>
                                        </p:tgtEl>
                                        <p:attrNameLst>
                                          <p:attrName>style.visibility</p:attrName>
                                        </p:attrNameLst>
                                      </p:cBhvr>
                                      <p:to>
                                        <p:strVal val="visible"/>
                                      </p:to>
                                    </p:set>
                                    <p:animEffect transition="in" filter="wipe(left)">
                                      <p:cBhvr>
                                        <p:cTn id="24" dur="1000"/>
                                        <p:tgtEl>
                                          <p:spTgt spid="1786887"/>
                                        </p:tgtEl>
                                      </p:cBhvr>
                                    </p:animEffect>
                                  </p:childTnLst>
                                  <p:subTnLst>
                                    <p:set>
                                      <p:cBhvr override="childStyle">
                                        <p:cTn dur="1" fill="hold" display="0" masterRel="nextClick" afterEffect="1"/>
                                        <p:tgtEl>
                                          <p:spTgt spid="1786887"/>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1786888"/>
                                        </p:tgtEl>
                                        <p:attrNameLst>
                                          <p:attrName>style.visibility</p:attrName>
                                        </p:attrNameLst>
                                      </p:cBhvr>
                                      <p:to>
                                        <p:strVal val="visible"/>
                                      </p:to>
                                    </p:set>
                                    <p:anim calcmode="lin" valueType="num">
                                      <p:cBhvr>
                                        <p:cTn id="29" dur="1000" fill="hold"/>
                                        <p:tgtEl>
                                          <p:spTgt spid="1786888"/>
                                        </p:tgtEl>
                                        <p:attrNameLst>
                                          <p:attrName>ppt_w</p:attrName>
                                        </p:attrNameLst>
                                      </p:cBhvr>
                                      <p:tavLst>
                                        <p:tav tm="0">
                                          <p:val>
                                            <p:strVal val="#ppt_w*0.70"/>
                                          </p:val>
                                        </p:tav>
                                        <p:tav tm="100000">
                                          <p:val>
                                            <p:strVal val="#ppt_w"/>
                                          </p:val>
                                        </p:tav>
                                      </p:tavLst>
                                    </p:anim>
                                    <p:anim calcmode="lin" valueType="num">
                                      <p:cBhvr>
                                        <p:cTn id="30" dur="1000" fill="hold"/>
                                        <p:tgtEl>
                                          <p:spTgt spid="1786888"/>
                                        </p:tgtEl>
                                        <p:attrNameLst>
                                          <p:attrName>ppt_h</p:attrName>
                                        </p:attrNameLst>
                                      </p:cBhvr>
                                      <p:tavLst>
                                        <p:tav tm="0">
                                          <p:val>
                                            <p:strVal val="#ppt_h"/>
                                          </p:val>
                                        </p:tav>
                                        <p:tav tm="100000">
                                          <p:val>
                                            <p:strVal val="#ppt_h"/>
                                          </p:val>
                                        </p:tav>
                                      </p:tavLst>
                                    </p:anim>
                                    <p:animEffect transition="in" filter="fade">
                                      <p:cBhvr>
                                        <p:cTn id="31" dur="1000"/>
                                        <p:tgtEl>
                                          <p:spTgt spid="1786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6884" grpId="0" animBg="1"/>
      <p:bldP spid="1786886" grpId="0"/>
      <p:bldP spid="1786887"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body" sz="half" idx="1"/>
          </p:nvPr>
        </p:nvSpPr>
        <p:spPr>
          <a:xfrm>
            <a:off x="611188" y="2017713"/>
            <a:ext cx="7416800" cy="4114800"/>
          </a:xfrm>
        </p:spPr>
        <p:txBody>
          <a:bodyPr/>
          <a:lstStyle/>
          <a:p>
            <a:pPr marL="0" indent="0" eaLnBrk="1" hangingPunct="1">
              <a:lnSpc>
                <a:spcPct val="110000"/>
              </a:lnSpc>
              <a:buFont typeface="Wingdings" panose="05000000000000000000" pitchFamily="2" charset="2"/>
              <a:buNone/>
            </a:pPr>
            <a:r>
              <a:rPr lang="en-US" altLang="zh-CN" b="1" smtClean="0"/>
              <a:t>6.4.1 </a:t>
            </a:r>
            <a:r>
              <a:rPr lang="zh-CN" altLang="en-US" b="1" smtClean="0"/>
              <a:t>事务管理人员的培训</a:t>
            </a:r>
            <a:endParaRPr lang="zh-CN" altLang="en-US" b="1" smtClean="0"/>
          </a:p>
          <a:p>
            <a:pPr marL="532130" lvl="1" indent="-352425" eaLnBrk="1" hangingPunct="1">
              <a:lnSpc>
                <a:spcPct val="105000"/>
              </a:lnSpc>
              <a:buClr>
                <a:srgbClr val="FFFFFF"/>
              </a:buClr>
            </a:pPr>
            <a:r>
              <a:rPr lang="zh-CN" altLang="en-US" sz="2400" b="1" smtClean="0">
                <a:latin typeface="Times New Roman" panose="02020603050405020304" pitchFamily="18" charset="0"/>
              </a:rPr>
              <a:t>通过事务管理人员培训，使他们了解新系统的目标、功能，系统的结构及运行过程，以及对企业组织机构、工作方式等产生的影响</a:t>
            </a:r>
            <a:endParaRPr lang="zh-CN" altLang="en-US" sz="2400" b="1" smtClean="0">
              <a:latin typeface="Times New Roman" panose="02020603050405020304" pitchFamily="18" charset="0"/>
            </a:endParaRPr>
          </a:p>
          <a:p>
            <a:pPr marL="532130" lvl="1" indent="-352425" eaLnBrk="1" hangingPunct="1">
              <a:lnSpc>
                <a:spcPct val="105000"/>
              </a:lnSpc>
              <a:buClr>
                <a:srgbClr val="FFFFFF"/>
              </a:buClr>
            </a:pPr>
            <a:r>
              <a:rPr lang="zh-CN" altLang="en-US" sz="2400" b="1" smtClean="0">
                <a:latin typeface="Times New Roman" panose="02020603050405020304" pitchFamily="18" charset="0"/>
              </a:rPr>
              <a:t>对事务管理人员进行培训时，必须做到通俗、具体、尽量不采用与实际业务领域无关的计算机专业术语</a:t>
            </a:r>
            <a:endParaRPr lang="zh-CN" altLang="en-US" sz="2400" b="1" smtClean="0">
              <a:latin typeface="Times New Roman" panose="02020603050405020304" pitchFamily="18" charset="0"/>
            </a:endParaRPr>
          </a:p>
        </p:txBody>
      </p:sp>
      <p:sp>
        <p:nvSpPr>
          <p:cNvPr id="122883" name="AutoShape 3">
            <a:hlinkClick r:id="" action="ppaction://noaction" highlightClick="1"/>
          </p:cNvPr>
          <p:cNvSpPr>
            <a:spLocks noChangeArrowheads="1"/>
          </p:cNvSpPr>
          <p:nvPr/>
        </p:nvSpPr>
        <p:spPr bwMode="auto">
          <a:xfrm>
            <a:off x="1403350" y="908050"/>
            <a:ext cx="5616575"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6.4  </a:t>
            </a:r>
            <a:r>
              <a:rPr lang="zh-CN" altLang="en-US" sz="3600" b="1">
                <a:solidFill>
                  <a:srgbClr val="0A0A0E"/>
                </a:solidFill>
                <a:latin typeface="Times New Roman" panose="02020603050405020304" pitchFamily="18" charset="0"/>
              </a:rPr>
              <a:t>人员培训</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body" sz="half" idx="1"/>
          </p:nvPr>
        </p:nvSpPr>
        <p:spPr>
          <a:xfrm>
            <a:off x="468313" y="2017713"/>
            <a:ext cx="7920037" cy="4114800"/>
          </a:xfrm>
        </p:spPr>
        <p:txBody>
          <a:bodyPr/>
          <a:lstStyle/>
          <a:p>
            <a:pPr marL="0" indent="0" eaLnBrk="1" hangingPunct="1">
              <a:lnSpc>
                <a:spcPct val="110000"/>
              </a:lnSpc>
              <a:buFont typeface="Wingdings" panose="05000000000000000000" pitchFamily="2" charset="2"/>
              <a:buNone/>
            </a:pPr>
            <a:r>
              <a:rPr lang="en-US" altLang="zh-CN" b="1" smtClean="0">
                <a:latin typeface="宋体" panose="02010600030101010101" pitchFamily="2" charset="-122"/>
              </a:rPr>
              <a:t>6.4.2 </a:t>
            </a:r>
            <a:r>
              <a:rPr lang="zh-CN" altLang="en-US" b="1" smtClean="0">
                <a:latin typeface="宋体" panose="02010600030101010101" pitchFamily="2" charset="-122"/>
              </a:rPr>
              <a:t>系统操作人员的培训</a:t>
            </a:r>
            <a:endParaRPr lang="zh-CN" altLang="en-US" b="1" smtClean="0">
              <a:latin typeface="宋体" panose="02010600030101010101" pitchFamily="2" charset="-122"/>
            </a:endParaRPr>
          </a:p>
          <a:p>
            <a:pPr marL="532130" lvl="1" indent="-352425" eaLnBrk="1" hangingPunct="1">
              <a:lnSpc>
                <a:spcPct val="105000"/>
              </a:lnSpc>
              <a:buSzPct val="85000"/>
            </a:pPr>
            <a:r>
              <a:rPr lang="zh-CN" altLang="en-US" b="1" smtClean="0">
                <a:latin typeface="Times New Roman" panose="02020603050405020304" pitchFamily="18" charset="0"/>
              </a:rPr>
              <a:t>系统操作员是管理信息系统的直接使用者</a:t>
            </a:r>
            <a:endParaRPr lang="zh-CN" altLang="en-US" b="1" smtClean="0">
              <a:latin typeface="Times New Roman" panose="02020603050405020304" pitchFamily="18" charset="0"/>
            </a:endParaRPr>
          </a:p>
          <a:p>
            <a:pPr marL="532130" lvl="1" indent="-352425" eaLnBrk="1" hangingPunct="1">
              <a:lnSpc>
                <a:spcPct val="105000"/>
              </a:lnSpc>
              <a:buSzPct val="85000"/>
            </a:pPr>
            <a:r>
              <a:rPr lang="zh-CN" altLang="en-US" b="1" smtClean="0">
                <a:latin typeface="Times New Roman" panose="02020603050405020304" pitchFamily="18" charset="0"/>
              </a:rPr>
              <a:t>对系统操作员的培训应该提供比较充分的时间，除了学习必要的计算机硬、软件知识，以及键盘指法、汉字输入等训练以外，还必须向他们传授新系统的工作原理、使用方法，简单出错的处置等知识</a:t>
            </a:r>
            <a:endParaRPr lang="zh-CN" altLang="en-US" b="1" smtClean="0">
              <a:latin typeface="Times New Roman" panose="02020603050405020304" pitchFamily="18" charset="0"/>
            </a:endParaRPr>
          </a:p>
        </p:txBody>
      </p:sp>
      <p:sp>
        <p:nvSpPr>
          <p:cNvPr id="123907" name="AutoShape 3">
            <a:hlinkClick r:id="" action="ppaction://noaction" highlightClick="1"/>
          </p:cNvPr>
          <p:cNvSpPr>
            <a:spLocks noChangeArrowheads="1"/>
          </p:cNvSpPr>
          <p:nvPr/>
        </p:nvSpPr>
        <p:spPr bwMode="auto">
          <a:xfrm>
            <a:off x="1187450" y="908050"/>
            <a:ext cx="3960813"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6.4  </a:t>
            </a:r>
            <a:r>
              <a:rPr lang="zh-CN" altLang="en-US" sz="3600" b="1">
                <a:solidFill>
                  <a:srgbClr val="0A0A0E"/>
                </a:solidFill>
                <a:latin typeface="Times New Roman" panose="02020603050405020304" pitchFamily="18" charset="0"/>
              </a:rPr>
              <a:t>人员培训</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noFill/>
        </p:spPr>
        <p:txBody>
          <a:bodyPr/>
          <a:lstStyle/>
          <a:p>
            <a:pPr eaLnBrk="1" hangingPunct="1"/>
            <a:r>
              <a:rPr lang="en-US" altLang="zh-CN" sz="800" smtClean="0">
                <a:solidFill>
                  <a:schemeClr val="bg1"/>
                </a:solidFill>
              </a:rPr>
              <a:t>1.5.4MIS</a:t>
            </a:r>
            <a:r>
              <a:rPr lang="zh-CN" altLang="en-US" sz="800" smtClean="0">
                <a:solidFill>
                  <a:schemeClr val="bg1"/>
                </a:solidFill>
              </a:rPr>
              <a:t>的结构</a:t>
            </a:r>
            <a:endParaRPr lang="zh-CN" altLang="en-US" sz="800" smtClean="0">
              <a:solidFill>
                <a:schemeClr val="bg1"/>
              </a:solidFill>
            </a:endParaRPr>
          </a:p>
        </p:txBody>
      </p:sp>
      <p:sp>
        <p:nvSpPr>
          <p:cNvPr id="124931" name="Rectangle 4"/>
          <p:cNvSpPr>
            <a:spLocks noGrp="1" noChangeArrowheads="1"/>
          </p:cNvSpPr>
          <p:nvPr>
            <p:ph type="body" idx="1"/>
          </p:nvPr>
        </p:nvSpPr>
        <p:spPr>
          <a:xfrm>
            <a:off x="684213" y="2060575"/>
            <a:ext cx="7772400" cy="4114800"/>
          </a:xfrm>
          <a:noFill/>
        </p:spPr>
        <p:txBody>
          <a:bodyPr/>
          <a:lstStyle/>
          <a:p>
            <a:pPr marL="0" indent="0" eaLnBrk="1" hangingPunct="1">
              <a:lnSpc>
                <a:spcPct val="110000"/>
              </a:lnSpc>
              <a:buFont typeface="Wingdings" panose="05000000000000000000" pitchFamily="2" charset="2"/>
              <a:buNone/>
            </a:pPr>
            <a:r>
              <a:rPr lang="en-US" altLang="zh-CN" sz="2800" smtClean="0"/>
              <a:t>6.4.3 </a:t>
            </a:r>
            <a:r>
              <a:rPr lang="zh-CN" altLang="en-US" sz="2800" b="1" smtClean="0"/>
              <a:t>系统维护人员的培训</a:t>
            </a:r>
            <a:endParaRPr lang="zh-CN" altLang="en-US" sz="2800" b="1" smtClean="0"/>
          </a:p>
          <a:p>
            <a:pPr marL="450850" lvl="1" indent="-271780" eaLnBrk="1" hangingPunct="1">
              <a:lnSpc>
                <a:spcPct val="105000"/>
              </a:lnSpc>
              <a:buClr>
                <a:srgbClr val="FFFFFF"/>
              </a:buClr>
            </a:pPr>
            <a:r>
              <a:rPr lang="zh-CN" altLang="en-US" sz="2400" b="1" smtClean="0">
                <a:latin typeface="Times New Roman" panose="02020603050405020304" pitchFamily="18" charset="0"/>
              </a:rPr>
              <a:t>系统维护人员一般由计算中心和计算机室的计算机专业技术人员担任</a:t>
            </a:r>
            <a:endParaRPr lang="zh-CN" altLang="en-US" sz="2400" b="1" smtClean="0">
              <a:latin typeface="Times New Roman" panose="02020603050405020304" pitchFamily="18" charset="0"/>
            </a:endParaRPr>
          </a:p>
          <a:p>
            <a:pPr marL="450850" lvl="1" indent="-271780" eaLnBrk="1" hangingPunct="1">
              <a:lnSpc>
                <a:spcPct val="105000"/>
              </a:lnSpc>
              <a:buClr>
                <a:srgbClr val="FFFFFF"/>
              </a:buClr>
            </a:pPr>
            <a:r>
              <a:rPr lang="zh-CN" altLang="en-US" sz="2400" b="1" smtClean="0">
                <a:latin typeface="Times New Roman" panose="02020603050405020304" pitchFamily="18" charset="0"/>
              </a:rPr>
              <a:t>系统维护内容包括：系统整体结构、系统概貌；系统分析设计思想和每一步的考虑；计算机系统的操作与使用；系统所用主要软件工具的使用；系统输入方式、操作流程的培训；可能出现故障以及故障的排除；系统文档资料的分类以及检索方式；数据的收集、统计渠道、统计口径；运行操作注意事项等</a:t>
            </a:r>
            <a:endParaRPr lang="zh-CN" altLang="en-US" sz="2400" b="1" smtClean="0">
              <a:latin typeface="Times New Roman" panose="02020603050405020304" pitchFamily="18" charset="0"/>
            </a:endParaRPr>
          </a:p>
        </p:txBody>
      </p:sp>
      <p:sp>
        <p:nvSpPr>
          <p:cNvPr id="124932" name="AutoShape 5">
            <a:hlinkClick r:id="" action="ppaction://noaction" highlightClick="1"/>
          </p:cNvPr>
          <p:cNvSpPr>
            <a:spLocks noChangeArrowheads="1"/>
          </p:cNvSpPr>
          <p:nvPr/>
        </p:nvSpPr>
        <p:spPr bwMode="auto">
          <a:xfrm>
            <a:off x="1187450" y="908050"/>
            <a:ext cx="3600450"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6.4  </a:t>
            </a:r>
            <a:r>
              <a:rPr lang="zh-CN" altLang="en-US" sz="3600" b="1">
                <a:solidFill>
                  <a:srgbClr val="0A0A0E"/>
                </a:solidFill>
                <a:latin typeface="Times New Roman" panose="02020603050405020304" pitchFamily="18" charset="0"/>
              </a:rPr>
              <a:t>人员培训</a:t>
            </a:r>
            <a:endParaRPr lang="zh-CN" altLang="en-US" sz="3600" b="1">
              <a:solidFill>
                <a:srgbClr val="0A0A0E"/>
              </a:solidFill>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body" sz="half" idx="1"/>
          </p:nvPr>
        </p:nvSpPr>
        <p:spPr>
          <a:xfrm>
            <a:off x="539750" y="2017713"/>
            <a:ext cx="7704138" cy="4114800"/>
          </a:xfrm>
        </p:spPr>
        <p:txBody>
          <a:bodyPr/>
          <a:lstStyle/>
          <a:p>
            <a:pPr marL="0" indent="0" eaLnBrk="1" hangingPunct="1">
              <a:lnSpc>
                <a:spcPct val="110000"/>
              </a:lnSpc>
              <a:buFont typeface="Wingdings" panose="05000000000000000000" pitchFamily="2" charset="2"/>
              <a:buNone/>
            </a:pPr>
            <a:r>
              <a:rPr lang="en-US" altLang="zh-CN" smtClean="0"/>
              <a:t>6.5.1 </a:t>
            </a:r>
            <a:r>
              <a:rPr lang="zh-CN" altLang="en-US" b="1" smtClean="0"/>
              <a:t>基础数据准备</a:t>
            </a:r>
            <a:endParaRPr lang="zh-CN" altLang="en-US" b="1" smtClean="0"/>
          </a:p>
          <a:p>
            <a:pPr marL="532130" lvl="1" indent="-352425" eaLnBrk="1" hangingPunct="1">
              <a:lnSpc>
                <a:spcPct val="105000"/>
              </a:lnSpc>
              <a:buSzPct val="90000"/>
            </a:pPr>
            <a:r>
              <a:rPr lang="zh-CN" altLang="en-US" sz="2400" b="1" smtClean="0">
                <a:latin typeface="Times New Roman" panose="02020603050405020304" pitchFamily="18" charset="0"/>
              </a:rPr>
              <a:t>基础数据统计工作要严格科学化，具体方法应程序化、规范化</a:t>
            </a:r>
            <a:endParaRPr lang="zh-CN" altLang="en-US" sz="2400" b="1" smtClean="0">
              <a:latin typeface="Times New Roman" panose="02020603050405020304" pitchFamily="18" charset="0"/>
            </a:endParaRPr>
          </a:p>
          <a:p>
            <a:pPr marL="532130" lvl="1" indent="-352425" eaLnBrk="1" hangingPunct="1">
              <a:lnSpc>
                <a:spcPct val="105000"/>
              </a:lnSpc>
              <a:buSzPct val="90000"/>
            </a:pPr>
            <a:r>
              <a:rPr lang="zh-CN" altLang="en-US" sz="2400" b="1" smtClean="0">
                <a:latin typeface="Times New Roman" panose="02020603050405020304" pitchFamily="18" charset="0"/>
              </a:rPr>
              <a:t>计量工具、计量方法、数据采集渠道和程序都应该固定，以确保新系统运行有稳定可靠的数据来源</a:t>
            </a:r>
            <a:endParaRPr lang="zh-CN" altLang="en-US" sz="2400" b="1" smtClean="0">
              <a:latin typeface="Times New Roman" panose="02020603050405020304" pitchFamily="18" charset="0"/>
            </a:endParaRPr>
          </a:p>
          <a:p>
            <a:pPr marL="532130" lvl="1" indent="-352425" eaLnBrk="1" hangingPunct="1">
              <a:lnSpc>
                <a:spcPct val="105000"/>
              </a:lnSpc>
              <a:buSzPct val="90000"/>
            </a:pPr>
            <a:r>
              <a:rPr lang="zh-CN" altLang="en-US" sz="2400" b="1" smtClean="0">
                <a:latin typeface="Times New Roman" panose="02020603050405020304" pitchFamily="18" charset="0"/>
              </a:rPr>
              <a:t>各类统计和数据采集报表应标准化、规范化</a:t>
            </a:r>
            <a:endParaRPr lang="zh-CN" altLang="en-US" sz="2400" b="1" smtClean="0">
              <a:latin typeface="Times New Roman" panose="02020603050405020304" pitchFamily="18" charset="0"/>
            </a:endParaRPr>
          </a:p>
        </p:txBody>
      </p:sp>
      <p:sp>
        <p:nvSpPr>
          <p:cNvPr id="125955" name="AutoShape 3">
            <a:hlinkClick r:id="" action="ppaction://noaction" highlightClick="1"/>
          </p:cNvPr>
          <p:cNvSpPr>
            <a:spLocks noChangeArrowheads="1"/>
          </p:cNvSpPr>
          <p:nvPr/>
        </p:nvSpPr>
        <p:spPr bwMode="auto">
          <a:xfrm>
            <a:off x="1403350" y="908050"/>
            <a:ext cx="3889375"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6.5  </a:t>
            </a:r>
            <a:r>
              <a:rPr lang="zh-CN" altLang="en-US" sz="3600" b="1">
                <a:solidFill>
                  <a:srgbClr val="0A0A0E"/>
                </a:solidFill>
                <a:latin typeface="Times New Roman" panose="02020603050405020304" pitchFamily="18" charset="0"/>
              </a:rPr>
              <a:t>系统转换</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body" sz="half" idx="1"/>
          </p:nvPr>
        </p:nvSpPr>
        <p:spPr>
          <a:xfrm>
            <a:off x="539750" y="1989138"/>
            <a:ext cx="7777163" cy="4114800"/>
          </a:xfrm>
        </p:spPr>
        <p:txBody>
          <a:bodyPr/>
          <a:lstStyle/>
          <a:p>
            <a:pPr marL="0" indent="0" eaLnBrk="1" hangingPunct="1">
              <a:lnSpc>
                <a:spcPct val="110000"/>
              </a:lnSpc>
              <a:buFont typeface="Wingdings" panose="05000000000000000000" pitchFamily="2" charset="2"/>
              <a:buNone/>
            </a:pPr>
            <a:r>
              <a:rPr lang="en-US" altLang="zh-CN" sz="2800" b="1" smtClean="0">
                <a:latin typeface="宋体" panose="02010600030101010101" pitchFamily="2" charset="-122"/>
              </a:rPr>
              <a:t>6.5.2 </a:t>
            </a:r>
            <a:r>
              <a:rPr lang="zh-CN" altLang="en-US" sz="2800" b="1" smtClean="0">
                <a:latin typeface="宋体" panose="02010600030101010101" pitchFamily="2" charset="-122"/>
              </a:rPr>
              <a:t>系统试运行</a:t>
            </a:r>
            <a:endParaRPr lang="zh-CN" altLang="en-US" sz="2800" b="1" smtClean="0">
              <a:latin typeface="宋体" panose="02010600030101010101" pitchFamily="2" charset="-122"/>
            </a:endParaRPr>
          </a:p>
          <a:p>
            <a:pPr marL="532130" lvl="1" indent="-352425" eaLnBrk="1" hangingPunct="1">
              <a:lnSpc>
                <a:spcPct val="105000"/>
              </a:lnSpc>
              <a:buClr>
                <a:srgbClr val="FFFFFF"/>
              </a:buClr>
            </a:pPr>
            <a:r>
              <a:rPr lang="zh-CN" altLang="en-US" sz="2400" b="1" smtClean="0">
                <a:latin typeface="宋体" panose="02010600030101010101" pitchFamily="2" charset="-122"/>
              </a:rPr>
              <a:t>对系统进行初始化</a:t>
            </a:r>
            <a:endParaRPr lang="zh-CN" altLang="en-US" sz="2400" b="1" smtClean="0">
              <a:latin typeface="宋体" panose="02010600030101010101" pitchFamily="2" charset="-122"/>
            </a:endParaRPr>
          </a:p>
          <a:p>
            <a:pPr marL="532130" lvl="1" indent="-352425" eaLnBrk="1" hangingPunct="1">
              <a:lnSpc>
                <a:spcPct val="105000"/>
              </a:lnSpc>
              <a:buClr>
                <a:srgbClr val="FFFFFF"/>
              </a:buClr>
            </a:pPr>
            <a:r>
              <a:rPr lang="zh-CN" altLang="en-US" sz="2400" b="1" smtClean="0">
                <a:latin typeface="宋体" panose="02010600030101010101" pitchFamily="2" charset="-122"/>
              </a:rPr>
              <a:t>输入数据，记录系统的运行数据和运行状态</a:t>
            </a:r>
            <a:endParaRPr lang="zh-CN" altLang="en-US" sz="2400" b="1" smtClean="0">
              <a:latin typeface="宋体" panose="02010600030101010101" pitchFamily="2" charset="-122"/>
            </a:endParaRPr>
          </a:p>
          <a:p>
            <a:pPr marL="532130" lvl="1" indent="-352425" eaLnBrk="1" hangingPunct="1">
              <a:lnSpc>
                <a:spcPct val="105000"/>
              </a:lnSpc>
              <a:buClr>
                <a:srgbClr val="FFFFFF"/>
              </a:buClr>
            </a:pPr>
            <a:r>
              <a:rPr lang="zh-CN" altLang="en-US" sz="2400" b="1" smtClean="0">
                <a:latin typeface="宋体" panose="02010600030101010101" pitchFamily="2" charset="-122"/>
              </a:rPr>
              <a:t>核对新系统输出和原系统输出的结果</a:t>
            </a:r>
            <a:endParaRPr lang="zh-CN" altLang="en-US" sz="2400" b="1" smtClean="0">
              <a:latin typeface="宋体" panose="02010600030101010101" pitchFamily="2" charset="-122"/>
            </a:endParaRPr>
          </a:p>
          <a:p>
            <a:pPr marL="532130" lvl="1" indent="-352425" eaLnBrk="1" hangingPunct="1">
              <a:lnSpc>
                <a:spcPct val="105000"/>
              </a:lnSpc>
              <a:buClr>
                <a:srgbClr val="FFFFFF"/>
              </a:buClr>
            </a:pPr>
            <a:r>
              <a:rPr lang="zh-CN" altLang="en-US" sz="2400" b="1" smtClean="0">
                <a:latin typeface="宋体" panose="02010600030101010101" pitchFamily="2" charset="-122"/>
              </a:rPr>
              <a:t>对实际系统的输入方式进行考察，考察是否方便、效率如何、安全可靠性、误操作保护等</a:t>
            </a:r>
            <a:endParaRPr lang="zh-CN" altLang="en-US" sz="2400" b="1" smtClean="0">
              <a:latin typeface="宋体" panose="02010600030101010101" pitchFamily="2" charset="-122"/>
            </a:endParaRPr>
          </a:p>
          <a:p>
            <a:pPr marL="532130" lvl="1" indent="-352425" eaLnBrk="1" hangingPunct="1">
              <a:lnSpc>
                <a:spcPct val="105000"/>
              </a:lnSpc>
              <a:buClr>
                <a:srgbClr val="FFFFFF"/>
              </a:buClr>
            </a:pPr>
            <a:r>
              <a:rPr lang="zh-CN" altLang="en-US" sz="2400" b="1" smtClean="0">
                <a:latin typeface="宋体" panose="02010600030101010101" pitchFamily="2" charset="-122"/>
              </a:rPr>
              <a:t>对系统实际运行、响应速度进行实际测试，包括运算速度、传输速度、输出速度等</a:t>
            </a:r>
            <a:endParaRPr lang="zh-CN" altLang="en-US" sz="2400" b="1" smtClean="0">
              <a:latin typeface="宋体" panose="02010600030101010101" pitchFamily="2" charset="-122"/>
            </a:endParaRPr>
          </a:p>
        </p:txBody>
      </p:sp>
      <p:sp>
        <p:nvSpPr>
          <p:cNvPr id="126979" name="AutoShape 4">
            <a:hlinkClick r:id="" action="ppaction://noaction" highlightClick="1"/>
          </p:cNvPr>
          <p:cNvSpPr>
            <a:spLocks noChangeArrowheads="1"/>
          </p:cNvSpPr>
          <p:nvPr/>
        </p:nvSpPr>
        <p:spPr bwMode="auto">
          <a:xfrm>
            <a:off x="1403350" y="908050"/>
            <a:ext cx="5256213"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6.5  </a:t>
            </a:r>
            <a:r>
              <a:rPr lang="zh-CN" altLang="en-US" sz="3600" b="1">
                <a:solidFill>
                  <a:srgbClr val="0A0A0E"/>
                </a:solidFill>
                <a:latin typeface="Times New Roman" panose="02020603050405020304" pitchFamily="18" charset="0"/>
              </a:rPr>
              <a:t>系统转换</a:t>
            </a:r>
            <a:endParaRPr lang="zh-CN" altLang="en-US" sz="3600" b="1">
              <a:solidFill>
                <a:srgbClr val="0A0A0E"/>
              </a:solidFill>
              <a:latin typeface="Times New Roman" panose="02020603050405020304" pitchFamily="18" charset="0"/>
            </a:endParaRPr>
          </a:p>
        </p:txBody>
      </p:sp>
    </p:spTree>
  </p:cSld>
  <p:clrMapOvr>
    <a:masterClrMapping/>
  </p:clrMapOvr>
  <p:transition>
    <p:wipe dir="r"/>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noFill/>
        </p:spPr>
        <p:txBody>
          <a:bodyPr/>
          <a:lstStyle/>
          <a:p>
            <a:pPr eaLnBrk="1" hangingPunct="1"/>
            <a:r>
              <a:rPr lang="en-US" altLang="zh-CN" sz="800" smtClean="0">
                <a:solidFill>
                  <a:schemeClr val="bg1"/>
                </a:solidFill>
              </a:rPr>
              <a:t>1.5.4MIS</a:t>
            </a:r>
            <a:r>
              <a:rPr lang="zh-CN" altLang="en-US" sz="800" smtClean="0">
                <a:solidFill>
                  <a:schemeClr val="bg1"/>
                </a:solidFill>
              </a:rPr>
              <a:t>的结构</a:t>
            </a:r>
            <a:endParaRPr lang="zh-CN" altLang="en-US" sz="800" smtClean="0">
              <a:solidFill>
                <a:schemeClr val="bg1"/>
              </a:solidFill>
            </a:endParaRPr>
          </a:p>
        </p:txBody>
      </p:sp>
      <p:sp>
        <p:nvSpPr>
          <p:cNvPr id="128003" name="Rectangle 3"/>
          <p:cNvSpPr>
            <a:spLocks noGrp="1" noChangeArrowheads="1"/>
          </p:cNvSpPr>
          <p:nvPr>
            <p:ph type="body" idx="1"/>
          </p:nvPr>
        </p:nvSpPr>
        <p:spPr>
          <a:noFill/>
        </p:spPr>
        <p:txBody>
          <a:bodyPr/>
          <a:lstStyle/>
          <a:p>
            <a:pPr marL="0" indent="0" eaLnBrk="1" hangingPunct="1">
              <a:lnSpc>
                <a:spcPct val="110000"/>
              </a:lnSpc>
              <a:buFont typeface="Wingdings" panose="05000000000000000000" pitchFamily="2" charset="2"/>
              <a:buNone/>
            </a:pPr>
            <a:r>
              <a:rPr lang="en-US" altLang="zh-CN" b="1" smtClean="0">
                <a:latin typeface="宋体" panose="02010600030101010101" pitchFamily="2" charset="-122"/>
              </a:rPr>
              <a:t>6.5.3 </a:t>
            </a:r>
            <a:r>
              <a:rPr lang="zh-CN" altLang="en-US" b="1" smtClean="0">
                <a:latin typeface="宋体" panose="02010600030101010101" pitchFamily="2" charset="-122"/>
              </a:rPr>
              <a:t>系统转换</a:t>
            </a:r>
            <a:endParaRPr lang="zh-CN" altLang="en-US" b="1" smtClean="0">
              <a:latin typeface="宋体" panose="02010600030101010101" pitchFamily="2" charset="-122"/>
            </a:endParaRPr>
          </a:p>
          <a:p>
            <a:pPr marL="450850" lvl="1" indent="-271780" eaLnBrk="1" hangingPunct="1">
              <a:lnSpc>
                <a:spcPct val="105000"/>
              </a:lnSpc>
              <a:buClr>
                <a:srgbClr val="FFFFFF"/>
              </a:buClr>
            </a:pPr>
            <a:endParaRPr lang="en-US" altLang="zh-CN" smtClean="0">
              <a:solidFill>
                <a:srgbClr val="FFFFFF"/>
              </a:solidFill>
              <a:latin typeface="Times New Roman" panose="02020603050405020304" pitchFamily="18" charset="0"/>
            </a:endParaRPr>
          </a:p>
        </p:txBody>
      </p:sp>
      <p:pic>
        <p:nvPicPr>
          <p:cNvPr id="128004" name="Picture 5" descr="6"/>
          <p:cNvPicPr>
            <a:picLocks noChangeAspect="1" noChangeArrowheads="1"/>
          </p:cNvPicPr>
          <p:nvPr/>
        </p:nvPicPr>
        <p:blipFill>
          <a:blip r:embed="rId1" cstate="print"/>
          <a:srcRect/>
          <a:stretch>
            <a:fillRect/>
          </a:stretch>
        </p:blipFill>
        <p:spPr bwMode="auto">
          <a:xfrm>
            <a:off x="827088" y="2781300"/>
            <a:ext cx="6553200" cy="3048000"/>
          </a:xfrm>
          <a:prstGeom prst="rect">
            <a:avLst/>
          </a:prstGeom>
          <a:noFill/>
          <a:ln w="76200">
            <a:pattFill prst="sphere">
              <a:fgClr>
                <a:srgbClr val="CC0000"/>
              </a:fgClr>
              <a:bgClr>
                <a:srgbClr val="FFFFFF"/>
              </a:bgClr>
            </a:pattFill>
            <a:miter lim="800000"/>
            <a:headEnd/>
            <a:tailEnd/>
          </a:ln>
        </p:spPr>
      </p:pic>
      <p:sp>
        <p:nvSpPr>
          <p:cNvPr id="128005" name="AutoShape 6">
            <a:hlinkClick r:id="" action="ppaction://noaction" highlightClick="1"/>
          </p:cNvPr>
          <p:cNvSpPr>
            <a:spLocks noChangeArrowheads="1"/>
          </p:cNvSpPr>
          <p:nvPr/>
        </p:nvSpPr>
        <p:spPr bwMode="auto">
          <a:xfrm>
            <a:off x="1403350" y="908050"/>
            <a:ext cx="4537075"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6.5  </a:t>
            </a:r>
            <a:r>
              <a:rPr lang="zh-CN" altLang="en-US" sz="3600" b="1">
                <a:solidFill>
                  <a:srgbClr val="0A0A0E"/>
                </a:solidFill>
                <a:latin typeface="Times New Roman" panose="02020603050405020304" pitchFamily="18" charset="0"/>
              </a:rPr>
              <a:t>系统转换</a:t>
            </a:r>
            <a:endParaRPr lang="zh-CN" altLang="en-US" sz="3600" b="1">
              <a:solidFill>
                <a:srgbClr val="0A0A0E"/>
              </a:solidFill>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noFill/>
        </p:spPr>
        <p:txBody>
          <a:bodyPr/>
          <a:lstStyle/>
          <a:p>
            <a:pPr eaLnBrk="1" hangingPunct="1"/>
            <a:r>
              <a:rPr lang="en-US" altLang="zh-CN" sz="800" smtClean="0">
                <a:solidFill>
                  <a:schemeClr val="bg1"/>
                </a:solidFill>
              </a:rPr>
              <a:t>1.5.4MIS</a:t>
            </a:r>
            <a:r>
              <a:rPr lang="zh-CN" altLang="en-US" sz="800" smtClean="0">
                <a:solidFill>
                  <a:schemeClr val="bg1"/>
                </a:solidFill>
              </a:rPr>
              <a:t>的结构</a:t>
            </a:r>
            <a:endParaRPr lang="zh-CN" altLang="en-US" sz="800" smtClean="0">
              <a:solidFill>
                <a:schemeClr val="bg1"/>
              </a:solidFill>
            </a:endParaRPr>
          </a:p>
        </p:txBody>
      </p:sp>
      <p:sp>
        <p:nvSpPr>
          <p:cNvPr id="129027" name="Rectangle 3"/>
          <p:cNvSpPr>
            <a:spLocks noGrp="1" noChangeArrowheads="1"/>
          </p:cNvSpPr>
          <p:nvPr>
            <p:ph type="body" idx="1"/>
          </p:nvPr>
        </p:nvSpPr>
        <p:spPr>
          <a:xfrm>
            <a:off x="755650" y="2017713"/>
            <a:ext cx="7200900" cy="4114800"/>
          </a:xfrm>
          <a:noFill/>
        </p:spPr>
        <p:txBody>
          <a:bodyPr/>
          <a:lstStyle/>
          <a:p>
            <a:pPr marL="0" indent="0" eaLnBrk="1" hangingPunct="1">
              <a:buFont typeface="Wingdings" panose="05000000000000000000" pitchFamily="2" charset="2"/>
              <a:buNone/>
            </a:pPr>
            <a:r>
              <a:rPr lang="en-US" altLang="zh-CN" smtClean="0"/>
              <a:t>1. </a:t>
            </a:r>
            <a:r>
              <a:rPr lang="zh-CN" altLang="en-US" b="1" smtClean="0"/>
              <a:t>直接转换</a:t>
            </a:r>
            <a:endParaRPr lang="zh-CN" altLang="en-US" b="1" smtClean="0"/>
          </a:p>
          <a:p>
            <a:pPr marL="355600" lvl="1" indent="-176530" eaLnBrk="1" hangingPunct="1">
              <a:lnSpc>
                <a:spcPct val="105000"/>
              </a:lnSpc>
              <a:buFont typeface="Wingdings" panose="05000000000000000000" pitchFamily="2" charset="2"/>
              <a:buNone/>
            </a:pPr>
            <a:r>
              <a:rPr lang="zh-CN" altLang="en-US" b="1" smtClean="0">
                <a:solidFill>
                  <a:srgbClr val="FFFFFF"/>
                </a:solidFill>
              </a:rPr>
              <a:t>      </a:t>
            </a:r>
            <a:r>
              <a:rPr lang="zh-CN" altLang="en-US" sz="2400" b="1" smtClean="0"/>
              <a:t>直接转换就是在确定新系统运行准确无误时，立即启用新系统，终止原系统运行，这种方式对人员、设备费用很节省。但一般适用于处理不太复杂的数据不是很重要的应用</a:t>
            </a:r>
            <a:endParaRPr lang="zh-CN" altLang="en-US" sz="2400" b="1" smtClean="0"/>
          </a:p>
          <a:p>
            <a:pPr marL="355600" lvl="1" indent="-176530" eaLnBrk="1" hangingPunct="1">
              <a:lnSpc>
                <a:spcPct val="105000"/>
              </a:lnSpc>
              <a:buClr>
                <a:srgbClr val="FFFFFF"/>
              </a:buClr>
            </a:pPr>
            <a:endParaRPr lang="en-US" altLang="zh-CN" b="1" smtClean="0">
              <a:latin typeface="Times New Roman" panose="02020603050405020304" pitchFamily="18" charset="0"/>
            </a:endParaRPr>
          </a:p>
        </p:txBody>
      </p:sp>
      <p:sp>
        <p:nvSpPr>
          <p:cNvPr id="129028" name="AutoShape 4">
            <a:hlinkClick r:id="" action="ppaction://noaction" highlightClick="1"/>
          </p:cNvPr>
          <p:cNvSpPr>
            <a:spLocks noChangeArrowheads="1"/>
          </p:cNvSpPr>
          <p:nvPr/>
        </p:nvSpPr>
        <p:spPr bwMode="auto">
          <a:xfrm>
            <a:off x="1258888" y="908050"/>
            <a:ext cx="4105275"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6.5.3 </a:t>
            </a:r>
            <a:r>
              <a:rPr lang="zh-CN" altLang="en-US" sz="3600" b="1">
                <a:solidFill>
                  <a:srgbClr val="0A0A0E"/>
                </a:solidFill>
                <a:latin typeface="Times New Roman" panose="02020603050405020304" pitchFamily="18" charset="0"/>
              </a:rPr>
              <a:t>系统转换</a:t>
            </a:r>
            <a:endParaRPr lang="zh-CN" altLang="en-US" sz="3600" b="1">
              <a:solidFill>
                <a:srgbClr val="0A0A0E"/>
              </a:solidFill>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noFill/>
        </p:spPr>
        <p:txBody>
          <a:bodyPr/>
          <a:lstStyle/>
          <a:p>
            <a:pPr eaLnBrk="1" hangingPunct="1"/>
            <a:r>
              <a:rPr lang="en-US" altLang="zh-CN" sz="800" smtClean="0">
                <a:solidFill>
                  <a:schemeClr val="bg1"/>
                </a:solidFill>
              </a:rPr>
              <a:t>1.5.4MIS</a:t>
            </a:r>
            <a:r>
              <a:rPr lang="zh-CN" altLang="en-US" sz="800" smtClean="0">
                <a:solidFill>
                  <a:schemeClr val="bg1"/>
                </a:solidFill>
              </a:rPr>
              <a:t>的结构</a:t>
            </a:r>
            <a:endParaRPr lang="zh-CN" altLang="en-US" sz="800" smtClean="0">
              <a:solidFill>
                <a:schemeClr val="bg1"/>
              </a:solidFill>
            </a:endParaRPr>
          </a:p>
        </p:txBody>
      </p:sp>
      <p:sp>
        <p:nvSpPr>
          <p:cNvPr id="130051" name="Rectangle 3"/>
          <p:cNvSpPr>
            <a:spLocks noGrp="1" noChangeArrowheads="1"/>
          </p:cNvSpPr>
          <p:nvPr>
            <p:ph type="body" idx="1"/>
          </p:nvPr>
        </p:nvSpPr>
        <p:spPr>
          <a:xfrm>
            <a:off x="468313" y="2017713"/>
            <a:ext cx="7704137" cy="4114800"/>
          </a:xfrm>
          <a:noFill/>
        </p:spPr>
        <p:txBody>
          <a:bodyPr/>
          <a:lstStyle/>
          <a:p>
            <a:pPr marL="0" indent="0" eaLnBrk="1" hangingPunct="1">
              <a:buFont typeface="Wingdings" panose="05000000000000000000" pitchFamily="2" charset="2"/>
              <a:buNone/>
            </a:pPr>
            <a:r>
              <a:rPr lang="en-US" altLang="zh-CN" smtClean="0"/>
              <a:t>2. </a:t>
            </a:r>
            <a:r>
              <a:rPr lang="zh-CN" altLang="en-US" b="1" smtClean="0"/>
              <a:t>平行转换</a:t>
            </a:r>
            <a:endParaRPr lang="zh-CN" altLang="en-US" b="1" smtClean="0"/>
          </a:p>
          <a:p>
            <a:pPr marL="355600" lvl="1" indent="-176530" eaLnBrk="1" hangingPunct="1">
              <a:lnSpc>
                <a:spcPct val="105000"/>
              </a:lnSpc>
              <a:buFont typeface="Wingdings" panose="05000000000000000000" pitchFamily="2" charset="2"/>
              <a:buNone/>
            </a:pPr>
            <a:r>
              <a:rPr lang="zh-CN" altLang="en-US" smtClean="0">
                <a:latin typeface="Times New Roman" panose="02020603050405020304" pitchFamily="18" charset="0"/>
              </a:rPr>
              <a:t>  </a:t>
            </a:r>
            <a:r>
              <a:rPr lang="zh-CN" altLang="en-US" b="1" smtClean="0">
                <a:latin typeface="Times New Roman" panose="02020603050405020304" pitchFamily="18" charset="0"/>
              </a:rPr>
              <a:t>这种方式是新旧系统并行运行一段时间，经过一段时间的考验后，新系统正式代替原系统。对于较复杂的大型系统，它提供了一个与原系统运行结果进行比较的机会，可以对系统在各个方面进行考察和评价。当然，由于是与原系统同时运行，消除了不稳定的潜在危险，也消除了尚未认识新系统之前的惊慌与不安</a:t>
            </a:r>
            <a:endParaRPr lang="zh-CN" altLang="en-US" b="1" smtClean="0">
              <a:latin typeface="Times New Roman" panose="02020603050405020304" pitchFamily="18" charset="0"/>
            </a:endParaRPr>
          </a:p>
        </p:txBody>
      </p:sp>
      <p:sp>
        <p:nvSpPr>
          <p:cNvPr id="130052" name="AutoShape 4">
            <a:hlinkClick r:id="" action="ppaction://noaction" highlightClick="1"/>
          </p:cNvPr>
          <p:cNvSpPr>
            <a:spLocks noChangeArrowheads="1"/>
          </p:cNvSpPr>
          <p:nvPr/>
        </p:nvSpPr>
        <p:spPr bwMode="auto">
          <a:xfrm>
            <a:off x="1403350" y="908050"/>
            <a:ext cx="4248150"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6.5.3 </a:t>
            </a:r>
            <a:r>
              <a:rPr lang="zh-CN" altLang="en-US" sz="3600" b="1">
                <a:solidFill>
                  <a:srgbClr val="0A0A0E"/>
                </a:solidFill>
                <a:latin typeface="Times New Roman" panose="02020603050405020304" pitchFamily="18" charset="0"/>
              </a:rPr>
              <a:t>系统转换</a:t>
            </a:r>
            <a:endParaRPr lang="zh-CN" altLang="en-US" sz="3600" b="1">
              <a:solidFill>
                <a:srgbClr val="0A0A0E"/>
              </a:solidFill>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noFill/>
        </p:spPr>
        <p:txBody>
          <a:bodyPr/>
          <a:lstStyle/>
          <a:p>
            <a:pPr eaLnBrk="1" hangingPunct="1"/>
            <a:r>
              <a:rPr lang="en-US" altLang="zh-CN" sz="800" smtClean="0">
                <a:solidFill>
                  <a:schemeClr val="bg1"/>
                </a:solidFill>
              </a:rPr>
              <a:t>1.5.4MIS</a:t>
            </a:r>
            <a:r>
              <a:rPr lang="zh-CN" altLang="en-US" sz="800" smtClean="0">
                <a:solidFill>
                  <a:schemeClr val="bg1"/>
                </a:solidFill>
              </a:rPr>
              <a:t>的结构</a:t>
            </a:r>
            <a:endParaRPr lang="zh-CN" altLang="en-US" sz="800" smtClean="0">
              <a:solidFill>
                <a:schemeClr val="bg1"/>
              </a:solidFill>
            </a:endParaRPr>
          </a:p>
        </p:txBody>
      </p:sp>
      <p:sp>
        <p:nvSpPr>
          <p:cNvPr id="131075" name="Rectangle 4"/>
          <p:cNvSpPr>
            <a:spLocks noGrp="1" noChangeArrowheads="1"/>
          </p:cNvSpPr>
          <p:nvPr>
            <p:ph type="body" idx="1"/>
          </p:nvPr>
        </p:nvSpPr>
        <p:spPr>
          <a:xfrm>
            <a:off x="755650" y="2017713"/>
            <a:ext cx="7056438" cy="4114800"/>
          </a:xfrm>
          <a:noFill/>
        </p:spPr>
        <p:txBody>
          <a:bodyPr/>
          <a:lstStyle/>
          <a:p>
            <a:pPr marL="0" indent="0" algn="just" eaLnBrk="1" hangingPunct="1">
              <a:buFont typeface="Wingdings" panose="05000000000000000000" pitchFamily="2" charset="2"/>
              <a:buNone/>
            </a:pPr>
            <a:r>
              <a:rPr lang="en-US" altLang="zh-CN" smtClean="0"/>
              <a:t>3. </a:t>
            </a:r>
            <a:r>
              <a:rPr lang="zh-CN" altLang="en-US" b="1" smtClean="0"/>
              <a:t>分段切换</a:t>
            </a:r>
            <a:endParaRPr lang="zh-CN" altLang="en-US" b="1" smtClean="0"/>
          </a:p>
          <a:p>
            <a:pPr marL="355600" lvl="1" indent="-176530" algn="just" eaLnBrk="1" hangingPunct="1">
              <a:buFont typeface="Wingdings" panose="05000000000000000000" pitchFamily="2" charset="2"/>
              <a:buNone/>
            </a:pPr>
            <a:r>
              <a:rPr lang="zh-CN" altLang="en-US" sz="2400" smtClean="0">
                <a:solidFill>
                  <a:srgbClr val="FFFFFF"/>
                </a:solidFill>
                <a:latin typeface="Times New Roman" panose="02020603050405020304" pitchFamily="18" charset="0"/>
              </a:rPr>
              <a:t>  </a:t>
            </a:r>
            <a:r>
              <a:rPr lang="zh-CN" altLang="en-US" sz="2400" b="1" smtClean="0">
                <a:latin typeface="Times New Roman" panose="02020603050405020304" pitchFamily="18" charset="0"/>
              </a:rPr>
              <a:t>这种转换方式是上述两种方式的结合，采取分期分批逐步转换。一般比较大的系统采用这种方式较为适宜，它能保证平稳运行，费用也不太大。</a:t>
            </a:r>
            <a:endParaRPr lang="zh-CN" altLang="en-US" sz="2400" b="1" smtClean="0">
              <a:latin typeface="Times New Roman" panose="02020603050405020304" pitchFamily="18" charset="0"/>
            </a:endParaRPr>
          </a:p>
        </p:txBody>
      </p:sp>
      <p:sp>
        <p:nvSpPr>
          <p:cNvPr id="131076" name="AutoShape 8">
            <a:hlinkClick r:id="" action="ppaction://noaction" highlightClick="1"/>
          </p:cNvPr>
          <p:cNvSpPr>
            <a:spLocks noChangeArrowheads="1"/>
          </p:cNvSpPr>
          <p:nvPr/>
        </p:nvSpPr>
        <p:spPr bwMode="auto">
          <a:xfrm>
            <a:off x="1331913" y="836613"/>
            <a:ext cx="5400675"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6.5.3 </a:t>
            </a:r>
            <a:r>
              <a:rPr lang="zh-CN" altLang="en-US" sz="3600" b="1">
                <a:solidFill>
                  <a:srgbClr val="0A0A0E"/>
                </a:solidFill>
                <a:latin typeface="Times New Roman" panose="02020603050405020304" pitchFamily="18" charset="0"/>
              </a:rPr>
              <a:t>系统转换</a:t>
            </a:r>
            <a:endParaRPr lang="zh-CN" altLang="en-US" sz="3600" b="1">
              <a:solidFill>
                <a:srgbClr val="0A0A0E"/>
              </a:solidFill>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noFill/>
        </p:spPr>
        <p:txBody>
          <a:bodyPr/>
          <a:lstStyle/>
          <a:p>
            <a:pPr eaLnBrk="1" hangingPunct="1"/>
            <a:r>
              <a:rPr lang="zh-CN" altLang="en-US" sz="100" smtClean="0">
                <a:solidFill>
                  <a:schemeClr val="bg1"/>
                </a:solidFill>
              </a:rPr>
              <a:t>第一章思考题</a:t>
            </a:r>
            <a:endParaRPr lang="zh-CN" altLang="en-US" sz="100" smtClean="0">
              <a:solidFill>
                <a:schemeClr val="bg1"/>
              </a:solidFill>
            </a:endParaRPr>
          </a:p>
        </p:txBody>
      </p:sp>
      <p:sp>
        <p:nvSpPr>
          <p:cNvPr id="132099" name="AutoShape 3">
            <a:hlinkClick r:id="" action="ppaction://noaction" highlightClick="1"/>
          </p:cNvPr>
          <p:cNvSpPr>
            <a:spLocks noChangeArrowheads="1"/>
          </p:cNvSpPr>
          <p:nvPr/>
        </p:nvSpPr>
        <p:spPr bwMode="auto">
          <a:xfrm>
            <a:off x="1331913" y="908050"/>
            <a:ext cx="1905000" cy="914400"/>
          </a:xfrm>
          <a:prstGeom prst="actionButtonBlank">
            <a:avLst/>
          </a:prstGeom>
          <a:noFill/>
          <a:ln w="9525">
            <a:noFill/>
            <a:miter lim="800000"/>
          </a:ln>
        </p:spPr>
        <p:txBody>
          <a:bodyPr anchor="ctr"/>
          <a:lstStyle/>
          <a:p>
            <a:r>
              <a:rPr lang="zh-CN" altLang="en-US" sz="3200" b="1">
                <a:solidFill>
                  <a:srgbClr val="0A0A0E"/>
                </a:solidFill>
                <a:latin typeface="Times New Roman" panose="02020603050405020304" pitchFamily="18" charset="0"/>
              </a:rPr>
              <a:t>思考题</a:t>
            </a:r>
            <a:endParaRPr lang="zh-CN" altLang="en-US" sz="3200" b="1">
              <a:solidFill>
                <a:srgbClr val="0A0A0E"/>
              </a:solidFill>
              <a:latin typeface="Times New Roman" panose="02020603050405020304" pitchFamily="18" charset="0"/>
            </a:endParaRPr>
          </a:p>
        </p:txBody>
      </p:sp>
      <p:sp>
        <p:nvSpPr>
          <p:cNvPr id="132100" name="Rectangle 4"/>
          <p:cNvSpPr>
            <a:spLocks noGrp="1" noChangeArrowheads="1"/>
          </p:cNvSpPr>
          <p:nvPr>
            <p:ph type="body" idx="1"/>
          </p:nvPr>
        </p:nvSpPr>
        <p:spPr>
          <a:xfrm>
            <a:off x="685800" y="1981200"/>
            <a:ext cx="7918450" cy="4114800"/>
          </a:xfrm>
        </p:spPr>
        <p:txBody>
          <a:bodyPr/>
          <a:lstStyle/>
          <a:p>
            <a:pPr algn="just" eaLnBrk="1" hangingPunct="1">
              <a:buFont typeface="Wingdings" panose="05000000000000000000" pitchFamily="2" charset="2"/>
              <a:buNone/>
            </a:pPr>
            <a:r>
              <a:rPr lang="en-US" altLang="zh-CN" smtClean="0"/>
              <a:t>1.</a:t>
            </a:r>
            <a:r>
              <a:rPr lang="zh-CN" altLang="en-US" smtClean="0"/>
              <a:t>什么是系统实施？系统实施阶段的工作任务有哪些</a:t>
            </a:r>
            <a:endParaRPr lang="zh-CN" altLang="en-US" smtClean="0"/>
          </a:p>
          <a:p>
            <a:pPr algn="just" eaLnBrk="1" hangingPunct="1">
              <a:buFont typeface="Wingdings" panose="05000000000000000000" pitchFamily="2" charset="2"/>
              <a:buNone/>
            </a:pPr>
            <a:r>
              <a:rPr lang="en-US" altLang="zh-CN" smtClean="0"/>
              <a:t>2.</a:t>
            </a:r>
            <a:r>
              <a:rPr lang="zh-CN" altLang="en-US" smtClean="0"/>
              <a:t>为什么说系统实施不当也容易导致系统失败？</a:t>
            </a:r>
            <a:endParaRPr lang="zh-CN" altLang="en-US" smtClean="0"/>
          </a:p>
          <a:p>
            <a:pPr algn="just" eaLnBrk="1" hangingPunct="1">
              <a:buFont typeface="Wingdings" panose="05000000000000000000" pitchFamily="2" charset="2"/>
              <a:buNone/>
            </a:pPr>
            <a:r>
              <a:rPr lang="en-US" altLang="zh-CN" smtClean="0"/>
              <a:t>3.</a:t>
            </a:r>
            <a:r>
              <a:rPr lang="zh-CN" altLang="en-US" smtClean="0"/>
              <a:t>什么是系统切换？系统切换需要具备哪些基本条件？</a:t>
            </a:r>
            <a:endParaRPr lang="zh-CN" altLang="en-US" smtClean="0"/>
          </a:p>
          <a:p>
            <a:pPr algn="just" eaLnBrk="1" hangingPunct="1">
              <a:buFont typeface="Wingdings" panose="05000000000000000000" pitchFamily="2" charset="2"/>
              <a:buNone/>
            </a:pPr>
            <a:endParaRPr lang="en-US" altLang="zh-CN" smtClean="0"/>
          </a:p>
        </p:txBody>
      </p:sp>
    </p:spTree>
  </p:cSld>
  <p:clrMapOvr>
    <a:masterClrMapping/>
  </p:clrMapOvr>
  <p:transition>
    <p:wipe dir="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noFill/>
        </p:spPr>
        <p:txBody>
          <a:bodyPr/>
          <a:lstStyle/>
          <a:p>
            <a:pPr eaLnBrk="1" hangingPunct="1"/>
            <a:r>
              <a:rPr lang="zh-CN" altLang="en-US" sz="100" smtClean="0">
                <a:solidFill>
                  <a:schemeClr val="bg1"/>
                </a:solidFill>
              </a:rPr>
              <a:t>第一章思考题</a:t>
            </a:r>
            <a:endParaRPr lang="zh-CN" altLang="en-US" smtClean="0"/>
          </a:p>
        </p:txBody>
      </p:sp>
      <p:sp>
        <p:nvSpPr>
          <p:cNvPr id="133123" name="AutoShape 4">
            <a:hlinkClick r:id="" action="ppaction://noaction" highlightClick="1"/>
          </p:cNvPr>
          <p:cNvSpPr>
            <a:spLocks noChangeArrowheads="1"/>
          </p:cNvSpPr>
          <p:nvPr/>
        </p:nvSpPr>
        <p:spPr bwMode="auto">
          <a:xfrm>
            <a:off x="1403350" y="981075"/>
            <a:ext cx="1905000" cy="687388"/>
          </a:xfrm>
          <a:prstGeom prst="actionButtonBlank">
            <a:avLst/>
          </a:prstGeom>
          <a:noFill/>
          <a:ln w="9525">
            <a:noFill/>
            <a:miter lim="800000"/>
          </a:ln>
        </p:spPr>
        <p:txBody>
          <a:bodyPr anchor="ctr"/>
          <a:lstStyle/>
          <a:p>
            <a:r>
              <a:rPr lang="zh-CN" altLang="en-US" sz="3200" b="1">
                <a:solidFill>
                  <a:srgbClr val="0A0A0E"/>
                </a:solidFill>
                <a:latin typeface="Times New Roman" panose="02020603050405020304" pitchFamily="18" charset="0"/>
              </a:rPr>
              <a:t>思考题</a:t>
            </a:r>
            <a:endParaRPr lang="zh-CN" altLang="en-US" sz="3200" b="1">
              <a:solidFill>
                <a:srgbClr val="0A0A0E"/>
              </a:solidFill>
              <a:latin typeface="Times New Roman" panose="02020603050405020304" pitchFamily="18" charset="0"/>
            </a:endParaRPr>
          </a:p>
        </p:txBody>
      </p:sp>
      <p:sp>
        <p:nvSpPr>
          <p:cNvPr id="133124" name="Rectangle 5"/>
          <p:cNvSpPr>
            <a:spLocks noGrp="1" noChangeArrowheads="1"/>
          </p:cNvSpPr>
          <p:nvPr>
            <p:ph type="body" idx="1"/>
          </p:nvPr>
        </p:nvSpPr>
        <p:spPr>
          <a:xfrm>
            <a:off x="539750" y="2060575"/>
            <a:ext cx="7773988" cy="4114800"/>
          </a:xfrm>
        </p:spPr>
        <p:txBody>
          <a:bodyPr/>
          <a:lstStyle/>
          <a:p>
            <a:pPr marL="355600" indent="-355600" eaLnBrk="1" hangingPunct="1">
              <a:buFontTx/>
              <a:buNone/>
            </a:pPr>
            <a:r>
              <a:rPr lang="en-US" altLang="zh-CN" smtClean="0"/>
              <a:t>5.</a:t>
            </a:r>
            <a:r>
              <a:rPr lang="zh-CN" altLang="en-US" smtClean="0"/>
              <a:t>系统转换有哪几种方式？大型复杂系统应选择何种转换方式为宜？</a:t>
            </a:r>
            <a:endParaRPr lang="zh-CN" altLang="en-US" smtClean="0"/>
          </a:p>
          <a:p>
            <a:pPr marL="355600" indent="-355600" eaLnBrk="1" hangingPunct="1">
              <a:buFontTx/>
              <a:buNone/>
            </a:pPr>
            <a:r>
              <a:rPr lang="en-US" altLang="zh-CN" smtClean="0"/>
              <a:t>6.</a:t>
            </a:r>
            <a:r>
              <a:rPr lang="zh-CN" altLang="en-US" smtClean="0"/>
              <a:t>为什么必须对用户各方面人员进行培训？</a:t>
            </a:r>
            <a:endParaRPr lang="zh-CN" altLang="en-US" smtClean="0"/>
          </a:p>
          <a:p>
            <a:pPr marL="355600" indent="-355600" eaLnBrk="1" hangingPunct="1">
              <a:buFontTx/>
              <a:buNone/>
            </a:pPr>
            <a:r>
              <a:rPr lang="en-US" altLang="zh-CN" smtClean="0"/>
              <a:t>7.</a:t>
            </a:r>
            <a:r>
              <a:rPr lang="zh-CN" altLang="en-US" smtClean="0"/>
              <a:t>如何准备基础数据？</a:t>
            </a:r>
            <a:r>
              <a:rPr lang="zh-CN" altLang="en-US" smtClean="0">
                <a:latin typeface="宋体" panose="02010600030101010101" pitchFamily="2" charset="-122"/>
              </a:rPr>
              <a:t> </a:t>
            </a:r>
            <a:endParaRPr lang="zh-CN" altLang="en-US" smtClean="0">
              <a:latin typeface="宋体" panose="02010600030101010101" pitchFamily="2" charset="-122"/>
            </a:endParaRPr>
          </a:p>
        </p:txBody>
      </p:sp>
    </p:spTree>
  </p:cSld>
  <p:clrMapOvr>
    <a:masterClrMapping/>
  </p:clrMapOvr>
  <p:transition>
    <p:wipe dir="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noFill/>
        </p:spPr>
        <p:txBody>
          <a:bodyPr/>
          <a:lstStyle/>
          <a:p>
            <a:pPr eaLnBrk="1" hangingPunct="1"/>
            <a:r>
              <a:rPr lang="en-US" altLang="zh-CN" sz="800" smtClean="0">
                <a:solidFill>
                  <a:schemeClr val="bg1"/>
                </a:solidFill>
              </a:rPr>
              <a:t>1.5.4MIS</a:t>
            </a:r>
            <a:r>
              <a:rPr lang="zh-CN" altLang="en-US" sz="800" smtClean="0">
                <a:solidFill>
                  <a:schemeClr val="bg1"/>
                </a:solidFill>
              </a:rPr>
              <a:t>的结构</a:t>
            </a:r>
            <a:endParaRPr lang="zh-CN" altLang="en-US" sz="800" smtClean="0">
              <a:solidFill>
                <a:schemeClr val="bg1"/>
              </a:solidFill>
            </a:endParaRPr>
          </a:p>
        </p:txBody>
      </p:sp>
      <p:sp>
        <p:nvSpPr>
          <p:cNvPr id="134147" name="Rectangle 3"/>
          <p:cNvSpPr>
            <a:spLocks noGrp="1" noChangeArrowheads="1"/>
          </p:cNvSpPr>
          <p:nvPr>
            <p:ph type="body" idx="1"/>
          </p:nvPr>
        </p:nvSpPr>
        <p:spPr>
          <a:xfrm>
            <a:off x="323850" y="2017713"/>
            <a:ext cx="8631238" cy="4840287"/>
          </a:xfrm>
          <a:noFill/>
        </p:spPr>
        <p:txBody>
          <a:bodyPr/>
          <a:lstStyle/>
          <a:p>
            <a:pPr marL="0" indent="0">
              <a:lnSpc>
                <a:spcPct val="110000"/>
              </a:lnSpc>
              <a:buClr>
                <a:schemeClr val="accent2"/>
              </a:buClr>
              <a:buFont typeface="Wingdings" panose="05000000000000000000" pitchFamily="2" charset="2"/>
              <a:buNone/>
            </a:pPr>
            <a:r>
              <a:rPr lang="en-US" altLang="zh-CN" sz="2400" b="1" smtClean="0"/>
              <a:t>2.</a:t>
            </a:r>
            <a:r>
              <a:rPr lang="zh-CN" altLang="en-US" sz="2400" b="1" smtClean="0"/>
              <a:t>软件调试策略</a:t>
            </a:r>
            <a:endParaRPr lang="zh-CN" altLang="en-US" sz="2400" b="1" smtClean="0">
              <a:latin typeface="Times New Roman" panose="02020603050405020304" pitchFamily="18" charset="0"/>
            </a:endParaRPr>
          </a:p>
          <a:p>
            <a:pPr marL="450850" lvl="1" indent="-271780">
              <a:lnSpc>
                <a:spcPct val="90000"/>
              </a:lnSpc>
              <a:buClr>
                <a:srgbClr val="FF9900"/>
              </a:buClr>
              <a:buSzPct val="80000"/>
              <a:buFont typeface="Wingdings" panose="05000000000000000000" pitchFamily="2" charset="2"/>
              <a:buChar char="l"/>
            </a:pPr>
            <a:r>
              <a:rPr lang="zh-CN" altLang="en-US" sz="2000" b="1" smtClean="0">
                <a:latin typeface="Times New Roman" panose="02020603050405020304" pitchFamily="18" charset="0"/>
              </a:rPr>
              <a:t>试探法，猜测试探：</a:t>
            </a:r>
            <a:r>
              <a:rPr lang="zh-CN" altLang="en-US" sz="2000" b="1" smtClean="0"/>
              <a:t>调试人员分析错误征兆，猜测故障的大致位置，然后检测程序中被怀疑位置附近的信息，由此获得对程序错误的准确定位。这种方法效率很低且缓慢，适合于结构比较简单的程序。 </a:t>
            </a:r>
            <a:endParaRPr lang="zh-CN" altLang="en-US" sz="2000" b="1" smtClean="0">
              <a:latin typeface="Times New Roman" panose="02020603050405020304" pitchFamily="18" charset="0"/>
            </a:endParaRPr>
          </a:p>
          <a:p>
            <a:pPr marL="450850" lvl="1" indent="-271780">
              <a:lnSpc>
                <a:spcPct val="90000"/>
              </a:lnSpc>
              <a:buClr>
                <a:srgbClr val="FF9900"/>
              </a:buClr>
              <a:buSzPct val="80000"/>
              <a:buFont typeface="Wingdings" panose="05000000000000000000" pitchFamily="2" charset="2"/>
              <a:buChar char="l"/>
            </a:pPr>
            <a:r>
              <a:rPr lang="zh-CN" altLang="en-US" sz="2000" b="1" smtClean="0">
                <a:latin typeface="Times New Roman" panose="02020603050405020304" pitchFamily="18" charset="0"/>
              </a:rPr>
              <a:t>回溯法，人工沿程序控制流逆向追踪：</a:t>
            </a:r>
            <a:r>
              <a:rPr lang="zh-CN" altLang="en-US" sz="2000" b="1" smtClean="0"/>
              <a:t>调试人员分析错误征兆，确定最先发现</a:t>
            </a:r>
            <a:r>
              <a:rPr lang="zh-CN" altLang="en-US" sz="2000" b="1" smtClean="0">
                <a:latin typeface="Arial" panose="020B0604020202020204" pitchFamily="34" charset="0"/>
              </a:rPr>
              <a:t>“</a:t>
            </a:r>
            <a:r>
              <a:rPr lang="zh-CN" altLang="en-US" sz="2000" b="1" smtClean="0"/>
              <a:t>症状</a:t>
            </a:r>
            <a:r>
              <a:rPr lang="zh-CN" altLang="en-US" sz="2000" b="1" smtClean="0">
                <a:latin typeface="Arial" panose="020B0604020202020204" pitchFamily="34" charset="0"/>
              </a:rPr>
              <a:t>”</a:t>
            </a:r>
            <a:r>
              <a:rPr lang="zh-CN" altLang="en-US" sz="2000" b="1" smtClean="0"/>
              <a:t>的位置，然后人工沿程序的控制流程往回追踪源程序代码，直到找出错误根源或确定故障范围为止。这种方法适合于小型程序，对于大规模程序，由于其需要回溯的路径太多而变得不可操作。</a:t>
            </a:r>
            <a:endParaRPr lang="zh-CN" altLang="en-US" sz="2000" b="1" smtClean="0">
              <a:latin typeface="Times New Roman" panose="02020603050405020304" pitchFamily="18" charset="0"/>
            </a:endParaRPr>
          </a:p>
          <a:p>
            <a:pPr marL="450850" lvl="1" indent="-271780">
              <a:lnSpc>
                <a:spcPct val="90000"/>
              </a:lnSpc>
              <a:buClr>
                <a:srgbClr val="FF9900"/>
              </a:buClr>
              <a:buSzPct val="80000"/>
              <a:buFont typeface="Wingdings" panose="05000000000000000000" pitchFamily="2" charset="2"/>
              <a:buChar char="l"/>
            </a:pPr>
            <a:r>
              <a:rPr lang="zh-CN" altLang="en-US" sz="2000" b="1" smtClean="0">
                <a:latin typeface="Times New Roman" panose="02020603050405020304" pitchFamily="18" charset="0"/>
              </a:rPr>
              <a:t>对分查找法，区分程序段查找：</a:t>
            </a:r>
            <a:r>
              <a:rPr lang="zh-CN" altLang="en-US" sz="2000" b="1" smtClean="0"/>
              <a:t>如果已经知道每个变量在程序内若干个关键点的正确值，则可以用赋值语句或输入语句在程序中点附近</a:t>
            </a:r>
            <a:r>
              <a:rPr lang="zh-CN" altLang="en-US" sz="2000" b="1" smtClean="0">
                <a:latin typeface="Arial" panose="020B0604020202020204" pitchFamily="34" charset="0"/>
              </a:rPr>
              <a:t>“</a:t>
            </a:r>
            <a:r>
              <a:rPr lang="zh-CN" altLang="en-US" sz="2000" b="1" smtClean="0"/>
              <a:t>注入</a:t>
            </a:r>
            <a:r>
              <a:rPr lang="zh-CN" altLang="en-US" sz="2000" b="1" smtClean="0">
                <a:latin typeface="Arial" panose="020B0604020202020204" pitchFamily="34" charset="0"/>
              </a:rPr>
              <a:t>”</a:t>
            </a:r>
            <a:r>
              <a:rPr lang="zh-CN" altLang="en-US" sz="2000" b="1" smtClean="0"/>
              <a:t>这些变量的正确值，然后检查程序的输出。如果输出结果是正确的，则故障在程序的前半部分；反之，故障在程序的后半部分。对于程序中有故障的那部分再重复使用这个方法，直到把故障范围缩小到容易诊断的程度为止。</a:t>
            </a:r>
            <a:endParaRPr lang="zh-CN" altLang="en-US" sz="2000" b="1" smtClean="0"/>
          </a:p>
        </p:txBody>
      </p:sp>
      <p:sp>
        <p:nvSpPr>
          <p:cNvPr id="134148" name="AutoShape 4">
            <a:hlinkClick r:id="" action="ppaction://noaction" highlightClick="1"/>
          </p:cNvPr>
          <p:cNvSpPr>
            <a:spLocks noChangeArrowheads="1"/>
          </p:cNvSpPr>
          <p:nvPr/>
        </p:nvSpPr>
        <p:spPr bwMode="auto">
          <a:xfrm>
            <a:off x="1116013" y="981075"/>
            <a:ext cx="3530600"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6.3.2 </a:t>
            </a:r>
            <a:r>
              <a:rPr lang="zh-CN" altLang="en-US" sz="3600" b="1">
                <a:solidFill>
                  <a:srgbClr val="0A0A0E"/>
                </a:solidFill>
                <a:latin typeface="Times New Roman" panose="02020603050405020304" pitchFamily="18" charset="0"/>
              </a:rPr>
              <a:t>软件调试</a:t>
            </a:r>
            <a:endParaRPr lang="zh-CN" altLang="en-US" sz="3600" b="1">
              <a:solidFill>
                <a:srgbClr val="0A0A0E"/>
              </a:solidFill>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noFill/>
        </p:spPr>
        <p:txBody>
          <a:bodyPr/>
          <a:lstStyle/>
          <a:p>
            <a:pPr eaLnBrk="1" hangingPunct="1"/>
            <a:r>
              <a:rPr lang="en-US" altLang="zh-CN" sz="800" smtClean="0">
                <a:solidFill>
                  <a:schemeClr val="bg1"/>
                </a:solidFill>
              </a:rPr>
              <a:t>1.5.4MIS</a:t>
            </a:r>
            <a:r>
              <a:rPr lang="zh-CN" altLang="en-US" sz="800" smtClean="0">
                <a:solidFill>
                  <a:schemeClr val="bg1"/>
                </a:solidFill>
              </a:rPr>
              <a:t>的结构</a:t>
            </a:r>
            <a:endParaRPr lang="zh-CN" altLang="en-US" sz="800" smtClean="0">
              <a:solidFill>
                <a:schemeClr val="bg1"/>
              </a:solidFill>
            </a:endParaRPr>
          </a:p>
        </p:txBody>
      </p:sp>
      <p:sp>
        <p:nvSpPr>
          <p:cNvPr id="135171" name="Rectangle 3"/>
          <p:cNvSpPr>
            <a:spLocks noGrp="1" noChangeArrowheads="1"/>
          </p:cNvSpPr>
          <p:nvPr>
            <p:ph type="body" idx="1"/>
          </p:nvPr>
        </p:nvSpPr>
        <p:spPr>
          <a:xfrm>
            <a:off x="468313" y="1484313"/>
            <a:ext cx="8486775" cy="5373687"/>
          </a:xfrm>
          <a:noFill/>
        </p:spPr>
        <p:txBody>
          <a:bodyPr/>
          <a:lstStyle/>
          <a:p>
            <a:pPr marL="0" indent="0">
              <a:lnSpc>
                <a:spcPct val="110000"/>
              </a:lnSpc>
              <a:buClr>
                <a:schemeClr val="accent2"/>
              </a:buClr>
              <a:buFont typeface="Wingdings" panose="05000000000000000000" pitchFamily="2" charset="2"/>
              <a:buNone/>
            </a:pPr>
            <a:endParaRPr lang="en-US" altLang="zh-CN" sz="2800" smtClean="0">
              <a:latin typeface="Times New Roman" panose="02020603050405020304" pitchFamily="18" charset="0"/>
            </a:endParaRPr>
          </a:p>
          <a:p>
            <a:pPr marL="450850" lvl="1" indent="-271780" eaLnBrk="1" hangingPunct="1">
              <a:lnSpc>
                <a:spcPct val="80000"/>
              </a:lnSpc>
              <a:buClr>
                <a:srgbClr val="FF9900"/>
              </a:buClr>
              <a:buSzPct val="80000"/>
              <a:buFont typeface="Wingdings" panose="05000000000000000000" pitchFamily="2" charset="2"/>
              <a:buChar char="l"/>
            </a:pPr>
            <a:r>
              <a:rPr lang="zh-CN" altLang="en-US" sz="2400" b="1" smtClean="0">
                <a:latin typeface="Times New Roman" panose="02020603050405020304" pitchFamily="18" charset="0"/>
              </a:rPr>
              <a:t>归纳法：</a:t>
            </a:r>
            <a:r>
              <a:rPr lang="zh-CN" altLang="en-US" sz="2400" b="1" smtClean="0"/>
              <a:t>归纳错误信息的发生因果特性，提出假设的错误原因，用这些数据来证明或反驳，从而查出错误所在。其步骤为：</a:t>
            </a:r>
            <a:endParaRPr lang="zh-CN" altLang="en-US" sz="2400" b="1" smtClean="0"/>
          </a:p>
          <a:p>
            <a:pPr marL="1183005" lvl="2" indent="-278130" eaLnBrk="1" hangingPunct="1">
              <a:lnSpc>
                <a:spcPct val="80000"/>
              </a:lnSpc>
            </a:pPr>
            <a:r>
              <a:rPr lang="zh-CN" altLang="en-US" sz="2000" b="1" smtClean="0"/>
              <a:t>收集有关资料；</a:t>
            </a:r>
            <a:endParaRPr lang="zh-CN" altLang="en-US" sz="2000" b="1" smtClean="0"/>
          </a:p>
          <a:p>
            <a:pPr marL="1183005" lvl="2" indent="-278130" eaLnBrk="1" hangingPunct="1">
              <a:lnSpc>
                <a:spcPct val="80000"/>
              </a:lnSpc>
            </a:pPr>
            <a:r>
              <a:rPr lang="zh-CN" altLang="en-US" sz="2000" b="1" smtClean="0"/>
              <a:t>组织数据；</a:t>
            </a:r>
            <a:endParaRPr lang="zh-CN" altLang="en-US" sz="2000" b="1" smtClean="0"/>
          </a:p>
          <a:p>
            <a:pPr marL="1183005" lvl="2" indent="-278130" eaLnBrk="1" hangingPunct="1">
              <a:lnSpc>
                <a:spcPct val="80000"/>
              </a:lnSpc>
            </a:pPr>
            <a:r>
              <a:rPr lang="zh-CN" altLang="en-US" sz="2000" b="1" smtClean="0"/>
              <a:t>导出假设；</a:t>
            </a:r>
            <a:endParaRPr lang="zh-CN" altLang="en-US" sz="2000" b="1" smtClean="0"/>
          </a:p>
          <a:p>
            <a:pPr marL="1183005" lvl="2" indent="-278130" eaLnBrk="1" hangingPunct="1">
              <a:lnSpc>
                <a:spcPct val="80000"/>
              </a:lnSpc>
            </a:pPr>
            <a:r>
              <a:rPr lang="zh-CN" altLang="en-US" sz="2000" b="1" smtClean="0"/>
              <a:t>证明假设。</a:t>
            </a:r>
            <a:endParaRPr lang="zh-CN" altLang="en-US" sz="2000" b="1" smtClean="0">
              <a:latin typeface="Times New Roman" panose="02020603050405020304" pitchFamily="18" charset="0"/>
            </a:endParaRPr>
          </a:p>
          <a:p>
            <a:pPr marL="450850" lvl="1" indent="-271780" eaLnBrk="1" hangingPunct="1">
              <a:lnSpc>
                <a:spcPct val="80000"/>
              </a:lnSpc>
              <a:buClr>
                <a:srgbClr val="FF9900"/>
              </a:buClr>
              <a:buSzPct val="80000"/>
              <a:buFont typeface="Wingdings" panose="05000000000000000000" pitchFamily="2" charset="2"/>
              <a:buChar char="l"/>
            </a:pPr>
            <a:r>
              <a:rPr lang="zh-CN" altLang="en-US" sz="2400" b="1" smtClean="0">
                <a:latin typeface="Times New Roman" panose="02020603050405020304" pitchFamily="18" charset="0"/>
              </a:rPr>
              <a:t>演绎法：</a:t>
            </a:r>
            <a:r>
              <a:rPr lang="zh-CN" altLang="en-US" sz="2400" b="1" smtClean="0"/>
              <a:t>根据测试结果，列出所有可能的错误原因。分析已有的数据，排除不可能和彼此矛盾的原因。对余下的原因，选择可能性最大的，利用已有的数据完善该假设，使假设更具体。其步骤为：</a:t>
            </a:r>
            <a:endParaRPr lang="zh-CN" altLang="en-US" sz="2400" b="1" smtClean="0"/>
          </a:p>
          <a:p>
            <a:pPr marL="1183005" lvl="2" indent="-278130" eaLnBrk="1" hangingPunct="1">
              <a:lnSpc>
                <a:spcPct val="80000"/>
              </a:lnSpc>
            </a:pPr>
            <a:r>
              <a:rPr lang="zh-CN" altLang="en-US" sz="2000" b="1" smtClean="0"/>
              <a:t>列出所有可能的原因；</a:t>
            </a:r>
            <a:endParaRPr lang="zh-CN" altLang="en-US" sz="2000" b="1" smtClean="0"/>
          </a:p>
          <a:p>
            <a:pPr marL="1183005" lvl="2" indent="-278130" eaLnBrk="1" hangingPunct="1">
              <a:lnSpc>
                <a:spcPct val="80000"/>
              </a:lnSpc>
            </a:pPr>
            <a:r>
              <a:rPr lang="zh-CN" altLang="en-US" sz="2000" b="1" smtClean="0"/>
              <a:t>用已有的数据排除不正确的假设；</a:t>
            </a:r>
            <a:endParaRPr lang="zh-CN" altLang="en-US" sz="2000" b="1" smtClean="0"/>
          </a:p>
          <a:p>
            <a:pPr marL="1183005" lvl="2" indent="-278130" eaLnBrk="1" hangingPunct="1">
              <a:lnSpc>
                <a:spcPct val="80000"/>
              </a:lnSpc>
            </a:pPr>
            <a:r>
              <a:rPr lang="zh-CN" altLang="en-US" sz="2000" b="1" smtClean="0"/>
              <a:t>精化剩余的假设；</a:t>
            </a:r>
            <a:endParaRPr lang="zh-CN" altLang="en-US" sz="2000" b="1" smtClean="0"/>
          </a:p>
          <a:p>
            <a:pPr marL="1183005" lvl="2" indent="-278130" eaLnBrk="1" hangingPunct="1">
              <a:lnSpc>
                <a:spcPct val="80000"/>
              </a:lnSpc>
            </a:pPr>
            <a:r>
              <a:rPr lang="zh-CN" altLang="en-US" sz="2000" b="1" smtClean="0"/>
              <a:t>证明剩余假设。</a:t>
            </a:r>
            <a:endParaRPr lang="zh-CN" altLang="en-US" sz="2000" b="1" smtClean="0"/>
          </a:p>
        </p:txBody>
      </p:sp>
      <p:sp>
        <p:nvSpPr>
          <p:cNvPr id="135172" name="AutoShape 4">
            <a:hlinkClick r:id="" action="ppaction://noaction" highlightClick="1"/>
          </p:cNvPr>
          <p:cNvSpPr>
            <a:spLocks noChangeArrowheads="1"/>
          </p:cNvSpPr>
          <p:nvPr/>
        </p:nvSpPr>
        <p:spPr bwMode="auto">
          <a:xfrm>
            <a:off x="1476375" y="908050"/>
            <a:ext cx="3530600" cy="914400"/>
          </a:xfrm>
          <a:prstGeom prst="actionButtonBlank">
            <a:avLst/>
          </a:prstGeom>
          <a:noFill/>
          <a:ln w="9525">
            <a:noFill/>
            <a:miter lim="800000"/>
          </a:ln>
        </p:spPr>
        <p:txBody>
          <a:bodyPr anchor="ctr"/>
          <a:lstStyle/>
          <a:p>
            <a:r>
              <a:rPr lang="en-US" altLang="zh-CN" sz="3600" b="1">
                <a:solidFill>
                  <a:srgbClr val="0A0A0E"/>
                </a:solidFill>
                <a:latin typeface="Times New Roman" panose="02020603050405020304" pitchFamily="18" charset="0"/>
              </a:rPr>
              <a:t>6.3.2 </a:t>
            </a:r>
            <a:r>
              <a:rPr lang="zh-CN" altLang="en-US" sz="3600" b="1">
                <a:solidFill>
                  <a:srgbClr val="0A0A0E"/>
                </a:solidFill>
                <a:latin typeface="Times New Roman" panose="02020603050405020304" pitchFamily="18" charset="0"/>
              </a:rPr>
              <a:t>软件调试</a:t>
            </a:r>
            <a:endParaRPr lang="zh-CN" altLang="en-US" sz="3600" b="1">
              <a:solidFill>
                <a:srgbClr val="0A0A0E"/>
              </a:solidFill>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tags/tag1.xml><?xml version="1.0" encoding="utf-8"?>
<p:tagLst xmlns:p="http://schemas.openxmlformats.org/presentationml/2006/main">
  <p:tag name="COMMONDATA" val="eyJoZGlkIjoiMTE4ZmZkZmQxOWQwYTk3N2Y0YzUwZDRiZDZiYjljM2UifQ=="/>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0000" tIns="46800" rIns="90000" bIns="4680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0000" tIns="46800" rIns="90000" bIns="4680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20429</Words>
  <Application>WPS 演示</Application>
  <PresentationFormat>全屏显示(4:3)</PresentationFormat>
  <Paragraphs>1972</Paragraphs>
  <Slides>149</Slides>
  <Notes>7</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149</vt:i4>
      </vt:variant>
    </vt:vector>
  </HeadingPairs>
  <TitlesOfParts>
    <vt:vector size="168" baseType="lpstr">
      <vt:lpstr>Arial</vt:lpstr>
      <vt:lpstr>宋体</vt:lpstr>
      <vt:lpstr>Wingdings</vt:lpstr>
      <vt:lpstr>Tahoma</vt:lpstr>
      <vt:lpstr>隶书</vt:lpstr>
      <vt:lpstr>微软雅黑</vt:lpstr>
      <vt:lpstr>Times New Roman</vt:lpstr>
      <vt:lpstr>华文中宋</vt:lpstr>
      <vt:lpstr>楷体_GB2312</vt:lpstr>
      <vt:lpstr>Arial Unicode MS</vt:lpstr>
      <vt:lpstr>新宋体</vt:lpstr>
      <vt:lpstr>黑体</vt:lpstr>
      <vt:lpstr>Verdana</vt:lpstr>
      <vt:lpstr>Webdings</vt:lpstr>
      <vt:lpstr>PMingLiU</vt:lpstr>
      <vt:lpstr>Tahoma</vt:lpstr>
      <vt:lpstr>Symbol</vt:lpstr>
      <vt:lpstr>Blends</vt:lpstr>
      <vt:lpstr>Excel.Sheet.8</vt:lpstr>
      <vt:lpstr>PowerPoint 演示文稿</vt:lpstr>
      <vt:lpstr>本章学习目标</vt:lpstr>
      <vt:lpstr>第六章 管理信息系统的实施</vt:lpstr>
      <vt:lpstr>第六章 管理信息系统的实施</vt:lpstr>
      <vt:lpstr>第六章 管理信息系统的实施</vt:lpstr>
      <vt:lpstr>PowerPoint 演示文稿</vt:lpstr>
      <vt:lpstr>系统实施的工作流程</vt:lpstr>
      <vt:lpstr>第六章 管理信息系统实施</vt:lpstr>
      <vt:lpstr>第六章 管理信息系统实施</vt:lpstr>
      <vt:lpstr>自顶向下的实现方法</vt:lpstr>
      <vt:lpstr>PowerPoint 演示文稿</vt:lpstr>
      <vt:lpstr>PowerPoint 演示文稿</vt:lpstr>
      <vt:lpstr>PowerPoint 演示文稿</vt:lpstr>
      <vt:lpstr>  程序设计的目标</vt:lpstr>
      <vt:lpstr>PowerPoint 演示文稿</vt:lpstr>
      <vt:lpstr>PowerPoint 演示文稿</vt:lpstr>
      <vt:lpstr>PowerPoint 演示文稿</vt:lpstr>
      <vt:lpstr>PowerPoint 演示文稿</vt:lpstr>
      <vt:lpstr>6.2 程序设计</vt:lpstr>
      <vt:lpstr>6.2 程序设计</vt:lpstr>
      <vt:lpstr>结构化程序设计</vt:lpstr>
      <vt:lpstr>结构化程序设计</vt:lpstr>
      <vt:lpstr>结构化程序设计</vt:lpstr>
      <vt:lpstr>面向对象的程序设计 </vt:lpstr>
      <vt:lpstr>可视化编程技术 </vt:lpstr>
      <vt:lpstr>程序的内部文档 </vt:lpstr>
      <vt:lpstr>程序错误的分类 </vt:lpstr>
      <vt:lpstr>PowerPoint 演示文稿</vt:lpstr>
      <vt:lpstr>6.2 程序设计</vt:lpstr>
      <vt:lpstr>PowerPoint 演示文稿</vt:lpstr>
      <vt:lpstr>PowerPoint 演示文稿</vt:lpstr>
      <vt:lpstr>6.3.1 软件测试</vt:lpstr>
      <vt:lpstr>6.3.1 软件测试</vt:lpstr>
      <vt:lpstr>6.3.1 软件测试</vt:lpstr>
      <vt:lpstr>6.3.1 软件测试</vt:lpstr>
      <vt:lpstr>PowerPoint 演示文稿</vt:lpstr>
      <vt:lpstr>PowerPoint 演示文稿</vt:lpstr>
      <vt:lpstr>PowerPoint 演示文稿</vt:lpstr>
      <vt:lpstr>PowerPoint 演示文稿</vt:lpstr>
      <vt:lpstr>PowerPoint 演示文稿</vt:lpstr>
      <vt:lpstr>PowerPoint 演示文稿</vt:lpstr>
      <vt:lpstr>白盒测试</vt:lpstr>
      <vt:lpstr>白盒测试</vt:lpstr>
      <vt:lpstr>白盒测试</vt:lpstr>
      <vt:lpstr>白盒测试</vt:lpstr>
      <vt:lpstr>白盒测试</vt:lpstr>
      <vt:lpstr>白盒测试</vt:lpstr>
      <vt:lpstr>设计的测试用例子</vt:lpstr>
      <vt:lpstr>白盒测试</vt:lpstr>
      <vt:lpstr>设计的测试用例</vt:lpstr>
      <vt:lpstr>白盒测试</vt:lpstr>
      <vt:lpstr>PowerPoint 演示文稿</vt:lpstr>
      <vt:lpstr>黑盒测试</vt:lpstr>
      <vt:lpstr>黑盒测试</vt:lpstr>
      <vt:lpstr>黑盒测试</vt:lpstr>
      <vt:lpstr>等价类划分</vt:lpstr>
      <vt:lpstr>等价类划分</vt:lpstr>
      <vt:lpstr>等价类划分</vt:lpstr>
      <vt:lpstr>等价类划分</vt:lpstr>
      <vt:lpstr>等价类划分</vt:lpstr>
      <vt:lpstr>等价类划分</vt:lpstr>
      <vt:lpstr>等价类划分</vt:lpstr>
      <vt:lpstr>等价类划分</vt:lpstr>
      <vt:lpstr>等价类划分</vt:lpstr>
      <vt:lpstr>第一步：电话号码等价类划分</vt:lpstr>
      <vt:lpstr>第一步：电话号码等价类划分</vt:lpstr>
      <vt:lpstr>第一步：电话号码等价类划分</vt:lpstr>
      <vt:lpstr>第二步：确定测试用例</vt:lpstr>
      <vt:lpstr>第二步：确定测试用例</vt:lpstr>
      <vt:lpstr>黑盒法</vt:lpstr>
      <vt:lpstr>边界值测试设计测试用例原则</vt:lpstr>
      <vt:lpstr>边界值测试设计测试用例原则</vt:lpstr>
      <vt:lpstr>边界值测试设计测试用例原则</vt:lpstr>
      <vt:lpstr>边界值测试设计测试用例举例</vt:lpstr>
      <vt:lpstr>边界值测试设计测试用例原则</vt:lpstr>
      <vt:lpstr>黑盒法</vt:lpstr>
      <vt:lpstr>综合策略</vt:lpstr>
      <vt:lpstr>黑盒测试</vt:lpstr>
      <vt:lpstr>黑盒测试</vt:lpstr>
      <vt:lpstr>PowerPoint 演示文稿</vt:lpstr>
      <vt:lpstr>PowerPoint 演示文稿</vt:lpstr>
      <vt:lpstr>PowerPoint 演示文稿</vt:lpstr>
      <vt:lpstr>PowerPoint 演示文稿</vt:lpstr>
      <vt:lpstr>错误种类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软件测试步骤</vt:lpstr>
      <vt:lpstr>3. 软件测试步骤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集成测试</vt:lpstr>
      <vt:lpstr>PowerPoint 演示文稿</vt:lpstr>
      <vt:lpstr>PowerPoint 演示文稿</vt:lpstr>
      <vt:lpstr>PowerPoint 演示文稿</vt:lpstr>
      <vt:lpstr>3.软件测试步骤</vt:lpstr>
      <vt:lpstr>3.软件测试步骤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测试计划</vt:lpstr>
      <vt:lpstr>PowerPoint 演示文稿</vt:lpstr>
      <vt:lpstr>PowerPoint 演示文稿</vt:lpstr>
      <vt:lpstr>       案例研究</vt:lpstr>
      <vt:lpstr>微软的测试工作</vt:lpstr>
      <vt:lpstr>微软的测试工作</vt:lpstr>
      <vt:lpstr>测试计划</vt:lpstr>
      <vt:lpstr>测试计划</vt:lpstr>
      <vt:lpstr>测试计划</vt:lpstr>
      <vt:lpstr>测试计划</vt:lpstr>
      <vt:lpstr>微软的测试工作</vt:lpstr>
      <vt:lpstr>微软的测试工作</vt:lpstr>
      <vt:lpstr>微软的测试工作</vt:lpstr>
      <vt:lpstr>Bug的不同处理方式</vt:lpstr>
      <vt:lpstr>帕雷托分析</vt:lpstr>
      <vt:lpstr>PowerPoint 演示文稿</vt:lpstr>
      <vt:lpstr>1.5.4MIS的结构</vt:lpstr>
      <vt:lpstr>6.3.2 软件调试</vt:lpstr>
      <vt:lpstr>6.3.2 软件调试</vt:lpstr>
      <vt:lpstr>PowerPoint 演示文稿</vt:lpstr>
      <vt:lpstr>PowerPoint 演示文稿</vt:lpstr>
      <vt:lpstr>1.5.4MIS的结构</vt:lpstr>
      <vt:lpstr>PowerPoint 演示文稿</vt:lpstr>
      <vt:lpstr>PowerPoint 演示文稿</vt:lpstr>
      <vt:lpstr>1.5.4MIS的结构</vt:lpstr>
      <vt:lpstr>1.5.4MIS的结构</vt:lpstr>
      <vt:lpstr>1.5.4MIS的结构</vt:lpstr>
      <vt:lpstr>1.5.4MIS的结构</vt:lpstr>
      <vt:lpstr>第一章思考题</vt:lpstr>
      <vt:lpstr>第一章思考题</vt:lpstr>
      <vt:lpstr>1.5.4MIS的结构</vt:lpstr>
      <vt:lpstr>1.5.4MIS的结构</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MIS前四章</dc:title>
  <dc:creator>郑小玲</dc:creator>
  <cp:lastModifiedBy>Yue Yu</cp:lastModifiedBy>
  <cp:revision>679</cp:revision>
  <dcterms:created xsi:type="dcterms:W3CDTF">1998-04-10T03:48:00Z</dcterms:created>
  <dcterms:modified xsi:type="dcterms:W3CDTF">2022-11-30T02:53:16Z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C4A90B46F3844D698367D83ACEBD7110</vt:lpwstr>
  </property>
  <property fmtid="{D5CDD505-2E9C-101B-9397-08002B2CF9AE}" pid="3" name="KSOProductBuildVer">
    <vt:lpwstr>2052-11.1.0.12019</vt:lpwstr>
  </property>
</Properties>
</file>